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4" r:id="rId4"/>
    <p:sldMasterId id="2147483687" r:id="rId5"/>
    <p:sldMasterId id="2147483700" r:id="rId6"/>
  </p:sldMasterIdLst>
  <p:notesMasterIdLst>
    <p:notesMasterId r:id="rId51"/>
  </p:notesMasterIdLst>
  <p:sldIdLst>
    <p:sldId id="292" r:id="rId7"/>
    <p:sldId id="293" r:id="rId8"/>
    <p:sldId id="283" r:id="rId9"/>
    <p:sldId id="284" r:id="rId10"/>
    <p:sldId id="294" r:id="rId11"/>
    <p:sldId id="295" r:id="rId12"/>
    <p:sldId id="296" r:id="rId13"/>
    <p:sldId id="297" r:id="rId14"/>
    <p:sldId id="298" r:id="rId15"/>
    <p:sldId id="299" r:id="rId16"/>
    <p:sldId id="300" r:id="rId17"/>
    <p:sldId id="301" r:id="rId18"/>
    <p:sldId id="302" r:id="rId19"/>
    <p:sldId id="303" r:id="rId20"/>
    <p:sldId id="306" r:id="rId21"/>
    <p:sldId id="307" r:id="rId22"/>
    <p:sldId id="316" r:id="rId23"/>
    <p:sldId id="317" r:id="rId24"/>
    <p:sldId id="318" r:id="rId25"/>
    <p:sldId id="319" r:id="rId26"/>
    <p:sldId id="320" r:id="rId27"/>
    <p:sldId id="322" r:id="rId28"/>
    <p:sldId id="323" r:id="rId29"/>
    <p:sldId id="324" r:id="rId30"/>
    <p:sldId id="325" r:id="rId31"/>
    <p:sldId id="327" r:id="rId32"/>
    <p:sldId id="326" r:id="rId33"/>
    <p:sldId id="330" r:id="rId34"/>
    <p:sldId id="331" r:id="rId35"/>
    <p:sldId id="332" r:id="rId36"/>
    <p:sldId id="334" r:id="rId37"/>
    <p:sldId id="333" r:id="rId38"/>
    <p:sldId id="335" r:id="rId39"/>
    <p:sldId id="336" r:id="rId40"/>
    <p:sldId id="337" r:id="rId41"/>
    <p:sldId id="338" r:id="rId42"/>
    <p:sldId id="339" r:id="rId43"/>
    <p:sldId id="340" r:id="rId44"/>
    <p:sldId id="341" r:id="rId45"/>
    <p:sldId id="342" r:id="rId46"/>
    <p:sldId id="349" r:id="rId47"/>
    <p:sldId id="348" r:id="rId48"/>
    <p:sldId id="354" r:id="rId49"/>
    <p:sldId id="344" r:id="rId50"/>
    <p:sldId id="282" r:id="rId52"/>
  </p:sldIdLst>
  <p:sldSz cx="9144000" cy="5143500"/>
  <p:notesSz cx="6858000" cy="9144000"/>
  <p:custDataLst>
    <p:tags r:id="rId56"/>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563" userDrawn="1">
          <p15:clr>
            <a:srgbClr val="A4A3A4"/>
          </p15:clr>
        </p15:guide>
        <p15:guide id="2" pos="29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2FDB2607-1784-4EEB-B798-7EB5836EED8A}">
        <p14:showMediaCtrls xmlns:p14="http://schemas.microsoft.com/office/powerpoint/2010/main" val="1"/>
      </p:ext>
    </p:extLst>
  </p:showPr>
  <p:clrMru>
    <a:srgbClr val="F2FAEA"/>
    <a:srgbClr val="E5F4D4"/>
    <a:srgbClr val="FF6600"/>
    <a:srgbClr val="85DFFF"/>
    <a:srgbClr val="E7F9FF"/>
    <a:srgbClr val="FF9933"/>
    <a:srgbClr val="5F5F5F"/>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119" d="100"/>
          <a:sy n="119" d="100"/>
        </p:scale>
        <p:origin x="96" y="498"/>
      </p:cViewPr>
      <p:guideLst>
        <p:guide orient="horz" pos="1563"/>
        <p:guide pos="2917"/>
      </p:guideLst>
    </p:cSldViewPr>
  </p:slideViewPr>
  <p:notesTextViewPr>
    <p:cViewPr>
      <p:scale>
        <a:sx n="1" d="1"/>
        <a:sy n="1" d="1"/>
      </p:scale>
      <p:origin x="0" y="0"/>
    </p:cViewPr>
  </p:notesTextViewPr>
  <p:sorterViewPr showFormatting="0">
    <p:cViewPr>
      <p:scale>
        <a:sx n="110" d="100"/>
        <a:sy n="110" d="100"/>
      </p:scale>
      <p:origin x="0" y="0"/>
    </p:cViewPr>
  </p:sorterViewPr>
  <p:gridSpacing cx="1828419" cy="1828419"/>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slide" Target="slides/slide1.xml"/><Relationship Id="rId6" Type="http://schemas.openxmlformats.org/officeDocument/2006/relationships/slideMaster" Target="slideMasters/slideMaster5.xml"/><Relationship Id="rId56" Type="http://schemas.openxmlformats.org/officeDocument/2006/relationships/tags" Target="tags/tag10.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slide" Target="slides/slide45.xml"/><Relationship Id="rId51" Type="http://schemas.openxmlformats.org/officeDocument/2006/relationships/notesMaster" Target="notesMasters/notesMaster1.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A85EA5CD-14B9-498D-B39B-D5EE848193A5}" type="datetimeFigureOut">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编辑母版文本样式</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827C03EE-91C7-48F1-9482-710B5152669C}" type="slidenum">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幻灯片图像占位符 1"/>
          <p:cNvSpPr>
            <a:spLocks noGrp="1" noRot="1" noChangeAspect="1" noTextEdit="1"/>
          </p:cNvSpPr>
          <p:nvPr>
            <p:ph type="sldImg"/>
          </p:nvPr>
        </p:nvSpPr>
        <p:spPr>
          <a:ln>
            <a:solidFill>
              <a:srgbClr val="000000"/>
            </a:solidFill>
            <a:miter/>
          </a:ln>
        </p:spPr>
      </p:sp>
      <p:sp>
        <p:nvSpPr>
          <p:cNvPr id="50178" name="备注占位符 2"/>
          <p:cNvSpPr>
            <a:spLocks noGrp="1"/>
          </p:cNvSpPr>
          <p:nvPr>
            <p:ph type="body"/>
          </p:nvPr>
        </p:nvSpPr>
        <p:spPr>
          <a:noFill/>
          <a:ln>
            <a:noFill/>
          </a:ln>
        </p:spPr>
        <p:txBody>
          <a:bodyPr wrap="square" lIns="91440" tIns="45720" rIns="91440" bIns="45720" anchor="t" anchorCtr="0"/>
          <a:p>
            <a:pPr lvl="0">
              <a:spcBef>
                <a:spcPct val="0"/>
              </a:spcBef>
            </a:pPr>
            <a:endParaRPr lang="zh-CN" altLang="en-US" dirty="0"/>
          </a:p>
        </p:txBody>
      </p:sp>
      <p:sp>
        <p:nvSpPr>
          <p:cNvPr id="50179"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dirty="0">
                <a:latin typeface="Arial" panose="020B0604020202020204" pitchFamily="34" charset="0"/>
                <a:ea typeface="宋体" panose="02010600030101010101" pitchFamily="2" charset="-122"/>
              </a:rPr>
            </a:fld>
            <a:endParaRPr lang="zh-CN" altLang="en-US" sz="1200" dirty="0">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4"/>
            <a:ext cx="7772400" cy="11017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77082F7-E69A-40F7-8D71-6D96BA5D6BDB}"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39ED7A9-6AEF-46C3-83FD-3FD05FA7DEFB}"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77082F7-E69A-40F7-8D71-6D96BA5D6BDB}"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39ED7A9-6AEF-46C3-83FD-3FD05FA7DEFB}"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179639"/>
            <a:ext cx="7772400" cy="112553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77082F7-E69A-40F7-8D71-6D96BA5D6BDB}"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39ED7A9-6AEF-46C3-83FD-3FD05FA7DEFB}"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200151"/>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200151"/>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77082F7-E69A-40F7-8D71-6D96BA5D6BDB}"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39ED7A9-6AEF-46C3-83FD-3FD05FA7DEFB}"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150938"/>
            <a:ext cx="4040188"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1631951"/>
            <a:ext cx="4040188"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7" y="1150938"/>
            <a:ext cx="4041775"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7" y="1631951"/>
            <a:ext cx="4041775"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77082F7-E69A-40F7-8D71-6D96BA5D6BDB}"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39ED7A9-6AEF-46C3-83FD-3FD05FA7DEFB}"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77082F7-E69A-40F7-8D71-6D96BA5D6BDB}"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39ED7A9-6AEF-46C3-83FD-3FD05FA7DEFB}"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77082F7-E69A-40F7-8D71-6D96BA5D6BDB}"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39ED7A9-6AEF-46C3-83FD-3FD05FA7DEFB}"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04789"/>
            <a:ext cx="3008313" cy="871537"/>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04789"/>
            <a:ext cx="5111750" cy="4389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2" y="1076325"/>
            <a:ext cx="3008313" cy="35179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77082F7-E69A-40F7-8D71-6D96BA5D6BDB}"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39ED7A9-6AEF-46C3-83FD-3FD05FA7DEFB}"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4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460375"/>
            <a:ext cx="5486400" cy="30861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sym typeface="Bodoni MT" panose="02070603080606020203" pitchFamily="18" charset="0"/>
            </a:endParaRPr>
          </a:p>
        </p:txBody>
      </p:sp>
      <p:sp>
        <p:nvSpPr>
          <p:cNvPr id="4" name="文本占位符 3"/>
          <p:cNvSpPr>
            <a:spLocks noGrp="1"/>
          </p:cNvSpPr>
          <p:nvPr>
            <p:ph type="body" sz="half" idx="2"/>
          </p:nvPr>
        </p:nvSpPr>
        <p:spPr>
          <a:xfrm>
            <a:off x="1792288" y="4025901"/>
            <a:ext cx="5486400" cy="603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77082F7-E69A-40F7-8D71-6D96BA5D6BDB}"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39ED7A9-6AEF-46C3-83FD-3FD05FA7DEFB}"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77082F7-E69A-40F7-8D71-6D96BA5D6BDB}"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39ED7A9-6AEF-46C3-83FD-3FD05FA7DEFB}"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6"/>
            <a:ext cx="2057400" cy="438785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376"/>
            <a:ext cx="6019800" cy="438785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77082F7-E69A-40F7-8D71-6D96BA5D6BDB}"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39ED7A9-6AEF-46C3-83FD-3FD05FA7DEFB}"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77082F7-E69A-40F7-8D71-6D96BA5D6BDB}"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39ED7A9-6AEF-46C3-83FD-3FD05FA7DEFB}"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4"/>
            <a:ext cx="7772400" cy="11017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5F6E3A9-5EEB-4A5B-B13C-473F8E45AFC3}"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85E173-B871-43F1-A3F1-EA4DE61A5B16}"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5F6E3A9-5EEB-4A5B-B13C-473F8E45AFC3}"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85E173-B871-43F1-A3F1-EA4DE61A5B16}"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179639"/>
            <a:ext cx="7772400" cy="112553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5F6E3A9-5EEB-4A5B-B13C-473F8E45AFC3}"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85E173-B871-43F1-A3F1-EA4DE61A5B16}"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200151"/>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200151"/>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5F6E3A9-5EEB-4A5B-B13C-473F8E45AFC3}"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85E173-B871-43F1-A3F1-EA4DE61A5B16}"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150938"/>
            <a:ext cx="4040188"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1631951"/>
            <a:ext cx="4040188"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7" y="1150938"/>
            <a:ext cx="4041775"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7" y="1631951"/>
            <a:ext cx="4041775"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5F6E3A9-5EEB-4A5B-B13C-473F8E45AFC3}"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85E173-B871-43F1-A3F1-EA4DE61A5B16}"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5F6E3A9-5EEB-4A5B-B13C-473F8E45AFC3}"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85E173-B871-43F1-A3F1-EA4DE61A5B16}"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5F6E3A9-5EEB-4A5B-B13C-473F8E45AFC3}"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85E173-B871-43F1-A3F1-EA4DE61A5B16}"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04789"/>
            <a:ext cx="3008313" cy="871537"/>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04789"/>
            <a:ext cx="5111750" cy="4389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2" y="1076325"/>
            <a:ext cx="3008313" cy="35179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5F6E3A9-5EEB-4A5B-B13C-473F8E45AFC3}"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85E173-B871-43F1-A3F1-EA4DE61A5B16}"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4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460375"/>
            <a:ext cx="5486400" cy="30861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sym typeface="Bodoni MT" panose="02070603080606020203" pitchFamily="18" charset="0"/>
            </a:endParaRPr>
          </a:p>
        </p:txBody>
      </p:sp>
      <p:sp>
        <p:nvSpPr>
          <p:cNvPr id="4" name="文本占位符 3"/>
          <p:cNvSpPr>
            <a:spLocks noGrp="1"/>
          </p:cNvSpPr>
          <p:nvPr>
            <p:ph type="body" sz="half" idx="2"/>
          </p:nvPr>
        </p:nvSpPr>
        <p:spPr>
          <a:xfrm>
            <a:off x="1792288" y="4025901"/>
            <a:ext cx="5486400" cy="603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5F6E3A9-5EEB-4A5B-B13C-473F8E45AFC3}"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85E173-B871-43F1-A3F1-EA4DE61A5B16}"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5F6E3A9-5EEB-4A5B-B13C-473F8E45AFC3}"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85E173-B871-43F1-A3F1-EA4DE61A5B16}"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6"/>
            <a:ext cx="2057400" cy="438785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376"/>
            <a:ext cx="6019800" cy="438785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5F6E3A9-5EEB-4A5B-B13C-473F8E45AFC3}"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85E173-B871-43F1-A3F1-EA4DE61A5B16}"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5F6E3A9-5EEB-4A5B-B13C-473F8E45AFC3}"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85E173-B871-43F1-A3F1-EA4DE61A5B16}"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4"/>
            <a:ext cx="7772400" cy="11017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179639"/>
            <a:ext cx="7772400" cy="112553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200151"/>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200151"/>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150938"/>
            <a:ext cx="4040188"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1631951"/>
            <a:ext cx="4040188"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7" y="1150938"/>
            <a:ext cx="4041775"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7" y="1631951"/>
            <a:ext cx="4041775"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04789"/>
            <a:ext cx="3008313" cy="871537"/>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04789"/>
            <a:ext cx="5111750" cy="4389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2" y="1076325"/>
            <a:ext cx="3008313" cy="35179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4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460375"/>
            <a:ext cx="5486400" cy="30861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sym typeface="Bodoni MT" panose="02070603080606020203" pitchFamily="18" charset="0"/>
            </a:endParaRPr>
          </a:p>
        </p:txBody>
      </p:sp>
      <p:sp>
        <p:nvSpPr>
          <p:cNvPr id="4" name="文本占位符 3"/>
          <p:cNvSpPr>
            <a:spLocks noGrp="1"/>
          </p:cNvSpPr>
          <p:nvPr>
            <p:ph type="body" sz="half" idx="2"/>
          </p:nvPr>
        </p:nvSpPr>
        <p:spPr>
          <a:xfrm>
            <a:off x="1792288" y="4025901"/>
            <a:ext cx="5486400" cy="603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6"/>
            <a:ext cx="2057400" cy="438785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376"/>
            <a:ext cx="6019800" cy="438785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4"/>
            <a:ext cx="7772400" cy="11017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179639"/>
            <a:ext cx="7772400" cy="112553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200151"/>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200151"/>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150938"/>
            <a:ext cx="4040188"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1631951"/>
            <a:ext cx="4040188"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7" y="1150938"/>
            <a:ext cx="4041775"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7" y="1631951"/>
            <a:ext cx="4041775"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04789"/>
            <a:ext cx="3008313" cy="871537"/>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04789"/>
            <a:ext cx="5111750" cy="4389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2" y="1076325"/>
            <a:ext cx="3008313" cy="35179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4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460375"/>
            <a:ext cx="5486400" cy="30861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sym typeface="Bodoni MT" panose="02070603080606020203" pitchFamily="18" charset="0"/>
            </a:endParaRPr>
          </a:p>
        </p:txBody>
      </p:sp>
      <p:sp>
        <p:nvSpPr>
          <p:cNvPr id="4" name="文本占位符 3"/>
          <p:cNvSpPr>
            <a:spLocks noGrp="1"/>
          </p:cNvSpPr>
          <p:nvPr>
            <p:ph type="body" sz="half" idx="2"/>
          </p:nvPr>
        </p:nvSpPr>
        <p:spPr>
          <a:xfrm>
            <a:off x="1792288" y="4025901"/>
            <a:ext cx="5486400" cy="603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6"/>
            <a:ext cx="2057400" cy="438785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376"/>
            <a:ext cx="6019800" cy="438785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4"/>
            <a:ext cx="7772400" cy="11017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179639"/>
            <a:ext cx="7772400" cy="112553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200151"/>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200151"/>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150938"/>
            <a:ext cx="4040188"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1631951"/>
            <a:ext cx="4040188"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7" y="1150938"/>
            <a:ext cx="4041775"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7" y="1631951"/>
            <a:ext cx="4041775"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04789"/>
            <a:ext cx="3008313" cy="871537"/>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04789"/>
            <a:ext cx="5111750" cy="4389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2" y="1076325"/>
            <a:ext cx="3008313" cy="35179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4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460375"/>
            <a:ext cx="5486400" cy="30861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sym typeface="Bodoni MT" panose="02070603080606020203" pitchFamily="18" charset="0"/>
            </a:endParaRPr>
          </a:p>
        </p:txBody>
      </p:sp>
      <p:sp>
        <p:nvSpPr>
          <p:cNvPr id="4" name="文本占位符 3"/>
          <p:cNvSpPr>
            <a:spLocks noGrp="1"/>
          </p:cNvSpPr>
          <p:nvPr>
            <p:ph type="body" sz="half" idx="2"/>
          </p:nvPr>
        </p:nvSpPr>
        <p:spPr>
          <a:xfrm>
            <a:off x="1792288" y="4025901"/>
            <a:ext cx="5486400" cy="603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6"/>
            <a:ext cx="2057400" cy="438785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376"/>
            <a:ext cx="6019800" cy="438785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4" Type="http://schemas.openxmlformats.org/officeDocument/2006/relationships/theme" Target="../theme/theme2.xml"/><Relationship Id="rId13" Type="http://schemas.openxmlformats.org/officeDocument/2006/relationships/image" Target="../media/image1.jpeg"/><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4" Type="http://schemas.openxmlformats.org/officeDocument/2006/relationships/theme" Target="../theme/theme3.xml"/><Relationship Id="rId13" Type="http://schemas.openxmlformats.org/officeDocument/2006/relationships/image" Target="../media/image1.jpeg"/><Relationship Id="rId12" Type="http://schemas.openxmlformats.org/officeDocument/2006/relationships/slideLayout" Target="../slideLayouts/slideLayout36.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5.xml"/><Relationship Id="rId8" Type="http://schemas.openxmlformats.org/officeDocument/2006/relationships/slideLayout" Target="../slideLayouts/slideLayout44.xml"/><Relationship Id="rId7" Type="http://schemas.openxmlformats.org/officeDocument/2006/relationships/slideLayout" Target="../slideLayouts/slideLayout43.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 Id="rId3" Type="http://schemas.openxmlformats.org/officeDocument/2006/relationships/slideLayout" Target="../slideLayouts/slideLayout39.xml"/><Relationship Id="rId2" Type="http://schemas.openxmlformats.org/officeDocument/2006/relationships/slideLayout" Target="../slideLayouts/slideLayout38.xml"/><Relationship Id="rId14" Type="http://schemas.openxmlformats.org/officeDocument/2006/relationships/theme" Target="../theme/theme4.xml"/><Relationship Id="rId13" Type="http://schemas.openxmlformats.org/officeDocument/2006/relationships/image" Target="../media/image1.jpeg"/><Relationship Id="rId12" Type="http://schemas.openxmlformats.org/officeDocument/2006/relationships/slideLayout" Target="../slideLayouts/slideLayout48.xml"/><Relationship Id="rId11" Type="http://schemas.openxmlformats.org/officeDocument/2006/relationships/slideLayout" Target="../slideLayouts/slideLayout47.xml"/><Relationship Id="rId10" Type="http://schemas.openxmlformats.org/officeDocument/2006/relationships/slideLayout" Target="../slideLayouts/slideLayout46.xml"/><Relationship Id="rId1"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7.xml"/><Relationship Id="rId8" Type="http://schemas.openxmlformats.org/officeDocument/2006/relationships/slideLayout" Target="../slideLayouts/slideLayout56.xml"/><Relationship Id="rId7" Type="http://schemas.openxmlformats.org/officeDocument/2006/relationships/slideLayout" Target="../slideLayouts/slideLayout55.xml"/><Relationship Id="rId6" Type="http://schemas.openxmlformats.org/officeDocument/2006/relationships/slideLayout" Target="../slideLayouts/slideLayout54.xml"/><Relationship Id="rId5" Type="http://schemas.openxmlformats.org/officeDocument/2006/relationships/slideLayout" Target="../slideLayouts/slideLayout53.xml"/><Relationship Id="rId4" Type="http://schemas.openxmlformats.org/officeDocument/2006/relationships/slideLayout" Target="../slideLayouts/slideLayout52.xml"/><Relationship Id="rId3" Type="http://schemas.openxmlformats.org/officeDocument/2006/relationships/slideLayout" Target="../slideLayouts/slideLayout51.xml"/><Relationship Id="rId2" Type="http://schemas.openxmlformats.org/officeDocument/2006/relationships/slideLayout" Target="../slideLayouts/slideLayout50.xml"/><Relationship Id="rId14" Type="http://schemas.openxmlformats.org/officeDocument/2006/relationships/theme" Target="../theme/theme5.xml"/><Relationship Id="rId13" Type="http://schemas.openxmlformats.org/officeDocument/2006/relationships/image" Target="../media/image1.jpeg"/><Relationship Id="rId12" Type="http://schemas.openxmlformats.org/officeDocument/2006/relationships/slideLayout" Target="../slideLayouts/slideLayout60.xml"/><Relationship Id="rId11" Type="http://schemas.openxmlformats.org/officeDocument/2006/relationships/slideLayout" Target="../slideLayouts/slideLayout59.xml"/><Relationship Id="rId10" Type="http://schemas.openxmlformats.org/officeDocument/2006/relationships/slideLayout" Target="../slideLayouts/slideLayout58.xml"/><Relationship Id="rId1"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1026" name="标题占位符 1"/>
          <p:cNvSpPr>
            <a:spLocks noGrp="1"/>
          </p:cNvSpPr>
          <p:nvPr>
            <p:ph type="title"/>
          </p:nvPr>
        </p:nvSpPr>
        <p:spPr>
          <a:xfrm>
            <a:off x="457200" y="206375"/>
            <a:ext cx="8229600" cy="85725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文本占位符 2"/>
          <p:cNvSpPr>
            <a:spLocks noGrp="1"/>
          </p:cNvSpPr>
          <p:nvPr>
            <p:ph type="body"/>
          </p:nvPr>
        </p:nvSpPr>
        <p:spPr>
          <a:xfrm>
            <a:off x="457200" y="1200150"/>
            <a:ext cx="8229600" cy="3394075"/>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日期占位符 3"/>
          <p:cNvSpPr>
            <a:spLocks noGrp="1" noChangeArrowheads="1"/>
          </p:cNvSpPr>
          <p:nvPr>
            <p:ph type="dt" sz="half" idx="2"/>
          </p:nvPr>
        </p:nvSpPr>
        <p:spPr bwMode="auto">
          <a:xfrm>
            <a:off x="457200" y="4767263"/>
            <a:ext cx="2133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77082F7-E69A-40F7-8D71-6D96BA5D6BDB}"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页脚占位符 4"/>
          <p:cNvSpPr>
            <a:spLocks noGrp="1" noChangeArrowheads="1"/>
          </p:cNvSpPr>
          <p:nvPr>
            <p:ph type="ftr" sz="quarter" idx="3"/>
          </p:nvPr>
        </p:nvSpPr>
        <p:spPr bwMode="auto">
          <a:xfrm>
            <a:off x="3124200" y="4767263"/>
            <a:ext cx="2895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1030" name="灯片编号占位符 5"/>
          <p:cNvSpPr>
            <a:spLocks noGrp="1" noChangeArrowheads="1"/>
          </p:cNvSpPr>
          <p:nvPr>
            <p:ph type="sldNum" sz="quarter" idx="4"/>
          </p:nvPr>
        </p:nvSpPr>
        <p:spPr bwMode="auto">
          <a:xfrm>
            <a:off x="6553200" y="4767263"/>
            <a:ext cx="2133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noProof="1" dirty="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39ED7A9-6AEF-46C3-83FD-3FD05FA7DEFB}"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marL="914400" indent="-914400" algn="ctr" rtl="0" eaLnBrk="0" fontAlgn="base" hangingPunct="0">
        <a:spcBef>
          <a:spcPct val="0"/>
        </a:spcBef>
        <a:spcAft>
          <a:spcPct val="0"/>
        </a:spcAft>
        <a:defRPr sz="4400">
          <a:solidFill>
            <a:schemeClr val="tx1"/>
          </a:solidFill>
          <a:latin typeface="+mj-lt"/>
          <a:ea typeface="+mj-ea"/>
          <a:cs typeface="+mj-cs"/>
          <a:sym typeface="Bodoni MT" panose="02070603080606020203" pitchFamily="18" charset="0"/>
        </a:defRPr>
      </a:lvl1pPr>
      <a:lvl2pPr marL="914400" indent="-914400" algn="ctr" rtl="0" eaLnBrk="0" fontAlgn="base" hangingPunct="0">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2pPr>
      <a:lvl3pPr marL="914400" indent="-914400" algn="ctr" rtl="0" eaLnBrk="0" fontAlgn="base" hangingPunct="0">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3pPr>
      <a:lvl4pPr marL="914400" indent="-914400" algn="ctr" rtl="0" eaLnBrk="0" fontAlgn="base" hangingPunct="0">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4pPr>
      <a:lvl5pPr marL="914400" indent="-914400" algn="ctr" rtl="0" eaLnBrk="0" fontAlgn="base" hangingPunct="0">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5pPr>
      <a:lvl6pPr marL="1371600" indent="-914400" algn="ctr" rtl="0" fontAlgn="base">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6pPr>
      <a:lvl7pPr marL="1828800" indent="-914400" algn="ctr" rtl="0" fontAlgn="base">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7pPr>
      <a:lvl8pPr marL="2286000" indent="-914400" algn="ctr" rtl="0" fontAlgn="base">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8pPr>
      <a:lvl9pPr marL="2743200" indent="-914400" algn="ctr" rtl="0" fontAlgn="base">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Bodoni MT" panose="02070603080606020203" pitchFamily="18" charset="0"/>
        </a:defRPr>
      </a:lvl1pPr>
      <a:lvl2pPr marL="742950" indent="-28575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Bodoni MT" panose="02070603080606020203" pitchFamily="18" charset="0"/>
        </a:defRPr>
      </a:lvl2pPr>
      <a:lvl3pPr marL="1143000" indent="-228600" algn="l"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Bodoni MT" panose="02070603080606020203" pitchFamily="18" charset="0"/>
        </a:defRPr>
      </a:lvl3pPr>
      <a:lvl4pPr marL="1600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4pPr>
      <a:lvl5pPr marL="20574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5pPr>
      <a:lvl6pPr marL="25146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6pPr>
      <a:lvl7pPr marL="29718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7pPr>
      <a:lvl8pPr marL="34290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8pPr>
      <a:lvl9pPr marL="38862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2050" name="标题占位符 1"/>
          <p:cNvSpPr>
            <a:spLocks noGrp="1"/>
          </p:cNvSpPr>
          <p:nvPr>
            <p:ph type="title"/>
          </p:nvPr>
        </p:nvSpPr>
        <p:spPr>
          <a:xfrm>
            <a:off x="457200" y="206375"/>
            <a:ext cx="8229600" cy="85725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2051" name="文本占位符 2"/>
          <p:cNvSpPr>
            <a:spLocks noGrp="1"/>
          </p:cNvSpPr>
          <p:nvPr>
            <p:ph type="body"/>
          </p:nvPr>
        </p:nvSpPr>
        <p:spPr>
          <a:xfrm>
            <a:off x="457200" y="1200150"/>
            <a:ext cx="8229600" cy="3394075"/>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日期占位符 3"/>
          <p:cNvSpPr>
            <a:spLocks noGrp="1" noChangeArrowheads="1"/>
          </p:cNvSpPr>
          <p:nvPr>
            <p:ph type="dt" sz="half" idx="2"/>
          </p:nvPr>
        </p:nvSpPr>
        <p:spPr bwMode="auto">
          <a:xfrm>
            <a:off x="457200" y="4767263"/>
            <a:ext cx="2133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5F6E3A9-5EEB-4A5B-B13C-473F8E45AFC3}"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页脚占位符 4"/>
          <p:cNvSpPr>
            <a:spLocks noGrp="1" noChangeArrowheads="1"/>
          </p:cNvSpPr>
          <p:nvPr>
            <p:ph type="ftr" sz="quarter" idx="3"/>
          </p:nvPr>
        </p:nvSpPr>
        <p:spPr bwMode="auto">
          <a:xfrm>
            <a:off x="3124200" y="4767263"/>
            <a:ext cx="2895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1030" name="灯片编号占位符 5"/>
          <p:cNvSpPr>
            <a:spLocks noGrp="1" noChangeArrowheads="1"/>
          </p:cNvSpPr>
          <p:nvPr>
            <p:ph type="sldNum" sz="quarter" idx="4"/>
          </p:nvPr>
        </p:nvSpPr>
        <p:spPr bwMode="auto">
          <a:xfrm>
            <a:off x="6553200" y="4767263"/>
            <a:ext cx="2133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noProof="1" dirty="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85E173-B871-43F1-A3F1-EA4DE61A5B16}"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p:txStyles>
    <p:titleStyle>
      <a:lvl1pPr marL="914400" indent="-914400" algn="ctr" rtl="0" eaLnBrk="0" fontAlgn="base" hangingPunct="0">
        <a:spcBef>
          <a:spcPct val="0"/>
        </a:spcBef>
        <a:spcAft>
          <a:spcPct val="0"/>
        </a:spcAft>
        <a:defRPr sz="4400">
          <a:solidFill>
            <a:schemeClr val="tx1"/>
          </a:solidFill>
          <a:latin typeface="+mj-lt"/>
          <a:ea typeface="+mj-ea"/>
          <a:cs typeface="+mj-cs"/>
          <a:sym typeface="Bodoni MT" panose="02070603080606020203" pitchFamily="18" charset="0"/>
        </a:defRPr>
      </a:lvl1pPr>
      <a:lvl2pPr marL="914400" indent="-914400" algn="ctr" rtl="0" eaLnBrk="0" fontAlgn="base" hangingPunct="0">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2pPr>
      <a:lvl3pPr marL="914400" indent="-914400" algn="ctr" rtl="0" eaLnBrk="0" fontAlgn="base" hangingPunct="0">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3pPr>
      <a:lvl4pPr marL="914400" indent="-914400" algn="ctr" rtl="0" eaLnBrk="0" fontAlgn="base" hangingPunct="0">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4pPr>
      <a:lvl5pPr marL="914400" indent="-914400" algn="ctr" rtl="0" eaLnBrk="0" fontAlgn="base" hangingPunct="0">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5pPr>
      <a:lvl6pPr marL="1371600" indent="-914400" algn="ctr" rtl="0" fontAlgn="base">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6pPr>
      <a:lvl7pPr marL="1828800" indent="-914400" algn="ctr" rtl="0" fontAlgn="base">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7pPr>
      <a:lvl8pPr marL="2286000" indent="-914400" algn="ctr" rtl="0" fontAlgn="base">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8pPr>
      <a:lvl9pPr marL="2743200" indent="-914400" algn="ctr" rtl="0" fontAlgn="base">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Bodoni MT" panose="02070603080606020203" pitchFamily="18" charset="0"/>
        </a:defRPr>
      </a:lvl1pPr>
      <a:lvl2pPr marL="742950" indent="-28575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Bodoni MT" panose="02070603080606020203" pitchFamily="18" charset="0"/>
        </a:defRPr>
      </a:lvl2pPr>
      <a:lvl3pPr marL="1143000" indent="-228600" algn="l"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Bodoni MT" panose="02070603080606020203" pitchFamily="18" charset="0"/>
        </a:defRPr>
      </a:lvl3pPr>
      <a:lvl4pPr marL="1600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4pPr>
      <a:lvl5pPr marL="20574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5pPr>
      <a:lvl6pPr marL="25146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6pPr>
      <a:lvl7pPr marL="29718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7pPr>
      <a:lvl8pPr marL="34290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8pPr>
      <a:lvl9pPr marL="38862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3074" name="标题占位符 1"/>
          <p:cNvSpPr>
            <a:spLocks noGrp="1"/>
          </p:cNvSpPr>
          <p:nvPr>
            <p:ph type="title"/>
          </p:nvPr>
        </p:nvSpPr>
        <p:spPr>
          <a:xfrm>
            <a:off x="457200" y="206375"/>
            <a:ext cx="8229600" cy="85725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3075" name="文本占位符 2"/>
          <p:cNvSpPr>
            <a:spLocks noGrp="1"/>
          </p:cNvSpPr>
          <p:nvPr>
            <p:ph type="body"/>
          </p:nvPr>
        </p:nvSpPr>
        <p:spPr>
          <a:xfrm>
            <a:off x="457200" y="1200150"/>
            <a:ext cx="8229600" cy="3394075"/>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日期占位符 3"/>
          <p:cNvSpPr>
            <a:spLocks noGrp="1" noChangeArrowheads="1"/>
          </p:cNvSpPr>
          <p:nvPr>
            <p:ph type="dt" sz="half" idx="2"/>
          </p:nvPr>
        </p:nvSpPr>
        <p:spPr bwMode="auto">
          <a:xfrm>
            <a:off x="457200" y="4767263"/>
            <a:ext cx="2133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页脚占位符 4"/>
          <p:cNvSpPr>
            <a:spLocks noGrp="1" noChangeArrowheads="1"/>
          </p:cNvSpPr>
          <p:nvPr>
            <p:ph type="ftr" sz="quarter" idx="3"/>
          </p:nvPr>
        </p:nvSpPr>
        <p:spPr bwMode="auto">
          <a:xfrm>
            <a:off x="3124200" y="4767263"/>
            <a:ext cx="2895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1030" name="灯片编号占位符 5"/>
          <p:cNvSpPr>
            <a:spLocks noGrp="1" noChangeArrowheads="1"/>
          </p:cNvSpPr>
          <p:nvPr>
            <p:ph type="sldNum" sz="quarter" idx="4"/>
          </p:nvPr>
        </p:nvSpPr>
        <p:spPr bwMode="auto">
          <a:xfrm>
            <a:off x="6553200" y="4767263"/>
            <a:ext cx="2133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noProof="1" dirty="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p:txStyles>
    <p:titleStyle>
      <a:lvl1pPr marL="914400" indent="-914400" algn="ctr" rtl="0" eaLnBrk="0" fontAlgn="base" hangingPunct="0">
        <a:spcBef>
          <a:spcPct val="0"/>
        </a:spcBef>
        <a:spcAft>
          <a:spcPct val="0"/>
        </a:spcAft>
        <a:defRPr sz="4400">
          <a:solidFill>
            <a:schemeClr val="tx1"/>
          </a:solidFill>
          <a:latin typeface="+mj-lt"/>
          <a:ea typeface="+mj-ea"/>
          <a:cs typeface="+mj-cs"/>
          <a:sym typeface="Bodoni MT" panose="02070603080606020203" pitchFamily="18" charset="0"/>
        </a:defRPr>
      </a:lvl1pPr>
      <a:lvl2pPr marL="914400" indent="-914400" algn="ctr" rtl="0" eaLnBrk="0" fontAlgn="base" hangingPunct="0">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2pPr>
      <a:lvl3pPr marL="914400" indent="-914400" algn="ctr" rtl="0" eaLnBrk="0" fontAlgn="base" hangingPunct="0">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3pPr>
      <a:lvl4pPr marL="914400" indent="-914400" algn="ctr" rtl="0" eaLnBrk="0" fontAlgn="base" hangingPunct="0">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4pPr>
      <a:lvl5pPr marL="914400" indent="-914400" algn="ctr" rtl="0" eaLnBrk="0" fontAlgn="base" hangingPunct="0">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5pPr>
      <a:lvl6pPr marL="1371600" indent="-914400" algn="ctr" rtl="0" fontAlgn="base">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6pPr>
      <a:lvl7pPr marL="1828800" indent="-914400" algn="ctr" rtl="0" fontAlgn="base">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7pPr>
      <a:lvl8pPr marL="2286000" indent="-914400" algn="ctr" rtl="0" fontAlgn="base">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8pPr>
      <a:lvl9pPr marL="2743200" indent="-914400" algn="ctr" rtl="0" fontAlgn="base">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Bodoni MT" panose="02070603080606020203" pitchFamily="18" charset="0"/>
        </a:defRPr>
      </a:lvl1pPr>
      <a:lvl2pPr marL="742950" indent="-28575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Bodoni MT" panose="02070603080606020203" pitchFamily="18" charset="0"/>
        </a:defRPr>
      </a:lvl2pPr>
      <a:lvl3pPr marL="1143000" indent="-228600" algn="l"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Bodoni MT" panose="02070603080606020203" pitchFamily="18" charset="0"/>
        </a:defRPr>
      </a:lvl3pPr>
      <a:lvl4pPr marL="1600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4pPr>
      <a:lvl5pPr marL="20574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5pPr>
      <a:lvl6pPr marL="25146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6pPr>
      <a:lvl7pPr marL="29718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7pPr>
      <a:lvl8pPr marL="34290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8pPr>
      <a:lvl9pPr marL="38862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4098" name="标题占位符 1"/>
          <p:cNvSpPr>
            <a:spLocks noGrp="1"/>
          </p:cNvSpPr>
          <p:nvPr>
            <p:ph type="title"/>
          </p:nvPr>
        </p:nvSpPr>
        <p:spPr>
          <a:xfrm>
            <a:off x="457200" y="206375"/>
            <a:ext cx="8229600" cy="85725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4099" name="文本占位符 2"/>
          <p:cNvSpPr>
            <a:spLocks noGrp="1"/>
          </p:cNvSpPr>
          <p:nvPr>
            <p:ph type="body"/>
          </p:nvPr>
        </p:nvSpPr>
        <p:spPr>
          <a:xfrm>
            <a:off x="457200" y="1200150"/>
            <a:ext cx="8229600" cy="3394075"/>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日期占位符 3"/>
          <p:cNvSpPr>
            <a:spLocks noGrp="1" noChangeArrowheads="1"/>
          </p:cNvSpPr>
          <p:nvPr>
            <p:ph type="dt" sz="half" idx="2"/>
          </p:nvPr>
        </p:nvSpPr>
        <p:spPr bwMode="auto">
          <a:xfrm>
            <a:off x="457200" y="4767263"/>
            <a:ext cx="2133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页脚占位符 4"/>
          <p:cNvSpPr>
            <a:spLocks noGrp="1" noChangeArrowheads="1"/>
          </p:cNvSpPr>
          <p:nvPr>
            <p:ph type="ftr" sz="quarter" idx="3"/>
          </p:nvPr>
        </p:nvSpPr>
        <p:spPr bwMode="auto">
          <a:xfrm>
            <a:off x="3124200" y="4767263"/>
            <a:ext cx="2895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1030" name="灯片编号占位符 5"/>
          <p:cNvSpPr>
            <a:spLocks noGrp="1" noChangeArrowheads="1"/>
          </p:cNvSpPr>
          <p:nvPr>
            <p:ph type="sldNum" sz="quarter" idx="4"/>
          </p:nvPr>
        </p:nvSpPr>
        <p:spPr bwMode="auto">
          <a:xfrm>
            <a:off x="6553200" y="4767263"/>
            <a:ext cx="2133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noProof="1" dirty="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sldNum="0" hdr="0" ftr="0"/>
  <p:txStyles>
    <p:titleStyle>
      <a:lvl1pPr marL="914400" indent="-914400" algn="ctr" rtl="0" eaLnBrk="0" fontAlgn="base" hangingPunct="0">
        <a:spcBef>
          <a:spcPct val="0"/>
        </a:spcBef>
        <a:spcAft>
          <a:spcPct val="0"/>
        </a:spcAft>
        <a:defRPr sz="4400">
          <a:solidFill>
            <a:schemeClr val="tx1"/>
          </a:solidFill>
          <a:latin typeface="+mj-lt"/>
          <a:ea typeface="+mj-ea"/>
          <a:cs typeface="+mj-cs"/>
          <a:sym typeface="Bodoni MT" panose="02070603080606020203" pitchFamily="18" charset="0"/>
        </a:defRPr>
      </a:lvl1pPr>
      <a:lvl2pPr marL="914400" indent="-914400" algn="ctr" rtl="0" eaLnBrk="0" fontAlgn="base" hangingPunct="0">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2pPr>
      <a:lvl3pPr marL="914400" indent="-914400" algn="ctr" rtl="0" eaLnBrk="0" fontAlgn="base" hangingPunct="0">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3pPr>
      <a:lvl4pPr marL="914400" indent="-914400" algn="ctr" rtl="0" eaLnBrk="0" fontAlgn="base" hangingPunct="0">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4pPr>
      <a:lvl5pPr marL="914400" indent="-914400" algn="ctr" rtl="0" eaLnBrk="0" fontAlgn="base" hangingPunct="0">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5pPr>
      <a:lvl6pPr marL="1371600" indent="-914400" algn="ctr" rtl="0" fontAlgn="base">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6pPr>
      <a:lvl7pPr marL="1828800" indent="-914400" algn="ctr" rtl="0" fontAlgn="base">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7pPr>
      <a:lvl8pPr marL="2286000" indent="-914400" algn="ctr" rtl="0" fontAlgn="base">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8pPr>
      <a:lvl9pPr marL="2743200" indent="-914400" algn="ctr" rtl="0" fontAlgn="base">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Bodoni MT" panose="02070603080606020203" pitchFamily="18" charset="0"/>
        </a:defRPr>
      </a:lvl1pPr>
      <a:lvl2pPr marL="742950" indent="-28575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Bodoni MT" panose="02070603080606020203" pitchFamily="18" charset="0"/>
        </a:defRPr>
      </a:lvl2pPr>
      <a:lvl3pPr marL="1143000" indent="-228600" algn="l"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Bodoni MT" panose="02070603080606020203" pitchFamily="18" charset="0"/>
        </a:defRPr>
      </a:lvl3pPr>
      <a:lvl4pPr marL="1600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4pPr>
      <a:lvl5pPr marL="20574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5pPr>
      <a:lvl6pPr marL="25146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6pPr>
      <a:lvl7pPr marL="29718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7pPr>
      <a:lvl8pPr marL="34290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8pPr>
      <a:lvl9pPr marL="38862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4098" name="标题占位符 1"/>
          <p:cNvSpPr>
            <a:spLocks noGrp="1"/>
          </p:cNvSpPr>
          <p:nvPr>
            <p:ph type="title"/>
          </p:nvPr>
        </p:nvSpPr>
        <p:spPr>
          <a:xfrm>
            <a:off x="457200" y="206375"/>
            <a:ext cx="8229600" cy="85725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4099" name="文本占位符 2"/>
          <p:cNvSpPr>
            <a:spLocks noGrp="1"/>
          </p:cNvSpPr>
          <p:nvPr>
            <p:ph type="body"/>
          </p:nvPr>
        </p:nvSpPr>
        <p:spPr>
          <a:xfrm>
            <a:off x="457200" y="1200150"/>
            <a:ext cx="8229600" cy="3394075"/>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日期占位符 3"/>
          <p:cNvSpPr>
            <a:spLocks noGrp="1" noChangeArrowheads="1"/>
          </p:cNvSpPr>
          <p:nvPr>
            <p:ph type="dt" sz="half" idx="2"/>
          </p:nvPr>
        </p:nvSpPr>
        <p:spPr bwMode="auto">
          <a:xfrm>
            <a:off x="457200" y="4767263"/>
            <a:ext cx="2133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BEC3E60-AFFA-4E98-977C-D54BBEEF3E08}" type="datetime1">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页脚占位符 4"/>
          <p:cNvSpPr>
            <a:spLocks noGrp="1" noChangeArrowheads="1"/>
          </p:cNvSpPr>
          <p:nvPr>
            <p:ph type="ftr" sz="quarter" idx="3"/>
          </p:nvPr>
        </p:nvSpPr>
        <p:spPr bwMode="auto">
          <a:xfrm>
            <a:off x="3124200" y="4767263"/>
            <a:ext cx="2895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1030" name="灯片编号占位符 5"/>
          <p:cNvSpPr>
            <a:spLocks noGrp="1" noChangeArrowheads="1"/>
          </p:cNvSpPr>
          <p:nvPr>
            <p:ph type="sldNum" sz="quarter" idx="4"/>
          </p:nvPr>
        </p:nvSpPr>
        <p:spPr bwMode="auto">
          <a:xfrm>
            <a:off x="6553200" y="4767263"/>
            <a:ext cx="2133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noProof="1" dirty="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A7C62F-5011-4509-B0B9-46FA904A6AED}" type="slidenum">
              <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hf sldNum="0" hdr="0" ftr="0"/>
  <p:txStyles>
    <p:titleStyle>
      <a:lvl1pPr marL="914400" indent="-914400" algn="ctr" rtl="0" eaLnBrk="0" fontAlgn="base" hangingPunct="0">
        <a:spcBef>
          <a:spcPct val="0"/>
        </a:spcBef>
        <a:spcAft>
          <a:spcPct val="0"/>
        </a:spcAft>
        <a:defRPr sz="4400">
          <a:solidFill>
            <a:schemeClr val="tx1"/>
          </a:solidFill>
          <a:latin typeface="+mj-lt"/>
          <a:ea typeface="+mj-ea"/>
          <a:cs typeface="+mj-cs"/>
          <a:sym typeface="Bodoni MT" panose="02070603080606020203" pitchFamily="18" charset="0"/>
        </a:defRPr>
      </a:lvl1pPr>
      <a:lvl2pPr marL="914400" indent="-914400" algn="ctr" rtl="0" eaLnBrk="0" fontAlgn="base" hangingPunct="0">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2pPr>
      <a:lvl3pPr marL="914400" indent="-914400" algn="ctr" rtl="0" eaLnBrk="0" fontAlgn="base" hangingPunct="0">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3pPr>
      <a:lvl4pPr marL="914400" indent="-914400" algn="ctr" rtl="0" eaLnBrk="0" fontAlgn="base" hangingPunct="0">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4pPr>
      <a:lvl5pPr marL="914400" indent="-914400" algn="ctr" rtl="0" eaLnBrk="0" fontAlgn="base" hangingPunct="0">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5pPr>
      <a:lvl6pPr marL="1371600" indent="-914400" algn="ctr" rtl="0" fontAlgn="base">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6pPr>
      <a:lvl7pPr marL="1828800" indent="-914400" algn="ctr" rtl="0" fontAlgn="base">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7pPr>
      <a:lvl8pPr marL="2286000" indent="-914400" algn="ctr" rtl="0" fontAlgn="base">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8pPr>
      <a:lvl9pPr marL="2743200" indent="-914400" algn="ctr" rtl="0" fontAlgn="base">
        <a:spcBef>
          <a:spcPct val="0"/>
        </a:spcBef>
        <a:spcAft>
          <a:spcPct val="0"/>
        </a:spcAft>
        <a:defRPr sz="4400">
          <a:solidFill>
            <a:schemeClr val="tx1"/>
          </a:solidFill>
          <a:latin typeface="Bodoni MT" panose="02070603080606020203" pitchFamily="18" charset="0"/>
          <a:ea typeface="华康俪金黑W8" charset="0"/>
          <a:cs typeface="华康俪金黑W8" charset="0"/>
          <a:sym typeface="Bodoni MT" panose="02070603080606020203" pitchFamily="18"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Bodoni MT" panose="02070603080606020203" pitchFamily="18" charset="0"/>
        </a:defRPr>
      </a:lvl1pPr>
      <a:lvl2pPr marL="742950" indent="-28575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Bodoni MT" panose="02070603080606020203" pitchFamily="18" charset="0"/>
        </a:defRPr>
      </a:lvl2pPr>
      <a:lvl3pPr marL="1143000" indent="-228600" algn="l"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Bodoni MT" panose="02070603080606020203" pitchFamily="18" charset="0"/>
        </a:defRPr>
      </a:lvl3pPr>
      <a:lvl4pPr marL="1600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4pPr>
      <a:lvl5pPr marL="20574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5pPr>
      <a:lvl6pPr marL="25146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6pPr>
      <a:lvl7pPr marL="29718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7pPr>
      <a:lvl8pPr marL="34290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8pPr>
      <a:lvl9pPr marL="38862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sym typeface="Bodoni MT" panose="02070603080606020203"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3.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8.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36.xml"/><Relationship Id="rId2" Type="http://schemas.openxmlformats.org/officeDocument/2006/relationships/image" Target="../media/image9.emf"/><Relationship Id="rId1" Type="http://schemas.openxmlformats.org/officeDocument/2006/relationships/oleObject" Target="../embeddings/oleObject1.bin"/></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image" Target="../media/image10.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image" Target="../media/image1.jpe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image" Target="../media/image1.jpeg"/></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36.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tags" Target="../tags/tag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48.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48.xml"/><Relationship Id="rId2" Type="http://schemas.openxmlformats.org/officeDocument/2006/relationships/image" Target="../media/image17.png"/><Relationship Id="rId1" Type="http://schemas.openxmlformats.org/officeDocument/2006/relationships/tags" Target="../tags/tag2.xml"/></Relationships>
</file>

<file path=ppt/slides/_rels/slide43.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image" Target="../media/image21.jpeg"/><Relationship Id="rId7" Type="http://schemas.openxmlformats.org/officeDocument/2006/relationships/tags" Target="../tags/tag6.xml"/><Relationship Id="rId6" Type="http://schemas.openxmlformats.org/officeDocument/2006/relationships/image" Target="../media/image20.jpeg"/><Relationship Id="rId5" Type="http://schemas.openxmlformats.org/officeDocument/2006/relationships/tags" Target="../tags/tag5.xml"/><Relationship Id="rId4" Type="http://schemas.openxmlformats.org/officeDocument/2006/relationships/image" Target="../media/image19.jpeg"/><Relationship Id="rId3" Type="http://schemas.openxmlformats.org/officeDocument/2006/relationships/tags" Target="../tags/tag4.xml"/><Relationship Id="rId2" Type="http://schemas.openxmlformats.org/officeDocument/2006/relationships/image" Target="../media/image18.jpeg"/><Relationship Id="rId13" Type="http://schemas.openxmlformats.org/officeDocument/2006/relationships/slideLayout" Target="../slideLayouts/slideLayout60.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image" Target="../media/image22.jpeg"/><Relationship Id="rId1" Type="http://schemas.openxmlformats.org/officeDocument/2006/relationships/tags" Target="../tags/tag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Box 42"/>
          <p:cNvSpPr txBox="1"/>
          <p:nvPr/>
        </p:nvSpPr>
        <p:spPr>
          <a:xfrm>
            <a:off x="511175" y="1971675"/>
            <a:ext cx="8226425" cy="1014413"/>
          </a:xfrm>
          <a:prstGeom prst="rect">
            <a:avLst/>
          </a:prstGeom>
          <a:noFill/>
          <a:ln w="9525">
            <a:noFill/>
          </a:ln>
        </p:spPr>
        <p:txBody>
          <a:bodyPr anchor="t" anchorCtr="0">
            <a:spAutoFit/>
          </a:bodyPr>
          <a:p>
            <a:pPr algn="ctr"/>
            <a:r>
              <a:rPr lang="zh-CN" altLang="en-US" sz="6000" b="1" dirty="0">
                <a:solidFill>
                  <a:srgbClr val="FC6C02"/>
                </a:solidFill>
                <a:latin typeface="微软雅黑" panose="020B0503020204020204" pitchFamily="34" charset="-122"/>
                <a:ea typeface="微软雅黑" panose="020B0503020204020204" pitchFamily="34" charset="-122"/>
                <a:sym typeface="Bodoni MT" panose="02070603080606020203" pitchFamily="18" charset="0"/>
              </a:rPr>
              <a:t>嵌入式系统与设计</a:t>
            </a:r>
            <a:endParaRPr lang="zh-CN" altLang="en-US" sz="6000" b="1" dirty="0">
              <a:solidFill>
                <a:srgbClr val="FC6C02"/>
              </a:solidFill>
              <a:latin typeface="微软雅黑" panose="020B0503020204020204" pitchFamily="34" charset="-122"/>
              <a:ea typeface="微软雅黑" panose="020B0503020204020204" pitchFamily="34" charset="-122"/>
              <a:sym typeface="Bodoni MT" panose="02070603080606020203" pitchFamily="18" charset="0"/>
            </a:endParaRPr>
          </a:p>
        </p:txBody>
      </p:sp>
      <p:cxnSp>
        <p:nvCxnSpPr>
          <p:cNvPr id="6" name="直接连接符 5"/>
          <p:cNvCxnSpPr/>
          <p:nvPr/>
        </p:nvCxnSpPr>
        <p:spPr>
          <a:xfrm flipV="1">
            <a:off x="1766888" y="3306763"/>
            <a:ext cx="1522413" cy="3175"/>
          </a:xfrm>
          <a:prstGeom prst="line">
            <a:avLst/>
          </a:prstGeom>
          <a:ln w="12700">
            <a:solidFill>
              <a:srgbClr val="FC6C02"/>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a:stCxn id="8" idx="3"/>
          </p:cNvCxnSpPr>
          <p:nvPr/>
        </p:nvCxnSpPr>
        <p:spPr>
          <a:xfrm flipV="1">
            <a:off x="5910263" y="3308350"/>
            <a:ext cx="1628775" cy="14288"/>
          </a:xfrm>
          <a:prstGeom prst="line">
            <a:avLst/>
          </a:prstGeom>
          <a:ln w="12700">
            <a:solidFill>
              <a:srgbClr val="FC6C02"/>
            </a:solidFill>
          </a:ln>
        </p:spPr>
        <p:style>
          <a:lnRef idx="1">
            <a:schemeClr val="accent1"/>
          </a:lnRef>
          <a:fillRef idx="0">
            <a:schemeClr val="accent1"/>
          </a:fillRef>
          <a:effectRef idx="0">
            <a:schemeClr val="accent1"/>
          </a:effectRef>
          <a:fontRef idx="minor">
            <a:schemeClr val="tx1"/>
          </a:fontRef>
        </p:style>
      </p:cxnSp>
      <p:sp>
        <p:nvSpPr>
          <p:cNvPr id="8" name="文本框 27"/>
          <p:cNvSpPr txBox="1"/>
          <p:nvPr/>
        </p:nvSpPr>
        <p:spPr>
          <a:xfrm>
            <a:off x="3233738" y="3154363"/>
            <a:ext cx="2676525" cy="338137"/>
          </a:xfrm>
          <a:prstGeom prst="rect">
            <a:avLst/>
          </a:prstGeom>
          <a:noFill/>
          <a:ln w="9525">
            <a:noFill/>
          </a:ln>
        </p:spPr>
        <p:txBody>
          <a:bodyPr anchor="t" anchorCtr="0">
            <a:spAutoFit/>
          </a:bodyPr>
          <a:p>
            <a:pPr algn="dist"/>
            <a:r>
              <a:rPr lang="zh-CN" altLang="zh-CN" sz="1600" dirty="0">
                <a:solidFill>
                  <a:srgbClr val="FC6C02"/>
                </a:solidFill>
                <a:latin typeface="黑体" panose="02010609060101010101" charset="-122"/>
                <a:ea typeface="黑体" panose="02010609060101010101" charset="-122"/>
                <a:sym typeface="Bodoni MT" panose="02070603080606020203" pitchFamily="18" charset="0"/>
              </a:rPr>
              <a:t>基于</a:t>
            </a:r>
            <a:r>
              <a:rPr lang="en-US" altLang="zh-CN" sz="1600" dirty="0">
                <a:solidFill>
                  <a:srgbClr val="FC6C02"/>
                </a:solidFill>
                <a:latin typeface="黑体" panose="02010609060101010101" charset="-122"/>
                <a:ea typeface="黑体" panose="02010609060101010101" charset="-122"/>
                <a:sym typeface="Bodoni MT" panose="02070603080606020203" pitchFamily="18" charset="0"/>
              </a:rPr>
              <a:t>STM32F103ZET6</a:t>
            </a:r>
            <a:endParaRPr lang="en-US" altLang="zh-CN" sz="1600" dirty="0">
              <a:solidFill>
                <a:srgbClr val="FC6C02"/>
              </a:solidFill>
              <a:latin typeface="黑体" panose="02010609060101010101" charset="-122"/>
              <a:ea typeface="黑体" panose="02010609060101010101" charset="-122"/>
              <a:sym typeface="Bodoni MT" panose="02070603080606020203" pitchFamily="18" charset="0"/>
            </a:endParaRPr>
          </a:p>
        </p:txBody>
      </p:sp>
      <p:sp>
        <p:nvSpPr>
          <p:cNvPr id="9" name="TextBox 1"/>
          <p:cNvSpPr txBox="1"/>
          <p:nvPr/>
        </p:nvSpPr>
        <p:spPr>
          <a:xfrm>
            <a:off x="2352675" y="3754438"/>
            <a:ext cx="4543425" cy="922020"/>
          </a:xfrm>
          <a:prstGeom prst="rect">
            <a:avLst/>
          </a:prstGeom>
          <a:noFill/>
          <a:ln w="9525">
            <a:noFill/>
          </a:ln>
        </p:spPr>
        <p:txBody>
          <a:bodyPr anchor="t" anchorCtr="0">
            <a:spAutoFit/>
          </a:bodyPr>
          <a:p>
            <a:pPr algn="ctr"/>
            <a:r>
              <a:rPr lang="zh-CN" altLang="zh-CN" dirty="0">
                <a:solidFill>
                  <a:srgbClr val="FC6C02"/>
                </a:solidFill>
                <a:latin typeface="微软雅黑" panose="020B0503020204020204" pitchFamily="34" charset="-122"/>
                <a:ea typeface="微软雅黑" panose="020B0503020204020204" pitchFamily="34" charset="-122"/>
                <a:sym typeface="Bodoni MT" panose="02070603080606020203" pitchFamily="18" charset="0"/>
              </a:rPr>
              <a:t>授课教师：王鸿飞</a:t>
            </a:r>
            <a:endParaRPr lang="zh-CN" altLang="zh-CN" dirty="0">
              <a:solidFill>
                <a:srgbClr val="FC6C02"/>
              </a:solidFill>
              <a:latin typeface="微软雅黑" panose="020B0503020204020204" pitchFamily="34" charset="-122"/>
              <a:ea typeface="微软雅黑" panose="020B0503020204020204" pitchFamily="34" charset="-122"/>
              <a:sym typeface="Bodoni MT" panose="02070603080606020203" pitchFamily="18" charset="0"/>
            </a:endParaRPr>
          </a:p>
          <a:p>
            <a:pPr algn="ctr"/>
            <a:endParaRPr lang="zh-CN" altLang="zh-CN" dirty="0">
              <a:solidFill>
                <a:srgbClr val="FC6C02"/>
              </a:solidFill>
              <a:latin typeface="微软雅黑" panose="020B0503020204020204" pitchFamily="34" charset="-122"/>
              <a:ea typeface="微软雅黑" panose="020B0503020204020204" pitchFamily="34" charset="-122"/>
              <a:sym typeface="Bodoni MT" panose="02070603080606020203" pitchFamily="18" charset="0"/>
            </a:endParaRPr>
          </a:p>
          <a:p>
            <a:pPr algn="ctr"/>
            <a:r>
              <a:rPr lang="en-US" altLang="zh-CN" dirty="0">
                <a:solidFill>
                  <a:srgbClr val="FC6C02"/>
                </a:solidFill>
                <a:latin typeface="微软雅黑" panose="020B0503020204020204" pitchFamily="34" charset="-122"/>
                <a:ea typeface="微软雅黑" panose="020B0503020204020204" pitchFamily="34" charset="-122"/>
                <a:sym typeface="Bodoni MT" panose="02070603080606020203" pitchFamily="18" charset="0"/>
              </a:rPr>
              <a:t>2023.9</a:t>
            </a:r>
            <a:endParaRPr lang="en-US" altLang="zh-CN" dirty="0">
              <a:solidFill>
                <a:srgbClr val="FC6C02"/>
              </a:solidFill>
              <a:latin typeface="微软雅黑" panose="020B0503020204020204" pitchFamily="34" charset="-122"/>
              <a:ea typeface="微软雅黑" panose="020B0503020204020204" pitchFamily="34" charset="-122"/>
              <a:sym typeface="Bodoni MT" panose="02070603080606020203" pitchFamily="18" charset="0"/>
            </a:endParaRPr>
          </a:p>
        </p:txBody>
      </p:sp>
      <p:sp>
        <p:nvSpPr>
          <p:cNvPr id="10" name="文本框 20"/>
          <p:cNvSpPr txBox="1"/>
          <p:nvPr/>
        </p:nvSpPr>
        <p:spPr>
          <a:xfrm>
            <a:off x="1944688" y="603250"/>
            <a:ext cx="5253037" cy="1368425"/>
          </a:xfrm>
          <a:prstGeom prst="rect">
            <a:avLst/>
          </a:prstGeom>
          <a:noFill/>
          <a:ln w="9525">
            <a:noFill/>
          </a:ln>
        </p:spPr>
        <p:txBody>
          <a:bodyPr anchor="t" anchorCtr="0">
            <a:spAutoFit/>
          </a:bodyPr>
          <a:p>
            <a:pPr algn="ctr"/>
            <a:r>
              <a:rPr lang="en-US" altLang="zh-CN" sz="8300" dirty="0">
                <a:solidFill>
                  <a:srgbClr val="FC6C02"/>
                </a:solidFill>
                <a:latin typeface="Impact" panose="020B0806030902050204" pitchFamily="34" charset="0"/>
                <a:ea typeface="微软雅黑" panose="020B0503020204020204" pitchFamily="34" charset="-122"/>
                <a:sym typeface="Bodoni MT" panose="02070603080606020203" pitchFamily="18" charset="0"/>
              </a:rPr>
              <a:t>2023</a:t>
            </a:r>
            <a:endParaRPr lang="en-US" altLang="zh-CN" sz="8300" dirty="0">
              <a:solidFill>
                <a:srgbClr val="FC6C02"/>
              </a:solidFill>
              <a:latin typeface="Impact" panose="020B0806030902050204" pitchFamily="34" charset="0"/>
              <a:ea typeface="微软雅黑" panose="020B0503020204020204" pitchFamily="34" charset="-122"/>
              <a:sym typeface="Bodoni MT" panose="020706030806060202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strVal val="4*#ppt_w"/>
                                          </p:val>
                                        </p:tav>
                                        <p:tav tm="100000">
                                          <p:val>
                                            <p:strVal val="#ppt_w"/>
                                          </p:val>
                                        </p:tav>
                                      </p:tavLst>
                                    </p:anim>
                                    <p:anim calcmode="lin" valueType="num">
                                      <p:cBhvr>
                                        <p:cTn id="8" dur="500" fill="hold"/>
                                        <p:tgtEl>
                                          <p:spTgt spid="10"/>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56" presetClass="entr" presetSubtype="0" fill="hold" grpId="0" nodeType="afterEffect">
                                  <p:stCondLst>
                                    <p:cond delay="0"/>
                                  </p:stCondLst>
                                  <p:iterate type="lt">
                                    <p:tmPct val="10000"/>
                                  </p:iterate>
                                  <p:childTnLst>
                                    <p:set>
                                      <p:cBhvr>
                                        <p:cTn id="11" dur="1" fill="hold">
                                          <p:stCondLst>
                                            <p:cond delay="0"/>
                                          </p:stCondLst>
                                        </p:cTn>
                                        <p:tgtEl>
                                          <p:spTgt spid="5"/>
                                        </p:tgtEl>
                                        <p:attrNameLst>
                                          <p:attrName>style.visibility</p:attrName>
                                        </p:attrNameLst>
                                      </p:cBhvr>
                                      <p:to>
                                        <p:strVal val="visible"/>
                                      </p:to>
                                    </p:set>
                                    <p:anim by="(-#ppt_w*2)" calcmode="lin" valueType="num">
                                      <p:cBhvr rctx="PPT">
                                        <p:cTn id="12" dur="500" autoRev="1" fill="hold">
                                          <p:stCondLst>
                                            <p:cond delay="0"/>
                                          </p:stCondLst>
                                        </p:cTn>
                                        <p:tgtEl>
                                          <p:spTgt spid="5"/>
                                        </p:tgtEl>
                                        <p:attrNameLst>
                                          <p:attrName>ppt_w</p:attrName>
                                        </p:attrNameLst>
                                      </p:cBhvr>
                                    </p:anim>
                                    <p:anim by="(#ppt_w*0.50)" calcmode="lin" valueType="num">
                                      <p:cBhvr>
                                        <p:cTn id="13" dur="500" decel="50000" autoRev="1" fill="hold">
                                          <p:stCondLst>
                                            <p:cond delay="0"/>
                                          </p:stCondLst>
                                        </p:cTn>
                                        <p:tgtEl>
                                          <p:spTgt spid="5"/>
                                        </p:tgtEl>
                                        <p:attrNameLst>
                                          <p:attrName>ppt_x</p:attrName>
                                        </p:attrNameLst>
                                      </p:cBhvr>
                                    </p:anim>
                                    <p:anim from="(-#ppt_h/2)" to="(#ppt_y)" calcmode="lin" valueType="num">
                                      <p:cBhvr>
                                        <p:cTn id="14" dur="1000" fill="hold">
                                          <p:stCondLst>
                                            <p:cond delay="0"/>
                                          </p:stCondLst>
                                        </p:cTn>
                                        <p:tgtEl>
                                          <p:spTgt spid="5"/>
                                        </p:tgtEl>
                                        <p:attrNameLst>
                                          <p:attrName>ppt_y</p:attrName>
                                        </p:attrNameLst>
                                      </p:cBhvr>
                                    </p:anim>
                                    <p:animRot by="21600000">
                                      <p:cBhvr>
                                        <p:cTn id="15" dur="1000" fill="hold">
                                          <p:stCondLst>
                                            <p:cond delay="0"/>
                                          </p:stCondLst>
                                        </p:cTn>
                                        <p:tgtEl>
                                          <p:spTgt spid="5"/>
                                        </p:tgtEl>
                                        <p:attrNameLst>
                                          <p:attrName>r</p:attrName>
                                        </p:attrNameLst>
                                      </p:cBhvr>
                                    </p:animRot>
                                  </p:childTnLst>
                                </p:cTn>
                              </p:par>
                            </p:childTnLst>
                          </p:cTn>
                        </p:par>
                        <p:par>
                          <p:cTn id="16" fill="hold">
                            <p:stCondLst>
                              <p:cond delay="2200"/>
                            </p:stCondLst>
                            <p:childTnLst>
                              <p:par>
                                <p:cTn id="17" presetID="56" presetClass="entr" presetSubtype="0" fill="hold" grpId="0" nodeType="afterEffect">
                                  <p:stCondLst>
                                    <p:cond delay="0"/>
                                  </p:stCondLst>
                                  <p:iterate type="lt">
                                    <p:tmPct val="10000"/>
                                  </p:iterate>
                                  <p:childTnLst>
                                    <p:set>
                                      <p:cBhvr>
                                        <p:cTn id="18" dur="1" fill="hold">
                                          <p:stCondLst>
                                            <p:cond delay="0"/>
                                          </p:stCondLst>
                                        </p:cTn>
                                        <p:tgtEl>
                                          <p:spTgt spid="8"/>
                                        </p:tgtEl>
                                        <p:attrNameLst>
                                          <p:attrName>style.visibility</p:attrName>
                                        </p:attrNameLst>
                                      </p:cBhvr>
                                      <p:to>
                                        <p:strVal val="visible"/>
                                      </p:to>
                                    </p:set>
                                    <p:anim by="(-#ppt_w*2)" calcmode="lin" valueType="num">
                                      <p:cBhvr rctx="PPT">
                                        <p:cTn id="19" dur="375" autoRev="1" fill="hold">
                                          <p:stCondLst>
                                            <p:cond delay="0"/>
                                          </p:stCondLst>
                                        </p:cTn>
                                        <p:tgtEl>
                                          <p:spTgt spid="8"/>
                                        </p:tgtEl>
                                        <p:attrNameLst>
                                          <p:attrName>ppt_w</p:attrName>
                                        </p:attrNameLst>
                                      </p:cBhvr>
                                    </p:anim>
                                    <p:anim by="(#ppt_w*0.50)" calcmode="lin" valueType="num">
                                      <p:cBhvr>
                                        <p:cTn id="20" dur="375" decel="50000" autoRev="1" fill="hold">
                                          <p:stCondLst>
                                            <p:cond delay="0"/>
                                          </p:stCondLst>
                                        </p:cTn>
                                        <p:tgtEl>
                                          <p:spTgt spid="8"/>
                                        </p:tgtEl>
                                        <p:attrNameLst>
                                          <p:attrName>ppt_x</p:attrName>
                                        </p:attrNameLst>
                                      </p:cBhvr>
                                    </p:anim>
                                    <p:anim from="(-#ppt_h/2)" to="(#ppt_y)" calcmode="lin" valueType="num">
                                      <p:cBhvr>
                                        <p:cTn id="21" dur="750" fill="hold">
                                          <p:stCondLst>
                                            <p:cond delay="0"/>
                                          </p:stCondLst>
                                        </p:cTn>
                                        <p:tgtEl>
                                          <p:spTgt spid="8"/>
                                        </p:tgtEl>
                                        <p:attrNameLst>
                                          <p:attrName>ppt_y</p:attrName>
                                        </p:attrNameLst>
                                      </p:cBhvr>
                                    </p:anim>
                                    <p:animRot by="21600000">
                                      <p:cBhvr>
                                        <p:cTn id="22" dur="750" fill="hold">
                                          <p:stCondLst>
                                            <p:cond delay="0"/>
                                          </p:stCondLst>
                                        </p:cTn>
                                        <p:tgtEl>
                                          <p:spTgt spid="8"/>
                                        </p:tgtEl>
                                        <p:attrNameLst>
                                          <p:attrName>r</p:attrName>
                                        </p:attrNameLst>
                                      </p:cBhvr>
                                    </p:animRot>
                                  </p:childTnLst>
                                </p:cTn>
                              </p:par>
                            </p:childTnLst>
                          </p:cTn>
                        </p:par>
                        <p:par>
                          <p:cTn id="23" fill="hold">
                            <p:stCondLst>
                              <p:cond delay="4000"/>
                            </p:stCondLst>
                            <p:childTnLst>
                              <p:par>
                                <p:cTn id="24" presetID="22" presetClass="entr" presetSubtype="2" fill="hold"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right)">
                                      <p:cBhvr>
                                        <p:cTn id="26" dur="500"/>
                                        <p:tgtEl>
                                          <p:spTgt spid="6"/>
                                        </p:tgtEl>
                                      </p:cBhvr>
                                    </p:animEffect>
                                  </p:childTnLst>
                                </p:cTn>
                              </p:par>
                              <p:par>
                                <p:cTn id="27" presetID="22" presetClass="entr" presetSubtype="8" fill="hold"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childTnLst>
                          </p:cTn>
                        </p:par>
                        <p:par>
                          <p:cTn id="30" fill="hold">
                            <p:stCondLst>
                              <p:cond delay="4500"/>
                            </p:stCondLst>
                            <p:childTnLst>
                              <p:par>
                                <p:cTn id="31" presetID="56" presetClass="entr" presetSubtype="0" fill="hold" grpId="0" nodeType="afterEffect">
                                  <p:stCondLst>
                                    <p:cond delay="0"/>
                                  </p:stCondLst>
                                  <p:iterate type="lt">
                                    <p:tmPct val="10000"/>
                                  </p:iterate>
                                  <p:childTnLst>
                                    <p:set>
                                      <p:cBhvr>
                                        <p:cTn id="32" dur="1" fill="hold">
                                          <p:stCondLst>
                                            <p:cond delay="0"/>
                                          </p:stCondLst>
                                        </p:cTn>
                                        <p:tgtEl>
                                          <p:spTgt spid="9"/>
                                        </p:tgtEl>
                                        <p:attrNameLst>
                                          <p:attrName>style.visibility</p:attrName>
                                        </p:attrNameLst>
                                      </p:cBhvr>
                                      <p:to>
                                        <p:strVal val="visible"/>
                                      </p:to>
                                    </p:set>
                                    <p:anim by="(-#ppt_w*2)" calcmode="lin" valueType="num">
                                      <p:cBhvr rctx="PPT">
                                        <p:cTn id="33" dur="375" autoRev="1" fill="hold">
                                          <p:stCondLst>
                                            <p:cond delay="0"/>
                                          </p:stCondLst>
                                        </p:cTn>
                                        <p:tgtEl>
                                          <p:spTgt spid="9"/>
                                        </p:tgtEl>
                                        <p:attrNameLst>
                                          <p:attrName>ppt_w</p:attrName>
                                        </p:attrNameLst>
                                      </p:cBhvr>
                                    </p:anim>
                                    <p:anim by="(#ppt_w*0.50)" calcmode="lin" valueType="num">
                                      <p:cBhvr>
                                        <p:cTn id="34" dur="375" decel="50000" autoRev="1" fill="hold">
                                          <p:stCondLst>
                                            <p:cond delay="0"/>
                                          </p:stCondLst>
                                        </p:cTn>
                                        <p:tgtEl>
                                          <p:spTgt spid="9"/>
                                        </p:tgtEl>
                                        <p:attrNameLst>
                                          <p:attrName>ppt_x</p:attrName>
                                        </p:attrNameLst>
                                      </p:cBhvr>
                                    </p:anim>
                                    <p:anim from="(-#ppt_h/2)" to="(#ppt_y)" calcmode="lin" valueType="num">
                                      <p:cBhvr>
                                        <p:cTn id="35" dur="750" fill="hold">
                                          <p:stCondLst>
                                            <p:cond delay="0"/>
                                          </p:stCondLst>
                                        </p:cTn>
                                        <p:tgtEl>
                                          <p:spTgt spid="9"/>
                                        </p:tgtEl>
                                        <p:attrNameLst>
                                          <p:attrName>ppt_y</p:attrName>
                                        </p:attrNameLst>
                                      </p:cBhvr>
                                    </p:anim>
                                    <p:animRot by="21600000">
                                      <p:cBhvr>
                                        <p:cTn id="36" dur="750" fill="hold">
                                          <p:stCondLst>
                                            <p:cond delay="0"/>
                                          </p:stCondLst>
                                        </p:cTn>
                                        <p:tgtEl>
                                          <p:spTgt spid="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636588" y="827088"/>
            <a:ext cx="7870825" cy="3875088"/>
          </a:xfrm>
          <a:prstGeom prst="rect">
            <a:avLst/>
          </a:prstGeom>
          <a:solidFill>
            <a:schemeClr val="bg1"/>
          </a:solidFill>
          <a:ln>
            <a:solidFill>
              <a:srgbClr val="FC6C0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51230" rtl="0" eaLnBrk="1" fontAlgn="auto" latinLnBrk="0" hangingPunct="1">
              <a:lnSpc>
                <a:spcPct val="100000"/>
              </a:lnSpc>
              <a:spcBef>
                <a:spcPts val="0"/>
              </a:spcBef>
              <a:spcAft>
                <a:spcPts val="0"/>
              </a:spcAft>
              <a:buClrTx/>
              <a:buSzTx/>
              <a:buFontTx/>
              <a:buNone/>
              <a:defRPr/>
            </a:pPr>
            <a:endParaRPr kumimoji="0" lang="zh-CN" altLang="en-US" sz="1900" b="0" i="0" u="none" strike="noStrike" kern="1200" cap="none" spc="0" normalizeH="0" baseline="0" noProof="0">
              <a:ln>
                <a:noFill/>
              </a:ln>
              <a:solidFill>
                <a:schemeClr val="lt1"/>
              </a:solidFill>
              <a:effectLst/>
              <a:uLnTx/>
              <a:uFillTx/>
              <a:latin typeface="+mn-lt"/>
              <a:ea typeface="+mn-ea"/>
              <a:cs typeface="+mn-cs"/>
            </a:endParaRPr>
          </a:p>
        </p:txBody>
      </p:sp>
      <p:sp>
        <p:nvSpPr>
          <p:cNvPr id="9" name="矩形 8"/>
          <p:cNvSpPr/>
          <p:nvPr/>
        </p:nvSpPr>
        <p:spPr>
          <a:xfrm>
            <a:off x="1341438" y="474663"/>
            <a:ext cx="4232275" cy="773113"/>
          </a:xfrm>
          <a:prstGeom prst="rect">
            <a:avLst/>
          </a:prstGeom>
          <a:solidFill>
            <a:srgbClr val="FC6C0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51230" rtl="0" eaLnBrk="1" fontAlgn="auto" latinLnBrk="0" hangingPunct="1">
              <a:lnSpc>
                <a:spcPct val="100000"/>
              </a:lnSpc>
              <a:spcBef>
                <a:spcPts val="0"/>
              </a:spcBef>
              <a:spcAft>
                <a:spcPts val="0"/>
              </a:spcAft>
              <a:buClrTx/>
              <a:buSzTx/>
              <a:buFontTx/>
              <a:buNone/>
              <a:defRPr/>
            </a:pPr>
            <a:endParaRPr kumimoji="0" lang="zh-CN" altLang="en-US" sz="1900" b="0" i="0" u="none" strike="noStrike" kern="1200" cap="none" spc="0" normalizeH="0" baseline="0" noProof="0">
              <a:ln>
                <a:noFill/>
              </a:ln>
              <a:solidFill>
                <a:srgbClr val="FC6C02"/>
              </a:solidFill>
              <a:effectLst/>
              <a:uLnTx/>
              <a:uFillTx/>
              <a:latin typeface="+mn-lt"/>
              <a:ea typeface="+mn-ea"/>
              <a:cs typeface="+mn-cs"/>
            </a:endParaRPr>
          </a:p>
        </p:txBody>
      </p:sp>
      <p:sp>
        <p:nvSpPr>
          <p:cNvPr id="10" name="文本框 5"/>
          <p:cNvSpPr txBox="1"/>
          <p:nvPr/>
        </p:nvSpPr>
        <p:spPr>
          <a:xfrm>
            <a:off x="1181099" y="569594"/>
            <a:ext cx="4552950" cy="583566"/>
          </a:xfrm>
          <a:prstGeom prst="rect">
            <a:avLst/>
          </a:prstGeom>
          <a:noFill/>
          <a:ln w="9525">
            <a:noFill/>
          </a:ln>
        </p:spPr>
        <p:txBody>
          <a:bodyPr>
            <a:spAutoFit/>
          </a:bodyPr>
          <a:lstStyle/>
          <a:p>
            <a:pPr marR="0" algn="ctr" defTabSz="914400">
              <a:buClrTx/>
              <a:buSzTx/>
              <a:buFont typeface="Arial" panose="020B0604020202020204" pitchFamily="34" charset="0"/>
              <a:buNone/>
              <a:defRPr/>
            </a:pPr>
            <a:r>
              <a:rPr kumimoji="0" lang="en-US" altLang="zh-CN" sz="3200" b="1" kern="1200" cap="none" spc="0" normalizeH="0" baseline="0" noProof="1">
                <a:ln w="10160">
                  <a:solidFill>
                    <a:schemeClr val="bg1"/>
                  </a:solidFill>
                  <a:prstDash val="solid"/>
                </a:ln>
                <a:solidFill>
                  <a:schemeClr val="bg1"/>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rPr>
              <a:t>STM32F103</a:t>
            </a:r>
            <a:r>
              <a:rPr kumimoji="0" lang="zh-CN" altLang="en-US" sz="3200" b="1" kern="1200" cap="none" spc="0" normalizeH="0" baseline="0" noProof="1">
                <a:ln w="10160">
                  <a:solidFill>
                    <a:schemeClr val="bg1"/>
                  </a:solidFill>
                  <a:prstDash val="solid"/>
                </a:ln>
                <a:solidFill>
                  <a:schemeClr val="bg1"/>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rPr>
              <a:t>微控制器</a:t>
            </a:r>
            <a:endParaRPr kumimoji="0" lang="zh-CN" altLang="en-US" sz="3200" b="1" kern="1200" cap="none" spc="0" normalizeH="0" baseline="0" noProof="1">
              <a:ln w="10160">
                <a:solidFill>
                  <a:schemeClr val="bg1"/>
                </a:solidFill>
                <a:prstDash val="solid"/>
              </a:ln>
              <a:solidFill>
                <a:schemeClr val="bg1"/>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endParaRPr>
          </a:p>
        </p:txBody>
      </p:sp>
      <p:grpSp>
        <p:nvGrpSpPr>
          <p:cNvPr id="12" name="组合 11"/>
          <p:cNvGrpSpPr/>
          <p:nvPr/>
        </p:nvGrpSpPr>
        <p:grpSpPr>
          <a:xfrm>
            <a:off x="7167563" y="1071563"/>
            <a:ext cx="1031875" cy="711200"/>
            <a:chOff x="-1697769" y="10550768"/>
            <a:chExt cx="1031096" cy="711796"/>
          </a:xfrm>
        </p:grpSpPr>
        <p:sp>
          <p:nvSpPr>
            <p:cNvPr id="13" name="Oval 16"/>
            <p:cNvSpPr>
              <a:spLocks noChangeArrowheads="1"/>
            </p:cNvSpPr>
            <p:nvPr/>
          </p:nvSpPr>
          <p:spPr bwMode="auto">
            <a:xfrm>
              <a:off x="-1697769" y="10550768"/>
              <a:ext cx="296638" cy="295522"/>
            </a:xfrm>
            <a:prstGeom prst="frame">
              <a:avLst/>
            </a:prstGeom>
            <a:solidFill>
              <a:schemeClr val="tx2">
                <a:lumMod val="20000"/>
                <a:lumOff val="80000"/>
              </a:schemeClr>
            </a:solidFill>
            <a:ln>
              <a:noFill/>
            </a:ln>
            <a:effectLst/>
          </p:spPr>
          <p:txBody>
            <a:bodyPr wrap="none" anchor="ctr"/>
            <a:lstStyle/>
            <a:p>
              <a:pPr marL="0" marR="0" lvl="0" indent="0" algn="l" defTabSz="95123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汉仪菱心体简" pitchFamily="49" charset="-122"/>
                <a:ea typeface="汉仪菱心体简" pitchFamily="49" charset="-122"/>
                <a:cs typeface="+mn-cs"/>
              </a:endParaRPr>
            </a:p>
          </p:txBody>
        </p:sp>
        <p:sp>
          <p:nvSpPr>
            <p:cNvPr id="14" name="Oval 17"/>
            <p:cNvSpPr>
              <a:spLocks noChangeArrowheads="1"/>
            </p:cNvSpPr>
            <p:nvPr/>
          </p:nvSpPr>
          <p:spPr bwMode="auto">
            <a:xfrm>
              <a:off x="-1277400" y="10808159"/>
              <a:ext cx="453682" cy="454405"/>
            </a:xfrm>
            <a:prstGeom prst="frame">
              <a:avLst/>
            </a:prstGeom>
            <a:solidFill>
              <a:schemeClr val="tx2">
                <a:lumMod val="20000"/>
                <a:lumOff val="80000"/>
              </a:schemeClr>
            </a:solidFill>
            <a:ln>
              <a:noFill/>
            </a:ln>
            <a:effectLst/>
          </p:spPr>
          <p:txBody>
            <a:bodyPr wrap="none" anchor="ctr"/>
            <a:lstStyle/>
            <a:p>
              <a:pPr marL="0" marR="0" lvl="0" indent="0" algn="l" defTabSz="95123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汉仪菱心体简" pitchFamily="49" charset="-122"/>
                <a:ea typeface="汉仪菱心体简" pitchFamily="49" charset="-122"/>
                <a:cs typeface="+mn-cs"/>
              </a:endParaRPr>
            </a:p>
          </p:txBody>
        </p:sp>
        <p:sp>
          <p:nvSpPr>
            <p:cNvPr id="15" name="Oval 3"/>
            <p:cNvSpPr>
              <a:spLocks noChangeArrowheads="1"/>
            </p:cNvSpPr>
            <p:nvPr/>
          </p:nvSpPr>
          <p:spPr bwMode="auto">
            <a:xfrm>
              <a:off x="-987106" y="10633387"/>
              <a:ext cx="320433" cy="319354"/>
            </a:xfrm>
            <a:prstGeom prst="frame">
              <a:avLst/>
            </a:prstGeom>
            <a:solidFill>
              <a:schemeClr val="tx2">
                <a:lumMod val="20000"/>
                <a:lumOff val="80000"/>
              </a:schemeClr>
            </a:solidFill>
            <a:ln>
              <a:noFill/>
            </a:ln>
            <a:effectLst/>
          </p:spPr>
          <p:txBody>
            <a:bodyPr wrap="none" anchor="ctr"/>
            <a:lstStyle/>
            <a:p>
              <a:pPr marL="0" marR="0" lvl="0" indent="0" algn="l" defTabSz="95123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汉仪菱心体简" pitchFamily="49" charset="-122"/>
                <a:ea typeface="汉仪菱心体简" pitchFamily="49" charset="-122"/>
                <a:cs typeface="+mn-cs"/>
              </a:endParaRPr>
            </a:p>
          </p:txBody>
        </p:sp>
      </p:grpSp>
      <p:sp>
        <p:nvSpPr>
          <p:cNvPr id="16" name="矩形 15"/>
          <p:cNvSpPr/>
          <p:nvPr/>
        </p:nvSpPr>
        <p:spPr>
          <a:xfrm>
            <a:off x="6488113" y="3013075"/>
            <a:ext cx="1235075" cy="15430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5123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66CC"/>
              </a:solidFill>
              <a:effectLst/>
              <a:uLnTx/>
              <a:uFillTx/>
              <a:latin typeface="+mn-lt"/>
              <a:ea typeface="+mn-ea"/>
              <a:cs typeface="+mn-cs"/>
            </a:endParaRPr>
          </a:p>
        </p:txBody>
      </p:sp>
      <p:sp>
        <p:nvSpPr>
          <p:cNvPr id="17" name="矩形 16"/>
          <p:cNvSpPr/>
          <p:nvPr/>
        </p:nvSpPr>
        <p:spPr>
          <a:xfrm>
            <a:off x="7672388" y="2566988"/>
            <a:ext cx="730250" cy="471488"/>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51230" rtl="0" eaLnBrk="1" fontAlgn="auto" latinLnBrk="0" hangingPunct="1">
              <a:lnSpc>
                <a:spcPct val="100000"/>
              </a:lnSpc>
              <a:spcBef>
                <a:spcPts val="0"/>
              </a:spcBef>
              <a:spcAft>
                <a:spcPts val="0"/>
              </a:spcAft>
              <a:buClrTx/>
              <a:buSzTx/>
              <a:buFontTx/>
              <a:buNone/>
              <a:defRPr/>
            </a:pPr>
            <a:endParaRPr kumimoji="0" lang="zh-CN" altLang="en-US" sz="1900" b="0" i="0" u="none" strike="noStrike" kern="1200" cap="none" spc="0" normalizeH="0" baseline="0" noProof="0">
              <a:ln>
                <a:noFill/>
              </a:ln>
              <a:solidFill>
                <a:schemeClr val="lt1"/>
              </a:solidFill>
              <a:effectLst/>
              <a:uLnTx/>
              <a:uFillTx/>
              <a:latin typeface="+mn-lt"/>
              <a:ea typeface="+mn-ea"/>
              <a:cs typeface="+mn-cs"/>
            </a:endParaRPr>
          </a:p>
        </p:txBody>
      </p:sp>
      <p:sp>
        <p:nvSpPr>
          <p:cNvPr id="18" name="矩形 17"/>
          <p:cNvSpPr/>
          <p:nvPr/>
        </p:nvSpPr>
        <p:spPr>
          <a:xfrm>
            <a:off x="8110538" y="3681413"/>
            <a:ext cx="347663" cy="3476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51230" rtl="0" eaLnBrk="1" fontAlgn="auto" latinLnBrk="0" hangingPunct="1">
              <a:lnSpc>
                <a:spcPct val="100000"/>
              </a:lnSpc>
              <a:spcBef>
                <a:spcPts val="0"/>
              </a:spcBef>
              <a:spcAft>
                <a:spcPts val="0"/>
              </a:spcAft>
              <a:buClrTx/>
              <a:buSzTx/>
              <a:buFontTx/>
              <a:buNone/>
              <a:defRPr/>
            </a:pPr>
            <a:endParaRPr kumimoji="0" lang="zh-CN" altLang="en-US" sz="1900" b="0" i="0" u="none" strike="noStrike" kern="1200" cap="none" spc="0" normalizeH="0" baseline="0" noProof="0">
              <a:ln>
                <a:noFill/>
              </a:ln>
              <a:solidFill>
                <a:schemeClr val="lt1"/>
              </a:solidFill>
              <a:effectLst/>
              <a:uLnTx/>
              <a:uFillTx/>
              <a:latin typeface="+mn-lt"/>
              <a:ea typeface="+mn-ea"/>
              <a:cs typeface="+mn-cs"/>
            </a:endParaRPr>
          </a:p>
        </p:txBody>
      </p:sp>
      <p:grpSp>
        <p:nvGrpSpPr>
          <p:cNvPr id="19" name="组合 18"/>
          <p:cNvGrpSpPr/>
          <p:nvPr/>
        </p:nvGrpSpPr>
        <p:grpSpPr>
          <a:xfrm>
            <a:off x="739775" y="2767013"/>
            <a:ext cx="601663" cy="365125"/>
            <a:chOff x="940650" y="3924467"/>
            <a:chExt cx="601671" cy="364354"/>
          </a:xfrm>
        </p:grpSpPr>
        <p:sp>
          <p:nvSpPr>
            <p:cNvPr id="23" name="矩形 22"/>
            <p:cNvSpPr/>
            <p:nvPr/>
          </p:nvSpPr>
          <p:spPr>
            <a:xfrm>
              <a:off x="940650" y="4111396"/>
              <a:ext cx="231778" cy="177425"/>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5123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66CC"/>
                </a:solidFill>
                <a:effectLst/>
                <a:uLnTx/>
                <a:uFillTx/>
                <a:latin typeface="+mn-lt"/>
                <a:ea typeface="+mn-ea"/>
                <a:cs typeface="+mn-cs"/>
              </a:endParaRPr>
            </a:p>
          </p:txBody>
        </p:sp>
        <p:sp>
          <p:nvSpPr>
            <p:cNvPr id="25" name="矩形 24"/>
            <p:cNvSpPr/>
            <p:nvPr/>
          </p:nvSpPr>
          <p:spPr>
            <a:xfrm>
              <a:off x="1120040" y="3924467"/>
              <a:ext cx="422281" cy="247127"/>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51230" rtl="0" eaLnBrk="1" fontAlgn="auto" latinLnBrk="0" hangingPunct="1">
                <a:lnSpc>
                  <a:spcPct val="100000"/>
                </a:lnSpc>
                <a:spcBef>
                  <a:spcPts val="0"/>
                </a:spcBef>
                <a:spcAft>
                  <a:spcPts val="0"/>
                </a:spcAft>
                <a:buClrTx/>
                <a:buSzTx/>
                <a:buFontTx/>
                <a:buNone/>
                <a:defRPr/>
              </a:pPr>
              <a:endParaRPr kumimoji="0" lang="zh-CN" altLang="en-US" sz="1900" b="0" i="0" u="none" strike="noStrike" kern="1200" cap="none" spc="0" normalizeH="0" baseline="0" noProof="0">
                <a:ln>
                  <a:noFill/>
                </a:ln>
                <a:solidFill>
                  <a:schemeClr val="lt1"/>
                </a:solidFill>
                <a:effectLst/>
                <a:uLnTx/>
                <a:uFillTx/>
                <a:latin typeface="+mn-lt"/>
                <a:ea typeface="+mn-ea"/>
                <a:cs typeface="+mn-cs"/>
              </a:endParaRPr>
            </a:p>
          </p:txBody>
        </p:sp>
      </p:grpSp>
      <p:sp>
        <p:nvSpPr>
          <p:cNvPr id="26" name="矩形 25"/>
          <p:cNvSpPr/>
          <p:nvPr/>
        </p:nvSpPr>
        <p:spPr>
          <a:xfrm>
            <a:off x="7173913" y="4003675"/>
            <a:ext cx="935038" cy="693738"/>
          </a:xfrm>
          <a:prstGeom prst="rect">
            <a:avLst/>
          </a:prstGeom>
          <a:solidFill>
            <a:schemeClr val="bg1">
              <a:lumMod val="85000"/>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51230" rtl="0" eaLnBrk="1" fontAlgn="auto" latinLnBrk="0" hangingPunct="1">
              <a:lnSpc>
                <a:spcPct val="100000"/>
              </a:lnSpc>
              <a:spcBef>
                <a:spcPts val="0"/>
              </a:spcBef>
              <a:spcAft>
                <a:spcPts val="0"/>
              </a:spcAft>
              <a:buClrTx/>
              <a:buSzTx/>
              <a:buFontTx/>
              <a:buNone/>
              <a:defRPr/>
            </a:pPr>
            <a:endParaRPr kumimoji="0" lang="zh-CN" altLang="en-US" sz="1900" b="0" i="0" u="none" strike="noStrike" kern="1200" cap="none" spc="0" normalizeH="0" baseline="0" noProof="0">
              <a:ln>
                <a:noFill/>
              </a:ln>
              <a:solidFill>
                <a:schemeClr val="lt1"/>
              </a:solidFill>
              <a:effectLst/>
              <a:uLnTx/>
              <a:uFillTx/>
              <a:latin typeface="+mn-lt"/>
              <a:ea typeface="+mn-ea"/>
              <a:cs typeface="+mn-cs"/>
            </a:endParaRPr>
          </a:p>
        </p:txBody>
      </p:sp>
      <p:sp>
        <p:nvSpPr>
          <p:cNvPr id="35" name="文本框 34"/>
          <p:cNvSpPr txBox="1"/>
          <p:nvPr/>
        </p:nvSpPr>
        <p:spPr>
          <a:xfrm>
            <a:off x="1273175" y="1366838"/>
            <a:ext cx="5900738" cy="2862262"/>
          </a:xfrm>
          <a:prstGeom prst="rect">
            <a:avLst/>
          </a:prstGeom>
          <a:noFill/>
          <a:ln w="9525">
            <a:noFill/>
          </a:ln>
        </p:spPr>
        <p:txBody>
          <a:bodyPr anchor="t" anchorCtr="0">
            <a:spAutoFit/>
          </a:bodyPr>
          <a:p>
            <a:pPr>
              <a:lnSpc>
                <a:spcPct val="125000"/>
              </a:lnSpc>
            </a:pPr>
            <a:r>
              <a:rPr lang="en-US" altLang="zh-CN" dirty="0">
                <a:latin typeface="Arial" panose="020B0604020202020204" pitchFamily="34" charset="0"/>
                <a:ea typeface="宋体" panose="02010600030101010101" pitchFamily="2" charset="-122"/>
                <a:sym typeface="Bodoni MT" panose="02070603080606020203" pitchFamily="18" charset="0"/>
              </a:rPr>
              <a:t>       STM32</a:t>
            </a:r>
            <a:r>
              <a:rPr lang="zh-CN" altLang="en-US" dirty="0">
                <a:latin typeface="Arial" panose="020B0604020202020204" pitchFamily="34" charset="0"/>
                <a:ea typeface="宋体" panose="02010600030101010101" pitchFamily="2" charset="-122"/>
                <a:sym typeface="Bodoni MT" panose="02070603080606020203" pitchFamily="18" charset="0"/>
              </a:rPr>
              <a:t>系列</a:t>
            </a:r>
            <a:r>
              <a:rPr lang="en-US" altLang="zh-CN" dirty="0">
                <a:latin typeface="Arial" panose="020B0604020202020204" pitchFamily="34" charset="0"/>
                <a:ea typeface="宋体" panose="02010600030101010101" pitchFamily="2" charset="-122"/>
                <a:sym typeface="Bodoni MT" panose="02070603080606020203" pitchFamily="18" charset="0"/>
              </a:rPr>
              <a:t>32</a:t>
            </a:r>
            <a:r>
              <a:rPr lang="zh-CN" altLang="en-US" dirty="0">
                <a:latin typeface="Arial" panose="020B0604020202020204" pitchFamily="34" charset="0"/>
                <a:ea typeface="宋体" panose="02010600030101010101" pitchFamily="2" charset="-122"/>
                <a:sym typeface="Bodoni MT" panose="02070603080606020203" pitchFamily="18" charset="0"/>
              </a:rPr>
              <a:t>位微处理器，基于</a:t>
            </a:r>
            <a:r>
              <a:rPr lang="en-US" altLang="zh-CN" dirty="0">
                <a:latin typeface="Arial" panose="020B0604020202020204" pitchFamily="34" charset="0"/>
                <a:ea typeface="宋体" panose="02010600030101010101" pitchFamily="2" charset="-122"/>
                <a:sym typeface="Bodoni MT" panose="02070603080606020203" pitchFamily="18" charset="0"/>
              </a:rPr>
              <a:t>ARM Cortex-M</a:t>
            </a:r>
            <a:r>
              <a:rPr lang="zh-CN" altLang="zh-CN" dirty="0">
                <a:latin typeface="Arial" panose="020B0604020202020204" pitchFamily="34" charset="0"/>
                <a:ea typeface="宋体" panose="02010600030101010101" pitchFamily="2" charset="-122"/>
                <a:sym typeface="Bodoni MT" panose="02070603080606020203" pitchFamily="18" charset="0"/>
              </a:rPr>
              <a:t>内核处理器。它能支持</a:t>
            </a:r>
            <a:r>
              <a:rPr lang="en-US" altLang="zh-CN" dirty="0">
                <a:latin typeface="Arial" panose="020B0604020202020204" pitchFamily="34" charset="0"/>
                <a:ea typeface="宋体" panose="02010600030101010101" pitchFamily="2" charset="-122"/>
                <a:sym typeface="Bodoni MT" panose="02070603080606020203" pitchFamily="18" charset="0"/>
              </a:rPr>
              <a:t>32</a:t>
            </a:r>
            <a:r>
              <a:rPr lang="zh-CN" altLang="en-US" dirty="0">
                <a:latin typeface="Arial" panose="020B0604020202020204" pitchFamily="34" charset="0"/>
                <a:ea typeface="宋体" panose="02010600030101010101" pitchFamily="2" charset="-122"/>
                <a:sym typeface="Bodoni MT" panose="02070603080606020203" pitchFamily="18" charset="0"/>
              </a:rPr>
              <a:t>位的广泛应用，包括高性能、实时功能、数字信号处理和低功耗、低电压操作，同时集成化程度高，易于开发。</a:t>
            </a:r>
            <a:endParaRPr lang="zh-CN" altLang="en-US" dirty="0">
              <a:latin typeface="Arial" panose="020B0604020202020204" pitchFamily="34" charset="0"/>
              <a:ea typeface="宋体" panose="02010600030101010101" pitchFamily="2" charset="-122"/>
              <a:sym typeface="Bodoni MT" panose="02070603080606020203" pitchFamily="18" charset="0"/>
            </a:endParaRPr>
          </a:p>
          <a:p>
            <a:pPr>
              <a:lnSpc>
                <a:spcPct val="125000"/>
              </a:lnSpc>
            </a:pPr>
            <a:r>
              <a:rPr lang="zh-CN" altLang="en-US" dirty="0">
                <a:latin typeface="Arial" panose="020B0604020202020204" pitchFamily="34" charset="0"/>
                <a:ea typeface="宋体" panose="02010600030101010101" pitchFamily="2" charset="-122"/>
                <a:sym typeface="Bodoni MT" panose="02070603080606020203" pitchFamily="18" charset="0"/>
              </a:rPr>
              <a:t>       以</a:t>
            </a:r>
            <a:r>
              <a:rPr lang="en-US" altLang="zh-CN" dirty="0">
                <a:latin typeface="Arial" panose="020B0604020202020204" pitchFamily="34" charset="0"/>
                <a:ea typeface="宋体" panose="02010600030101010101" pitchFamily="2" charset="-122"/>
                <a:sym typeface="Bodoni MT" panose="02070603080606020203" pitchFamily="18" charset="0"/>
              </a:rPr>
              <a:t>STM32</a:t>
            </a:r>
            <a:r>
              <a:rPr lang="zh-CN" altLang="en-US" dirty="0">
                <a:latin typeface="Arial" panose="020B0604020202020204" pitchFamily="34" charset="0"/>
                <a:ea typeface="宋体" panose="02010600030101010101" pitchFamily="2" charset="-122"/>
                <a:sym typeface="Bodoni MT" panose="02070603080606020203" pitchFamily="18" charset="0"/>
              </a:rPr>
              <a:t>为控制器的产品线非常广，因为它具有工业标准化内核，并兼容大量的开发工具和软件。这使得该系列芯片不管在中小型终端还是大平台上都成为开发者理想的选择。</a:t>
            </a:r>
            <a:endParaRPr lang="zh-CN" altLang="en-US" dirty="0">
              <a:latin typeface="Arial" panose="020B0604020202020204" pitchFamily="34" charset="0"/>
              <a:ea typeface="宋体" panose="02010600030101010101" pitchFamily="2" charset="-122"/>
              <a:sym typeface="Bodoni MT" panose="020706030806060202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par>
                          <p:cTn id="12" fill="hold">
                            <p:stCondLst>
                              <p:cond delay="1000"/>
                            </p:stCondLst>
                            <p:childTnLst>
                              <p:par>
                                <p:cTn id="13" presetID="31"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p:cTn id="15" dur="500" fill="hold"/>
                                        <p:tgtEl>
                                          <p:spTgt spid="10"/>
                                        </p:tgtEl>
                                        <p:attrNameLst>
                                          <p:attrName>ppt_w</p:attrName>
                                        </p:attrNameLst>
                                      </p:cBhvr>
                                      <p:tavLst>
                                        <p:tav tm="0">
                                          <p:val>
                                            <p:fltVal val="0.000000"/>
                                          </p:val>
                                        </p:tav>
                                        <p:tav tm="100000">
                                          <p:val>
                                            <p:strVal val="#ppt_w"/>
                                          </p:val>
                                        </p:tav>
                                      </p:tavLst>
                                    </p:anim>
                                    <p:anim calcmode="lin" valueType="num">
                                      <p:cBhvr>
                                        <p:cTn id="16" dur="500" fill="hold"/>
                                        <p:tgtEl>
                                          <p:spTgt spid="10"/>
                                        </p:tgtEl>
                                        <p:attrNameLst>
                                          <p:attrName>ppt_h</p:attrName>
                                        </p:attrNameLst>
                                      </p:cBhvr>
                                      <p:tavLst>
                                        <p:tav tm="0">
                                          <p:val>
                                            <p:fltVal val="0.000000"/>
                                          </p:val>
                                        </p:tav>
                                        <p:tav tm="100000">
                                          <p:val>
                                            <p:strVal val="#ppt_h"/>
                                          </p:val>
                                        </p:tav>
                                      </p:tavLst>
                                    </p:anim>
                                    <p:anim calcmode="lin" valueType="num">
                                      <p:cBhvr>
                                        <p:cTn id="17" dur="500" fill="hold"/>
                                        <p:tgtEl>
                                          <p:spTgt spid="10"/>
                                        </p:tgtEl>
                                        <p:attrNameLst>
                                          <p:attrName>style.rotation</p:attrName>
                                        </p:attrNameLst>
                                      </p:cBhvr>
                                      <p:tavLst>
                                        <p:tav tm="0">
                                          <p:val>
                                            <p:fltVal val="90.000000"/>
                                          </p:val>
                                        </p:tav>
                                        <p:tav tm="100000">
                                          <p:val>
                                            <p:fltVal val="0.000000"/>
                                          </p:val>
                                        </p:tav>
                                      </p:tavLst>
                                    </p:anim>
                                    <p:animEffect transition="in" filter="fade">
                                      <p:cBhvr>
                                        <p:cTn id="18" dur="500"/>
                                        <p:tgtEl>
                                          <p:spTgt spid="10"/>
                                        </p:tgtEl>
                                      </p:cBhvr>
                                    </p:animEffect>
                                  </p:childTnLst>
                                </p:cTn>
                              </p:par>
                            </p:childTnLst>
                          </p:cTn>
                        </p:par>
                        <p:par>
                          <p:cTn id="19" fill="hold">
                            <p:stCondLst>
                              <p:cond delay="1500"/>
                            </p:stCondLst>
                            <p:childTnLst>
                              <p:par>
                                <p:cTn id="20" presetID="42" presetClass="entr" presetSubtype="0" fill="hold" nodeType="after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250"/>
                                        <p:tgtEl>
                                          <p:spTgt spid="19"/>
                                        </p:tgtEl>
                                      </p:cBhvr>
                                    </p:animEffect>
                                    <p:anim calcmode="lin" valueType="num">
                                      <p:cBhvr>
                                        <p:cTn id="23" dur="250" fill="hold"/>
                                        <p:tgtEl>
                                          <p:spTgt spid="19"/>
                                        </p:tgtEl>
                                        <p:attrNameLst>
                                          <p:attrName>ppt_x</p:attrName>
                                        </p:attrNameLst>
                                      </p:cBhvr>
                                      <p:tavLst>
                                        <p:tav tm="0">
                                          <p:val>
                                            <p:strVal val="#ppt_x"/>
                                          </p:val>
                                        </p:tav>
                                        <p:tav tm="100000">
                                          <p:val>
                                            <p:strVal val="#ppt_x"/>
                                          </p:val>
                                        </p:tav>
                                      </p:tavLst>
                                    </p:anim>
                                    <p:anim calcmode="lin" valueType="num">
                                      <p:cBhvr>
                                        <p:cTn id="24" dur="250" fill="hold"/>
                                        <p:tgtEl>
                                          <p:spTgt spid="19"/>
                                        </p:tgtEl>
                                        <p:attrNameLst>
                                          <p:attrName>ppt_y</p:attrName>
                                        </p:attrNameLst>
                                      </p:cBhvr>
                                      <p:tavLst>
                                        <p:tav tm="0">
                                          <p:val>
                                            <p:strVal val="#ppt_y+.1"/>
                                          </p:val>
                                        </p:tav>
                                        <p:tav tm="100000">
                                          <p:val>
                                            <p:strVal val="#ppt_y"/>
                                          </p:val>
                                        </p:tav>
                                      </p:tavLst>
                                    </p:anim>
                                  </p:childTnLst>
                                </p:cTn>
                              </p:par>
                            </p:childTnLst>
                          </p:cTn>
                        </p:par>
                        <p:par>
                          <p:cTn id="25" fill="hold">
                            <p:stCondLst>
                              <p:cond delay="2000"/>
                            </p:stCondLst>
                            <p:childTnLst>
                              <p:par>
                                <p:cTn id="26" presetID="42" presetClass="entr" presetSubtype="0" fill="hold" grpId="0" nodeType="after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anim calcmode="lin" valueType="num">
                                      <p:cBhvr>
                                        <p:cTn id="29" dur="500" fill="hold"/>
                                        <p:tgtEl>
                                          <p:spTgt spid="16"/>
                                        </p:tgtEl>
                                        <p:attrNameLst>
                                          <p:attrName>ppt_x</p:attrName>
                                        </p:attrNameLst>
                                      </p:cBhvr>
                                      <p:tavLst>
                                        <p:tav tm="0">
                                          <p:val>
                                            <p:strVal val="#ppt_x"/>
                                          </p:val>
                                        </p:tav>
                                        <p:tav tm="100000">
                                          <p:val>
                                            <p:strVal val="#ppt_x"/>
                                          </p:val>
                                        </p:tav>
                                      </p:tavLst>
                                    </p:anim>
                                    <p:anim calcmode="lin" valueType="num">
                                      <p:cBhvr>
                                        <p:cTn id="30" dur="500" fill="hold"/>
                                        <p:tgtEl>
                                          <p:spTgt spid="16"/>
                                        </p:tgtEl>
                                        <p:attrNameLst>
                                          <p:attrName>ppt_y</p:attrName>
                                        </p:attrNameLst>
                                      </p:cBhvr>
                                      <p:tavLst>
                                        <p:tav tm="0">
                                          <p:val>
                                            <p:strVal val="#ppt_y+.1"/>
                                          </p:val>
                                        </p:tav>
                                        <p:tav tm="100000">
                                          <p:val>
                                            <p:strVal val="#ppt_y"/>
                                          </p:val>
                                        </p:tav>
                                      </p:tavLst>
                                    </p:anim>
                                  </p:childTnLst>
                                </p:cTn>
                              </p:par>
                            </p:childTnLst>
                          </p:cTn>
                        </p:par>
                        <p:par>
                          <p:cTn id="31" fill="hold">
                            <p:stCondLst>
                              <p:cond delay="2500"/>
                            </p:stCondLst>
                            <p:childTnLst>
                              <p:par>
                                <p:cTn id="32" presetID="42" presetClass="entr" presetSubtype="0" fill="hold" grpId="0" nodeType="after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anim calcmode="lin" valueType="num">
                                      <p:cBhvr>
                                        <p:cTn id="35" dur="500" fill="hold"/>
                                        <p:tgtEl>
                                          <p:spTgt spid="17"/>
                                        </p:tgtEl>
                                        <p:attrNameLst>
                                          <p:attrName>ppt_x</p:attrName>
                                        </p:attrNameLst>
                                      </p:cBhvr>
                                      <p:tavLst>
                                        <p:tav tm="0">
                                          <p:val>
                                            <p:strVal val="#ppt_x"/>
                                          </p:val>
                                        </p:tav>
                                        <p:tav tm="100000">
                                          <p:val>
                                            <p:strVal val="#ppt_x"/>
                                          </p:val>
                                        </p:tav>
                                      </p:tavLst>
                                    </p:anim>
                                    <p:anim calcmode="lin" valueType="num">
                                      <p:cBhvr>
                                        <p:cTn id="36" dur="500" fill="hold"/>
                                        <p:tgtEl>
                                          <p:spTgt spid="17"/>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250"/>
                                        <p:tgtEl>
                                          <p:spTgt spid="18"/>
                                        </p:tgtEl>
                                      </p:cBhvr>
                                    </p:animEffect>
                                    <p:anim calcmode="lin" valueType="num">
                                      <p:cBhvr>
                                        <p:cTn id="40" dur="250" fill="hold"/>
                                        <p:tgtEl>
                                          <p:spTgt spid="18"/>
                                        </p:tgtEl>
                                        <p:attrNameLst>
                                          <p:attrName>ppt_x</p:attrName>
                                        </p:attrNameLst>
                                      </p:cBhvr>
                                      <p:tavLst>
                                        <p:tav tm="0">
                                          <p:val>
                                            <p:strVal val="#ppt_x"/>
                                          </p:val>
                                        </p:tav>
                                        <p:tav tm="100000">
                                          <p:val>
                                            <p:strVal val="#ppt_x"/>
                                          </p:val>
                                        </p:tav>
                                      </p:tavLst>
                                    </p:anim>
                                    <p:anim calcmode="lin" valueType="num">
                                      <p:cBhvr>
                                        <p:cTn id="41" dur="250" fill="hold"/>
                                        <p:tgtEl>
                                          <p:spTgt spid="18"/>
                                        </p:tgtEl>
                                        <p:attrNameLst>
                                          <p:attrName>ppt_y</p:attrName>
                                        </p:attrNameLst>
                                      </p:cBhvr>
                                      <p:tavLst>
                                        <p:tav tm="0">
                                          <p:val>
                                            <p:strVal val="#ppt_y+.1"/>
                                          </p:val>
                                        </p:tav>
                                        <p:tav tm="100000">
                                          <p:val>
                                            <p:strVal val="#ppt_y"/>
                                          </p:val>
                                        </p:tav>
                                      </p:tavLst>
                                    </p:anim>
                                  </p:childTnLst>
                                </p:cTn>
                              </p:par>
                            </p:childTnLst>
                          </p:cTn>
                        </p:par>
                        <p:par>
                          <p:cTn id="42" fill="hold">
                            <p:stCondLst>
                              <p:cond delay="3000"/>
                            </p:stCondLst>
                            <p:childTnLst>
                              <p:par>
                                <p:cTn id="43" presetID="42" presetClass="entr" presetSubtype="0" fill="hold" grpId="0" nodeType="after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500"/>
                                        <p:tgtEl>
                                          <p:spTgt spid="26"/>
                                        </p:tgtEl>
                                      </p:cBhvr>
                                    </p:animEffect>
                                    <p:anim calcmode="lin" valueType="num">
                                      <p:cBhvr>
                                        <p:cTn id="46" dur="500" fill="hold"/>
                                        <p:tgtEl>
                                          <p:spTgt spid="26"/>
                                        </p:tgtEl>
                                        <p:attrNameLst>
                                          <p:attrName>ppt_x</p:attrName>
                                        </p:attrNameLst>
                                      </p:cBhvr>
                                      <p:tavLst>
                                        <p:tav tm="0">
                                          <p:val>
                                            <p:strVal val="#ppt_x"/>
                                          </p:val>
                                        </p:tav>
                                        <p:tav tm="100000">
                                          <p:val>
                                            <p:strVal val="#ppt_x"/>
                                          </p:val>
                                        </p:tav>
                                      </p:tavLst>
                                    </p:anim>
                                    <p:anim calcmode="lin" valueType="num">
                                      <p:cBhvr>
                                        <p:cTn id="47" dur="500" fill="hold"/>
                                        <p:tgtEl>
                                          <p:spTgt spid="26"/>
                                        </p:tgtEl>
                                        <p:attrNameLst>
                                          <p:attrName>ppt_y</p:attrName>
                                        </p:attrNameLst>
                                      </p:cBhvr>
                                      <p:tavLst>
                                        <p:tav tm="0">
                                          <p:val>
                                            <p:strVal val="#ppt_y+.1"/>
                                          </p:val>
                                        </p:tav>
                                        <p:tav tm="100000">
                                          <p:val>
                                            <p:strVal val="#ppt_y"/>
                                          </p:val>
                                        </p:tav>
                                      </p:tavLst>
                                    </p:anim>
                                  </p:childTnLst>
                                </p:cTn>
                              </p:par>
                            </p:childTnLst>
                          </p:cTn>
                        </p:par>
                        <p:par>
                          <p:cTn id="48" fill="hold">
                            <p:stCondLst>
                              <p:cond delay="3500"/>
                            </p:stCondLst>
                            <p:childTnLst>
                              <p:par>
                                <p:cTn id="49" presetID="42" presetClass="entr" presetSubtype="0" fill="hold" nodeType="after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500"/>
                                        <p:tgtEl>
                                          <p:spTgt spid="12"/>
                                        </p:tgtEl>
                                      </p:cBhvr>
                                    </p:animEffect>
                                    <p:anim calcmode="lin" valueType="num">
                                      <p:cBhvr>
                                        <p:cTn id="52" dur="500" fill="hold"/>
                                        <p:tgtEl>
                                          <p:spTgt spid="12"/>
                                        </p:tgtEl>
                                        <p:attrNameLst>
                                          <p:attrName>ppt_x</p:attrName>
                                        </p:attrNameLst>
                                      </p:cBhvr>
                                      <p:tavLst>
                                        <p:tav tm="0">
                                          <p:val>
                                            <p:strVal val="#ppt_x"/>
                                          </p:val>
                                        </p:tav>
                                        <p:tav tm="100000">
                                          <p:val>
                                            <p:strVal val="#ppt_x"/>
                                          </p:val>
                                        </p:tav>
                                      </p:tavLst>
                                    </p:anim>
                                    <p:anim calcmode="lin" valueType="num">
                                      <p:cBhvr>
                                        <p:cTn id="53" dur="500" fill="hold"/>
                                        <p:tgtEl>
                                          <p:spTgt spid="12"/>
                                        </p:tgtEl>
                                        <p:attrNameLst>
                                          <p:attrName>ppt_y</p:attrName>
                                        </p:attrNameLst>
                                      </p:cBhvr>
                                      <p:tavLst>
                                        <p:tav tm="0">
                                          <p:val>
                                            <p:strVal val="#ppt_y+.1"/>
                                          </p:val>
                                        </p:tav>
                                        <p:tav tm="100000">
                                          <p:val>
                                            <p:strVal val="#ppt_y"/>
                                          </p:val>
                                        </p:tav>
                                      </p:tavLst>
                                    </p:anim>
                                  </p:childTnLst>
                                </p:cTn>
                              </p:par>
                            </p:childTnLst>
                          </p:cTn>
                        </p:par>
                        <p:par>
                          <p:cTn id="54" fill="hold">
                            <p:stCondLst>
                              <p:cond delay="4000"/>
                            </p:stCondLst>
                            <p:childTnLst>
                              <p:par>
                                <p:cTn id="55" presetID="3" presetClass="entr" presetSubtype="10" fill="hold" grpId="0" nodeType="afterEffect">
                                  <p:stCondLst>
                                    <p:cond delay="500"/>
                                  </p:stCondLst>
                                  <p:childTnLst>
                                    <p:set>
                                      <p:cBhvr>
                                        <p:cTn id="56" dur="1" fill="hold">
                                          <p:stCondLst>
                                            <p:cond delay="0"/>
                                          </p:stCondLst>
                                        </p:cTn>
                                        <p:tgtEl>
                                          <p:spTgt spid="35"/>
                                        </p:tgtEl>
                                        <p:attrNameLst>
                                          <p:attrName>style.visibility</p:attrName>
                                        </p:attrNameLst>
                                      </p:cBhvr>
                                      <p:to>
                                        <p:strVal val="visible"/>
                                      </p:to>
                                    </p:set>
                                    <p:animEffect transition="in" filter="blinds(horizontal)">
                                      <p:cBhvr>
                                        <p:cTn id="5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9" grpId="0" bldLvl="0" animBg="1"/>
      <p:bldP spid="16" grpId="0" bldLvl="0" animBg="1"/>
      <p:bldP spid="17" grpId="0" bldLvl="0" animBg="1"/>
      <p:bldP spid="18" grpId="0" bldLvl="0" animBg="1"/>
      <p:bldP spid="26" grpId="0" bldLvl="0" animBg="1"/>
      <p:bldP spid="3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平行四边形 4"/>
          <p:cNvSpPr/>
          <p:nvPr/>
        </p:nvSpPr>
        <p:spPr>
          <a:xfrm>
            <a:off x="1143000" y="1643063"/>
            <a:ext cx="1785938" cy="1500187"/>
          </a:xfrm>
          <a:prstGeom prst="parallelogram">
            <a:avLst>
              <a:gd name="adj" fmla="val 25000"/>
            </a:avLst>
          </a:prstGeom>
          <a:gradFill rotWithShape="1">
            <a:gsLst>
              <a:gs pos="0">
                <a:srgbClr val="C96C1F">
                  <a:alpha val="100000"/>
                </a:srgbClr>
              </a:gs>
              <a:gs pos="79999">
                <a:srgbClr val="FF8F33">
                  <a:alpha val="100000"/>
                </a:srgbClr>
              </a:gs>
              <a:gs pos="100000">
                <a:srgbClr val="FF8F35">
                  <a:alpha val="100000"/>
                </a:srgbClr>
              </a:gs>
            </a:gsLst>
            <a:lin ang="16200000" scaled="1"/>
            <a:tileRect/>
          </a:gradFill>
          <a:ln w="9525" cap="flat" cmpd="sng">
            <a:solidFill>
              <a:srgbClr val="F79646"/>
            </a:solidFill>
            <a:prstDash val="solid"/>
            <a:bevel/>
            <a:headEnd type="none" w="med" len="med"/>
            <a:tailEnd type="none" w="med" len="med"/>
          </a:ln>
        </p:spPr>
        <p:txBody>
          <a:bodyPr anchor="ctr" anchorCtr="0"/>
          <a:p>
            <a:pPr algn="ctr"/>
            <a:r>
              <a:rPr lang="en-US" altLang="zh-CN" sz="4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01</a:t>
            </a:r>
            <a:endParaRPr lang="en-US" altLang="zh-CN" sz="4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a:p>
            <a:pPr algn="ctr"/>
            <a:r>
              <a:rPr lang="zh-CN" altLang="en-US" b="1" dirty="0">
                <a:solidFill>
                  <a:schemeClr val="bg1"/>
                </a:solidFill>
                <a:latin typeface="微软雅黑" panose="020B0503020204020204" pitchFamily="34" charset="-122"/>
                <a:ea typeface="微软雅黑" panose="020B0503020204020204" pitchFamily="34" charset="-122"/>
                <a:sym typeface="Bodoni MT" panose="02070603080606020203" pitchFamily="18" charset="0"/>
              </a:rPr>
              <a:t>STM32</a:t>
            </a:r>
            <a:r>
              <a:rPr lang="en-US" altLang="zh-CN" b="1" dirty="0">
                <a:solidFill>
                  <a:schemeClr val="bg1"/>
                </a:solidFill>
                <a:latin typeface="微软雅黑" panose="020B0503020204020204" pitchFamily="34" charset="-122"/>
                <a:ea typeface="微软雅黑" panose="020B0503020204020204" pitchFamily="34" charset="-122"/>
                <a:sym typeface="Bodoni MT" panose="02070603080606020203" pitchFamily="18" charset="0"/>
              </a:rPr>
              <a:t>F</a:t>
            </a:r>
            <a:r>
              <a:rPr lang="zh-CN" altLang="en-US" b="1" dirty="0">
                <a:solidFill>
                  <a:schemeClr val="bg1"/>
                </a:solidFill>
                <a:latin typeface="微软雅黑" panose="020B0503020204020204" pitchFamily="34" charset="-122"/>
                <a:ea typeface="微软雅黑" panose="020B0503020204020204" pitchFamily="34" charset="-122"/>
                <a:sym typeface="Bodoni MT" panose="02070603080606020203" pitchFamily="18" charset="0"/>
              </a:rPr>
              <a:t>103概述</a:t>
            </a:r>
            <a:endPar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075" name="平行四边形 5"/>
          <p:cNvSpPr/>
          <p:nvPr/>
        </p:nvSpPr>
        <p:spPr>
          <a:xfrm>
            <a:off x="2857500" y="1643063"/>
            <a:ext cx="1785938" cy="1500187"/>
          </a:xfrm>
          <a:prstGeom prst="parallelogram">
            <a:avLst>
              <a:gd name="adj" fmla="val 25000"/>
            </a:avLst>
          </a:prstGeom>
          <a:gradFill rotWithShape="1">
            <a:gsLst>
              <a:gs pos="0">
                <a:srgbClr val="C96C1F">
                  <a:alpha val="100000"/>
                </a:srgbClr>
              </a:gs>
              <a:gs pos="79999">
                <a:srgbClr val="FF8F33">
                  <a:alpha val="100000"/>
                </a:srgbClr>
              </a:gs>
              <a:gs pos="100000">
                <a:srgbClr val="FF8F35">
                  <a:alpha val="100000"/>
                </a:srgbClr>
              </a:gs>
            </a:gsLst>
            <a:lin ang="16200000" scaled="1"/>
            <a:tileRect/>
          </a:gradFill>
          <a:ln w="9525" cap="flat" cmpd="sng">
            <a:solidFill>
              <a:srgbClr val="F79646"/>
            </a:solidFill>
            <a:prstDash val="solid"/>
            <a:bevel/>
            <a:headEnd type="none" w="med" len="med"/>
            <a:tailEnd type="none" w="med" len="med"/>
          </a:ln>
        </p:spPr>
        <p:txBody>
          <a:bodyPr anchor="ctr" anchorCtr="0"/>
          <a:p>
            <a:pPr algn="ctr"/>
            <a:endParaRPr lang="zh-CN" altLang="zh-CN" dirty="0">
              <a:solidFill>
                <a:srgbClr val="FFFFFF"/>
              </a:solidFill>
              <a:latin typeface="Arial" panose="020B0604020202020204" pitchFamily="34" charset="0"/>
              <a:ea typeface="宋体" panose="02010600030101010101" pitchFamily="2" charset="-122"/>
              <a:sym typeface="Bodoni MT" panose="02070603080606020203" pitchFamily="18" charset="0"/>
            </a:endParaRPr>
          </a:p>
        </p:txBody>
      </p:sp>
      <p:sp>
        <p:nvSpPr>
          <p:cNvPr id="3076" name="平行四边形 6"/>
          <p:cNvSpPr/>
          <p:nvPr/>
        </p:nvSpPr>
        <p:spPr>
          <a:xfrm>
            <a:off x="4500563" y="1643063"/>
            <a:ext cx="1785937" cy="1500187"/>
          </a:xfrm>
          <a:prstGeom prst="parallelogram">
            <a:avLst>
              <a:gd name="adj" fmla="val 25000"/>
            </a:avLst>
          </a:prstGeom>
          <a:gradFill rotWithShape="1">
            <a:gsLst>
              <a:gs pos="0">
                <a:srgbClr val="C96C1F">
                  <a:alpha val="100000"/>
                </a:srgbClr>
              </a:gs>
              <a:gs pos="79999">
                <a:srgbClr val="FF8F33">
                  <a:alpha val="100000"/>
                </a:srgbClr>
              </a:gs>
              <a:gs pos="100000">
                <a:srgbClr val="FF8F35">
                  <a:alpha val="100000"/>
                </a:srgbClr>
              </a:gs>
            </a:gsLst>
            <a:lin ang="16200000" scaled="1"/>
            <a:tileRect/>
          </a:gradFill>
          <a:ln w="9525" cap="flat" cmpd="sng">
            <a:solidFill>
              <a:srgbClr val="F79646"/>
            </a:solidFill>
            <a:prstDash val="solid"/>
            <a:bevel/>
            <a:headEnd type="none" w="med" len="med"/>
            <a:tailEnd type="none" w="med" len="med"/>
          </a:ln>
        </p:spPr>
        <p:txBody>
          <a:bodyPr anchor="ctr" anchorCtr="0"/>
          <a:p>
            <a:pPr algn="ctr"/>
            <a:endParaRPr lang="zh-CN" altLang="zh-CN" dirty="0">
              <a:solidFill>
                <a:srgbClr val="FFFFFF"/>
              </a:solidFill>
              <a:latin typeface="Arial" panose="020B0604020202020204" pitchFamily="34" charset="0"/>
              <a:ea typeface="宋体" panose="02010600030101010101" pitchFamily="2" charset="-122"/>
              <a:sym typeface="Bodoni MT" panose="02070603080606020203" pitchFamily="18" charset="0"/>
            </a:endParaRPr>
          </a:p>
        </p:txBody>
      </p:sp>
      <p:sp>
        <p:nvSpPr>
          <p:cNvPr id="3077" name="平行四边形 7"/>
          <p:cNvSpPr/>
          <p:nvPr/>
        </p:nvSpPr>
        <p:spPr>
          <a:xfrm>
            <a:off x="6215063" y="1643063"/>
            <a:ext cx="1785937" cy="1500187"/>
          </a:xfrm>
          <a:prstGeom prst="parallelogram">
            <a:avLst>
              <a:gd name="adj" fmla="val 25000"/>
            </a:avLst>
          </a:prstGeom>
          <a:gradFill rotWithShape="1">
            <a:gsLst>
              <a:gs pos="0">
                <a:srgbClr val="C96C1F">
                  <a:alpha val="100000"/>
                </a:srgbClr>
              </a:gs>
              <a:gs pos="79999">
                <a:srgbClr val="FF8F33">
                  <a:alpha val="100000"/>
                </a:srgbClr>
              </a:gs>
              <a:gs pos="100000">
                <a:srgbClr val="FF8F35">
                  <a:alpha val="100000"/>
                </a:srgbClr>
              </a:gs>
            </a:gsLst>
            <a:lin ang="16200000" scaled="1"/>
            <a:tileRect/>
          </a:gradFill>
          <a:ln w="9525" cap="flat" cmpd="sng">
            <a:solidFill>
              <a:srgbClr val="F79646"/>
            </a:solidFill>
            <a:prstDash val="solid"/>
            <a:bevel/>
            <a:headEnd type="none" w="med" len="med"/>
            <a:tailEnd type="none" w="med" len="med"/>
          </a:ln>
        </p:spPr>
        <p:txBody>
          <a:bodyPr anchor="ctr" anchorCtr="0"/>
          <a:p>
            <a:pPr algn="ctr"/>
            <a:endParaRPr lang="zh-CN" altLang="zh-CN" dirty="0">
              <a:solidFill>
                <a:srgbClr val="FFFFFF"/>
              </a:solidFill>
              <a:latin typeface="Arial" panose="020B0604020202020204" pitchFamily="34" charset="0"/>
              <a:ea typeface="宋体" panose="02010600030101010101" pitchFamily="2" charset="-122"/>
              <a:sym typeface="Bodoni MT" panose="02070603080606020203" pitchFamily="18" charset="0"/>
            </a:endParaRPr>
          </a:p>
        </p:txBody>
      </p:sp>
      <p:sp>
        <p:nvSpPr>
          <p:cNvPr id="3078" name="TextBox 8"/>
          <p:cNvSpPr/>
          <p:nvPr/>
        </p:nvSpPr>
        <p:spPr>
          <a:xfrm>
            <a:off x="2928938" y="1724025"/>
            <a:ext cx="1531937" cy="1322388"/>
          </a:xfrm>
          <a:prstGeom prst="rect">
            <a:avLst/>
          </a:prstGeom>
          <a:noFill/>
          <a:ln w="9525">
            <a:noFill/>
          </a:ln>
        </p:spPr>
        <p:txBody>
          <a:bodyPr wrap="none" anchor="t" anchorCtr="0">
            <a:spAutoFit/>
          </a:bodyPr>
          <a:p>
            <a:pPr algn="ctr"/>
            <a:r>
              <a:rPr lang="en-US" altLang="zh-CN" sz="4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02</a:t>
            </a:r>
            <a:endParaRPr lang="en-US" altLang="zh-CN" sz="4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a:r>
              <a:rPr lang="en-US" altLang="zh-CN" b="1" dirty="0">
                <a:solidFill>
                  <a:schemeClr val="bg1"/>
                </a:solidFill>
                <a:latin typeface="微软雅黑" panose="020B0503020204020204" pitchFamily="34" charset="-122"/>
                <a:ea typeface="微软雅黑" panose="020B0503020204020204" pitchFamily="34" charset="-122"/>
                <a:sym typeface="Bodoni MT" panose="02070603080606020203" pitchFamily="18" charset="0"/>
              </a:rPr>
              <a:t>STM32F103</a:t>
            </a:r>
            <a:endParaRPr lang="en-US" altLang="zh-CN" b="1" dirty="0">
              <a:solidFill>
                <a:schemeClr val="bg1"/>
              </a:solidFill>
              <a:latin typeface="微软雅黑" panose="020B0503020204020204" pitchFamily="34" charset="-122"/>
              <a:ea typeface="微软雅黑" panose="020B0503020204020204" pitchFamily="34" charset="-122"/>
              <a:sym typeface="Bodoni MT" panose="02070603080606020203" pitchFamily="18" charset="0"/>
            </a:endParaRPr>
          </a:p>
          <a:p>
            <a:pPr algn="ctr"/>
            <a:r>
              <a:rPr lang="zh-CN" altLang="en-US" b="1" dirty="0">
                <a:solidFill>
                  <a:schemeClr val="bg1"/>
                </a:solidFill>
                <a:latin typeface="微软雅黑" panose="020B0503020204020204" pitchFamily="34" charset="-122"/>
                <a:ea typeface="微软雅黑" panose="020B0503020204020204" pitchFamily="34" charset="-122"/>
                <a:sym typeface="Bodoni MT" panose="02070603080606020203" pitchFamily="18" charset="0"/>
              </a:rPr>
              <a:t>管脚定义</a:t>
            </a:r>
            <a:endParaRPr lang="zh-CN" altLang="en-US" dirty="0">
              <a:solidFill>
                <a:srgbClr val="000000"/>
              </a:solidFill>
              <a:latin typeface="Bodoni MT" panose="02070603080606020203" pitchFamily="18" charset="0"/>
              <a:ea typeface="微软雅黑" panose="020B0503020204020204" pitchFamily="34" charset="-122"/>
              <a:sym typeface="Bodoni MT" panose="02070603080606020203" pitchFamily="18" charset="0"/>
            </a:endParaRPr>
          </a:p>
        </p:txBody>
      </p:sp>
      <p:sp>
        <p:nvSpPr>
          <p:cNvPr id="3079" name="TextBox 9"/>
          <p:cNvSpPr/>
          <p:nvPr/>
        </p:nvSpPr>
        <p:spPr>
          <a:xfrm>
            <a:off x="4843463" y="1724025"/>
            <a:ext cx="1108075" cy="1600200"/>
          </a:xfrm>
          <a:prstGeom prst="rect">
            <a:avLst/>
          </a:prstGeom>
          <a:noFill/>
          <a:ln w="9525">
            <a:noFill/>
          </a:ln>
        </p:spPr>
        <p:txBody>
          <a:bodyPr wrap="none" anchor="t" anchorCtr="0">
            <a:spAutoFit/>
          </a:bodyPr>
          <a:p>
            <a:pPr algn="ctr"/>
            <a:r>
              <a:rPr lang="en-US" altLang="zh-CN" sz="4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03</a:t>
            </a:r>
            <a:endParaRPr lang="en-US" altLang="zh-CN" sz="4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a:r>
              <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STM32F</a:t>
            </a:r>
            <a:endPar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a:r>
              <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103</a:t>
            </a:r>
            <a:r>
              <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架构</a:t>
            </a:r>
            <a:endPar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a:endParaRPr lang="zh-CN" altLang="en-US" dirty="0">
              <a:solidFill>
                <a:srgbClr val="000000"/>
              </a:solidFill>
              <a:latin typeface="Bodoni MT" panose="02070603080606020203" pitchFamily="18" charset="0"/>
              <a:ea typeface="微软雅黑" panose="020B0503020204020204" pitchFamily="34" charset="-122"/>
              <a:sym typeface="Bodoni MT" panose="02070603080606020203" pitchFamily="18" charset="0"/>
            </a:endParaRPr>
          </a:p>
        </p:txBody>
      </p:sp>
      <p:sp>
        <p:nvSpPr>
          <p:cNvPr id="3080" name="TextBox 10"/>
          <p:cNvSpPr/>
          <p:nvPr/>
        </p:nvSpPr>
        <p:spPr>
          <a:xfrm>
            <a:off x="6573838" y="1714500"/>
            <a:ext cx="1108075" cy="1600200"/>
          </a:xfrm>
          <a:prstGeom prst="rect">
            <a:avLst/>
          </a:prstGeom>
          <a:noFill/>
          <a:ln w="9525">
            <a:noFill/>
          </a:ln>
        </p:spPr>
        <p:txBody>
          <a:bodyPr wrap="none" anchor="t" anchorCtr="0">
            <a:spAutoFit/>
          </a:bodyPr>
          <a:p>
            <a:pPr algn="ctr"/>
            <a:r>
              <a:rPr lang="en-US" altLang="zh-CN" sz="4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04</a:t>
            </a:r>
            <a:endParaRPr lang="en-US" altLang="zh-CN" sz="4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a:r>
              <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STM32F</a:t>
            </a:r>
            <a:endPar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a:r>
              <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103</a:t>
            </a:r>
            <a:r>
              <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外设</a:t>
            </a:r>
            <a:endPar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a:endParaRPr lang="zh-CN" altLang="en-US" dirty="0">
              <a:solidFill>
                <a:srgbClr val="000000"/>
              </a:solidFill>
              <a:latin typeface="Bodoni MT" panose="02070603080606020203" pitchFamily="18" charset="0"/>
              <a:ea typeface="微软雅黑" panose="020B0503020204020204" pitchFamily="34" charset="-122"/>
              <a:sym typeface="Bodoni MT" panose="020706030806060202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500" fill="hold">
                                          <p:stCondLst>
                                            <p:cond delay="0"/>
                                          </p:stCondLst>
                                        </p:cTn>
                                        <p:tgtEl>
                                          <p:spTgt spid="3074"/>
                                        </p:tgtEl>
                                        <p:attrNameLst>
                                          <p:attrName>style.visibility</p:attrName>
                                        </p:attrNameLst>
                                      </p:cBhvr>
                                      <p:to>
                                        <p:strVal val="visible"/>
                                      </p:to>
                                    </p:set>
                                    <p:anim calcmode="lin" valueType="num">
                                      <p:cBhvr>
                                        <p:cTn id="7" dur="500" fill="hold"/>
                                        <p:tgtEl>
                                          <p:spTgt spid="3074"/>
                                        </p:tgtEl>
                                        <p:attrNameLst>
                                          <p:attrName>ppt_w</p:attrName>
                                        </p:attrNameLst>
                                      </p:cBhvr>
                                      <p:tavLst>
                                        <p:tav tm="0">
                                          <p:val>
                                            <p:fltVal val="0.000000"/>
                                          </p:val>
                                        </p:tav>
                                        <p:tav tm="100000">
                                          <p:val>
                                            <p:strVal val="#ppt_w"/>
                                          </p:val>
                                        </p:tav>
                                      </p:tavLst>
                                    </p:anim>
                                    <p:anim calcmode="lin" valueType="num">
                                      <p:cBhvr>
                                        <p:cTn id="8" dur="500" fill="hold"/>
                                        <p:tgtEl>
                                          <p:spTgt spid="3074"/>
                                        </p:tgtEl>
                                        <p:attrNameLst>
                                          <p:attrName>ppt_h</p:attrName>
                                        </p:attrNameLst>
                                      </p:cBhvr>
                                      <p:tavLst>
                                        <p:tav tm="0">
                                          <p:val>
                                            <p:fltVal val="0.000000"/>
                                          </p:val>
                                        </p:tav>
                                        <p:tav tm="100000">
                                          <p:val>
                                            <p:strVal val="#ppt_h"/>
                                          </p:val>
                                        </p:tav>
                                      </p:tavLst>
                                    </p:anim>
                                    <p:anim calcmode="lin" valueType="num">
                                      <p:cBhvr>
                                        <p:cTn id="9" dur="500" fill="hold"/>
                                        <p:tgtEl>
                                          <p:spTgt spid="3074"/>
                                        </p:tgtEl>
                                        <p:attrNameLst>
                                          <p:attrName>style.rotation</p:attrName>
                                        </p:attrNameLst>
                                      </p:cBhvr>
                                      <p:tavLst>
                                        <p:tav tm="0">
                                          <p:val>
                                            <p:fltVal val="90.000000"/>
                                          </p:val>
                                        </p:tav>
                                        <p:tav tm="100000">
                                          <p:val>
                                            <p:fltVal val="0.000000"/>
                                          </p:val>
                                        </p:tav>
                                      </p:tavLst>
                                    </p:anim>
                                    <p:animEffect transition="in" filter="fade">
                                      <p:cBhvr>
                                        <p:cTn id="10" dur="500"/>
                                        <p:tgtEl>
                                          <p:spTgt spid="3074"/>
                                        </p:tgtEl>
                                      </p:cBhvr>
                                    </p:animEffect>
                                  </p:childTnLst>
                                </p:cTn>
                              </p:par>
                            </p:childTnLst>
                          </p:cTn>
                        </p:par>
                        <p:par>
                          <p:cTn id="11" fill="hold">
                            <p:stCondLst>
                              <p:cond delay="500"/>
                            </p:stCondLst>
                            <p:childTnLst>
                              <p:par>
                                <p:cTn id="12" presetID="31" presetClass="entr" presetSubtype="0" fill="hold" grpId="0" nodeType="afterEffect">
                                  <p:stCondLst>
                                    <p:cond delay="0"/>
                                  </p:stCondLst>
                                  <p:childTnLst>
                                    <p:set>
                                      <p:cBhvr>
                                        <p:cTn id="13" dur="500" fill="hold">
                                          <p:stCondLst>
                                            <p:cond delay="0"/>
                                          </p:stCondLst>
                                        </p:cTn>
                                        <p:tgtEl>
                                          <p:spTgt spid="3075"/>
                                        </p:tgtEl>
                                        <p:attrNameLst>
                                          <p:attrName>style.visibility</p:attrName>
                                        </p:attrNameLst>
                                      </p:cBhvr>
                                      <p:to>
                                        <p:strVal val="visible"/>
                                      </p:to>
                                    </p:set>
                                    <p:anim calcmode="lin" valueType="num">
                                      <p:cBhvr>
                                        <p:cTn id="14" dur="500" fill="hold"/>
                                        <p:tgtEl>
                                          <p:spTgt spid="3075"/>
                                        </p:tgtEl>
                                        <p:attrNameLst>
                                          <p:attrName>ppt_w</p:attrName>
                                        </p:attrNameLst>
                                      </p:cBhvr>
                                      <p:tavLst>
                                        <p:tav tm="0">
                                          <p:val>
                                            <p:fltVal val="0.000000"/>
                                          </p:val>
                                        </p:tav>
                                        <p:tav tm="100000">
                                          <p:val>
                                            <p:strVal val="#ppt_w"/>
                                          </p:val>
                                        </p:tav>
                                      </p:tavLst>
                                    </p:anim>
                                    <p:anim calcmode="lin" valueType="num">
                                      <p:cBhvr>
                                        <p:cTn id="15" dur="500" fill="hold"/>
                                        <p:tgtEl>
                                          <p:spTgt spid="3075"/>
                                        </p:tgtEl>
                                        <p:attrNameLst>
                                          <p:attrName>ppt_h</p:attrName>
                                        </p:attrNameLst>
                                      </p:cBhvr>
                                      <p:tavLst>
                                        <p:tav tm="0">
                                          <p:val>
                                            <p:fltVal val="0.000000"/>
                                          </p:val>
                                        </p:tav>
                                        <p:tav tm="100000">
                                          <p:val>
                                            <p:strVal val="#ppt_h"/>
                                          </p:val>
                                        </p:tav>
                                      </p:tavLst>
                                    </p:anim>
                                    <p:anim calcmode="lin" valueType="num">
                                      <p:cBhvr>
                                        <p:cTn id="16" dur="500" fill="hold"/>
                                        <p:tgtEl>
                                          <p:spTgt spid="3075"/>
                                        </p:tgtEl>
                                        <p:attrNameLst>
                                          <p:attrName>style.rotation</p:attrName>
                                        </p:attrNameLst>
                                      </p:cBhvr>
                                      <p:tavLst>
                                        <p:tav tm="0">
                                          <p:val>
                                            <p:fltVal val="90.000000"/>
                                          </p:val>
                                        </p:tav>
                                        <p:tav tm="100000">
                                          <p:val>
                                            <p:fltVal val="0.000000"/>
                                          </p:val>
                                        </p:tav>
                                      </p:tavLst>
                                    </p:anim>
                                    <p:animEffect transition="in" filter="fade">
                                      <p:cBhvr>
                                        <p:cTn id="17" dur="500"/>
                                        <p:tgtEl>
                                          <p:spTgt spid="3075"/>
                                        </p:tgtEl>
                                      </p:cBhvr>
                                    </p:animEffect>
                                  </p:childTnLst>
                                </p:cTn>
                              </p:par>
                              <p:par>
                                <p:cTn id="18" presetID="31" presetClass="entr" presetSubtype="0" fill="hold" grpId="0" nodeType="withEffect">
                                  <p:stCondLst>
                                    <p:cond delay="0"/>
                                  </p:stCondLst>
                                  <p:childTnLst>
                                    <p:set>
                                      <p:cBhvr>
                                        <p:cTn id="19" dur="500" fill="hold">
                                          <p:stCondLst>
                                            <p:cond delay="0"/>
                                          </p:stCondLst>
                                        </p:cTn>
                                        <p:tgtEl>
                                          <p:spTgt spid="3078"/>
                                        </p:tgtEl>
                                        <p:attrNameLst>
                                          <p:attrName>style.visibility</p:attrName>
                                        </p:attrNameLst>
                                      </p:cBhvr>
                                      <p:to>
                                        <p:strVal val="visible"/>
                                      </p:to>
                                    </p:set>
                                    <p:anim calcmode="lin" valueType="num">
                                      <p:cBhvr>
                                        <p:cTn id="20" dur="500" fill="hold"/>
                                        <p:tgtEl>
                                          <p:spTgt spid="3078"/>
                                        </p:tgtEl>
                                        <p:attrNameLst>
                                          <p:attrName>ppt_w</p:attrName>
                                        </p:attrNameLst>
                                      </p:cBhvr>
                                      <p:tavLst>
                                        <p:tav tm="0">
                                          <p:val>
                                            <p:fltVal val="0.000000"/>
                                          </p:val>
                                        </p:tav>
                                        <p:tav tm="100000">
                                          <p:val>
                                            <p:strVal val="#ppt_w"/>
                                          </p:val>
                                        </p:tav>
                                      </p:tavLst>
                                    </p:anim>
                                    <p:anim calcmode="lin" valueType="num">
                                      <p:cBhvr>
                                        <p:cTn id="21" dur="500" fill="hold"/>
                                        <p:tgtEl>
                                          <p:spTgt spid="3078"/>
                                        </p:tgtEl>
                                        <p:attrNameLst>
                                          <p:attrName>ppt_h</p:attrName>
                                        </p:attrNameLst>
                                      </p:cBhvr>
                                      <p:tavLst>
                                        <p:tav tm="0">
                                          <p:val>
                                            <p:fltVal val="0.000000"/>
                                          </p:val>
                                        </p:tav>
                                        <p:tav tm="100000">
                                          <p:val>
                                            <p:strVal val="#ppt_h"/>
                                          </p:val>
                                        </p:tav>
                                      </p:tavLst>
                                    </p:anim>
                                    <p:anim calcmode="lin" valueType="num">
                                      <p:cBhvr>
                                        <p:cTn id="22" dur="500" fill="hold"/>
                                        <p:tgtEl>
                                          <p:spTgt spid="3078"/>
                                        </p:tgtEl>
                                        <p:attrNameLst>
                                          <p:attrName>style.rotation</p:attrName>
                                        </p:attrNameLst>
                                      </p:cBhvr>
                                      <p:tavLst>
                                        <p:tav tm="0">
                                          <p:val>
                                            <p:fltVal val="90.000000"/>
                                          </p:val>
                                        </p:tav>
                                        <p:tav tm="100000">
                                          <p:val>
                                            <p:fltVal val="0.000000"/>
                                          </p:val>
                                        </p:tav>
                                      </p:tavLst>
                                    </p:anim>
                                    <p:animEffect transition="in" filter="fade">
                                      <p:cBhvr>
                                        <p:cTn id="23" dur="500"/>
                                        <p:tgtEl>
                                          <p:spTgt spid="3078"/>
                                        </p:tgtEl>
                                      </p:cBhvr>
                                    </p:animEffect>
                                  </p:childTnLst>
                                </p:cTn>
                              </p:par>
                            </p:childTnLst>
                          </p:cTn>
                        </p:par>
                        <p:par>
                          <p:cTn id="24" fill="hold">
                            <p:stCondLst>
                              <p:cond delay="1000"/>
                            </p:stCondLst>
                            <p:childTnLst>
                              <p:par>
                                <p:cTn id="25" presetID="31" presetClass="entr" presetSubtype="0" fill="hold" grpId="0" nodeType="afterEffect">
                                  <p:stCondLst>
                                    <p:cond delay="0"/>
                                  </p:stCondLst>
                                  <p:childTnLst>
                                    <p:set>
                                      <p:cBhvr>
                                        <p:cTn id="26" dur="500" fill="hold">
                                          <p:stCondLst>
                                            <p:cond delay="0"/>
                                          </p:stCondLst>
                                        </p:cTn>
                                        <p:tgtEl>
                                          <p:spTgt spid="3076"/>
                                        </p:tgtEl>
                                        <p:attrNameLst>
                                          <p:attrName>style.visibility</p:attrName>
                                        </p:attrNameLst>
                                      </p:cBhvr>
                                      <p:to>
                                        <p:strVal val="visible"/>
                                      </p:to>
                                    </p:set>
                                    <p:anim calcmode="lin" valueType="num">
                                      <p:cBhvr>
                                        <p:cTn id="27" dur="500" fill="hold"/>
                                        <p:tgtEl>
                                          <p:spTgt spid="3076"/>
                                        </p:tgtEl>
                                        <p:attrNameLst>
                                          <p:attrName>ppt_w</p:attrName>
                                        </p:attrNameLst>
                                      </p:cBhvr>
                                      <p:tavLst>
                                        <p:tav tm="0">
                                          <p:val>
                                            <p:fltVal val="0.000000"/>
                                          </p:val>
                                        </p:tav>
                                        <p:tav tm="100000">
                                          <p:val>
                                            <p:strVal val="#ppt_w"/>
                                          </p:val>
                                        </p:tav>
                                      </p:tavLst>
                                    </p:anim>
                                    <p:anim calcmode="lin" valueType="num">
                                      <p:cBhvr>
                                        <p:cTn id="28" dur="500" fill="hold"/>
                                        <p:tgtEl>
                                          <p:spTgt spid="3076"/>
                                        </p:tgtEl>
                                        <p:attrNameLst>
                                          <p:attrName>ppt_h</p:attrName>
                                        </p:attrNameLst>
                                      </p:cBhvr>
                                      <p:tavLst>
                                        <p:tav tm="0">
                                          <p:val>
                                            <p:fltVal val="0.000000"/>
                                          </p:val>
                                        </p:tav>
                                        <p:tav tm="100000">
                                          <p:val>
                                            <p:strVal val="#ppt_h"/>
                                          </p:val>
                                        </p:tav>
                                      </p:tavLst>
                                    </p:anim>
                                    <p:anim calcmode="lin" valueType="num">
                                      <p:cBhvr>
                                        <p:cTn id="29" dur="500" fill="hold"/>
                                        <p:tgtEl>
                                          <p:spTgt spid="3076"/>
                                        </p:tgtEl>
                                        <p:attrNameLst>
                                          <p:attrName>style.rotation</p:attrName>
                                        </p:attrNameLst>
                                      </p:cBhvr>
                                      <p:tavLst>
                                        <p:tav tm="0">
                                          <p:val>
                                            <p:fltVal val="90.000000"/>
                                          </p:val>
                                        </p:tav>
                                        <p:tav tm="100000">
                                          <p:val>
                                            <p:fltVal val="0.000000"/>
                                          </p:val>
                                        </p:tav>
                                      </p:tavLst>
                                    </p:anim>
                                    <p:animEffect transition="in" filter="fade">
                                      <p:cBhvr>
                                        <p:cTn id="30" dur="500"/>
                                        <p:tgtEl>
                                          <p:spTgt spid="3076"/>
                                        </p:tgtEl>
                                      </p:cBhvr>
                                    </p:animEffect>
                                  </p:childTnLst>
                                </p:cTn>
                              </p:par>
                              <p:par>
                                <p:cTn id="31" presetID="31" presetClass="entr" presetSubtype="0" fill="hold" grpId="0" nodeType="withEffect">
                                  <p:stCondLst>
                                    <p:cond delay="0"/>
                                  </p:stCondLst>
                                  <p:childTnLst>
                                    <p:set>
                                      <p:cBhvr>
                                        <p:cTn id="32" dur="500" fill="hold">
                                          <p:stCondLst>
                                            <p:cond delay="0"/>
                                          </p:stCondLst>
                                        </p:cTn>
                                        <p:tgtEl>
                                          <p:spTgt spid="3079"/>
                                        </p:tgtEl>
                                        <p:attrNameLst>
                                          <p:attrName>style.visibility</p:attrName>
                                        </p:attrNameLst>
                                      </p:cBhvr>
                                      <p:to>
                                        <p:strVal val="visible"/>
                                      </p:to>
                                    </p:set>
                                    <p:anim calcmode="lin" valueType="num">
                                      <p:cBhvr>
                                        <p:cTn id="33" dur="500" fill="hold"/>
                                        <p:tgtEl>
                                          <p:spTgt spid="3079"/>
                                        </p:tgtEl>
                                        <p:attrNameLst>
                                          <p:attrName>ppt_w</p:attrName>
                                        </p:attrNameLst>
                                      </p:cBhvr>
                                      <p:tavLst>
                                        <p:tav tm="0">
                                          <p:val>
                                            <p:fltVal val="0.000000"/>
                                          </p:val>
                                        </p:tav>
                                        <p:tav tm="100000">
                                          <p:val>
                                            <p:strVal val="#ppt_w"/>
                                          </p:val>
                                        </p:tav>
                                      </p:tavLst>
                                    </p:anim>
                                    <p:anim calcmode="lin" valueType="num">
                                      <p:cBhvr>
                                        <p:cTn id="34" dur="500" fill="hold"/>
                                        <p:tgtEl>
                                          <p:spTgt spid="3079"/>
                                        </p:tgtEl>
                                        <p:attrNameLst>
                                          <p:attrName>ppt_h</p:attrName>
                                        </p:attrNameLst>
                                      </p:cBhvr>
                                      <p:tavLst>
                                        <p:tav tm="0">
                                          <p:val>
                                            <p:fltVal val="0.000000"/>
                                          </p:val>
                                        </p:tav>
                                        <p:tav tm="100000">
                                          <p:val>
                                            <p:strVal val="#ppt_h"/>
                                          </p:val>
                                        </p:tav>
                                      </p:tavLst>
                                    </p:anim>
                                    <p:anim calcmode="lin" valueType="num">
                                      <p:cBhvr>
                                        <p:cTn id="35" dur="500" fill="hold"/>
                                        <p:tgtEl>
                                          <p:spTgt spid="3079"/>
                                        </p:tgtEl>
                                        <p:attrNameLst>
                                          <p:attrName>style.rotation</p:attrName>
                                        </p:attrNameLst>
                                      </p:cBhvr>
                                      <p:tavLst>
                                        <p:tav tm="0">
                                          <p:val>
                                            <p:fltVal val="90.000000"/>
                                          </p:val>
                                        </p:tav>
                                        <p:tav tm="100000">
                                          <p:val>
                                            <p:fltVal val="0.000000"/>
                                          </p:val>
                                        </p:tav>
                                      </p:tavLst>
                                    </p:anim>
                                    <p:animEffect transition="in" filter="fade">
                                      <p:cBhvr>
                                        <p:cTn id="36" dur="500"/>
                                        <p:tgtEl>
                                          <p:spTgt spid="3079"/>
                                        </p:tgtEl>
                                      </p:cBhvr>
                                    </p:animEffect>
                                  </p:childTnLst>
                                </p:cTn>
                              </p:par>
                            </p:childTnLst>
                          </p:cTn>
                        </p:par>
                        <p:par>
                          <p:cTn id="37" fill="hold">
                            <p:stCondLst>
                              <p:cond delay="1500"/>
                            </p:stCondLst>
                            <p:childTnLst>
                              <p:par>
                                <p:cTn id="38" presetID="31" presetClass="entr" presetSubtype="0" fill="hold" grpId="0" nodeType="afterEffect">
                                  <p:stCondLst>
                                    <p:cond delay="0"/>
                                  </p:stCondLst>
                                  <p:childTnLst>
                                    <p:set>
                                      <p:cBhvr>
                                        <p:cTn id="39" dur="500" fill="hold">
                                          <p:stCondLst>
                                            <p:cond delay="0"/>
                                          </p:stCondLst>
                                        </p:cTn>
                                        <p:tgtEl>
                                          <p:spTgt spid="3077"/>
                                        </p:tgtEl>
                                        <p:attrNameLst>
                                          <p:attrName>style.visibility</p:attrName>
                                        </p:attrNameLst>
                                      </p:cBhvr>
                                      <p:to>
                                        <p:strVal val="visible"/>
                                      </p:to>
                                    </p:set>
                                    <p:anim calcmode="lin" valueType="num">
                                      <p:cBhvr>
                                        <p:cTn id="40" dur="500" fill="hold"/>
                                        <p:tgtEl>
                                          <p:spTgt spid="3077"/>
                                        </p:tgtEl>
                                        <p:attrNameLst>
                                          <p:attrName>ppt_w</p:attrName>
                                        </p:attrNameLst>
                                      </p:cBhvr>
                                      <p:tavLst>
                                        <p:tav tm="0">
                                          <p:val>
                                            <p:fltVal val="0.000000"/>
                                          </p:val>
                                        </p:tav>
                                        <p:tav tm="100000">
                                          <p:val>
                                            <p:strVal val="#ppt_w"/>
                                          </p:val>
                                        </p:tav>
                                      </p:tavLst>
                                    </p:anim>
                                    <p:anim calcmode="lin" valueType="num">
                                      <p:cBhvr>
                                        <p:cTn id="41" dur="500" fill="hold"/>
                                        <p:tgtEl>
                                          <p:spTgt spid="3077"/>
                                        </p:tgtEl>
                                        <p:attrNameLst>
                                          <p:attrName>ppt_h</p:attrName>
                                        </p:attrNameLst>
                                      </p:cBhvr>
                                      <p:tavLst>
                                        <p:tav tm="0">
                                          <p:val>
                                            <p:fltVal val="0.000000"/>
                                          </p:val>
                                        </p:tav>
                                        <p:tav tm="100000">
                                          <p:val>
                                            <p:strVal val="#ppt_h"/>
                                          </p:val>
                                        </p:tav>
                                      </p:tavLst>
                                    </p:anim>
                                    <p:anim calcmode="lin" valueType="num">
                                      <p:cBhvr>
                                        <p:cTn id="42" dur="500" fill="hold"/>
                                        <p:tgtEl>
                                          <p:spTgt spid="3077"/>
                                        </p:tgtEl>
                                        <p:attrNameLst>
                                          <p:attrName>style.rotation</p:attrName>
                                        </p:attrNameLst>
                                      </p:cBhvr>
                                      <p:tavLst>
                                        <p:tav tm="0">
                                          <p:val>
                                            <p:fltVal val="90.000000"/>
                                          </p:val>
                                        </p:tav>
                                        <p:tav tm="100000">
                                          <p:val>
                                            <p:fltVal val="0.000000"/>
                                          </p:val>
                                        </p:tav>
                                      </p:tavLst>
                                    </p:anim>
                                    <p:animEffect transition="in" filter="fade">
                                      <p:cBhvr>
                                        <p:cTn id="43" dur="500"/>
                                        <p:tgtEl>
                                          <p:spTgt spid="3077"/>
                                        </p:tgtEl>
                                      </p:cBhvr>
                                    </p:animEffect>
                                  </p:childTnLst>
                                </p:cTn>
                              </p:par>
                              <p:par>
                                <p:cTn id="44" presetID="31" presetClass="entr" presetSubtype="0" fill="hold" grpId="0" nodeType="withEffect">
                                  <p:stCondLst>
                                    <p:cond delay="0"/>
                                  </p:stCondLst>
                                  <p:childTnLst>
                                    <p:set>
                                      <p:cBhvr>
                                        <p:cTn id="45" dur="500" fill="hold">
                                          <p:stCondLst>
                                            <p:cond delay="0"/>
                                          </p:stCondLst>
                                        </p:cTn>
                                        <p:tgtEl>
                                          <p:spTgt spid="3080"/>
                                        </p:tgtEl>
                                        <p:attrNameLst>
                                          <p:attrName>style.visibility</p:attrName>
                                        </p:attrNameLst>
                                      </p:cBhvr>
                                      <p:to>
                                        <p:strVal val="visible"/>
                                      </p:to>
                                    </p:set>
                                    <p:anim calcmode="lin" valueType="num">
                                      <p:cBhvr>
                                        <p:cTn id="46" dur="500" fill="hold"/>
                                        <p:tgtEl>
                                          <p:spTgt spid="3080"/>
                                        </p:tgtEl>
                                        <p:attrNameLst>
                                          <p:attrName>ppt_w</p:attrName>
                                        </p:attrNameLst>
                                      </p:cBhvr>
                                      <p:tavLst>
                                        <p:tav tm="0">
                                          <p:val>
                                            <p:fltVal val="0.000000"/>
                                          </p:val>
                                        </p:tav>
                                        <p:tav tm="100000">
                                          <p:val>
                                            <p:strVal val="#ppt_w"/>
                                          </p:val>
                                        </p:tav>
                                      </p:tavLst>
                                    </p:anim>
                                    <p:anim calcmode="lin" valueType="num">
                                      <p:cBhvr>
                                        <p:cTn id="47" dur="500" fill="hold"/>
                                        <p:tgtEl>
                                          <p:spTgt spid="3080"/>
                                        </p:tgtEl>
                                        <p:attrNameLst>
                                          <p:attrName>ppt_h</p:attrName>
                                        </p:attrNameLst>
                                      </p:cBhvr>
                                      <p:tavLst>
                                        <p:tav tm="0">
                                          <p:val>
                                            <p:fltVal val="0.000000"/>
                                          </p:val>
                                        </p:tav>
                                        <p:tav tm="100000">
                                          <p:val>
                                            <p:strVal val="#ppt_h"/>
                                          </p:val>
                                        </p:tav>
                                      </p:tavLst>
                                    </p:anim>
                                    <p:anim calcmode="lin" valueType="num">
                                      <p:cBhvr>
                                        <p:cTn id="48" dur="500" fill="hold"/>
                                        <p:tgtEl>
                                          <p:spTgt spid="3080"/>
                                        </p:tgtEl>
                                        <p:attrNameLst>
                                          <p:attrName>style.rotation</p:attrName>
                                        </p:attrNameLst>
                                      </p:cBhvr>
                                      <p:tavLst>
                                        <p:tav tm="0">
                                          <p:val>
                                            <p:fltVal val="90.000000"/>
                                          </p:val>
                                        </p:tav>
                                        <p:tav tm="100000">
                                          <p:val>
                                            <p:fltVal val="0.000000"/>
                                          </p:val>
                                        </p:tav>
                                      </p:tavLst>
                                    </p:anim>
                                    <p:animEffect transition="in" filter="fade">
                                      <p:cBhvr>
                                        <p:cTn id="49" dur="500"/>
                                        <p:tgtEl>
                                          <p:spTgt spid="30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animBg="1"/>
      <p:bldP spid="3075" grpId="0" animBg="1"/>
      <p:bldP spid="3076" grpId="0" animBg="1"/>
      <p:bldP spid="3077" grpId="0" animBg="1"/>
      <p:bldP spid="3078" grpId="0"/>
      <p:bldP spid="3079" grpId="0"/>
      <p:bldP spid="308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平行四边形 4"/>
          <p:cNvSpPr/>
          <p:nvPr/>
        </p:nvSpPr>
        <p:spPr>
          <a:xfrm>
            <a:off x="1143000" y="1643063"/>
            <a:ext cx="1785938" cy="1500187"/>
          </a:xfrm>
          <a:prstGeom prst="parallelogram">
            <a:avLst>
              <a:gd name="adj" fmla="val 25000"/>
            </a:avLst>
          </a:prstGeom>
          <a:gradFill rotWithShape="1">
            <a:gsLst>
              <a:gs pos="0">
                <a:srgbClr val="29869F">
                  <a:alpha val="100000"/>
                </a:srgbClr>
              </a:gs>
              <a:gs pos="79999">
                <a:srgbClr val="36B0D0">
                  <a:alpha val="100000"/>
                </a:srgbClr>
              </a:gs>
              <a:gs pos="100000">
                <a:srgbClr val="33B3D5">
                  <a:alpha val="100000"/>
                </a:srgbClr>
              </a:gs>
            </a:gsLst>
            <a:lin ang="16200000" scaled="1"/>
            <a:tileRect/>
          </a:gradFill>
          <a:ln w="9525" cap="flat" cmpd="sng">
            <a:solidFill>
              <a:srgbClr val="4BACC6"/>
            </a:solidFill>
            <a:prstDash val="solid"/>
            <a:bevel/>
            <a:headEnd type="none" w="med" len="med"/>
            <a:tailEnd type="none" w="med" len="med"/>
          </a:ln>
        </p:spPr>
        <p:txBody>
          <a:bodyPr anchor="ctr" anchorCtr="0"/>
          <a:p>
            <a:pPr algn="ctr"/>
            <a:r>
              <a:rPr lang="en-US" altLang="zh-CN" sz="4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01</a:t>
            </a:r>
            <a:endParaRPr lang="zh-CN" altLang="en-US" sz="4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a:p>
            <a:pPr algn="ctr"/>
            <a:r>
              <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STM32</a:t>
            </a:r>
            <a:r>
              <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F</a:t>
            </a:r>
            <a:r>
              <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103概述</a:t>
            </a:r>
            <a:endParaRPr lang="zh-CN" altLang="en-US"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218" name="平行四边形 5"/>
          <p:cNvSpPr/>
          <p:nvPr/>
        </p:nvSpPr>
        <p:spPr>
          <a:xfrm>
            <a:off x="2857500" y="1643063"/>
            <a:ext cx="1785938" cy="1500187"/>
          </a:xfrm>
          <a:prstGeom prst="parallelogram">
            <a:avLst>
              <a:gd name="adj" fmla="val 25000"/>
            </a:avLst>
          </a:prstGeom>
          <a:gradFill rotWithShape="1">
            <a:gsLst>
              <a:gs pos="0">
                <a:srgbClr val="C96C1F">
                  <a:alpha val="100000"/>
                </a:srgbClr>
              </a:gs>
              <a:gs pos="79999">
                <a:srgbClr val="FF8F33">
                  <a:alpha val="100000"/>
                </a:srgbClr>
              </a:gs>
              <a:gs pos="100000">
                <a:srgbClr val="FF8F35">
                  <a:alpha val="100000"/>
                </a:srgbClr>
              </a:gs>
            </a:gsLst>
            <a:lin ang="16200000" scaled="1"/>
            <a:tileRect/>
          </a:gradFill>
          <a:ln w="9525" cap="flat" cmpd="sng">
            <a:solidFill>
              <a:srgbClr val="F79646"/>
            </a:solidFill>
            <a:prstDash val="solid"/>
            <a:bevel/>
            <a:headEnd type="none" w="med" len="med"/>
            <a:tailEnd type="none" w="med" len="med"/>
          </a:ln>
        </p:spPr>
        <p:txBody>
          <a:bodyPr anchor="ctr" anchorCtr="0"/>
          <a:p>
            <a:pPr algn="ctr"/>
            <a:endParaRPr lang="zh-CN" altLang="zh-CN" dirty="0">
              <a:solidFill>
                <a:srgbClr val="FFFFFF"/>
              </a:solidFill>
              <a:latin typeface="Arial" panose="020B0604020202020204" pitchFamily="34" charset="0"/>
              <a:ea typeface="宋体" panose="02010600030101010101" pitchFamily="2" charset="-122"/>
              <a:sym typeface="Bodoni MT" panose="02070603080606020203" pitchFamily="18" charset="0"/>
            </a:endParaRPr>
          </a:p>
        </p:txBody>
      </p:sp>
      <p:sp>
        <p:nvSpPr>
          <p:cNvPr id="9219" name="平行四边形 6"/>
          <p:cNvSpPr/>
          <p:nvPr/>
        </p:nvSpPr>
        <p:spPr>
          <a:xfrm>
            <a:off x="4500563" y="1643063"/>
            <a:ext cx="1785937" cy="1500187"/>
          </a:xfrm>
          <a:prstGeom prst="parallelogram">
            <a:avLst>
              <a:gd name="adj" fmla="val 25000"/>
            </a:avLst>
          </a:prstGeom>
          <a:gradFill rotWithShape="1">
            <a:gsLst>
              <a:gs pos="0">
                <a:srgbClr val="C96C1F">
                  <a:alpha val="100000"/>
                </a:srgbClr>
              </a:gs>
              <a:gs pos="79999">
                <a:srgbClr val="FF8F33">
                  <a:alpha val="100000"/>
                </a:srgbClr>
              </a:gs>
              <a:gs pos="100000">
                <a:srgbClr val="FF8F35">
                  <a:alpha val="100000"/>
                </a:srgbClr>
              </a:gs>
            </a:gsLst>
            <a:lin ang="16200000" scaled="1"/>
            <a:tileRect/>
          </a:gradFill>
          <a:ln w="9525" cap="flat" cmpd="sng">
            <a:solidFill>
              <a:srgbClr val="F79646"/>
            </a:solidFill>
            <a:prstDash val="solid"/>
            <a:bevel/>
            <a:headEnd type="none" w="med" len="med"/>
            <a:tailEnd type="none" w="med" len="med"/>
          </a:ln>
        </p:spPr>
        <p:txBody>
          <a:bodyPr anchor="ctr" anchorCtr="0"/>
          <a:p>
            <a:pPr algn="ctr"/>
            <a:endParaRPr lang="zh-CN" altLang="zh-CN" dirty="0">
              <a:solidFill>
                <a:srgbClr val="FFFFFF"/>
              </a:solidFill>
              <a:latin typeface="Arial" panose="020B0604020202020204" pitchFamily="34" charset="0"/>
              <a:ea typeface="宋体" panose="02010600030101010101" pitchFamily="2" charset="-122"/>
              <a:sym typeface="Bodoni MT" panose="02070603080606020203" pitchFamily="18" charset="0"/>
            </a:endParaRPr>
          </a:p>
        </p:txBody>
      </p:sp>
      <p:sp>
        <p:nvSpPr>
          <p:cNvPr id="9220" name="平行四边形 7"/>
          <p:cNvSpPr/>
          <p:nvPr/>
        </p:nvSpPr>
        <p:spPr>
          <a:xfrm>
            <a:off x="6215063" y="1643063"/>
            <a:ext cx="1785937" cy="1500187"/>
          </a:xfrm>
          <a:prstGeom prst="parallelogram">
            <a:avLst>
              <a:gd name="adj" fmla="val 25000"/>
            </a:avLst>
          </a:prstGeom>
          <a:gradFill rotWithShape="1">
            <a:gsLst>
              <a:gs pos="0">
                <a:srgbClr val="C96C1F">
                  <a:alpha val="100000"/>
                </a:srgbClr>
              </a:gs>
              <a:gs pos="79999">
                <a:srgbClr val="FF8F33">
                  <a:alpha val="100000"/>
                </a:srgbClr>
              </a:gs>
              <a:gs pos="100000">
                <a:srgbClr val="FF8F35">
                  <a:alpha val="100000"/>
                </a:srgbClr>
              </a:gs>
            </a:gsLst>
            <a:lin ang="16200000" scaled="1"/>
            <a:tileRect/>
          </a:gradFill>
          <a:ln w="9525" cap="flat" cmpd="sng">
            <a:solidFill>
              <a:srgbClr val="F79646"/>
            </a:solidFill>
            <a:prstDash val="solid"/>
            <a:bevel/>
            <a:headEnd type="none" w="med" len="med"/>
            <a:tailEnd type="none" w="med" len="med"/>
          </a:ln>
        </p:spPr>
        <p:txBody>
          <a:bodyPr anchor="ctr" anchorCtr="0"/>
          <a:p>
            <a:pPr algn="ctr"/>
            <a:endParaRPr lang="zh-CN" altLang="zh-CN" dirty="0">
              <a:solidFill>
                <a:srgbClr val="FFFFFF"/>
              </a:solidFill>
              <a:latin typeface="Arial" panose="020B0604020202020204" pitchFamily="34" charset="0"/>
              <a:ea typeface="宋体" panose="02010600030101010101" pitchFamily="2" charset="-122"/>
              <a:sym typeface="Bodoni MT" panose="02070603080606020203" pitchFamily="18" charset="0"/>
            </a:endParaRPr>
          </a:p>
        </p:txBody>
      </p:sp>
      <p:sp>
        <p:nvSpPr>
          <p:cNvPr id="9221" name="TextBox 8"/>
          <p:cNvSpPr/>
          <p:nvPr/>
        </p:nvSpPr>
        <p:spPr>
          <a:xfrm>
            <a:off x="2928938" y="1724025"/>
            <a:ext cx="1531937" cy="1322388"/>
          </a:xfrm>
          <a:prstGeom prst="rect">
            <a:avLst/>
          </a:prstGeom>
          <a:noFill/>
          <a:ln w="9525">
            <a:noFill/>
          </a:ln>
        </p:spPr>
        <p:txBody>
          <a:bodyPr wrap="none" anchor="t" anchorCtr="0">
            <a:spAutoFit/>
          </a:bodyPr>
          <a:p>
            <a:pPr algn="ctr"/>
            <a:r>
              <a:rPr lang="en-US" altLang="zh-CN" sz="4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02</a:t>
            </a:r>
            <a:endParaRPr lang="en-US" altLang="zh-CN" sz="4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a:r>
              <a:rPr lang="en-US" altLang="zh-CN" b="1" dirty="0">
                <a:solidFill>
                  <a:schemeClr val="bg1"/>
                </a:solidFill>
                <a:latin typeface="微软雅黑" panose="020B0503020204020204" pitchFamily="34" charset="-122"/>
                <a:ea typeface="微软雅黑" panose="020B0503020204020204" pitchFamily="34" charset="-122"/>
                <a:sym typeface="Bodoni MT" panose="02070603080606020203" pitchFamily="18" charset="0"/>
              </a:rPr>
              <a:t>STM32F103</a:t>
            </a:r>
            <a:endParaRPr lang="en-US" altLang="zh-CN" b="1" dirty="0">
              <a:solidFill>
                <a:schemeClr val="bg1"/>
              </a:solidFill>
              <a:latin typeface="微软雅黑" panose="020B0503020204020204" pitchFamily="34" charset="-122"/>
              <a:ea typeface="微软雅黑" panose="020B0503020204020204" pitchFamily="34" charset="-122"/>
              <a:sym typeface="Bodoni MT" panose="02070603080606020203" pitchFamily="18" charset="0"/>
            </a:endParaRPr>
          </a:p>
          <a:p>
            <a:pPr algn="ctr"/>
            <a:r>
              <a:rPr lang="zh-CN" altLang="en-US" b="1" dirty="0">
                <a:solidFill>
                  <a:schemeClr val="bg1"/>
                </a:solidFill>
                <a:latin typeface="微软雅黑" panose="020B0503020204020204" pitchFamily="34" charset="-122"/>
                <a:ea typeface="微软雅黑" panose="020B0503020204020204" pitchFamily="34" charset="-122"/>
                <a:sym typeface="Bodoni MT" panose="02070603080606020203" pitchFamily="18" charset="0"/>
              </a:rPr>
              <a:t>管脚定义</a:t>
            </a:r>
            <a:endParaRPr lang="zh-CN" altLang="en-US" dirty="0">
              <a:solidFill>
                <a:srgbClr val="000000"/>
              </a:solidFill>
              <a:latin typeface="Bodoni MT" panose="02070603080606020203" pitchFamily="18" charset="0"/>
              <a:ea typeface="微软雅黑" panose="020B0503020204020204" pitchFamily="34" charset="-122"/>
              <a:sym typeface="Bodoni MT" panose="02070603080606020203" pitchFamily="18" charset="0"/>
            </a:endParaRPr>
          </a:p>
        </p:txBody>
      </p:sp>
      <p:sp>
        <p:nvSpPr>
          <p:cNvPr id="9222" name="TextBox 9"/>
          <p:cNvSpPr/>
          <p:nvPr/>
        </p:nvSpPr>
        <p:spPr>
          <a:xfrm>
            <a:off x="4843463" y="1724025"/>
            <a:ext cx="1108075" cy="1600200"/>
          </a:xfrm>
          <a:prstGeom prst="rect">
            <a:avLst/>
          </a:prstGeom>
          <a:noFill/>
          <a:ln w="9525">
            <a:noFill/>
          </a:ln>
        </p:spPr>
        <p:txBody>
          <a:bodyPr wrap="none" anchor="t" anchorCtr="0">
            <a:spAutoFit/>
          </a:bodyPr>
          <a:p>
            <a:pPr algn="ctr"/>
            <a:r>
              <a:rPr lang="en-US" altLang="zh-CN" sz="4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03</a:t>
            </a:r>
            <a:endParaRPr lang="en-US" altLang="zh-CN" sz="4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a:r>
              <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STM32F</a:t>
            </a:r>
            <a:endPar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a:r>
              <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103</a:t>
            </a:r>
            <a:r>
              <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架构</a:t>
            </a:r>
            <a:endPar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a:endParaRPr lang="zh-CN" altLang="en-US" dirty="0">
              <a:solidFill>
                <a:srgbClr val="000000"/>
              </a:solidFill>
              <a:latin typeface="Bodoni MT" panose="02070603080606020203" pitchFamily="18" charset="0"/>
              <a:ea typeface="微软雅黑" panose="020B0503020204020204" pitchFamily="34" charset="-122"/>
              <a:sym typeface="Bodoni MT" panose="02070603080606020203" pitchFamily="18" charset="0"/>
            </a:endParaRPr>
          </a:p>
        </p:txBody>
      </p:sp>
      <p:sp>
        <p:nvSpPr>
          <p:cNvPr id="9223" name="TextBox 10"/>
          <p:cNvSpPr/>
          <p:nvPr/>
        </p:nvSpPr>
        <p:spPr>
          <a:xfrm>
            <a:off x="6573838" y="1714500"/>
            <a:ext cx="1108075" cy="1600200"/>
          </a:xfrm>
          <a:prstGeom prst="rect">
            <a:avLst/>
          </a:prstGeom>
          <a:noFill/>
          <a:ln w="9525">
            <a:noFill/>
          </a:ln>
        </p:spPr>
        <p:txBody>
          <a:bodyPr wrap="none" anchor="t" anchorCtr="0">
            <a:spAutoFit/>
          </a:bodyPr>
          <a:p>
            <a:pPr algn="ctr"/>
            <a:r>
              <a:rPr lang="en-US" altLang="zh-CN" sz="4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04</a:t>
            </a:r>
            <a:endParaRPr lang="en-US" altLang="zh-CN" sz="4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a:r>
              <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STM32F</a:t>
            </a:r>
            <a:endPar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a:r>
              <a:rPr lang="en-US" altLang="zh-CN"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103</a:t>
            </a:r>
            <a:r>
              <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外设</a:t>
            </a:r>
            <a:endPar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a:endParaRPr lang="zh-CN" altLang="en-US" dirty="0">
              <a:solidFill>
                <a:srgbClr val="000000"/>
              </a:solidFill>
              <a:latin typeface="Bodoni MT" panose="02070603080606020203" pitchFamily="18" charset="0"/>
              <a:ea typeface="微软雅黑" panose="020B0503020204020204" pitchFamily="34" charset="-122"/>
              <a:sym typeface="Bodoni MT" panose="02070603080606020203"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圆角矩形 5"/>
          <p:cNvSpPr/>
          <p:nvPr/>
        </p:nvSpPr>
        <p:spPr>
          <a:xfrm>
            <a:off x="260350" y="439738"/>
            <a:ext cx="8623300" cy="4462462"/>
          </a:xfrm>
          <a:prstGeom prst="roundRect">
            <a:avLst>
              <a:gd name="adj" fmla="val 16667"/>
            </a:avLst>
          </a:prstGeom>
          <a:noFill/>
          <a:ln w="47625" cap="flat" cmpd="sng">
            <a:solidFill>
              <a:srgbClr val="FC6C02"/>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sym typeface="Bodoni MT" panose="02070603080606020203" pitchFamily="18" charset="0"/>
            </a:endParaRPr>
          </a:p>
        </p:txBody>
      </p:sp>
      <p:sp useBgFill="1">
        <p:nvSpPr>
          <p:cNvPr id="12" name="矩形 11"/>
          <p:cNvSpPr/>
          <p:nvPr/>
        </p:nvSpPr>
        <p:spPr>
          <a:xfrm>
            <a:off x="717549" y="121918"/>
            <a:ext cx="2413636" cy="583566"/>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概述</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9" name="六边形 8"/>
          <p:cNvSpPr/>
          <p:nvPr/>
        </p:nvSpPr>
        <p:spPr>
          <a:xfrm>
            <a:off x="429894" y="1497965"/>
            <a:ext cx="1590040" cy="1549400"/>
          </a:xfrm>
          <a:prstGeom prst="hexagon">
            <a:avLst/>
          </a:prstGeom>
          <a:solidFill>
            <a:srgbClr val="FC6C02"/>
          </a:solidFill>
          <a:ln w="9525" cap="flat" cmpd="sng" algn="ctr">
            <a:solidFill>
              <a:srgbClr val="FC6C02"/>
            </a:solidFill>
            <a:prstDash val="solid"/>
            <a:round/>
            <a:headEnd type="none" w="med" len="med"/>
            <a:tailEnd type="none" w="med" len="med"/>
          </a:ln>
          <a:effectLst>
            <a:innerShdw blurRad="254000" dist="76200" dir="18900000">
              <a:schemeClr val="tx1">
                <a:alpha val="50000"/>
              </a:schemeClr>
            </a:innerShdw>
          </a:effec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1800" b="1" i="0" u="none" strike="noStrike"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32</a:t>
            </a:r>
            <a:r>
              <a:rPr kumimoji="0" lang="zh-CN" altLang="en-US" sz="1800" b="1" i="0" u="none" strike="noStrike"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位  </a:t>
            </a:r>
            <a:endParaRPr kumimoji="0" lang="zh-CN" altLang="en-US" sz="1800" b="1" i="0" u="none" strike="noStrike"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MCU</a:t>
            </a:r>
            <a:endParaRPr kumimoji="0" lang="en-US" altLang="zh-CN" sz="1800" b="1" i="0" u="none" strike="noStrike"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ARMv7</a:t>
            </a:r>
            <a:r>
              <a:rPr kumimoji="0" lang="zh-CN" altLang="en-US" sz="1800" b="1" i="0" u="none" strike="noStrike"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架构</a:t>
            </a:r>
            <a:endParaRPr kumimoji="0" lang="en-US" altLang="zh-CN" sz="1800" b="1" i="0" u="none" strike="noStrike"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六边形 9"/>
          <p:cNvSpPr/>
          <p:nvPr/>
        </p:nvSpPr>
        <p:spPr>
          <a:xfrm>
            <a:off x="2821940" y="1503680"/>
            <a:ext cx="1537970" cy="1538605"/>
          </a:xfrm>
          <a:prstGeom prst="hexagon">
            <a:avLst/>
          </a:prstGeom>
          <a:solidFill>
            <a:srgbClr val="FC6C02"/>
          </a:solidFill>
          <a:ln w="9525" cap="flat" cmpd="sng" algn="ctr">
            <a:solidFill>
              <a:srgbClr val="FC6C02"/>
            </a:solidFill>
            <a:prstDash val="solid"/>
            <a:round/>
            <a:headEnd type="none" w="med" len="med"/>
            <a:tailEnd type="none" w="med" len="med"/>
          </a:ln>
          <a:effectLst>
            <a:innerShdw blurRad="228600" dist="76200" dir="189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sz="1800" b="1" i="0" u="none" strike="noStrike"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高性能</a:t>
            </a:r>
            <a:endParaRPr kumimoji="0" lang="en-US" sz="1800" b="1" i="0" u="none" strike="noStrike"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1800" b="1" i="0" u="none" strike="noStrike"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 低电压</a:t>
            </a:r>
            <a:endParaRPr kumimoji="0" lang="en-US" sz="1800" b="1" i="0" u="none" strike="noStrike"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1800" b="1" i="0" u="none" strike="noStrike"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 低功耗</a:t>
            </a:r>
            <a:endParaRPr kumimoji="0" lang="en-US" sz="1800" b="1" i="0" u="none" strike="noStrike"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六边形 13"/>
          <p:cNvSpPr/>
          <p:nvPr/>
        </p:nvSpPr>
        <p:spPr>
          <a:xfrm>
            <a:off x="3975735" y="2270753"/>
            <a:ext cx="1575435" cy="1562100"/>
          </a:xfrm>
          <a:prstGeom prst="hexagon">
            <a:avLst/>
          </a:prstGeom>
          <a:solidFill>
            <a:schemeClr val="bg1">
              <a:lumMod val="75000"/>
            </a:schemeClr>
          </a:solidFill>
          <a:ln w="9525" cap="flat" cmpd="sng" algn="ctr">
            <a:solidFill>
              <a:schemeClr val="bg1">
                <a:lumMod val="75000"/>
              </a:schemeClr>
            </a:solidFill>
            <a:prstDash val="solid"/>
            <a:round/>
            <a:headEnd type="none" w="med" len="med"/>
            <a:tailEnd type="none" w="med" len="med"/>
          </a:ln>
          <a:effectLst>
            <a:innerShdw blurRad="254000" dist="76200" dir="189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 简单易  </a:t>
            </a:r>
            <a:endParaRPr kumimoji="0" lang="en-US" altLang="zh-CN" sz="1800" b="1"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 用</a:t>
            </a:r>
            <a:r>
              <a:rPr kumimoji="0" lang="zh-CN" altLang="en-US" sz="1800" b="1"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1800" b="1"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自</a:t>
            </a:r>
            <a:endParaRPr kumimoji="0" lang="en-US" altLang="zh-CN" sz="1800" b="1"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 由</a:t>
            </a:r>
            <a:r>
              <a:rPr kumimoji="0" lang="zh-CN" altLang="en-US" sz="1800" b="1"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1800" b="1"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低</a:t>
            </a:r>
            <a:endParaRPr kumimoji="0" lang="en-US" altLang="zh-CN" sz="1800" b="1"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 风险</a:t>
            </a:r>
            <a:endParaRPr kumimoji="0" lang="en-US" altLang="zh-CN" sz="1800" b="1"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六边形 16"/>
          <p:cNvSpPr/>
          <p:nvPr/>
        </p:nvSpPr>
        <p:spPr>
          <a:xfrm>
            <a:off x="1638929" y="2270760"/>
            <a:ext cx="1561465" cy="1562735"/>
          </a:xfrm>
          <a:prstGeom prst="hexagon">
            <a:avLst/>
          </a:prstGeom>
          <a:solidFill>
            <a:schemeClr val="bg1">
              <a:lumMod val="75000"/>
            </a:schemeClr>
          </a:solidFill>
          <a:ln w="9525" cap="flat" cmpd="sng" algn="ctr">
            <a:solidFill>
              <a:schemeClr val="bg1">
                <a:lumMod val="75000"/>
              </a:schemeClr>
            </a:solidFill>
            <a:prstDash val="solid"/>
            <a:round/>
            <a:headEnd type="none" w="med" len="med"/>
            <a:tailEnd type="none" w="med" len="med"/>
          </a:ln>
          <a:effectLst>
            <a:innerShdw blurRad="228600" dist="76200" dir="189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Cortex-M3</a:t>
            </a:r>
            <a:r>
              <a:rPr kumimoji="0" lang="zh-CN" altLang="en-US" sz="1800" b="1"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内核</a:t>
            </a:r>
            <a:endParaRPr kumimoji="0" lang="zh-CN" altLang="en-US" sz="1800" b="1"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 name="矩形 23"/>
          <p:cNvSpPr/>
          <p:nvPr/>
        </p:nvSpPr>
        <p:spPr>
          <a:xfrm>
            <a:off x="5686424" y="614674"/>
            <a:ext cx="723901" cy="1198880"/>
          </a:xfrm>
          <a:prstGeom prst="rect">
            <a:avLst/>
          </a:prstGeom>
          <a:noFill/>
          <a:ln>
            <a:noFill/>
          </a:ln>
          <a:effectLst>
            <a:innerShdw blurRad="63500" dist="50800" dir="18900000">
              <a:prstClr val="black">
                <a:alpha val="50000"/>
              </a:prstClr>
            </a:innerShdw>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7200" b="1" i="0" u="none" strike="noStrike" kern="1200" cap="none" spc="0" normalizeH="0" baseline="0" noProof="1">
                <a:ln w="25400" cmpd="sng">
                  <a:solidFill>
                    <a:srgbClr val="FAFCB7">
                      <a:alpha val="98000"/>
                    </a:srgbClr>
                  </a:solidFill>
                  <a:prstDash val="solid"/>
                </a:ln>
                <a:blipFill>
                  <a:blip r:embed="rId1">
                    <a:alphaModFix amt="63000"/>
                  </a:blip>
                  <a:tile ty="-38100" sx="7000" flip="xy" algn="tl"/>
                </a:blipFill>
                <a:effectLst>
                  <a:innerShdw dist="38100" dir="18900000">
                    <a:srgbClr val="F89D26">
                      <a:alpha val="100000"/>
                    </a:srgbClr>
                  </a:innerShdw>
                  <a:reflection blurRad="6350" stA="50000" endA="300" endPos="50000" dist="12700" dir="5400000" sy="-100000" algn="bl" rotWithShape="0"/>
                </a:effectLst>
                <a:uLnTx/>
                <a:uFillTx/>
                <a:latin typeface="Arial" panose="020B0604020202020204" pitchFamily="34" charset="0"/>
                <a:ea typeface="宋体" panose="02010600030101010101" pitchFamily="2" charset="-122"/>
                <a:cs typeface="+mn-cs"/>
              </a:rPr>
              <a:t>A</a:t>
            </a:r>
            <a:endParaRPr kumimoji="0" lang="en-US" altLang="zh-CN" sz="7200" b="1" i="0" u="none" strike="noStrike" kern="1200" cap="none" spc="0" normalizeH="0" baseline="0" noProof="1">
              <a:ln w="25400" cmpd="sng">
                <a:solidFill>
                  <a:srgbClr val="FAFCB7">
                    <a:alpha val="98000"/>
                  </a:srgbClr>
                </a:solidFill>
                <a:prstDash val="solid"/>
              </a:ln>
              <a:blipFill>
                <a:blip r:embed="rId1">
                  <a:alphaModFix amt="63000"/>
                </a:blip>
                <a:tile ty="-38100" sx="7000" flip="xy" algn="tl"/>
              </a:blipFill>
              <a:effectLst>
                <a:innerShdw dist="38100" dir="18900000">
                  <a:srgbClr val="F89D26">
                    <a:alpha val="100000"/>
                  </a:srgbClr>
                </a:innerShdw>
                <a:reflection blurRad="6350" stA="50000" endA="300" endPos="50000" dist="12700" dir="5400000" sy="-100000" algn="bl" rotWithShape="0"/>
              </a:effectLst>
              <a:uLnTx/>
              <a:uFillTx/>
              <a:latin typeface="Arial" panose="020B0604020202020204" pitchFamily="34" charset="0"/>
              <a:ea typeface="宋体" panose="02010600030101010101" pitchFamily="2" charset="-122"/>
              <a:cs typeface="+mn-cs"/>
            </a:endParaRPr>
          </a:p>
        </p:txBody>
      </p:sp>
      <p:sp>
        <p:nvSpPr>
          <p:cNvPr id="25" name="矩形 24"/>
          <p:cNvSpPr/>
          <p:nvPr/>
        </p:nvSpPr>
        <p:spPr>
          <a:xfrm>
            <a:off x="5686424" y="2000250"/>
            <a:ext cx="724536" cy="1198880"/>
          </a:xfrm>
          <a:prstGeom prst="rect">
            <a:avLst/>
          </a:prstGeom>
          <a:noFill/>
          <a:ln>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7200" b="1" i="0" u="none" strike="noStrike" kern="1200" cap="none" spc="0" normalizeH="0" baseline="0" noProof="1">
                <a:ln w="25400" cmpd="sng">
                  <a:solidFill>
                    <a:srgbClr val="FAFCB7">
                      <a:alpha val="98000"/>
                    </a:srgbClr>
                  </a:solidFill>
                  <a:prstDash val="solid"/>
                </a:ln>
                <a:blipFill>
                  <a:blip r:embed="rId1">
                    <a:alphaModFix amt="63000"/>
                  </a:blip>
                  <a:tile ty="-38100" sx="7000" flip="xy" algn="tl"/>
                </a:blipFill>
                <a:effectLst>
                  <a:innerShdw dist="38100" dir="18900000">
                    <a:srgbClr val="F89D26">
                      <a:alpha val="100000"/>
                    </a:srgbClr>
                  </a:innerShdw>
                  <a:reflection blurRad="6350" stA="50000" endA="300" endPos="50000" dist="12700" dir="5400000" sy="-100000" algn="bl" rotWithShape="0"/>
                </a:effectLst>
                <a:uLnTx/>
                <a:uFillTx/>
                <a:latin typeface="Arial" panose="020B0604020202020204" pitchFamily="34" charset="0"/>
                <a:ea typeface="宋体" panose="02010600030101010101" pitchFamily="2" charset="-122"/>
                <a:cs typeface="+mn-cs"/>
              </a:rPr>
              <a:t>R</a:t>
            </a:r>
            <a:endParaRPr kumimoji="0" lang="en-US" altLang="zh-CN" sz="7200" b="1" i="0" u="none" strike="noStrike" kern="1200" cap="none" spc="0" normalizeH="0" baseline="0" noProof="1">
              <a:ln w="25400" cmpd="sng">
                <a:solidFill>
                  <a:srgbClr val="FAFCB7">
                    <a:alpha val="98000"/>
                  </a:srgbClr>
                </a:solidFill>
                <a:prstDash val="solid"/>
              </a:ln>
              <a:blipFill>
                <a:blip r:embed="rId1">
                  <a:alphaModFix amt="63000"/>
                </a:blip>
                <a:tile ty="-38100" sx="7000" flip="xy" algn="tl"/>
              </a:blipFill>
              <a:effectLst>
                <a:innerShdw dist="38100" dir="18900000">
                  <a:srgbClr val="F89D26">
                    <a:alpha val="100000"/>
                  </a:srgbClr>
                </a:innerShdw>
                <a:reflection blurRad="6350" stA="50000" endA="300" endPos="50000" dist="12700" dir="5400000" sy="-100000" algn="bl" rotWithShape="0"/>
              </a:effectLst>
              <a:uLnTx/>
              <a:uFillTx/>
              <a:latin typeface="Arial" panose="020B0604020202020204" pitchFamily="34" charset="0"/>
              <a:ea typeface="宋体" panose="02010600030101010101" pitchFamily="2" charset="-122"/>
              <a:cs typeface="+mn-cs"/>
            </a:endParaRPr>
          </a:p>
        </p:txBody>
      </p:sp>
      <p:sp>
        <p:nvSpPr>
          <p:cNvPr id="26" name="矩形 25"/>
          <p:cNvSpPr/>
          <p:nvPr/>
        </p:nvSpPr>
        <p:spPr>
          <a:xfrm>
            <a:off x="5686424" y="3383911"/>
            <a:ext cx="723901" cy="1198880"/>
          </a:xfrm>
          <a:prstGeom prst="rect">
            <a:avLst/>
          </a:prstGeom>
          <a:noFill/>
          <a:ln>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7200" b="1" i="0" u="none" strike="noStrike" kern="1200" cap="none" spc="0" normalizeH="0" baseline="0" noProof="1">
                <a:ln w="25400" cmpd="sng">
                  <a:solidFill>
                    <a:srgbClr val="FAFCB7">
                      <a:alpha val="98000"/>
                    </a:srgbClr>
                  </a:solidFill>
                  <a:prstDash val="solid"/>
                </a:ln>
                <a:blipFill>
                  <a:blip r:embed="rId1">
                    <a:alphaModFix amt="63000"/>
                  </a:blip>
                  <a:tile ty="-38100" sx="7000" flip="xy" algn="tl"/>
                </a:blipFill>
                <a:effectLst>
                  <a:innerShdw dist="38100" dir="18900000">
                    <a:srgbClr val="F89D26">
                      <a:alpha val="100000"/>
                    </a:srgbClr>
                  </a:innerShdw>
                  <a:reflection blurRad="6350" stA="50000" endA="300" endPos="50000" dist="12700" dir="5400000" sy="-100000" algn="bl" rotWithShape="0"/>
                </a:effectLst>
                <a:uLnTx/>
                <a:uFillTx/>
                <a:latin typeface="Arial" panose="020B0604020202020204" pitchFamily="34" charset="0"/>
                <a:ea typeface="宋体" panose="02010600030101010101" pitchFamily="2" charset="-122"/>
                <a:cs typeface="+mn-cs"/>
              </a:rPr>
              <a:t>M</a:t>
            </a:r>
            <a:endParaRPr kumimoji="0" lang="en-US" altLang="zh-CN" sz="7200" b="1" i="0" u="none" strike="noStrike" kern="1200" cap="none" spc="0" normalizeH="0" baseline="0" noProof="1">
              <a:ln w="25400" cmpd="sng">
                <a:solidFill>
                  <a:srgbClr val="FAFCB7">
                    <a:alpha val="98000"/>
                  </a:srgbClr>
                </a:solidFill>
                <a:prstDash val="solid"/>
              </a:ln>
              <a:blipFill>
                <a:blip r:embed="rId1">
                  <a:alphaModFix amt="63000"/>
                </a:blip>
                <a:tile ty="-38100" sx="7000" flip="xy" algn="tl"/>
              </a:blipFill>
              <a:effectLst>
                <a:innerShdw dist="38100" dir="18900000">
                  <a:srgbClr val="F89D26">
                    <a:alpha val="100000"/>
                  </a:srgbClr>
                </a:innerShdw>
                <a:reflection blurRad="6350" stA="50000" endA="300" endPos="50000" dist="12700" dir="5400000" sy="-100000" algn="bl" rotWithShape="0"/>
              </a:effectLst>
              <a:uLnTx/>
              <a:uFillTx/>
              <a:latin typeface="Arial" panose="020B0604020202020204" pitchFamily="34" charset="0"/>
              <a:ea typeface="宋体" panose="02010600030101010101" pitchFamily="2" charset="-122"/>
              <a:cs typeface="+mn-cs"/>
            </a:endParaRPr>
          </a:p>
        </p:txBody>
      </p:sp>
      <p:sp>
        <p:nvSpPr>
          <p:cNvPr id="27" name="文本框 26"/>
          <p:cNvSpPr txBox="1"/>
          <p:nvPr/>
        </p:nvSpPr>
        <p:spPr>
          <a:xfrm>
            <a:off x="6630988" y="704850"/>
            <a:ext cx="2024062" cy="1200150"/>
          </a:xfrm>
          <a:prstGeom prst="rect">
            <a:avLst/>
          </a:prstGeom>
          <a:noFill/>
          <a:ln w="9525">
            <a:noFill/>
          </a:ln>
        </p:spPr>
        <p:txBody>
          <a:bodyPr anchor="t" anchorCtr="0">
            <a:spAutoFit/>
          </a:bodyPr>
          <a:p>
            <a:r>
              <a:rPr lang="en-US" altLang="zh-CN" dirty="0">
                <a:latin typeface="Arial" panose="020B0604020202020204" pitchFamily="34" charset="0"/>
                <a:ea typeface="宋体" panose="02010600030101010101" pitchFamily="2" charset="-122"/>
                <a:sym typeface="Bodoni MT" panose="02070603080606020203" pitchFamily="18" charset="0"/>
              </a:rPr>
              <a:t>Application</a:t>
            </a:r>
            <a:r>
              <a:rPr lang="zh-CN" altLang="en-US" dirty="0">
                <a:latin typeface="Arial" panose="020B0604020202020204" pitchFamily="34" charset="0"/>
                <a:ea typeface="宋体" panose="02010600030101010101" pitchFamily="2" charset="-122"/>
                <a:sym typeface="Bodoni MT" panose="02070603080606020203" pitchFamily="18" charset="0"/>
              </a:rPr>
              <a:t>，</a:t>
            </a:r>
            <a:r>
              <a:rPr lang="zh-CN" altLang="en-US" dirty="0">
                <a:latin typeface="微软雅黑" panose="020B0503020204020204" pitchFamily="34" charset="-122"/>
                <a:ea typeface="宋体" panose="02010600030101010101" pitchFamily="2" charset="-122"/>
                <a:sym typeface="Bodoni MT" panose="02070603080606020203" pitchFamily="18" charset="0"/>
              </a:rPr>
              <a:t>面向尖端的基于虚拟内存的操作系统和用户应用</a:t>
            </a:r>
            <a:endParaRPr lang="zh-CN" altLang="en-US" dirty="0">
              <a:latin typeface="Arial" panose="020B0604020202020204" pitchFamily="34" charset="0"/>
              <a:ea typeface="宋体" panose="02010600030101010101" pitchFamily="2" charset="-122"/>
              <a:sym typeface="Bodoni MT" panose="02070603080606020203" pitchFamily="18" charset="0"/>
            </a:endParaRPr>
          </a:p>
        </p:txBody>
      </p:sp>
      <p:sp>
        <p:nvSpPr>
          <p:cNvPr id="28" name="文本框 27"/>
          <p:cNvSpPr txBox="1"/>
          <p:nvPr/>
        </p:nvSpPr>
        <p:spPr>
          <a:xfrm>
            <a:off x="6630988" y="2270125"/>
            <a:ext cx="1865312" cy="646113"/>
          </a:xfrm>
          <a:prstGeom prst="rect">
            <a:avLst/>
          </a:prstGeom>
          <a:noFill/>
          <a:ln w="9525">
            <a:noFill/>
          </a:ln>
        </p:spPr>
        <p:txBody>
          <a:bodyPr anchor="t" anchorCtr="0">
            <a:spAutoFit/>
          </a:bodyPr>
          <a:p>
            <a:r>
              <a:rPr lang="en-US" altLang="zh-CN" dirty="0">
                <a:latin typeface="Arial" panose="020B0604020202020204" pitchFamily="34" charset="0"/>
                <a:ea typeface="宋体" panose="02010600030101010101" pitchFamily="2" charset="-122"/>
                <a:sym typeface="Bodoni MT" panose="02070603080606020203" pitchFamily="18" charset="0"/>
              </a:rPr>
              <a:t>Real-time</a:t>
            </a:r>
            <a:r>
              <a:rPr lang="zh-CN" altLang="en-US" dirty="0">
                <a:latin typeface="Arial" panose="020B0604020202020204" pitchFamily="34" charset="0"/>
                <a:ea typeface="宋体" panose="02010600030101010101" pitchFamily="2" charset="-122"/>
                <a:sym typeface="Bodoni MT" panose="02070603080606020203" pitchFamily="18" charset="0"/>
              </a:rPr>
              <a:t>，</a:t>
            </a:r>
            <a:r>
              <a:rPr lang="zh-CN" altLang="en-US" dirty="0">
                <a:latin typeface="微软雅黑" panose="020B0503020204020204" pitchFamily="34" charset="-122"/>
                <a:ea typeface="宋体" panose="02010600030101010101" pitchFamily="2" charset="-122"/>
                <a:sym typeface="Bodoni MT" panose="02070603080606020203" pitchFamily="18" charset="0"/>
              </a:rPr>
              <a:t>针对实时系统</a:t>
            </a:r>
            <a:endParaRPr lang="zh-CN" altLang="en-US" dirty="0">
              <a:latin typeface="Arial" panose="020B0604020202020204" pitchFamily="34" charset="0"/>
              <a:ea typeface="宋体" panose="02010600030101010101" pitchFamily="2" charset="-122"/>
              <a:sym typeface="Bodoni MT" panose="02070603080606020203" pitchFamily="18" charset="0"/>
            </a:endParaRPr>
          </a:p>
        </p:txBody>
      </p:sp>
      <p:sp>
        <p:nvSpPr>
          <p:cNvPr id="29" name="文本框 28"/>
          <p:cNvSpPr txBox="1"/>
          <p:nvPr/>
        </p:nvSpPr>
        <p:spPr>
          <a:xfrm>
            <a:off x="6630988" y="3660775"/>
            <a:ext cx="1865312" cy="644525"/>
          </a:xfrm>
          <a:prstGeom prst="rect">
            <a:avLst/>
          </a:prstGeom>
          <a:noFill/>
          <a:ln w="9525">
            <a:noFill/>
          </a:ln>
        </p:spPr>
        <p:txBody>
          <a:bodyPr anchor="t" anchorCtr="0">
            <a:spAutoFit/>
          </a:bodyPr>
          <a:p>
            <a:r>
              <a:rPr lang="en-US" altLang="zh-CN" dirty="0">
                <a:latin typeface="Arial" panose="020B0604020202020204" pitchFamily="34" charset="0"/>
                <a:ea typeface="宋体" panose="02010600030101010101" pitchFamily="2" charset="-122"/>
                <a:sym typeface="Bodoni MT" panose="02070603080606020203" pitchFamily="18" charset="0"/>
              </a:rPr>
              <a:t>Micro-controller</a:t>
            </a:r>
            <a:r>
              <a:rPr lang="zh-CN" altLang="en-US" dirty="0">
                <a:latin typeface="Arial" panose="020B0604020202020204" pitchFamily="34" charset="0"/>
                <a:ea typeface="宋体" panose="02010600030101010101" pitchFamily="2" charset="-122"/>
                <a:sym typeface="Bodoni MT" panose="02070603080606020203" pitchFamily="18" charset="0"/>
              </a:rPr>
              <a:t>，</a:t>
            </a:r>
            <a:r>
              <a:rPr lang="zh-CN" altLang="en-US" dirty="0">
                <a:latin typeface="微软雅黑" panose="020B0503020204020204" pitchFamily="34" charset="-122"/>
                <a:ea typeface="宋体" panose="02010600030101010101" pitchFamily="2" charset="-122"/>
                <a:sym typeface="微软雅黑" panose="020B0503020204020204" pitchFamily="34" charset="-122"/>
              </a:rPr>
              <a:t>针对微控制器</a:t>
            </a:r>
            <a:endParaRPr lang="en-US" altLang="zh-CN" dirty="0">
              <a:latin typeface="微软雅黑" panose="020B0503020204020204" pitchFamily="34" charset="-122"/>
              <a:ea typeface="宋体" panose="02010600030101010101" pitchFamily="2" charset="-122"/>
              <a:sym typeface="微软雅黑" panose="020B0503020204020204" pitchFamily="34" charset="-122"/>
            </a:endParaRPr>
          </a:p>
        </p:txBody>
      </p:sp>
      <p:pic>
        <p:nvPicPr>
          <p:cNvPr id="2" name="图片 1"/>
          <p:cNvPicPr>
            <a:picLocks noChangeAspect="1"/>
          </p:cNvPicPr>
          <p:nvPr/>
        </p:nvPicPr>
        <p:blipFill>
          <a:blip r:embed="rId2"/>
          <a:stretch>
            <a:fillRect/>
          </a:stretch>
        </p:blipFill>
        <p:spPr>
          <a:xfrm>
            <a:off x="460375" y="49213"/>
            <a:ext cx="8224838" cy="510063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500" fill="hold">
                                          <p:stCondLst>
                                            <p:cond delay="0"/>
                                          </p:stCondLst>
                                        </p:cTn>
                                        <p:tgtEl>
                                          <p:spTgt spid="6"/>
                                        </p:tgtEl>
                                        <p:attrNameLst>
                                          <p:attrName>style.visibility</p:attrName>
                                        </p:attrNameLst>
                                      </p:cBhvr>
                                      <p:to>
                                        <p:strVal val="visible"/>
                                      </p:to>
                                    </p:set>
                                    <p:animEffect transition="in" filter="plus(in)">
                                      <p:cBhvr>
                                        <p:cTn id="7" dur="500"/>
                                        <p:tgtEl>
                                          <p:spTgt spid="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17" presetClass="entr" presetSubtype="1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p:cTn id="16" dur="500" fill="hold"/>
                                        <p:tgtEl>
                                          <p:spTgt spid="9"/>
                                        </p:tgtEl>
                                        <p:attrNameLst>
                                          <p:attrName>ppt_w</p:attrName>
                                        </p:attrNameLst>
                                      </p:cBhvr>
                                      <p:tavLst>
                                        <p:tav tm="0">
                                          <p:val>
                                            <p:fltVal val="0.000000"/>
                                          </p:val>
                                        </p:tav>
                                        <p:tav tm="100000">
                                          <p:val>
                                            <p:strVal val="#ppt_w"/>
                                          </p:val>
                                        </p:tav>
                                      </p:tavLst>
                                    </p:anim>
                                    <p:anim calcmode="lin" valueType="num">
                                      <p:cBhvr>
                                        <p:cTn id="17" dur="500" fill="hold"/>
                                        <p:tgtEl>
                                          <p:spTgt spid="9"/>
                                        </p:tgtEl>
                                        <p:attrNameLst>
                                          <p:attrName>ppt_h</p:attrName>
                                        </p:attrNameLst>
                                      </p:cBhvr>
                                      <p:tavLst>
                                        <p:tav tm="0">
                                          <p:val>
                                            <p:strVal val="#ppt_h"/>
                                          </p:val>
                                        </p:tav>
                                        <p:tav tm="100000">
                                          <p:val>
                                            <p:strVal val="#ppt_h"/>
                                          </p:val>
                                        </p:tav>
                                      </p:tavLst>
                                    </p:anim>
                                  </p:childTnLst>
                                </p:cTn>
                              </p:par>
                            </p:childTnLst>
                          </p:cTn>
                        </p:par>
                        <p:par>
                          <p:cTn id="18" fill="hold">
                            <p:stCondLst>
                              <p:cond delay="500"/>
                            </p:stCondLst>
                            <p:childTnLst>
                              <p:par>
                                <p:cTn id="19" presetID="17" presetClass="entr" presetSubtype="10" fill="hold" nodeType="afterEffect">
                                  <p:stCondLst>
                                    <p:cond delay="500"/>
                                  </p:stCondLst>
                                  <p:childTnLst>
                                    <p:set>
                                      <p:cBhvr>
                                        <p:cTn id="20" dur="1" fill="hold">
                                          <p:stCondLst>
                                            <p:cond delay="0"/>
                                          </p:stCondLst>
                                        </p:cTn>
                                        <p:tgtEl>
                                          <p:spTgt spid="17"/>
                                        </p:tgtEl>
                                        <p:attrNameLst>
                                          <p:attrName>style.visibility</p:attrName>
                                        </p:attrNameLst>
                                      </p:cBhvr>
                                      <p:to>
                                        <p:strVal val="visible"/>
                                      </p:to>
                                    </p:set>
                                    <p:anim calcmode="lin" valueType="num">
                                      <p:cBhvr>
                                        <p:cTn id="21" dur="500" fill="hold"/>
                                        <p:tgtEl>
                                          <p:spTgt spid="17"/>
                                        </p:tgtEl>
                                        <p:attrNameLst>
                                          <p:attrName>ppt_w</p:attrName>
                                        </p:attrNameLst>
                                      </p:cBhvr>
                                      <p:tavLst>
                                        <p:tav tm="0">
                                          <p:val>
                                            <p:fltVal val="0.000000"/>
                                          </p:val>
                                        </p:tav>
                                        <p:tav tm="100000">
                                          <p:val>
                                            <p:strVal val="#ppt_w"/>
                                          </p:val>
                                        </p:tav>
                                      </p:tavLst>
                                    </p:anim>
                                    <p:anim calcmode="lin" valueType="num">
                                      <p:cBhvr>
                                        <p:cTn id="22" dur="500" fill="hold"/>
                                        <p:tgtEl>
                                          <p:spTgt spid="17"/>
                                        </p:tgtEl>
                                        <p:attrNameLst>
                                          <p:attrName>ppt_h</p:attrName>
                                        </p:attrNameLst>
                                      </p:cBhvr>
                                      <p:tavLst>
                                        <p:tav tm="0">
                                          <p:val>
                                            <p:strVal val="#ppt_h"/>
                                          </p:val>
                                        </p:tav>
                                        <p:tav tm="100000">
                                          <p:val>
                                            <p:strVal val="#ppt_h"/>
                                          </p:val>
                                        </p:tav>
                                      </p:tavLst>
                                    </p:anim>
                                  </p:childTnLst>
                                </p:cTn>
                              </p:par>
                            </p:childTnLst>
                          </p:cTn>
                        </p:par>
                        <p:par>
                          <p:cTn id="23" fill="hold">
                            <p:stCondLst>
                              <p:cond delay="1500"/>
                            </p:stCondLst>
                            <p:childTnLst>
                              <p:par>
                                <p:cTn id="24" presetID="17" presetClass="entr" presetSubtype="10" fill="hold" nodeType="afterEffect">
                                  <p:stCondLst>
                                    <p:cond delay="500"/>
                                  </p:stCondLst>
                                  <p:childTnLst>
                                    <p:set>
                                      <p:cBhvr>
                                        <p:cTn id="25" dur="1" fill="hold">
                                          <p:stCondLst>
                                            <p:cond delay="0"/>
                                          </p:stCondLst>
                                        </p:cTn>
                                        <p:tgtEl>
                                          <p:spTgt spid="10"/>
                                        </p:tgtEl>
                                        <p:attrNameLst>
                                          <p:attrName>style.visibility</p:attrName>
                                        </p:attrNameLst>
                                      </p:cBhvr>
                                      <p:to>
                                        <p:strVal val="visible"/>
                                      </p:to>
                                    </p:set>
                                    <p:anim calcmode="lin" valueType="num">
                                      <p:cBhvr>
                                        <p:cTn id="26" dur="500" fill="hold"/>
                                        <p:tgtEl>
                                          <p:spTgt spid="10"/>
                                        </p:tgtEl>
                                        <p:attrNameLst>
                                          <p:attrName>ppt_w</p:attrName>
                                        </p:attrNameLst>
                                      </p:cBhvr>
                                      <p:tavLst>
                                        <p:tav tm="0">
                                          <p:val>
                                            <p:fltVal val="0.000000"/>
                                          </p:val>
                                        </p:tav>
                                        <p:tav tm="100000">
                                          <p:val>
                                            <p:strVal val="#ppt_w"/>
                                          </p:val>
                                        </p:tav>
                                      </p:tavLst>
                                    </p:anim>
                                    <p:anim calcmode="lin" valueType="num">
                                      <p:cBhvr>
                                        <p:cTn id="27" dur="500" fill="hold"/>
                                        <p:tgtEl>
                                          <p:spTgt spid="10"/>
                                        </p:tgtEl>
                                        <p:attrNameLst>
                                          <p:attrName>ppt_h</p:attrName>
                                        </p:attrNameLst>
                                      </p:cBhvr>
                                      <p:tavLst>
                                        <p:tav tm="0">
                                          <p:val>
                                            <p:strVal val="#ppt_h"/>
                                          </p:val>
                                        </p:tav>
                                        <p:tav tm="100000">
                                          <p:val>
                                            <p:strVal val="#ppt_h"/>
                                          </p:val>
                                        </p:tav>
                                      </p:tavLst>
                                    </p:anim>
                                  </p:childTnLst>
                                </p:cTn>
                              </p:par>
                            </p:childTnLst>
                          </p:cTn>
                        </p:par>
                        <p:par>
                          <p:cTn id="28" fill="hold">
                            <p:stCondLst>
                              <p:cond delay="2500"/>
                            </p:stCondLst>
                            <p:childTnLst>
                              <p:par>
                                <p:cTn id="29" presetID="17" presetClass="entr" presetSubtype="10" fill="hold" nodeType="afterEffect">
                                  <p:stCondLst>
                                    <p:cond delay="500"/>
                                  </p:stCondLst>
                                  <p:childTnLst>
                                    <p:set>
                                      <p:cBhvr>
                                        <p:cTn id="30" dur="1" fill="hold">
                                          <p:stCondLst>
                                            <p:cond delay="0"/>
                                          </p:stCondLst>
                                        </p:cTn>
                                        <p:tgtEl>
                                          <p:spTgt spid="14"/>
                                        </p:tgtEl>
                                        <p:attrNameLst>
                                          <p:attrName>style.visibility</p:attrName>
                                        </p:attrNameLst>
                                      </p:cBhvr>
                                      <p:to>
                                        <p:strVal val="visible"/>
                                      </p:to>
                                    </p:set>
                                    <p:anim calcmode="lin" valueType="num">
                                      <p:cBhvr>
                                        <p:cTn id="31" dur="500" fill="hold"/>
                                        <p:tgtEl>
                                          <p:spTgt spid="14"/>
                                        </p:tgtEl>
                                        <p:attrNameLst>
                                          <p:attrName>ppt_w</p:attrName>
                                        </p:attrNameLst>
                                      </p:cBhvr>
                                      <p:tavLst>
                                        <p:tav tm="0">
                                          <p:val>
                                            <p:fltVal val="0.000000"/>
                                          </p:val>
                                        </p:tav>
                                        <p:tav tm="100000">
                                          <p:val>
                                            <p:strVal val="#ppt_w"/>
                                          </p:val>
                                        </p:tav>
                                      </p:tavLst>
                                    </p:anim>
                                    <p:anim calcmode="lin" valueType="num">
                                      <p:cBhvr>
                                        <p:cTn id="32" dur="5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40" presetClass="entr" presetSubtype="0" fill="hold" nodeType="clickEffect">
                                  <p:stCondLst>
                                    <p:cond delay="0"/>
                                  </p:stCondLst>
                                  <p:iterate type="lt">
                                    <p:tmPct val="10000"/>
                                  </p:iterate>
                                  <p:childTnLst>
                                    <p:set>
                                      <p:cBhvr>
                                        <p:cTn id="36" dur="500"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anim calcmode="lin" valueType="num">
                                      <p:cBhvr>
                                        <p:cTn id="38" dur="500" fill="hold"/>
                                        <p:tgtEl>
                                          <p:spTgt spid="24"/>
                                        </p:tgtEl>
                                        <p:attrNameLst>
                                          <p:attrName>ppt_x</p:attrName>
                                        </p:attrNameLst>
                                      </p:cBhvr>
                                      <p:tavLst>
                                        <p:tav tm="0">
                                          <p:val>
                                            <p:strVal val="#ppt_x-.1"/>
                                          </p:val>
                                        </p:tav>
                                        <p:tav tm="100000">
                                          <p:val>
                                            <p:strVal val="#ppt_x"/>
                                          </p:val>
                                        </p:tav>
                                      </p:tavLst>
                                    </p:anim>
                                    <p:anim calcmode="lin" valueType="num">
                                      <p:cBhvr>
                                        <p:cTn id="39" dur="500" fill="hold"/>
                                        <p:tgtEl>
                                          <p:spTgt spid="24"/>
                                        </p:tgtEl>
                                        <p:attrNameLst>
                                          <p:attrName>ppt_y</p:attrName>
                                        </p:attrNameLst>
                                      </p:cBhvr>
                                      <p:tavLst>
                                        <p:tav tm="0">
                                          <p:val>
                                            <p:strVal val="#ppt_y"/>
                                          </p:val>
                                        </p:tav>
                                        <p:tav tm="100000">
                                          <p:val>
                                            <p:strVal val="#ppt_y"/>
                                          </p:val>
                                        </p:tav>
                                      </p:tavLst>
                                    </p:anim>
                                  </p:childTnLst>
                                </p:cTn>
                              </p:par>
                            </p:childTnLst>
                          </p:cTn>
                        </p:par>
                        <p:par>
                          <p:cTn id="40" fill="hold">
                            <p:stCondLst>
                              <p:cond delay="500"/>
                            </p:stCondLst>
                            <p:childTnLst>
                              <p:par>
                                <p:cTn id="41" presetID="29" presetClass="entr" presetSubtype="0" fill="hold" grpId="0" nodeType="afterEffect">
                                  <p:stCondLst>
                                    <p:cond delay="0"/>
                                  </p:stCondLst>
                                  <p:childTnLst>
                                    <p:set>
                                      <p:cBhvr>
                                        <p:cTn id="42" dur="500" fill="hold">
                                          <p:stCondLst>
                                            <p:cond delay="0"/>
                                          </p:stCondLst>
                                        </p:cTn>
                                        <p:tgtEl>
                                          <p:spTgt spid="27"/>
                                        </p:tgtEl>
                                        <p:attrNameLst>
                                          <p:attrName>style.visibility</p:attrName>
                                        </p:attrNameLst>
                                      </p:cBhvr>
                                      <p:to>
                                        <p:strVal val="visible"/>
                                      </p:to>
                                    </p:set>
                                    <p:anim calcmode="lin" valueType="num">
                                      <p:cBhvr>
                                        <p:cTn id="43" dur="500" fill="hold"/>
                                        <p:tgtEl>
                                          <p:spTgt spid="27"/>
                                        </p:tgtEl>
                                        <p:attrNameLst>
                                          <p:attrName>ppt_x</p:attrName>
                                        </p:attrNameLst>
                                      </p:cBhvr>
                                      <p:tavLst>
                                        <p:tav tm="0">
                                          <p:val>
                                            <p:strVal val="#ppt_x-.2"/>
                                          </p:val>
                                        </p:tav>
                                        <p:tav tm="100000">
                                          <p:val>
                                            <p:strVal val="#ppt_x"/>
                                          </p:val>
                                        </p:tav>
                                      </p:tavLst>
                                    </p:anim>
                                    <p:anim calcmode="lin" valueType="num">
                                      <p:cBhvr>
                                        <p:cTn id="44" dur="500" fill="hold"/>
                                        <p:tgtEl>
                                          <p:spTgt spid="27"/>
                                        </p:tgtEl>
                                        <p:attrNameLst>
                                          <p:attrName>ppt_y</p:attrName>
                                        </p:attrNameLst>
                                      </p:cBhvr>
                                      <p:tavLst>
                                        <p:tav tm="0">
                                          <p:val>
                                            <p:strVal val="#ppt_y"/>
                                          </p:val>
                                        </p:tav>
                                        <p:tav tm="100000">
                                          <p:val>
                                            <p:strVal val="#ppt_y"/>
                                          </p:val>
                                        </p:tav>
                                      </p:tavLst>
                                    </p:anim>
                                    <p:animEffect transition="in" filter="wipe(right)" prLst="gradientSize: 0.1">
                                      <p:cBhvr>
                                        <p:cTn id="45" dur="500"/>
                                        <p:tgtEl>
                                          <p:spTgt spid="27"/>
                                        </p:tgtEl>
                                      </p:cBhvr>
                                    </p:animEffect>
                                  </p:childTnLst>
                                </p:cTn>
                              </p:par>
                            </p:childTnLst>
                          </p:cTn>
                        </p:par>
                        <p:par>
                          <p:cTn id="46" fill="hold">
                            <p:stCondLst>
                              <p:cond delay="1000"/>
                            </p:stCondLst>
                            <p:childTnLst>
                              <p:par>
                                <p:cTn id="47" presetID="29" presetClass="entr" presetSubtype="0" fill="hold" nodeType="afterEffect">
                                  <p:stCondLst>
                                    <p:cond delay="1000"/>
                                  </p:stCondLst>
                                  <p:childTnLst>
                                    <p:set>
                                      <p:cBhvr>
                                        <p:cTn id="48" dur="500" fill="hold">
                                          <p:stCondLst>
                                            <p:cond delay="0"/>
                                          </p:stCondLst>
                                        </p:cTn>
                                        <p:tgtEl>
                                          <p:spTgt spid="25"/>
                                        </p:tgtEl>
                                        <p:attrNameLst>
                                          <p:attrName>style.visibility</p:attrName>
                                        </p:attrNameLst>
                                      </p:cBhvr>
                                      <p:to>
                                        <p:strVal val="visible"/>
                                      </p:to>
                                    </p:set>
                                    <p:anim calcmode="lin" valueType="num">
                                      <p:cBhvr>
                                        <p:cTn id="49" dur="500" fill="hold"/>
                                        <p:tgtEl>
                                          <p:spTgt spid="25"/>
                                        </p:tgtEl>
                                        <p:attrNameLst>
                                          <p:attrName>ppt_x</p:attrName>
                                        </p:attrNameLst>
                                      </p:cBhvr>
                                      <p:tavLst>
                                        <p:tav tm="0">
                                          <p:val>
                                            <p:strVal val="#ppt_x-.2"/>
                                          </p:val>
                                        </p:tav>
                                        <p:tav tm="100000">
                                          <p:val>
                                            <p:strVal val="#ppt_x"/>
                                          </p:val>
                                        </p:tav>
                                      </p:tavLst>
                                    </p:anim>
                                    <p:anim calcmode="lin" valueType="num">
                                      <p:cBhvr>
                                        <p:cTn id="50" dur="500" fill="hold"/>
                                        <p:tgtEl>
                                          <p:spTgt spid="25"/>
                                        </p:tgtEl>
                                        <p:attrNameLst>
                                          <p:attrName>ppt_y</p:attrName>
                                        </p:attrNameLst>
                                      </p:cBhvr>
                                      <p:tavLst>
                                        <p:tav tm="0">
                                          <p:val>
                                            <p:strVal val="#ppt_y"/>
                                          </p:val>
                                        </p:tav>
                                        <p:tav tm="100000">
                                          <p:val>
                                            <p:strVal val="#ppt_y"/>
                                          </p:val>
                                        </p:tav>
                                      </p:tavLst>
                                    </p:anim>
                                    <p:animEffect transition="in" filter="wipe(right)" prLst="gradientSize: 0.1">
                                      <p:cBhvr>
                                        <p:cTn id="51" dur="500"/>
                                        <p:tgtEl>
                                          <p:spTgt spid="25"/>
                                        </p:tgtEl>
                                      </p:cBhvr>
                                    </p:animEffect>
                                  </p:childTnLst>
                                </p:cTn>
                              </p:par>
                            </p:childTnLst>
                          </p:cTn>
                        </p:par>
                        <p:par>
                          <p:cTn id="52" fill="hold">
                            <p:stCondLst>
                              <p:cond delay="2500"/>
                            </p:stCondLst>
                            <p:childTnLst>
                              <p:par>
                                <p:cTn id="53" presetID="29" presetClass="entr" presetSubtype="0" fill="hold" grpId="0" nodeType="afterEffect">
                                  <p:stCondLst>
                                    <p:cond delay="0"/>
                                  </p:stCondLst>
                                  <p:childTnLst>
                                    <p:set>
                                      <p:cBhvr>
                                        <p:cTn id="54" dur="500" fill="hold">
                                          <p:stCondLst>
                                            <p:cond delay="0"/>
                                          </p:stCondLst>
                                        </p:cTn>
                                        <p:tgtEl>
                                          <p:spTgt spid="28"/>
                                        </p:tgtEl>
                                        <p:attrNameLst>
                                          <p:attrName>style.visibility</p:attrName>
                                        </p:attrNameLst>
                                      </p:cBhvr>
                                      <p:to>
                                        <p:strVal val="visible"/>
                                      </p:to>
                                    </p:set>
                                    <p:anim calcmode="lin" valueType="num">
                                      <p:cBhvr>
                                        <p:cTn id="55" dur="500" fill="hold"/>
                                        <p:tgtEl>
                                          <p:spTgt spid="28"/>
                                        </p:tgtEl>
                                        <p:attrNameLst>
                                          <p:attrName>ppt_x</p:attrName>
                                        </p:attrNameLst>
                                      </p:cBhvr>
                                      <p:tavLst>
                                        <p:tav tm="0">
                                          <p:val>
                                            <p:strVal val="#ppt_x-.2"/>
                                          </p:val>
                                        </p:tav>
                                        <p:tav tm="100000">
                                          <p:val>
                                            <p:strVal val="#ppt_x"/>
                                          </p:val>
                                        </p:tav>
                                      </p:tavLst>
                                    </p:anim>
                                    <p:anim calcmode="lin" valueType="num">
                                      <p:cBhvr>
                                        <p:cTn id="56" dur="500" fill="hold"/>
                                        <p:tgtEl>
                                          <p:spTgt spid="28"/>
                                        </p:tgtEl>
                                        <p:attrNameLst>
                                          <p:attrName>ppt_y</p:attrName>
                                        </p:attrNameLst>
                                      </p:cBhvr>
                                      <p:tavLst>
                                        <p:tav tm="0">
                                          <p:val>
                                            <p:strVal val="#ppt_y"/>
                                          </p:val>
                                        </p:tav>
                                        <p:tav tm="100000">
                                          <p:val>
                                            <p:strVal val="#ppt_y"/>
                                          </p:val>
                                        </p:tav>
                                      </p:tavLst>
                                    </p:anim>
                                    <p:animEffect transition="in" filter="wipe(right)" prLst="gradientSize: 0.1">
                                      <p:cBhvr>
                                        <p:cTn id="57" dur="500"/>
                                        <p:tgtEl>
                                          <p:spTgt spid="28"/>
                                        </p:tgtEl>
                                      </p:cBhvr>
                                    </p:animEffect>
                                  </p:childTnLst>
                                </p:cTn>
                              </p:par>
                            </p:childTnLst>
                          </p:cTn>
                        </p:par>
                        <p:par>
                          <p:cTn id="58" fill="hold">
                            <p:stCondLst>
                              <p:cond delay="3000"/>
                            </p:stCondLst>
                            <p:childTnLst>
                              <p:par>
                                <p:cTn id="59" presetID="29" presetClass="entr" presetSubtype="0" fill="hold" nodeType="afterEffect">
                                  <p:stCondLst>
                                    <p:cond delay="1000"/>
                                  </p:stCondLst>
                                  <p:childTnLst>
                                    <p:set>
                                      <p:cBhvr>
                                        <p:cTn id="60" dur="500" fill="hold">
                                          <p:stCondLst>
                                            <p:cond delay="0"/>
                                          </p:stCondLst>
                                        </p:cTn>
                                        <p:tgtEl>
                                          <p:spTgt spid="26"/>
                                        </p:tgtEl>
                                        <p:attrNameLst>
                                          <p:attrName>style.visibility</p:attrName>
                                        </p:attrNameLst>
                                      </p:cBhvr>
                                      <p:to>
                                        <p:strVal val="visible"/>
                                      </p:to>
                                    </p:set>
                                    <p:anim calcmode="lin" valueType="num">
                                      <p:cBhvr>
                                        <p:cTn id="61" dur="500" fill="hold"/>
                                        <p:tgtEl>
                                          <p:spTgt spid="26"/>
                                        </p:tgtEl>
                                        <p:attrNameLst>
                                          <p:attrName>ppt_x</p:attrName>
                                        </p:attrNameLst>
                                      </p:cBhvr>
                                      <p:tavLst>
                                        <p:tav tm="0">
                                          <p:val>
                                            <p:strVal val="#ppt_x-.2"/>
                                          </p:val>
                                        </p:tav>
                                        <p:tav tm="100000">
                                          <p:val>
                                            <p:strVal val="#ppt_x"/>
                                          </p:val>
                                        </p:tav>
                                      </p:tavLst>
                                    </p:anim>
                                    <p:anim calcmode="lin" valueType="num">
                                      <p:cBhvr>
                                        <p:cTn id="62" dur="500" fill="hold"/>
                                        <p:tgtEl>
                                          <p:spTgt spid="26"/>
                                        </p:tgtEl>
                                        <p:attrNameLst>
                                          <p:attrName>ppt_y</p:attrName>
                                        </p:attrNameLst>
                                      </p:cBhvr>
                                      <p:tavLst>
                                        <p:tav tm="0">
                                          <p:val>
                                            <p:strVal val="#ppt_y"/>
                                          </p:val>
                                        </p:tav>
                                        <p:tav tm="100000">
                                          <p:val>
                                            <p:strVal val="#ppt_y"/>
                                          </p:val>
                                        </p:tav>
                                      </p:tavLst>
                                    </p:anim>
                                    <p:animEffect transition="in" filter="wipe(right)" prLst="gradientSize: 0.1">
                                      <p:cBhvr>
                                        <p:cTn id="63" dur="500"/>
                                        <p:tgtEl>
                                          <p:spTgt spid="26"/>
                                        </p:tgtEl>
                                      </p:cBhvr>
                                    </p:animEffect>
                                  </p:childTnLst>
                                </p:cTn>
                              </p:par>
                            </p:childTnLst>
                          </p:cTn>
                        </p:par>
                        <p:par>
                          <p:cTn id="64" fill="hold">
                            <p:stCondLst>
                              <p:cond delay="4500"/>
                            </p:stCondLst>
                            <p:childTnLst>
                              <p:par>
                                <p:cTn id="65" presetID="29" presetClass="entr" presetSubtype="0" fill="hold" grpId="0" nodeType="afterEffect">
                                  <p:stCondLst>
                                    <p:cond delay="0"/>
                                  </p:stCondLst>
                                  <p:childTnLst>
                                    <p:set>
                                      <p:cBhvr>
                                        <p:cTn id="66" dur="500" fill="hold">
                                          <p:stCondLst>
                                            <p:cond delay="0"/>
                                          </p:stCondLst>
                                        </p:cTn>
                                        <p:tgtEl>
                                          <p:spTgt spid="29"/>
                                        </p:tgtEl>
                                        <p:attrNameLst>
                                          <p:attrName>style.visibility</p:attrName>
                                        </p:attrNameLst>
                                      </p:cBhvr>
                                      <p:to>
                                        <p:strVal val="visible"/>
                                      </p:to>
                                    </p:set>
                                    <p:anim calcmode="lin" valueType="num">
                                      <p:cBhvr>
                                        <p:cTn id="67" dur="500" fill="hold"/>
                                        <p:tgtEl>
                                          <p:spTgt spid="29"/>
                                        </p:tgtEl>
                                        <p:attrNameLst>
                                          <p:attrName>ppt_x</p:attrName>
                                        </p:attrNameLst>
                                      </p:cBhvr>
                                      <p:tavLst>
                                        <p:tav tm="0">
                                          <p:val>
                                            <p:strVal val="#ppt_x-.2"/>
                                          </p:val>
                                        </p:tav>
                                        <p:tav tm="100000">
                                          <p:val>
                                            <p:strVal val="#ppt_x"/>
                                          </p:val>
                                        </p:tav>
                                      </p:tavLst>
                                    </p:anim>
                                    <p:anim calcmode="lin" valueType="num">
                                      <p:cBhvr>
                                        <p:cTn id="68" dur="500" fill="hold"/>
                                        <p:tgtEl>
                                          <p:spTgt spid="29"/>
                                        </p:tgtEl>
                                        <p:attrNameLst>
                                          <p:attrName>ppt_y</p:attrName>
                                        </p:attrNameLst>
                                      </p:cBhvr>
                                      <p:tavLst>
                                        <p:tav tm="0">
                                          <p:val>
                                            <p:strVal val="#ppt_y"/>
                                          </p:val>
                                        </p:tav>
                                        <p:tav tm="100000">
                                          <p:val>
                                            <p:strVal val="#ppt_y"/>
                                          </p:val>
                                        </p:tav>
                                      </p:tavLst>
                                    </p:anim>
                                    <p:animEffect transition="in" filter="wipe(right)" prLst="gradientSize: 0.1">
                                      <p:cBhvr>
                                        <p:cTn id="69" dur="500"/>
                                        <p:tgtEl>
                                          <p:spTgt spid="29"/>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7" grpId="0"/>
      <p:bldP spid="28" grpId="0"/>
      <p:bldP spid="2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圆角矩形 5"/>
          <p:cNvSpPr/>
          <p:nvPr/>
        </p:nvSpPr>
        <p:spPr>
          <a:xfrm>
            <a:off x="260350" y="439738"/>
            <a:ext cx="8623300" cy="4462462"/>
          </a:xfrm>
          <a:prstGeom prst="roundRect">
            <a:avLst>
              <a:gd name="adj" fmla="val 16667"/>
            </a:avLst>
          </a:prstGeom>
          <a:noFill/>
          <a:ln w="47625" cap="flat" cmpd="sng">
            <a:solidFill>
              <a:srgbClr val="FC6C02"/>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sym typeface="Bodoni MT" panose="02070603080606020203" pitchFamily="18" charset="0"/>
            </a:endParaRPr>
          </a:p>
        </p:txBody>
      </p:sp>
      <p:sp useBgFill="1">
        <p:nvSpPr>
          <p:cNvPr id="12" name="矩形 11"/>
          <p:cNvSpPr/>
          <p:nvPr/>
        </p:nvSpPr>
        <p:spPr>
          <a:xfrm>
            <a:off x="717549" y="121918"/>
            <a:ext cx="2413636" cy="583566"/>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概述</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grpSp>
        <p:nvGrpSpPr>
          <p:cNvPr id="7" name="组合 6"/>
          <p:cNvGrpSpPr/>
          <p:nvPr/>
        </p:nvGrpSpPr>
        <p:grpSpPr>
          <a:xfrm>
            <a:off x="982980" y="1028699"/>
            <a:ext cx="2360930" cy="2261870"/>
            <a:chOff x="1885951" y="1203598"/>
            <a:chExt cx="1761331" cy="1722438"/>
          </a:xfrm>
          <a:effectLst>
            <a:outerShdw blurRad="63500" sx="102000" sy="102000" algn="ctr" rotWithShape="0">
              <a:prstClr val="black">
                <a:alpha val="40000"/>
              </a:prstClr>
            </a:outerShdw>
          </a:effectLst>
        </p:grpSpPr>
        <p:sp>
          <p:nvSpPr>
            <p:cNvPr id="8" name="Freeform 5"/>
            <p:cNvSpPr/>
            <p:nvPr/>
          </p:nvSpPr>
          <p:spPr bwMode="auto">
            <a:xfrm>
              <a:off x="1885951" y="1203598"/>
              <a:ext cx="1704975" cy="1722438"/>
            </a:xfrm>
            <a:custGeom>
              <a:avLst/>
              <a:gdLst>
                <a:gd name="T0" fmla="*/ 225 w 455"/>
                <a:gd name="T1" fmla="*/ 459 h 459"/>
                <a:gd name="T2" fmla="*/ 455 w 455"/>
                <a:gd name="T3" fmla="*/ 230 h 459"/>
                <a:gd name="T4" fmla="*/ 225 w 455"/>
                <a:gd name="T5" fmla="*/ 0 h 459"/>
                <a:gd name="T6" fmla="*/ 0 w 455"/>
                <a:gd name="T7" fmla="*/ 185 h 459"/>
                <a:gd name="T8" fmla="*/ 5 w 455"/>
                <a:gd name="T9" fmla="*/ 459 h 459"/>
                <a:gd name="T10" fmla="*/ 225 w 455"/>
                <a:gd name="T11" fmla="*/ 459 h 459"/>
              </a:gdLst>
              <a:ahLst/>
              <a:cxnLst>
                <a:cxn ang="0">
                  <a:pos x="T0" y="T1"/>
                </a:cxn>
                <a:cxn ang="0">
                  <a:pos x="T2" y="T3"/>
                </a:cxn>
                <a:cxn ang="0">
                  <a:pos x="T4" y="T5"/>
                </a:cxn>
                <a:cxn ang="0">
                  <a:pos x="T6" y="T7"/>
                </a:cxn>
                <a:cxn ang="0">
                  <a:pos x="T8" y="T9"/>
                </a:cxn>
                <a:cxn ang="0">
                  <a:pos x="T10" y="T11"/>
                </a:cxn>
              </a:cxnLst>
              <a:rect l="0" t="0" r="r" b="b"/>
              <a:pathLst>
                <a:path w="455" h="459">
                  <a:moveTo>
                    <a:pt x="225" y="459"/>
                  </a:moveTo>
                  <a:cubicBezTo>
                    <a:pt x="352" y="459"/>
                    <a:pt x="455" y="357"/>
                    <a:pt x="455" y="230"/>
                  </a:cubicBezTo>
                  <a:cubicBezTo>
                    <a:pt x="455" y="103"/>
                    <a:pt x="352" y="0"/>
                    <a:pt x="225" y="0"/>
                  </a:cubicBezTo>
                  <a:cubicBezTo>
                    <a:pt x="114" y="0"/>
                    <a:pt x="20" y="80"/>
                    <a:pt x="0" y="185"/>
                  </a:cubicBezTo>
                  <a:cubicBezTo>
                    <a:pt x="5" y="459"/>
                    <a:pt x="5" y="459"/>
                    <a:pt x="5" y="459"/>
                  </a:cubicBezTo>
                  <a:lnTo>
                    <a:pt x="225" y="459"/>
                  </a:lnTo>
                  <a:close/>
                </a:path>
              </a:pathLst>
            </a:custGeom>
            <a:gradFill>
              <a:gsLst>
                <a:gs pos="0">
                  <a:schemeClr val="bg1">
                    <a:lumMod val="95000"/>
                  </a:schemeClr>
                </a:gs>
                <a:gs pos="50000">
                  <a:schemeClr val="bg1"/>
                </a:gs>
                <a:gs pos="100000">
                  <a:schemeClr val="bg1">
                    <a:lumMod val="85000"/>
                  </a:schemeClr>
                </a:gs>
              </a:gsLst>
              <a:lin ang="18900000" scaled="0"/>
            </a:gradFill>
            <a:ln>
              <a:noFill/>
            </a:ln>
            <a:effectLst>
              <a:outerShdw blurRad="50800" dist="38100" dir="8100000" algn="tr" rotWithShape="0">
                <a:prstClr val="black">
                  <a:alpha val="40000"/>
                </a:prstClr>
              </a:outerShdw>
            </a:effectLst>
          </p:spPr>
          <p:txBody>
            <a:bodyPr/>
            <a:lstStyle/>
            <a:p>
              <a:pPr marL="0" marR="0" lvl="0" indent="0" algn="l" defTabSz="1151890" rtl="0" eaLnBrk="1" fontAlgn="base" latinLnBrk="0" hangingPunct="1">
                <a:lnSpc>
                  <a:spcPct val="100000"/>
                </a:lnSpc>
                <a:spcBef>
                  <a:spcPct val="0"/>
                </a:spcBef>
                <a:spcAft>
                  <a:spcPct val="0"/>
                </a:spcAft>
                <a:buClrTx/>
                <a:buSzTx/>
                <a:buFontTx/>
                <a:buNone/>
                <a:defRPr/>
              </a:pPr>
              <a:endParaRPr kumimoji="0" lang="zh-CN" altLang="en-US" sz="2015" b="0" i="0" u="none" strike="noStrike" kern="0" cap="none" spc="0" normalizeH="0" baseline="0" noProof="0">
                <a:ln>
                  <a:noFill/>
                </a:ln>
                <a:solidFill>
                  <a:srgbClr val="0070C0"/>
                </a:solidFill>
                <a:effectLst/>
                <a:uLnTx/>
                <a:uFillTx/>
                <a:latin typeface="+mn-lt"/>
                <a:ea typeface="+mn-ea"/>
                <a:cs typeface="+mn-cs"/>
              </a:endParaRPr>
            </a:p>
          </p:txBody>
        </p:sp>
        <p:sp>
          <p:nvSpPr>
            <p:cNvPr id="13" name="矩形 1"/>
            <p:cNvSpPr>
              <a:spLocks noChangeArrowheads="1"/>
            </p:cNvSpPr>
            <p:nvPr/>
          </p:nvSpPr>
          <p:spPr bwMode="auto">
            <a:xfrm>
              <a:off x="1950173" y="2021133"/>
              <a:ext cx="1697109" cy="725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5123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哈佛结构上实现</a:t>
              </a:r>
              <a:r>
                <a:rPr kumimoji="0" lang="en-US" altLang="zh-CN" sz="14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1.25DMIPS/MHZ</a:t>
              </a:r>
              <a:endParaRPr kumimoji="0" lang="en-US" altLang="zh-CN" sz="14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5123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单周期乘法和硬件除法</a:t>
              </a:r>
              <a:endParaRPr kumimoji="0" lang="zh-CN" altLang="en-US" sz="14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5123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不可分的位操作</a:t>
              </a:r>
              <a:endParaRPr kumimoji="0" lang="zh-CN" altLang="en-US" sz="14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4824" name="直接连接符 28"/>
            <p:cNvSpPr/>
            <p:nvPr/>
          </p:nvSpPr>
          <p:spPr>
            <a:xfrm>
              <a:off x="2034376" y="1965577"/>
              <a:ext cx="1388637" cy="0"/>
            </a:xfrm>
            <a:prstGeom prst="line">
              <a:avLst/>
            </a:prstGeom>
            <a:ln w="9525" cap="flat" cmpd="sng">
              <a:solidFill>
                <a:srgbClr val="0070C0"/>
              </a:solidFill>
              <a:prstDash val="solid"/>
              <a:round/>
              <a:headEnd type="none" w="med" len="med"/>
              <a:tailEnd type="none" w="med" len="med"/>
            </a:ln>
          </p:spPr>
        </p:sp>
      </p:grpSp>
      <p:grpSp>
        <p:nvGrpSpPr>
          <p:cNvPr id="30" name="组合 29"/>
          <p:cNvGrpSpPr/>
          <p:nvPr/>
        </p:nvGrpSpPr>
        <p:grpSpPr>
          <a:xfrm>
            <a:off x="3459474" y="1026795"/>
            <a:ext cx="2226310" cy="2263140"/>
            <a:chOff x="4176714" y="1244873"/>
            <a:chExt cx="1709738" cy="1722438"/>
          </a:xfrm>
          <a:effectLst>
            <a:outerShdw blurRad="63500" sx="102000" sy="102000" algn="ctr" rotWithShape="0">
              <a:prstClr val="black">
                <a:alpha val="40000"/>
              </a:prstClr>
            </a:outerShdw>
          </a:effectLst>
        </p:grpSpPr>
        <p:sp>
          <p:nvSpPr>
            <p:cNvPr id="31" name="Freeform 6"/>
            <p:cNvSpPr/>
            <p:nvPr/>
          </p:nvSpPr>
          <p:spPr bwMode="auto">
            <a:xfrm>
              <a:off x="4176714" y="1244873"/>
              <a:ext cx="1709738" cy="1722438"/>
            </a:xfrm>
            <a:custGeom>
              <a:avLst/>
              <a:gdLst>
                <a:gd name="T0" fmla="*/ 226 w 456"/>
                <a:gd name="T1" fmla="*/ 459 h 459"/>
                <a:gd name="T2" fmla="*/ 456 w 456"/>
                <a:gd name="T3" fmla="*/ 229 h 459"/>
                <a:gd name="T4" fmla="*/ 226 w 456"/>
                <a:gd name="T5" fmla="*/ 0 h 459"/>
                <a:gd name="T6" fmla="*/ 0 w 456"/>
                <a:gd name="T7" fmla="*/ 185 h 459"/>
                <a:gd name="T8" fmla="*/ 5 w 456"/>
                <a:gd name="T9" fmla="*/ 459 h 459"/>
                <a:gd name="T10" fmla="*/ 226 w 456"/>
                <a:gd name="T11" fmla="*/ 459 h 459"/>
              </a:gdLst>
              <a:ahLst/>
              <a:cxnLst>
                <a:cxn ang="0">
                  <a:pos x="T0" y="T1"/>
                </a:cxn>
                <a:cxn ang="0">
                  <a:pos x="T2" y="T3"/>
                </a:cxn>
                <a:cxn ang="0">
                  <a:pos x="T4" y="T5"/>
                </a:cxn>
                <a:cxn ang="0">
                  <a:pos x="T6" y="T7"/>
                </a:cxn>
                <a:cxn ang="0">
                  <a:pos x="T8" y="T9"/>
                </a:cxn>
                <a:cxn ang="0">
                  <a:pos x="T10" y="T11"/>
                </a:cxn>
              </a:cxnLst>
              <a:rect l="0" t="0" r="r" b="b"/>
              <a:pathLst>
                <a:path w="456" h="459">
                  <a:moveTo>
                    <a:pt x="226" y="459"/>
                  </a:moveTo>
                  <a:cubicBezTo>
                    <a:pt x="353" y="459"/>
                    <a:pt x="456" y="356"/>
                    <a:pt x="456" y="229"/>
                  </a:cubicBezTo>
                  <a:cubicBezTo>
                    <a:pt x="456" y="102"/>
                    <a:pt x="353" y="0"/>
                    <a:pt x="226" y="0"/>
                  </a:cubicBezTo>
                  <a:cubicBezTo>
                    <a:pt x="114" y="0"/>
                    <a:pt x="21" y="79"/>
                    <a:pt x="0" y="185"/>
                  </a:cubicBezTo>
                  <a:cubicBezTo>
                    <a:pt x="5" y="459"/>
                    <a:pt x="5" y="459"/>
                    <a:pt x="5" y="459"/>
                  </a:cubicBezTo>
                  <a:lnTo>
                    <a:pt x="226" y="459"/>
                  </a:lnTo>
                  <a:close/>
                </a:path>
              </a:pathLst>
            </a:custGeom>
            <a:gradFill>
              <a:gsLst>
                <a:gs pos="0">
                  <a:schemeClr val="bg1">
                    <a:lumMod val="95000"/>
                  </a:schemeClr>
                </a:gs>
                <a:gs pos="50000">
                  <a:schemeClr val="bg1"/>
                </a:gs>
                <a:gs pos="100000">
                  <a:schemeClr val="bg1">
                    <a:lumMod val="85000"/>
                  </a:schemeClr>
                </a:gs>
              </a:gsLst>
              <a:lin ang="18900000" scaled="0"/>
            </a:gradFill>
            <a:ln>
              <a:noFill/>
            </a:ln>
            <a:effectLst>
              <a:outerShdw blurRad="50800" dist="38100" dir="8100000" algn="tr" rotWithShape="0">
                <a:prstClr val="black">
                  <a:alpha val="40000"/>
                </a:prstClr>
              </a:outerShdw>
            </a:effectLst>
          </p:spPr>
          <p:txBody>
            <a:bodyPr/>
            <a:lstStyle/>
            <a:p>
              <a:pPr marL="0" marR="0" lvl="0" indent="0" algn="l" defTabSz="1151890" rtl="0" eaLnBrk="1" fontAlgn="base" latinLnBrk="0" hangingPunct="1">
                <a:lnSpc>
                  <a:spcPct val="100000"/>
                </a:lnSpc>
                <a:spcBef>
                  <a:spcPct val="0"/>
                </a:spcBef>
                <a:spcAft>
                  <a:spcPct val="0"/>
                </a:spcAft>
                <a:buClrTx/>
                <a:buSzTx/>
                <a:buFontTx/>
                <a:buNone/>
                <a:defRPr/>
              </a:pPr>
              <a:endParaRPr kumimoji="0" lang="zh-CN" altLang="en-US" sz="2015" b="0" i="0" u="none" strike="noStrike" kern="0" cap="none" spc="0" normalizeH="0" baseline="0" noProof="0">
                <a:ln>
                  <a:noFill/>
                </a:ln>
                <a:solidFill>
                  <a:srgbClr val="0070C0"/>
                </a:solidFill>
                <a:effectLst/>
                <a:uLnTx/>
                <a:uFillTx/>
                <a:latin typeface="+mn-lt"/>
                <a:ea typeface="+mn-ea"/>
                <a:cs typeface="+mn-cs"/>
              </a:endParaRPr>
            </a:p>
          </p:txBody>
        </p:sp>
        <p:sp>
          <p:nvSpPr>
            <p:cNvPr id="33" name="矩形 1"/>
            <p:cNvSpPr>
              <a:spLocks noChangeArrowheads="1"/>
            </p:cNvSpPr>
            <p:nvPr/>
          </p:nvSpPr>
          <p:spPr bwMode="auto">
            <a:xfrm>
              <a:off x="4234661" y="2063438"/>
              <a:ext cx="1650279" cy="725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以16位指令的密度实现32位指令性能（与ARM7相比减少了30%-45%的代码量）</a:t>
              </a:r>
              <a:endParaRPr kumimoji="0" lang="zh-CN" altLang="en-US" sz="14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4829" name="直接连接符 33"/>
            <p:cNvSpPr/>
            <p:nvPr/>
          </p:nvSpPr>
          <p:spPr>
            <a:xfrm>
              <a:off x="4312756" y="1965577"/>
              <a:ext cx="1388637" cy="0"/>
            </a:xfrm>
            <a:prstGeom prst="line">
              <a:avLst/>
            </a:prstGeom>
            <a:ln w="9525" cap="flat" cmpd="sng">
              <a:solidFill>
                <a:srgbClr val="0070C0"/>
              </a:solidFill>
              <a:prstDash val="solid"/>
              <a:round/>
              <a:headEnd type="none" w="med" len="med"/>
              <a:tailEnd type="none" w="med" len="med"/>
            </a:ln>
          </p:spPr>
        </p:sp>
      </p:grpSp>
      <p:grpSp>
        <p:nvGrpSpPr>
          <p:cNvPr id="35" name="组合 34"/>
          <p:cNvGrpSpPr/>
          <p:nvPr/>
        </p:nvGrpSpPr>
        <p:grpSpPr>
          <a:xfrm>
            <a:off x="5941060" y="1024890"/>
            <a:ext cx="2273935" cy="2246340"/>
            <a:chOff x="6569076" y="1222648"/>
            <a:chExt cx="1709738" cy="1725613"/>
          </a:xfrm>
          <a:effectLst>
            <a:outerShdw blurRad="63500" sx="102000" sy="102000" algn="ctr" rotWithShape="0">
              <a:prstClr val="black">
                <a:alpha val="40000"/>
              </a:prstClr>
            </a:outerShdw>
          </a:effectLst>
        </p:grpSpPr>
        <p:sp>
          <p:nvSpPr>
            <p:cNvPr id="36" name="Freeform 7"/>
            <p:cNvSpPr/>
            <p:nvPr/>
          </p:nvSpPr>
          <p:spPr bwMode="auto">
            <a:xfrm>
              <a:off x="6569076" y="1222648"/>
              <a:ext cx="1709738" cy="1725613"/>
            </a:xfrm>
            <a:custGeom>
              <a:avLst/>
              <a:gdLst>
                <a:gd name="T0" fmla="*/ 226 w 456"/>
                <a:gd name="T1" fmla="*/ 460 h 460"/>
                <a:gd name="T2" fmla="*/ 456 w 456"/>
                <a:gd name="T3" fmla="*/ 230 h 460"/>
                <a:gd name="T4" fmla="*/ 226 w 456"/>
                <a:gd name="T5" fmla="*/ 0 h 460"/>
                <a:gd name="T6" fmla="*/ 0 w 456"/>
                <a:gd name="T7" fmla="*/ 186 h 460"/>
                <a:gd name="T8" fmla="*/ 5 w 456"/>
                <a:gd name="T9" fmla="*/ 460 h 460"/>
                <a:gd name="T10" fmla="*/ 226 w 456"/>
                <a:gd name="T11" fmla="*/ 460 h 460"/>
              </a:gdLst>
              <a:ahLst/>
              <a:cxnLst>
                <a:cxn ang="0">
                  <a:pos x="T0" y="T1"/>
                </a:cxn>
                <a:cxn ang="0">
                  <a:pos x="T2" y="T3"/>
                </a:cxn>
                <a:cxn ang="0">
                  <a:pos x="T4" y="T5"/>
                </a:cxn>
                <a:cxn ang="0">
                  <a:pos x="T6" y="T7"/>
                </a:cxn>
                <a:cxn ang="0">
                  <a:pos x="T8" y="T9"/>
                </a:cxn>
                <a:cxn ang="0">
                  <a:pos x="T10" y="T11"/>
                </a:cxn>
              </a:cxnLst>
              <a:rect l="0" t="0" r="r" b="b"/>
              <a:pathLst>
                <a:path w="456" h="460">
                  <a:moveTo>
                    <a:pt x="226" y="460"/>
                  </a:moveTo>
                  <a:cubicBezTo>
                    <a:pt x="353" y="460"/>
                    <a:pt x="456" y="357"/>
                    <a:pt x="456" y="230"/>
                  </a:cubicBezTo>
                  <a:cubicBezTo>
                    <a:pt x="456" y="103"/>
                    <a:pt x="353" y="0"/>
                    <a:pt x="226" y="0"/>
                  </a:cubicBezTo>
                  <a:cubicBezTo>
                    <a:pt x="114" y="0"/>
                    <a:pt x="21" y="80"/>
                    <a:pt x="0" y="186"/>
                  </a:cubicBezTo>
                  <a:cubicBezTo>
                    <a:pt x="5" y="460"/>
                    <a:pt x="5" y="460"/>
                    <a:pt x="5" y="460"/>
                  </a:cubicBezTo>
                  <a:lnTo>
                    <a:pt x="226" y="460"/>
                  </a:lnTo>
                  <a:close/>
                </a:path>
              </a:pathLst>
            </a:custGeom>
            <a:gradFill>
              <a:gsLst>
                <a:gs pos="0">
                  <a:schemeClr val="bg1">
                    <a:lumMod val="95000"/>
                  </a:schemeClr>
                </a:gs>
                <a:gs pos="50000">
                  <a:schemeClr val="bg1"/>
                </a:gs>
                <a:gs pos="100000">
                  <a:schemeClr val="bg1">
                    <a:lumMod val="85000"/>
                  </a:schemeClr>
                </a:gs>
              </a:gsLst>
              <a:lin ang="18900000" scaled="0"/>
            </a:gradFill>
            <a:ln>
              <a:noFill/>
            </a:ln>
            <a:effectLst>
              <a:outerShdw blurRad="50800" dist="38100" dir="8100000" algn="tr" rotWithShape="0">
                <a:prstClr val="black">
                  <a:alpha val="40000"/>
                </a:prstClr>
              </a:outerShdw>
            </a:effectLst>
          </p:spPr>
          <p:txBody>
            <a:bodyPr/>
            <a:lstStyle/>
            <a:p>
              <a:pPr marL="0" marR="0" lvl="0" indent="0" algn="l" defTabSz="1151890" rtl="0" eaLnBrk="1" fontAlgn="base" latinLnBrk="0" hangingPunct="1">
                <a:lnSpc>
                  <a:spcPct val="100000"/>
                </a:lnSpc>
                <a:spcBef>
                  <a:spcPct val="0"/>
                </a:spcBef>
                <a:spcAft>
                  <a:spcPct val="0"/>
                </a:spcAft>
                <a:buClrTx/>
                <a:buSzTx/>
                <a:buFontTx/>
                <a:buNone/>
                <a:defRPr/>
              </a:pPr>
              <a:endParaRPr kumimoji="0" lang="zh-CN" altLang="en-US" sz="2015" b="0" i="0" u="none" strike="noStrike" kern="0" cap="none" spc="0" normalizeH="0" baseline="0" noProof="0">
                <a:ln>
                  <a:noFill/>
                </a:ln>
                <a:solidFill>
                  <a:srgbClr val="0070C0"/>
                </a:solidFill>
                <a:effectLst/>
                <a:uLnTx/>
                <a:uFillTx/>
                <a:latin typeface="+mn-lt"/>
                <a:ea typeface="+mn-ea"/>
                <a:cs typeface="+mn-cs"/>
              </a:endParaRPr>
            </a:p>
          </p:txBody>
        </p:sp>
        <p:sp>
          <p:nvSpPr>
            <p:cNvPr id="38" name="矩形 1"/>
            <p:cNvSpPr>
              <a:spLocks noChangeArrowheads="1"/>
            </p:cNvSpPr>
            <p:nvPr/>
          </p:nvSpPr>
          <p:spPr bwMode="auto">
            <a:xfrm>
              <a:off x="6620487" y="2043480"/>
              <a:ext cx="1606848" cy="889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中断之间的间隔最少可达6个CPU周期，从低功耗模式唤醒只需6个CPU周期</a:t>
              </a:r>
              <a:r>
                <a:rPr kumimoji="0" lang="en-US" altLang="zh-CN" sz="1325"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宋体" panose="02010600030101010101" pitchFamily="2" charset="-122"/>
                  <a:ea typeface="宋体" panose="02010600030101010101" pitchFamily="2" charset="-122"/>
                  <a:cs typeface="+mn-cs"/>
                  <a:sym typeface="+mn-ea"/>
                </a:rPr>
                <a:t> </a:t>
              </a:r>
              <a:endParaRPr kumimoji="0" lang="en-US" altLang="zh-CN" sz="1325" b="0"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51230" rtl="0" eaLnBrk="1" fontAlgn="auto" latinLnBrk="0" hangingPunct="1">
                <a:lnSpc>
                  <a:spcPct val="100000"/>
                </a:lnSpc>
                <a:spcBef>
                  <a:spcPts val="0"/>
                </a:spcBef>
                <a:spcAft>
                  <a:spcPts val="0"/>
                </a:spcAft>
                <a:buClrTx/>
                <a:buSzTx/>
                <a:buFontTx/>
                <a:buNone/>
                <a:defRPr/>
              </a:pPr>
              <a:endParaRPr kumimoji="0" lang="zh-CN" altLang="en-US" sz="1325"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34834" name="直接连接符 38"/>
            <p:cNvSpPr/>
            <p:nvPr/>
          </p:nvSpPr>
          <p:spPr>
            <a:xfrm>
              <a:off x="6697816" y="1965577"/>
              <a:ext cx="1388637" cy="0"/>
            </a:xfrm>
            <a:prstGeom prst="line">
              <a:avLst/>
            </a:prstGeom>
            <a:ln w="9525" cap="flat" cmpd="sng">
              <a:solidFill>
                <a:srgbClr val="0070C0"/>
              </a:solidFill>
              <a:prstDash val="solid"/>
              <a:round/>
              <a:headEnd type="none" w="med" len="med"/>
              <a:tailEnd type="none" w="med" len="med"/>
            </a:ln>
          </p:spPr>
        </p:sp>
      </p:grpSp>
      <p:sp>
        <p:nvSpPr>
          <p:cNvPr id="15" name="文本框 14"/>
          <p:cNvSpPr txBox="1"/>
          <p:nvPr/>
        </p:nvSpPr>
        <p:spPr>
          <a:xfrm>
            <a:off x="861060" y="3695700"/>
            <a:ext cx="4020185" cy="583560"/>
          </a:xfrm>
          <a:prstGeom prst="rect">
            <a:avLst/>
          </a:prstGeom>
          <a:noFill/>
        </p:spPr>
        <p:txBody>
          <a:bodyPr wrap="none">
            <a:spAutoFit/>
          </a:bodyPr>
          <a:lstStyle/>
          <a:p>
            <a:pPr marR="0" defTabSz="914400">
              <a:buClrTx/>
              <a:buSzTx/>
              <a:buFont typeface="Arial" panose="020B0604020202020204" pitchFamily="34" charset="0"/>
              <a:buNone/>
              <a:defRPr/>
            </a:pPr>
            <a:r>
              <a:rPr kumimoji="0" lang="en-US" altLang="zh-CN" sz="3200" b="1"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mn-cs"/>
              </a:rPr>
              <a:t>Cortex-M3内核优点</a:t>
            </a:r>
            <a:endParaRPr kumimoji="0" lang="zh-CN" altLang="en-US" sz="2800" b="1" kern="1200" cap="none" spc="0" normalizeH="0" baseline="0" noProof="1">
              <a:ln w="3175">
                <a:solidFill>
                  <a:schemeClr val="bg1"/>
                </a:solidFill>
                <a:prstDash val="solid"/>
              </a:ln>
              <a:solidFill>
                <a:srgbClr val="FC6C0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文本框 15"/>
          <p:cNvSpPr txBox="1"/>
          <p:nvPr/>
        </p:nvSpPr>
        <p:spPr>
          <a:xfrm>
            <a:off x="3498850" y="1477963"/>
            <a:ext cx="2012950" cy="460375"/>
          </a:xfrm>
          <a:prstGeom prst="rect">
            <a:avLst/>
          </a:prstGeom>
          <a:noFill/>
          <a:ln w="9525">
            <a:noFill/>
          </a:ln>
        </p:spPr>
        <p:txBody>
          <a:bodyPr wrap="none" anchor="t" anchorCtr="0">
            <a:spAutoFit/>
          </a:bodyPr>
          <a:p>
            <a:r>
              <a:rPr lang="zh-CN" altLang="en-US" sz="2400" b="1" dirty="0">
                <a:solidFill>
                  <a:srgbClr val="FC6C02"/>
                </a:solidFill>
                <a:latin typeface="微软雅黑" panose="020B0503020204020204" pitchFamily="34" charset="-122"/>
                <a:ea typeface="微软雅黑" panose="020B0503020204020204" pitchFamily="34" charset="-122"/>
                <a:sym typeface="Bodoni MT" panose="02070603080606020203" pitchFamily="18" charset="0"/>
              </a:rPr>
              <a:t>最佳代码密度</a:t>
            </a:r>
            <a:endParaRPr lang="zh-CN" altLang="en-US" sz="2400" b="1" dirty="0">
              <a:solidFill>
                <a:srgbClr val="FC6C02"/>
              </a:solidFill>
              <a:latin typeface="微软雅黑" panose="020B0503020204020204" pitchFamily="34" charset="-122"/>
              <a:ea typeface="微软雅黑" panose="020B0503020204020204" pitchFamily="34" charset="-122"/>
              <a:sym typeface="Bodoni MT" panose="02070603080606020203" pitchFamily="18" charset="0"/>
            </a:endParaRPr>
          </a:p>
        </p:txBody>
      </p:sp>
      <p:sp>
        <p:nvSpPr>
          <p:cNvPr id="18" name="文本框 17"/>
          <p:cNvSpPr txBox="1"/>
          <p:nvPr/>
        </p:nvSpPr>
        <p:spPr>
          <a:xfrm>
            <a:off x="1120775" y="1527175"/>
            <a:ext cx="1706563" cy="460375"/>
          </a:xfrm>
          <a:prstGeom prst="rect">
            <a:avLst/>
          </a:prstGeom>
          <a:noFill/>
          <a:ln w="9525">
            <a:noFill/>
          </a:ln>
        </p:spPr>
        <p:txBody>
          <a:bodyPr wrap="none" anchor="t" anchorCtr="0">
            <a:spAutoFit/>
          </a:bodyPr>
          <a:p>
            <a:r>
              <a:rPr lang="zh-CN" altLang="en-US" sz="2400" b="1" dirty="0">
                <a:solidFill>
                  <a:srgbClr val="FC6C02"/>
                </a:solidFill>
                <a:latin typeface="微软雅黑" panose="020B0503020204020204" pitchFamily="34" charset="-122"/>
                <a:ea typeface="微软雅黑" panose="020B0503020204020204" pitchFamily="34" charset="-122"/>
                <a:sym typeface="Bodoni MT" panose="02070603080606020203" pitchFamily="18" charset="0"/>
              </a:rPr>
              <a:t>高性能内核</a:t>
            </a:r>
            <a:endParaRPr lang="zh-CN" altLang="en-US" sz="2400" b="1" dirty="0">
              <a:solidFill>
                <a:srgbClr val="FC6C02"/>
              </a:solidFill>
              <a:latin typeface="微软雅黑" panose="020B0503020204020204" pitchFamily="34" charset="-122"/>
              <a:ea typeface="微软雅黑" panose="020B0503020204020204" pitchFamily="34" charset="-122"/>
              <a:sym typeface="Bodoni MT" panose="02070603080606020203" pitchFamily="18" charset="0"/>
            </a:endParaRPr>
          </a:p>
        </p:txBody>
      </p:sp>
      <p:sp>
        <p:nvSpPr>
          <p:cNvPr id="19" name="文本框 18"/>
          <p:cNvSpPr txBox="1"/>
          <p:nvPr/>
        </p:nvSpPr>
        <p:spPr>
          <a:xfrm>
            <a:off x="6316663" y="1158875"/>
            <a:ext cx="1401762" cy="828675"/>
          </a:xfrm>
          <a:prstGeom prst="rect">
            <a:avLst/>
          </a:prstGeom>
          <a:noFill/>
          <a:ln w="9525">
            <a:noFill/>
          </a:ln>
        </p:spPr>
        <p:txBody>
          <a:bodyPr wrap="none" anchor="t" anchorCtr="0">
            <a:spAutoFit/>
          </a:bodyPr>
          <a:p>
            <a:r>
              <a:rPr lang="zh-CN" altLang="en-US" sz="2400" b="1" dirty="0">
                <a:solidFill>
                  <a:srgbClr val="FC6C02"/>
                </a:solidFill>
                <a:latin typeface="微软雅黑" panose="020B0503020204020204" pitchFamily="34" charset="-122"/>
                <a:ea typeface="微软雅黑" panose="020B0503020204020204" pitchFamily="34" charset="-122"/>
                <a:sym typeface="Bodoni MT" panose="02070603080606020203" pitchFamily="18" charset="0"/>
              </a:rPr>
              <a:t>可预见的</a:t>
            </a:r>
            <a:endParaRPr lang="zh-CN" altLang="en-US" sz="2400" b="1" dirty="0">
              <a:solidFill>
                <a:srgbClr val="FC6C02"/>
              </a:solidFill>
              <a:latin typeface="微软雅黑" panose="020B0503020204020204" pitchFamily="34" charset="-122"/>
              <a:ea typeface="微软雅黑" panose="020B0503020204020204" pitchFamily="34" charset="-122"/>
              <a:sym typeface="Bodoni MT" panose="02070603080606020203" pitchFamily="18" charset="0"/>
            </a:endParaRPr>
          </a:p>
          <a:p>
            <a:r>
              <a:rPr lang="zh-CN" altLang="en-US" sz="2400" b="1" dirty="0">
                <a:solidFill>
                  <a:srgbClr val="FC6C02"/>
                </a:solidFill>
                <a:latin typeface="微软雅黑" panose="020B0503020204020204" pitchFamily="34" charset="-122"/>
                <a:ea typeface="微软雅黑" panose="020B0503020204020204" pitchFamily="34" charset="-122"/>
                <a:sym typeface="Bodoni MT" panose="02070603080606020203" pitchFamily="18" charset="0"/>
              </a:rPr>
              <a:t>运行时间</a:t>
            </a:r>
            <a:endParaRPr lang="zh-CN" altLang="en-US" sz="2400" b="1" dirty="0">
              <a:solidFill>
                <a:srgbClr val="FC6C02"/>
              </a:solidFill>
              <a:latin typeface="微软雅黑" panose="020B0503020204020204" pitchFamily="34" charset="-122"/>
              <a:ea typeface="微软雅黑" panose="020B0503020204020204" pitchFamily="34" charset="-122"/>
              <a:sym typeface="Bodoni MT" panose="020706030806060202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500" fill="hold">
                                          <p:stCondLst>
                                            <p:cond delay="0"/>
                                          </p:stCondLst>
                                        </p:cTn>
                                        <p:tgtEl>
                                          <p:spTgt spid="6"/>
                                        </p:tgtEl>
                                        <p:attrNameLst>
                                          <p:attrName>style.visibility</p:attrName>
                                        </p:attrNameLst>
                                      </p:cBhvr>
                                      <p:to>
                                        <p:strVal val="visible"/>
                                      </p:to>
                                    </p:set>
                                    <p:animEffect transition="in" filter="plus(in)">
                                      <p:cBhvr>
                                        <p:cTn id="7" dur="500"/>
                                        <p:tgtEl>
                                          <p:spTgt spid="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par>
                                <p:cTn id="12" presetID="42" presetClass="entr" presetSubtype="0" fill="hold" nodeType="withEffect">
                                  <p:stCondLst>
                                    <p:cond delay="0"/>
                                  </p:stCondLst>
                                  <p:childTnLst>
                                    <p:set>
                                      <p:cBhvr>
                                        <p:cTn id="13" dur="500" fill="hold">
                                          <p:stCondLst>
                                            <p:cond delay="0"/>
                                          </p:stCondLst>
                                        </p:cTn>
                                        <p:tgtEl>
                                          <p:spTgt spid="15"/>
                                        </p:tgtEl>
                                        <p:attrNameLst>
                                          <p:attrName>style.visibility</p:attrName>
                                        </p:attrNameLst>
                                      </p:cBhvr>
                                      <p:to>
                                        <p:strVal val="visible"/>
                                      </p:to>
                                    </p:set>
                                    <p:animEffect transition="in" filter="fade">
                                      <p:cBhvr>
                                        <p:cTn id="14" dur="500"/>
                                        <p:tgtEl>
                                          <p:spTgt spid="15"/>
                                        </p:tgtEl>
                                      </p:cBhvr>
                                    </p:animEffect>
                                    <p:anim calcmode="lin" valueType="num">
                                      <p:cBhvr>
                                        <p:cTn id="15" dur="500" fill="hold"/>
                                        <p:tgtEl>
                                          <p:spTgt spid="15"/>
                                        </p:tgtEl>
                                        <p:attrNameLst>
                                          <p:attrName>ppt_x</p:attrName>
                                        </p:attrNameLst>
                                      </p:cBhvr>
                                      <p:tavLst>
                                        <p:tav tm="0">
                                          <p:val>
                                            <p:strVal val="#ppt_x"/>
                                          </p:val>
                                        </p:tav>
                                        <p:tav tm="100000">
                                          <p:val>
                                            <p:strVal val="#ppt_x"/>
                                          </p:val>
                                        </p:tav>
                                      </p:tavLst>
                                    </p:anim>
                                    <p:anim calcmode="lin" valueType="num">
                                      <p:cBhvr>
                                        <p:cTn id="16"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300" fill="hold"/>
                                        <p:tgtEl>
                                          <p:spTgt spid="7"/>
                                        </p:tgtEl>
                                        <p:attrNameLst>
                                          <p:attrName>ppt_x</p:attrName>
                                        </p:attrNameLst>
                                      </p:cBhvr>
                                      <p:tavLst>
                                        <p:tav tm="0">
                                          <p:val>
                                            <p:strVal val="0-#ppt_w/2"/>
                                          </p:val>
                                        </p:tav>
                                        <p:tav tm="100000">
                                          <p:val>
                                            <p:strVal val="#ppt_x"/>
                                          </p:val>
                                        </p:tav>
                                      </p:tavLst>
                                    </p:anim>
                                    <p:anim calcmode="lin" valueType="num">
                                      <p:cBhvr>
                                        <p:cTn id="22" dur="300" fill="hold"/>
                                        <p:tgtEl>
                                          <p:spTgt spid="7"/>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0-#ppt_w/2"/>
                                          </p:val>
                                        </p:tav>
                                        <p:tav tm="100000">
                                          <p:val>
                                            <p:strVal val="#ppt_x"/>
                                          </p:val>
                                        </p:tav>
                                      </p:tavLst>
                                    </p:anim>
                                    <p:anim calcmode="lin" valueType="num">
                                      <p:cBhvr additive="base">
                                        <p:cTn id="26" dur="500" fill="hold"/>
                                        <p:tgtEl>
                                          <p:spTgt spid="18"/>
                                        </p:tgtEl>
                                        <p:attrNameLst>
                                          <p:attrName>ppt_y</p:attrName>
                                        </p:attrNameLst>
                                      </p:cBhvr>
                                      <p:tavLst>
                                        <p:tav tm="0">
                                          <p:val>
                                            <p:strVal val="#ppt_y"/>
                                          </p:val>
                                        </p:tav>
                                        <p:tav tm="100000">
                                          <p:val>
                                            <p:strVal val="#ppt_y"/>
                                          </p:val>
                                        </p:tav>
                                      </p:tavLst>
                                    </p:anim>
                                  </p:childTnLst>
                                </p:cTn>
                              </p:par>
                            </p:childTnLst>
                          </p:cTn>
                        </p:par>
                        <p:par>
                          <p:cTn id="27" fill="hold">
                            <p:stCondLst>
                              <p:cond delay="500"/>
                            </p:stCondLst>
                            <p:childTnLst>
                              <p:par>
                                <p:cTn id="28" presetID="2" presetClass="entr" presetSubtype="8" fill="hold" nodeType="afterEffect">
                                  <p:stCondLst>
                                    <p:cond delay="0"/>
                                  </p:stCondLst>
                                  <p:childTnLst>
                                    <p:set>
                                      <p:cBhvr>
                                        <p:cTn id="29" dur="1" fill="hold">
                                          <p:stCondLst>
                                            <p:cond delay="0"/>
                                          </p:stCondLst>
                                        </p:cTn>
                                        <p:tgtEl>
                                          <p:spTgt spid="30"/>
                                        </p:tgtEl>
                                        <p:attrNameLst>
                                          <p:attrName>style.visibility</p:attrName>
                                        </p:attrNameLst>
                                      </p:cBhvr>
                                      <p:to>
                                        <p:strVal val="visible"/>
                                      </p:to>
                                    </p:set>
                                    <p:anim calcmode="lin" valueType="num">
                                      <p:cBhvr>
                                        <p:cTn id="30" dur="300" fill="hold"/>
                                        <p:tgtEl>
                                          <p:spTgt spid="30"/>
                                        </p:tgtEl>
                                        <p:attrNameLst>
                                          <p:attrName>ppt_x</p:attrName>
                                        </p:attrNameLst>
                                      </p:cBhvr>
                                      <p:tavLst>
                                        <p:tav tm="0">
                                          <p:val>
                                            <p:strVal val="0-#ppt_w/2"/>
                                          </p:val>
                                        </p:tav>
                                        <p:tav tm="100000">
                                          <p:val>
                                            <p:strVal val="#ppt_x"/>
                                          </p:val>
                                        </p:tav>
                                      </p:tavLst>
                                    </p:anim>
                                    <p:anim calcmode="lin" valueType="num">
                                      <p:cBhvr>
                                        <p:cTn id="31" dur="300" fill="hold"/>
                                        <p:tgtEl>
                                          <p:spTgt spid="30"/>
                                        </p:tgtEl>
                                        <p:attrNameLst>
                                          <p:attrName>ppt_y</p:attrName>
                                        </p:attrNameLst>
                                      </p:cBhvr>
                                      <p:tavLst>
                                        <p:tav tm="0">
                                          <p:val>
                                            <p:strVal val="#ppt_y"/>
                                          </p:val>
                                        </p:tav>
                                        <p:tav tm="100000">
                                          <p:val>
                                            <p:strVal val="#ppt_y"/>
                                          </p:val>
                                        </p:tav>
                                      </p:tavLst>
                                    </p:anim>
                                  </p:childTnLst>
                                </p:cTn>
                              </p:par>
                              <p:par>
                                <p:cTn id="32" presetID="2" presetClass="entr" presetSubtype="8"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 calcmode="lin" valueType="num">
                                      <p:cBhvr additive="base">
                                        <p:cTn id="34" dur="500" fill="hold"/>
                                        <p:tgtEl>
                                          <p:spTgt spid="16"/>
                                        </p:tgtEl>
                                        <p:attrNameLst>
                                          <p:attrName>ppt_x</p:attrName>
                                        </p:attrNameLst>
                                      </p:cBhvr>
                                      <p:tavLst>
                                        <p:tav tm="0">
                                          <p:val>
                                            <p:strVal val="0-#ppt_w/2"/>
                                          </p:val>
                                        </p:tav>
                                        <p:tav tm="100000">
                                          <p:val>
                                            <p:strVal val="#ppt_x"/>
                                          </p:val>
                                        </p:tav>
                                      </p:tavLst>
                                    </p:anim>
                                    <p:anim calcmode="lin" valueType="num">
                                      <p:cBhvr additive="base">
                                        <p:cTn id="35" dur="500" fill="hold"/>
                                        <p:tgtEl>
                                          <p:spTgt spid="16"/>
                                        </p:tgtEl>
                                        <p:attrNameLst>
                                          <p:attrName>ppt_y</p:attrName>
                                        </p:attrNameLst>
                                      </p:cBhvr>
                                      <p:tavLst>
                                        <p:tav tm="0">
                                          <p:val>
                                            <p:strVal val="#ppt_y"/>
                                          </p:val>
                                        </p:tav>
                                        <p:tav tm="100000">
                                          <p:val>
                                            <p:strVal val="#ppt_y"/>
                                          </p:val>
                                        </p:tav>
                                      </p:tavLst>
                                    </p:anim>
                                  </p:childTnLst>
                                </p:cTn>
                              </p:par>
                            </p:childTnLst>
                          </p:cTn>
                        </p:par>
                        <p:par>
                          <p:cTn id="36" fill="hold">
                            <p:stCondLst>
                              <p:cond delay="1000"/>
                            </p:stCondLst>
                            <p:childTnLst>
                              <p:par>
                                <p:cTn id="37" presetID="2" presetClass="entr" presetSubtype="8" fill="hold" nodeType="afterEffect">
                                  <p:stCondLst>
                                    <p:cond delay="0"/>
                                  </p:stCondLst>
                                  <p:childTnLst>
                                    <p:set>
                                      <p:cBhvr>
                                        <p:cTn id="38" dur="1" fill="hold">
                                          <p:stCondLst>
                                            <p:cond delay="0"/>
                                          </p:stCondLst>
                                        </p:cTn>
                                        <p:tgtEl>
                                          <p:spTgt spid="35"/>
                                        </p:tgtEl>
                                        <p:attrNameLst>
                                          <p:attrName>style.visibility</p:attrName>
                                        </p:attrNameLst>
                                      </p:cBhvr>
                                      <p:to>
                                        <p:strVal val="visible"/>
                                      </p:to>
                                    </p:set>
                                    <p:anim calcmode="lin" valueType="num">
                                      <p:cBhvr>
                                        <p:cTn id="39" dur="300" fill="hold"/>
                                        <p:tgtEl>
                                          <p:spTgt spid="35"/>
                                        </p:tgtEl>
                                        <p:attrNameLst>
                                          <p:attrName>ppt_x</p:attrName>
                                        </p:attrNameLst>
                                      </p:cBhvr>
                                      <p:tavLst>
                                        <p:tav tm="0">
                                          <p:val>
                                            <p:strVal val="0-#ppt_w/2"/>
                                          </p:val>
                                        </p:tav>
                                        <p:tav tm="100000">
                                          <p:val>
                                            <p:strVal val="#ppt_x"/>
                                          </p:val>
                                        </p:tav>
                                      </p:tavLst>
                                    </p:anim>
                                    <p:anim calcmode="lin" valueType="num">
                                      <p:cBhvr>
                                        <p:cTn id="40" dur="300" fill="hold"/>
                                        <p:tgtEl>
                                          <p:spTgt spid="35"/>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 calcmode="lin" valueType="num">
                                      <p:cBhvr additive="base">
                                        <p:cTn id="43" dur="500" fill="hold"/>
                                        <p:tgtEl>
                                          <p:spTgt spid="19"/>
                                        </p:tgtEl>
                                        <p:attrNameLst>
                                          <p:attrName>ppt_x</p:attrName>
                                        </p:attrNameLst>
                                      </p:cBhvr>
                                      <p:tavLst>
                                        <p:tav tm="0">
                                          <p:val>
                                            <p:strVal val="0-#ppt_w/2"/>
                                          </p:val>
                                        </p:tav>
                                        <p:tav tm="100000">
                                          <p:val>
                                            <p:strVal val="#ppt_x"/>
                                          </p:val>
                                        </p:tav>
                                      </p:tavLst>
                                    </p:anim>
                                    <p:anim calcmode="lin" valueType="num">
                                      <p:cBhvr additive="base">
                                        <p:cTn id="44"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16" grpId="0"/>
      <p:bldP spid="18" grpId="0"/>
      <p:bldP spid="1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圆角矩形 5"/>
          <p:cNvSpPr/>
          <p:nvPr/>
        </p:nvSpPr>
        <p:spPr>
          <a:xfrm>
            <a:off x="260350" y="439738"/>
            <a:ext cx="8623300" cy="4462462"/>
          </a:xfrm>
          <a:prstGeom prst="roundRect">
            <a:avLst>
              <a:gd name="adj" fmla="val 16667"/>
            </a:avLst>
          </a:prstGeom>
          <a:noFill/>
          <a:ln w="47625" cap="flat" cmpd="sng">
            <a:solidFill>
              <a:srgbClr val="FC6C02"/>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sym typeface="Bodoni MT" panose="02070603080606020203" pitchFamily="18" charset="0"/>
            </a:endParaRPr>
          </a:p>
        </p:txBody>
      </p:sp>
      <p:sp useBgFill="1">
        <p:nvSpPr>
          <p:cNvPr id="12" name="矩形 11"/>
          <p:cNvSpPr/>
          <p:nvPr/>
        </p:nvSpPr>
        <p:spPr>
          <a:xfrm>
            <a:off x="717549" y="121918"/>
            <a:ext cx="2413636" cy="583566"/>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概述</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12291" name="流程图: 过程 3"/>
          <p:cNvSpPr/>
          <p:nvPr/>
        </p:nvSpPr>
        <p:spPr>
          <a:xfrm>
            <a:off x="831850" y="1063625"/>
            <a:ext cx="1868488" cy="1606550"/>
          </a:xfrm>
          <a:prstGeom prst="flowChartProcess">
            <a:avLst/>
          </a:prstGeom>
          <a:noFill/>
          <a:ln w="9525">
            <a:noFill/>
          </a:ln>
        </p:spPr>
        <p:txBody>
          <a:bodyPr anchor="t" anchorCtr="0"/>
          <a:p>
            <a:endParaRPr lang="zh-CN" altLang="en-US" dirty="0">
              <a:latin typeface="Arial" panose="020B0604020202020204" pitchFamily="34" charset="0"/>
              <a:ea typeface="宋体" panose="02010600030101010101" pitchFamily="2" charset="-122"/>
              <a:sym typeface="Bodoni MT" panose="02070603080606020203" pitchFamily="18" charset="0"/>
            </a:endParaRPr>
          </a:p>
        </p:txBody>
      </p:sp>
      <p:sp>
        <p:nvSpPr>
          <p:cNvPr id="14" name="流程图: 过程 13"/>
          <p:cNvSpPr/>
          <p:nvPr/>
        </p:nvSpPr>
        <p:spPr>
          <a:xfrm>
            <a:off x="831850" y="2670175"/>
            <a:ext cx="1868488" cy="1606550"/>
          </a:xfrm>
          <a:prstGeom prst="flowChartProcess">
            <a:avLst/>
          </a:prstGeom>
          <a:solidFill>
            <a:srgbClr val="F5ECA4"/>
          </a:solidFill>
          <a:ln w="9525">
            <a:noFill/>
          </a:ln>
        </p:spPr>
        <p:txBody>
          <a:bodyPr anchor="t" anchorCtr="0"/>
          <a:p>
            <a:r>
              <a:rPr lang="en-US" altLang="zh-CN" sz="1600" b="1" dirty="0">
                <a:latin typeface="Arial" panose="020B0604020202020204" pitchFamily="34" charset="0"/>
                <a:ea typeface="宋体" panose="02010600030101010101" pitchFamily="2" charset="-122"/>
                <a:sym typeface="Bodoni MT" panose="02070603080606020203" pitchFamily="18" charset="0"/>
              </a:rPr>
              <a:t>STM32F103ZET6</a:t>
            </a:r>
            <a:endParaRPr lang="en-US" altLang="zh-CN" sz="1600" b="1" dirty="0">
              <a:latin typeface="Arial" panose="020B0604020202020204" pitchFamily="34" charset="0"/>
              <a:ea typeface="宋体" panose="02010600030101010101" pitchFamily="2" charset="-122"/>
              <a:sym typeface="Bodoni MT" panose="02070603080606020203" pitchFamily="18" charset="0"/>
            </a:endParaRPr>
          </a:p>
          <a:p>
            <a:r>
              <a:rPr lang="en-US" altLang="zh-CN" sz="1600" dirty="0">
                <a:latin typeface="Arial" panose="020B0604020202020204" pitchFamily="34" charset="0"/>
                <a:ea typeface="宋体" panose="02010600030101010101" pitchFamily="2" charset="-122"/>
                <a:sym typeface="微软雅黑" panose="020B0503020204020204" pitchFamily="34" charset="-122"/>
              </a:rPr>
              <a:t>Cortex-M3</a:t>
            </a:r>
            <a:r>
              <a:rPr lang="zh-CN" altLang="en-US" sz="1600" dirty="0">
                <a:latin typeface="Arial" panose="020B0604020202020204" pitchFamily="34" charset="0"/>
                <a:ea typeface="宋体" panose="02010600030101010101" pitchFamily="2" charset="-122"/>
                <a:sym typeface="微软雅黑" panose="020B0503020204020204" pitchFamily="34" charset="-122"/>
              </a:rPr>
              <a:t>内核</a:t>
            </a:r>
            <a:endParaRPr lang="en-US" altLang="zh-CN" sz="1600" dirty="0">
              <a:latin typeface="Arial" panose="020B0604020202020204" pitchFamily="34" charset="0"/>
              <a:ea typeface="宋体" panose="02010600030101010101" pitchFamily="2" charset="-122"/>
              <a:sym typeface="微软雅黑" panose="020B0503020204020204" pitchFamily="34" charset="-122"/>
            </a:endParaRPr>
          </a:p>
          <a:p>
            <a:r>
              <a:rPr lang="en-US" altLang="zh-CN" sz="1600" dirty="0">
                <a:latin typeface="Arial" panose="020B0604020202020204" pitchFamily="34" charset="0"/>
                <a:ea typeface="宋体" panose="02010600030101010101" pitchFamily="2" charset="-122"/>
                <a:sym typeface="微软雅黑" panose="020B0503020204020204" pitchFamily="34" charset="-122"/>
              </a:rPr>
              <a:t>72MHz</a:t>
            </a:r>
            <a:r>
              <a:rPr lang="zh-CN" altLang="en-US" sz="1600" dirty="0">
                <a:latin typeface="Arial" panose="020B0604020202020204" pitchFamily="34" charset="0"/>
                <a:ea typeface="宋体" panose="02010600030101010101" pitchFamily="2" charset="-122"/>
                <a:sym typeface="微软雅黑" panose="020B0503020204020204" pitchFamily="34" charset="-122"/>
              </a:rPr>
              <a:t>主频</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a:p>
            <a:r>
              <a:rPr lang="en-US" altLang="zh-CN" sz="1600" dirty="0">
                <a:latin typeface="Arial" panose="020B0604020202020204" pitchFamily="34" charset="0"/>
                <a:ea typeface="宋体" panose="02010600030101010101" pitchFamily="2" charset="-122"/>
                <a:sym typeface="微软雅黑" panose="020B0503020204020204" pitchFamily="34" charset="-122"/>
              </a:rPr>
              <a:t>64KB RAM</a:t>
            </a:r>
            <a:endParaRPr lang="en-US" altLang="zh-CN" sz="1600" dirty="0">
              <a:latin typeface="Arial" panose="020B0604020202020204" pitchFamily="34" charset="0"/>
              <a:ea typeface="宋体" panose="02010600030101010101" pitchFamily="2" charset="-122"/>
              <a:sym typeface="Bodoni MT" panose="02070603080606020203" pitchFamily="18" charset="0"/>
            </a:endParaRPr>
          </a:p>
          <a:p>
            <a:r>
              <a:rPr lang="en-US" altLang="zh-CN" sz="1600" dirty="0">
                <a:latin typeface="Arial" panose="020B0604020202020204" pitchFamily="34" charset="0"/>
                <a:ea typeface="宋体" panose="02010600030101010101" pitchFamily="2" charset="-122"/>
                <a:sym typeface="微软雅黑" panose="020B0503020204020204" pitchFamily="34" charset="-122"/>
              </a:rPr>
              <a:t>512KB FLASH</a:t>
            </a:r>
            <a:endParaRPr lang="en-US" altLang="zh-CN" sz="1600" dirty="0">
              <a:latin typeface="Arial" panose="020B0604020202020204" pitchFamily="34" charset="0"/>
              <a:ea typeface="宋体" panose="02010600030101010101" pitchFamily="2" charset="-122"/>
              <a:sym typeface="Bodoni MT" panose="02070603080606020203" pitchFamily="18" charset="0"/>
            </a:endParaRPr>
          </a:p>
          <a:p>
            <a:r>
              <a:rPr lang="en-US" altLang="zh-CN" sz="1600" dirty="0">
                <a:latin typeface="Arial" panose="020B0604020202020204" pitchFamily="34" charset="0"/>
                <a:ea typeface="宋体" panose="02010600030101010101" pitchFamily="2" charset="-122"/>
                <a:sym typeface="Bodoni MT" panose="02070603080606020203" pitchFamily="18" charset="0"/>
              </a:rPr>
              <a:t>144 Pins</a:t>
            </a:r>
            <a:endParaRPr lang="en-US" altLang="zh-CN" sz="1600" dirty="0">
              <a:latin typeface="Arial" panose="020B0604020202020204" pitchFamily="34" charset="0"/>
              <a:ea typeface="宋体" panose="02010600030101010101" pitchFamily="2" charset="-122"/>
              <a:sym typeface="Bodoni MT" panose="02070603080606020203" pitchFamily="18" charset="0"/>
            </a:endParaRPr>
          </a:p>
          <a:p>
            <a:endParaRPr lang="en-US" altLang="zh-CN" sz="1600" dirty="0">
              <a:latin typeface="Arial" panose="020B0604020202020204" pitchFamily="34" charset="0"/>
              <a:ea typeface="宋体" panose="02010600030101010101" pitchFamily="2" charset="-122"/>
              <a:sym typeface="Bodoni MT" panose="02070603080606020203" pitchFamily="18" charset="0"/>
            </a:endParaRPr>
          </a:p>
        </p:txBody>
      </p:sp>
      <p:sp>
        <p:nvSpPr>
          <p:cNvPr id="15" name="流程图: 过程 14"/>
          <p:cNvSpPr/>
          <p:nvPr/>
        </p:nvSpPr>
        <p:spPr>
          <a:xfrm>
            <a:off x="2700338" y="1063625"/>
            <a:ext cx="1868488" cy="1606550"/>
          </a:xfrm>
          <a:prstGeom prst="flowChartProcess">
            <a:avLst/>
          </a:prstGeom>
          <a:solidFill>
            <a:schemeClr val="accent6">
              <a:lumMod val="20000"/>
              <a:lumOff val="80000"/>
            </a:schemeClr>
          </a:solidFill>
          <a:ln w="9525" cap="flat" cmpd="sng" algn="ctr">
            <a:no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STM32F103RCT6</a:t>
            </a:r>
            <a:endParaRPr kumimoji="0" lang="en-US" altLang="zh-CN" sz="16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rPr>
              <a:t>Cortex-M3</a:t>
            </a:r>
            <a:r>
              <a:rPr kumimoji="0" lang="zh-CN" altLang="en-US" sz="16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rPr>
              <a:t>内核</a:t>
            </a:r>
            <a:endParaRPr kumimoji="0" lang="en-US" altLang="zh-CN" sz="16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rPr>
              <a:t>72MHz</a:t>
            </a:r>
            <a:r>
              <a:rPr kumimoji="0" lang="zh-CN" altLang="en-US" sz="16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rPr>
              <a:t>主频</a:t>
            </a:r>
            <a:endParaRPr kumimoji="0" lang="zh-CN" altLang="en-US" sz="16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rPr>
              <a:t>48KB RAM</a:t>
            </a:r>
            <a:endParaRPr kumimoji="0" lang="en-US" altLang="zh-CN" sz="16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rPr>
              <a:t>256KB FLASH</a:t>
            </a:r>
            <a:endParaRPr kumimoji="0" lang="en-US" altLang="zh-CN" sz="16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rPr>
              <a:t>64 Pins</a:t>
            </a:r>
            <a:endParaRPr kumimoji="0" lang="en-US" altLang="zh-CN" sz="16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6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294" name="流程图: 过程 15"/>
          <p:cNvSpPr/>
          <p:nvPr/>
        </p:nvSpPr>
        <p:spPr>
          <a:xfrm>
            <a:off x="2700338" y="2670175"/>
            <a:ext cx="1868487" cy="1606550"/>
          </a:xfrm>
          <a:prstGeom prst="flowChartProcess">
            <a:avLst/>
          </a:prstGeom>
          <a:noFill/>
          <a:ln w="9525">
            <a:noFill/>
          </a:ln>
        </p:spPr>
        <p:txBody>
          <a:bodyPr anchor="t" anchorCtr="0"/>
          <a:p>
            <a:endParaRPr lang="zh-CN" altLang="en-US" dirty="0">
              <a:latin typeface="Arial" panose="020B0604020202020204" pitchFamily="34" charset="0"/>
              <a:ea typeface="宋体" panose="02010600030101010101" pitchFamily="2" charset="-122"/>
              <a:sym typeface="Bodoni MT" panose="02070603080606020203" pitchFamily="18" charset="0"/>
            </a:endParaRPr>
          </a:p>
        </p:txBody>
      </p:sp>
      <p:sp>
        <p:nvSpPr>
          <p:cNvPr id="12295" name="流程图: 过程 16"/>
          <p:cNvSpPr/>
          <p:nvPr/>
        </p:nvSpPr>
        <p:spPr>
          <a:xfrm>
            <a:off x="4568825" y="1063625"/>
            <a:ext cx="1868488" cy="1606550"/>
          </a:xfrm>
          <a:prstGeom prst="flowChartProcess">
            <a:avLst/>
          </a:prstGeom>
          <a:noFill/>
          <a:ln w="9525">
            <a:noFill/>
          </a:ln>
        </p:spPr>
        <p:txBody>
          <a:bodyPr anchor="t" anchorCtr="0"/>
          <a:p>
            <a:endParaRPr lang="zh-CN" altLang="en-US" dirty="0">
              <a:latin typeface="Arial" panose="020B0604020202020204" pitchFamily="34" charset="0"/>
              <a:ea typeface="宋体" panose="02010600030101010101" pitchFamily="2" charset="-122"/>
              <a:sym typeface="Bodoni MT" panose="02070603080606020203" pitchFamily="18" charset="0"/>
            </a:endParaRPr>
          </a:p>
        </p:txBody>
      </p:sp>
      <p:sp>
        <p:nvSpPr>
          <p:cNvPr id="18" name="流程图: 过程 17"/>
          <p:cNvSpPr/>
          <p:nvPr/>
        </p:nvSpPr>
        <p:spPr>
          <a:xfrm>
            <a:off x="4568825" y="2670175"/>
            <a:ext cx="1868488" cy="1606550"/>
          </a:xfrm>
          <a:prstGeom prst="flowChartProcess">
            <a:avLst/>
          </a:prstGeom>
          <a:solidFill>
            <a:srgbClr val="F5ECA4"/>
          </a:solidFill>
          <a:ln w="9525">
            <a:noFill/>
          </a:ln>
        </p:spPr>
        <p:txBody>
          <a:bodyPr anchor="t" anchorCtr="0"/>
          <a:p>
            <a:r>
              <a:rPr lang="en-US" altLang="zh-CN" sz="1600" b="1" dirty="0">
                <a:latin typeface="Arial" panose="020B0604020202020204" pitchFamily="34" charset="0"/>
                <a:ea typeface="宋体" panose="02010600030101010101" pitchFamily="2" charset="-122"/>
                <a:sym typeface="Bodoni MT" panose="02070603080606020203" pitchFamily="18" charset="0"/>
              </a:rPr>
              <a:t>STM32F103C8T6</a:t>
            </a:r>
            <a:endParaRPr lang="en-US" altLang="zh-CN" sz="1600" b="1" dirty="0">
              <a:latin typeface="Arial" panose="020B0604020202020204" pitchFamily="34" charset="0"/>
              <a:ea typeface="宋体" panose="02010600030101010101" pitchFamily="2" charset="-122"/>
              <a:sym typeface="Bodoni MT" panose="02070603080606020203" pitchFamily="18" charset="0"/>
            </a:endParaRPr>
          </a:p>
          <a:p>
            <a:r>
              <a:rPr lang="en-US" altLang="zh-CN" sz="1600" dirty="0">
                <a:latin typeface="Arial" panose="020B0604020202020204" pitchFamily="34" charset="0"/>
                <a:ea typeface="宋体" panose="02010600030101010101" pitchFamily="2" charset="-122"/>
                <a:sym typeface="Bodoni MT" panose="02070603080606020203" pitchFamily="18" charset="0"/>
              </a:rPr>
              <a:t>Cortex-M3</a:t>
            </a:r>
            <a:r>
              <a:rPr lang="zh-CN" altLang="en-US" sz="1600" dirty="0">
                <a:latin typeface="Arial" panose="020B0604020202020204" pitchFamily="34" charset="0"/>
                <a:ea typeface="宋体" panose="02010600030101010101" pitchFamily="2" charset="-122"/>
                <a:sym typeface="Bodoni MT" panose="02070603080606020203" pitchFamily="18" charset="0"/>
              </a:rPr>
              <a:t>内核</a:t>
            </a:r>
            <a:endParaRPr lang="en-US" altLang="zh-CN" sz="1600" dirty="0">
              <a:latin typeface="Arial" panose="020B0604020202020204" pitchFamily="34" charset="0"/>
              <a:ea typeface="宋体" panose="02010600030101010101" pitchFamily="2" charset="-122"/>
              <a:sym typeface="Bodoni MT" panose="02070603080606020203" pitchFamily="18" charset="0"/>
            </a:endParaRPr>
          </a:p>
          <a:p>
            <a:r>
              <a:rPr lang="en-US" altLang="zh-CN" sz="1600" dirty="0">
                <a:latin typeface="Arial" panose="020B0604020202020204" pitchFamily="34" charset="0"/>
                <a:ea typeface="宋体" panose="02010600030101010101" pitchFamily="2" charset="-122"/>
                <a:sym typeface="Bodoni MT" panose="02070603080606020203" pitchFamily="18" charset="0"/>
              </a:rPr>
              <a:t>72MHz</a:t>
            </a:r>
            <a:r>
              <a:rPr lang="zh-CN" altLang="en-US" sz="1600" dirty="0">
                <a:latin typeface="Arial" panose="020B0604020202020204" pitchFamily="34" charset="0"/>
                <a:ea typeface="宋体" panose="02010600030101010101" pitchFamily="2" charset="-122"/>
                <a:sym typeface="Bodoni MT" panose="02070603080606020203" pitchFamily="18" charset="0"/>
              </a:rPr>
              <a:t>主频</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a:p>
            <a:r>
              <a:rPr lang="en-US" altLang="zh-CN" sz="1600" dirty="0">
                <a:latin typeface="Arial" panose="020B0604020202020204" pitchFamily="34" charset="0"/>
                <a:ea typeface="宋体" panose="02010600030101010101" pitchFamily="2" charset="-122"/>
                <a:sym typeface="Bodoni MT" panose="02070603080606020203" pitchFamily="18" charset="0"/>
              </a:rPr>
              <a:t>20KB RAM</a:t>
            </a:r>
            <a:endParaRPr lang="en-US" altLang="zh-CN" sz="1600" dirty="0">
              <a:latin typeface="Arial" panose="020B0604020202020204" pitchFamily="34" charset="0"/>
              <a:ea typeface="宋体" panose="02010600030101010101" pitchFamily="2" charset="-122"/>
              <a:sym typeface="Bodoni MT" panose="02070603080606020203" pitchFamily="18" charset="0"/>
            </a:endParaRPr>
          </a:p>
          <a:p>
            <a:r>
              <a:rPr lang="en-US" altLang="zh-CN" sz="1600" dirty="0">
                <a:latin typeface="Arial" panose="020B0604020202020204" pitchFamily="34" charset="0"/>
                <a:ea typeface="宋体" panose="02010600030101010101" pitchFamily="2" charset="-122"/>
                <a:sym typeface="Bodoni MT" panose="02070603080606020203" pitchFamily="18" charset="0"/>
              </a:rPr>
              <a:t>64KB FLASH</a:t>
            </a:r>
            <a:endParaRPr lang="en-US" altLang="zh-CN" sz="1600" dirty="0">
              <a:latin typeface="Arial" panose="020B0604020202020204" pitchFamily="34" charset="0"/>
              <a:ea typeface="宋体" panose="02010600030101010101" pitchFamily="2" charset="-122"/>
              <a:sym typeface="Bodoni MT" panose="02070603080606020203" pitchFamily="18" charset="0"/>
            </a:endParaRPr>
          </a:p>
          <a:p>
            <a:r>
              <a:rPr lang="en-US" altLang="zh-CN" sz="1600" dirty="0">
                <a:latin typeface="Arial" panose="020B0604020202020204" pitchFamily="34" charset="0"/>
                <a:ea typeface="宋体" panose="02010600030101010101" pitchFamily="2" charset="-122"/>
                <a:sym typeface="Bodoni MT" panose="02070603080606020203" pitchFamily="18" charset="0"/>
              </a:rPr>
              <a:t>48 Pins</a:t>
            </a:r>
            <a:endParaRPr lang="en-US" altLang="zh-CN" sz="1600" dirty="0">
              <a:latin typeface="Arial" panose="020B0604020202020204" pitchFamily="34" charset="0"/>
              <a:ea typeface="宋体" panose="02010600030101010101" pitchFamily="2" charset="-122"/>
              <a:sym typeface="Bodoni MT" panose="02070603080606020203" pitchFamily="18" charset="0"/>
            </a:endParaRPr>
          </a:p>
        </p:txBody>
      </p:sp>
      <p:sp>
        <p:nvSpPr>
          <p:cNvPr id="19" name="流程图: 过程 18"/>
          <p:cNvSpPr/>
          <p:nvPr/>
        </p:nvSpPr>
        <p:spPr>
          <a:xfrm>
            <a:off x="6437313" y="1063625"/>
            <a:ext cx="1868488" cy="1606550"/>
          </a:xfrm>
          <a:prstGeom prst="flowChartProcess">
            <a:avLst/>
          </a:prstGeom>
          <a:solidFill>
            <a:schemeClr val="accent6">
              <a:lumMod val="20000"/>
              <a:lumOff val="80000"/>
            </a:schemeClr>
          </a:solidFill>
          <a:ln w="9525" cap="flat" cmpd="sng" algn="ctr">
            <a:no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STM32F407ZET6</a:t>
            </a:r>
            <a:endParaRPr kumimoji="0" lang="en-US" altLang="zh-CN" sz="16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rPr>
              <a:t>Cortex-M4</a:t>
            </a:r>
            <a:r>
              <a:rPr kumimoji="0" lang="zh-CN" altLang="en-US" sz="16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rPr>
              <a:t>内核</a:t>
            </a:r>
            <a:endParaRPr kumimoji="0" lang="en-US" altLang="zh-CN" sz="16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rPr>
              <a:t>168MHz</a:t>
            </a:r>
            <a:r>
              <a:rPr kumimoji="0" lang="zh-CN" altLang="en-US" sz="16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rPr>
              <a:t>主频</a:t>
            </a:r>
            <a:endParaRPr kumimoji="0" lang="zh-CN" altLang="en-US" sz="16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rPr>
              <a:t>192KB RAM</a:t>
            </a:r>
            <a:endParaRPr kumimoji="0" lang="en-US" altLang="zh-CN" sz="16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rPr>
              <a:t>512KB FLASH</a:t>
            </a:r>
            <a:endParaRPr kumimoji="0" lang="en-US" altLang="zh-CN" sz="16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rPr>
              <a:t>144 Pins</a:t>
            </a:r>
            <a:endParaRPr kumimoji="0" lang="en-US" altLang="zh-CN" sz="16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6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useBgFill="1">
        <p:nvSpPr>
          <p:cNvPr id="12298" name="流程图: 过程 19"/>
          <p:cNvSpPr/>
          <p:nvPr/>
        </p:nvSpPr>
        <p:spPr>
          <a:xfrm>
            <a:off x="6437313" y="2670175"/>
            <a:ext cx="1868487" cy="1606550"/>
          </a:xfrm>
          <a:prstGeom prst="flowChartProcess">
            <a:avLst/>
          </a:prstGeom>
          <a:ln w="9525">
            <a:noFill/>
          </a:ln>
        </p:spPr>
        <p:txBody>
          <a:bodyPr anchor="t" anchorCtr="0"/>
          <a:p>
            <a:endParaRPr lang="zh-CN" altLang="en-US" dirty="0">
              <a:latin typeface="Arial" panose="020B0604020202020204" pitchFamily="34" charset="0"/>
              <a:ea typeface="宋体" panose="02010600030101010101" pitchFamily="2" charset="-122"/>
              <a:sym typeface="Bodoni MT" panose="02070603080606020203" pitchFamily="18" charset="0"/>
            </a:endParaRPr>
          </a:p>
        </p:txBody>
      </p:sp>
      <p:pic>
        <p:nvPicPr>
          <p:cNvPr id="8196" name="Picture 8"/>
          <p:cNvPicPr>
            <a:picLocks noChangeAspect="1"/>
          </p:cNvPicPr>
          <p:nvPr/>
        </p:nvPicPr>
        <p:blipFill>
          <a:blip r:embed="rId1"/>
          <a:stretch>
            <a:fillRect/>
          </a:stretch>
        </p:blipFill>
        <p:spPr>
          <a:xfrm>
            <a:off x="831850" y="1063625"/>
            <a:ext cx="1868488" cy="1606550"/>
          </a:xfrm>
          <a:prstGeom prst="rect">
            <a:avLst/>
          </a:prstGeom>
          <a:noFill/>
          <a:ln w="9525">
            <a:noFill/>
          </a:ln>
        </p:spPr>
      </p:pic>
      <p:pic>
        <p:nvPicPr>
          <p:cNvPr id="8197" name="Picture 9"/>
          <p:cNvPicPr>
            <a:picLocks noChangeAspect="1"/>
          </p:cNvPicPr>
          <p:nvPr/>
        </p:nvPicPr>
        <p:blipFill>
          <a:blip r:embed="rId2"/>
          <a:stretch>
            <a:fillRect/>
          </a:stretch>
        </p:blipFill>
        <p:spPr>
          <a:xfrm>
            <a:off x="2701925" y="2662238"/>
            <a:ext cx="1866900" cy="1614487"/>
          </a:xfrm>
          <a:prstGeom prst="rect">
            <a:avLst/>
          </a:prstGeom>
          <a:noFill/>
          <a:ln w="9525">
            <a:noFill/>
          </a:ln>
        </p:spPr>
      </p:pic>
      <p:pic>
        <p:nvPicPr>
          <p:cNvPr id="21" name="图片 20"/>
          <p:cNvPicPr>
            <a:picLocks noChangeAspect="1"/>
          </p:cNvPicPr>
          <p:nvPr/>
        </p:nvPicPr>
        <p:blipFill>
          <a:blip r:embed="rId3"/>
          <a:stretch>
            <a:fillRect/>
          </a:stretch>
        </p:blipFill>
        <p:spPr>
          <a:xfrm>
            <a:off x="4568825" y="1054100"/>
            <a:ext cx="1871663" cy="1608138"/>
          </a:xfrm>
          <a:prstGeom prst="rect">
            <a:avLst/>
          </a:prstGeom>
          <a:noFill/>
          <a:ln w="9525">
            <a:noFill/>
          </a:ln>
        </p:spPr>
      </p:pic>
      <p:pic>
        <p:nvPicPr>
          <p:cNvPr id="22" name="图片 21"/>
          <p:cNvPicPr>
            <a:picLocks noChangeAspect="1"/>
          </p:cNvPicPr>
          <p:nvPr/>
        </p:nvPicPr>
        <p:blipFill>
          <a:blip r:embed="rId4"/>
          <a:stretch>
            <a:fillRect/>
          </a:stretch>
        </p:blipFill>
        <p:spPr>
          <a:xfrm>
            <a:off x="6440488" y="2662238"/>
            <a:ext cx="1865312" cy="16065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500" fill="hold">
                                          <p:stCondLst>
                                            <p:cond delay="0"/>
                                          </p:stCondLst>
                                        </p:cTn>
                                        <p:tgtEl>
                                          <p:spTgt spid="6"/>
                                        </p:tgtEl>
                                        <p:attrNameLst>
                                          <p:attrName>style.visibility</p:attrName>
                                        </p:attrNameLst>
                                      </p:cBhvr>
                                      <p:to>
                                        <p:strVal val="visible"/>
                                      </p:to>
                                    </p:set>
                                    <p:animEffect transition="in" filter="plus(in)">
                                      <p:cBhvr>
                                        <p:cTn id="7" dur="500"/>
                                        <p:tgtEl>
                                          <p:spTgt spid="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30" presetClass="entr" presetSubtype="0" fill="hold" nodeType="clickEffect">
                                  <p:stCondLst>
                                    <p:cond delay="0"/>
                                  </p:stCondLst>
                                  <p:childTnLst>
                                    <p:set>
                                      <p:cBhvr>
                                        <p:cTn id="15" dur="1" fill="hold">
                                          <p:stCondLst>
                                            <p:cond delay="0"/>
                                          </p:stCondLst>
                                        </p:cTn>
                                        <p:tgtEl>
                                          <p:spTgt spid="8196"/>
                                        </p:tgtEl>
                                        <p:attrNameLst>
                                          <p:attrName>style.visibility</p:attrName>
                                        </p:attrNameLst>
                                      </p:cBhvr>
                                      <p:to>
                                        <p:strVal val="visible"/>
                                      </p:to>
                                    </p:set>
                                    <p:animEffect transition="in" filter="fade">
                                      <p:cBhvr>
                                        <p:cTn id="16" dur="800" decel="100000"/>
                                        <p:tgtEl>
                                          <p:spTgt spid="8196"/>
                                        </p:tgtEl>
                                      </p:cBhvr>
                                    </p:animEffect>
                                    <p:anim calcmode="lin" valueType="num">
                                      <p:cBhvr>
                                        <p:cTn id="17" dur="800" decel="100000" fill="hold"/>
                                        <p:tgtEl>
                                          <p:spTgt spid="8196"/>
                                        </p:tgtEl>
                                        <p:attrNameLst>
                                          <p:attrName>style.rotation</p:attrName>
                                        </p:attrNameLst>
                                      </p:cBhvr>
                                      <p:tavLst>
                                        <p:tav tm="0">
                                          <p:val>
                                            <p:fltVal val="-90.000000"/>
                                          </p:val>
                                        </p:tav>
                                        <p:tav tm="100000">
                                          <p:val>
                                            <p:fltVal val="0.000000"/>
                                          </p:val>
                                        </p:tav>
                                      </p:tavLst>
                                    </p:anim>
                                    <p:anim calcmode="lin" valueType="num">
                                      <p:cBhvr>
                                        <p:cTn id="18" dur="800" decel="100000" fill="hold"/>
                                        <p:tgtEl>
                                          <p:spTgt spid="8196"/>
                                        </p:tgtEl>
                                        <p:attrNameLst>
                                          <p:attrName>ppt_x</p:attrName>
                                        </p:attrNameLst>
                                      </p:cBhvr>
                                      <p:tavLst>
                                        <p:tav tm="0">
                                          <p:val>
                                            <p:strVal val="#ppt_x+0.4"/>
                                          </p:val>
                                        </p:tav>
                                        <p:tav tm="100000">
                                          <p:val>
                                            <p:strVal val="#ppt_x-0.05"/>
                                          </p:val>
                                        </p:tav>
                                      </p:tavLst>
                                    </p:anim>
                                    <p:anim calcmode="lin" valueType="num">
                                      <p:cBhvr>
                                        <p:cTn id="19" dur="800" decel="100000" fill="hold"/>
                                        <p:tgtEl>
                                          <p:spTgt spid="8196"/>
                                        </p:tgtEl>
                                        <p:attrNameLst>
                                          <p:attrName>ppt_y</p:attrName>
                                        </p:attrNameLst>
                                      </p:cBhvr>
                                      <p:tavLst>
                                        <p:tav tm="0">
                                          <p:val>
                                            <p:strVal val="#ppt_y-0.4"/>
                                          </p:val>
                                        </p:tav>
                                        <p:tav tm="100000">
                                          <p:val>
                                            <p:strVal val="#ppt_y+0.1"/>
                                          </p:val>
                                        </p:tav>
                                      </p:tavLst>
                                    </p:anim>
                                    <p:anim calcmode="lin" valueType="num">
                                      <p:cBhvr>
                                        <p:cTn id="20" dur="200" accel="100000" fill="hold">
                                          <p:stCondLst>
                                            <p:cond delay="800"/>
                                          </p:stCondLst>
                                        </p:cTn>
                                        <p:tgtEl>
                                          <p:spTgt spid="8196"/>
                                        </p:tgtEl>
                                        <p:attrNameLst>
                                          <p:attrName>ppt_x</p:attrName>
                                        </p:attrNameLst>
                                      </p:cBhvr>
                                      <p:tavLst>
                                        <p:tav tm="0">
                                          <p:val>
                                            <p:strVal val="#ppt_x-0.05"/>
                                          </p:val>
                                        </p:tav>
                                        <p:tav tm="100000">
                                          <p:val>
                                            <p:strVal val="#ppt_x"/>
                                          </p:val>
                                        </p:tav>
                                      </p:tavLst>
                                    </p:anim>
                                    <p:anim calcmode="lin" valueType="num">
                                      <p:cBhvr>
                                        <p:cTn id="21" dur="200" accel="100000" fill="hold">
                                          <p:stCondLst>
                                            <p:cond delay="800"/>
                                          </p:stCondLst>
                                        </p:cTn>
                                        <p:tgtEl>
                                          <p:spTgt spid="8196"/>
                                        </p:tgtEl>
                                        <p:attrNameLst>
                                          <p:attrName>ppt_y</p:attrName>
                                        </p:attrNameLst>
                                      </p:cBhvr>
                                      <p:tavLst>
                                        <p:tav tm="0">
                                          <p:val>
                                            <p:strVal val="#ppt_y+0.1"/>
                                          </p:val>
                                        </p:tav>
                                        <p:tav tm="100000">
                                          <p:val>
                                            <p:strVal val="#ppt_y"/>
                                          </p:val>
                                        </p:tav>
                                      </p:tavLst>
                                    </p:anim>
                                  </p:childTnLst>
                                </p:cTn>
                              </p:par>
                              <p:par>
                                <p:cTn id="22" presetID="30" presetClass="entr" presetSubtype="0" fill="hold" nodeType="withEffect">
                                  <p:stCondLst>
                                    <p:cond delay="0"/>
                                  </p:stCondLst>
                                  <p:childTnLst>
                                    <p:set>
                                      <p:cBhvr>
                                        <p:cTn id="23" dur="1" fill="hold">
                                          <p:stCondLst>
                                            <p:cond delay="0"/>
                                          </p:stCondLst>
                                        </p:cTn>
                                        <p:tgtEl>
                                          <p:spTgt spid="8197"/>
                                        </p:tgtEl>
                                        <p:attrNameLst>
                                          <p:attrName>style.visibility</p:attrName>
                                        </p:attrNameLst>
                                      </p:cBhvr>
                                      <p:to>
                                        <p:strVal val="visible"/>
                                      </p:to>
                                    </p:set>
                                    <p:animEffect transition="in" filter="fade">
                                      <p:cBhvr>
                                        <p:cTn id="24" dur="800" decel="100000"/>
                                        <p:tgtEl>
                                          <p:spTgt spid="8197"/>
                                        </p:tgtEl>
                                      </p:cBhvr>
                                    </p:animEffect>
                                    <p:anim calcmode="lin" valueType="num">
                                      <p:cBhvr>
                                        <p:cTn id="25" dur="800" decel="100000" fill="hold"/>
                                        <p:tgtEl>
                                          <p:spTgt spid="8197"/>
                                        </p:tgtEl>
                                        <p:attrNameLst>
                                          <p:attrName>style.rotation</p:attrName>
                                        </p:attrNameLst>
                                      </p:cBhvr>
                                      <p:tavLst>
                                        <p:tav tm="0">
                                          <p:val>
                                            <p:fltVal val="-90.000000"/>
                                          </p:val>
                                        </p:tav>
                                        <p:tav tm="100000">
                                          <p:val>
                                            <p:fltVal val="0.000000"/>
                                          </p:val>
                                        </p:tav>
                                      </p:tavLst>
                                    </p:anim>
                                    <p:anim calcmode="lin" valueType="num">
                                      <p:cBhvr>
                                        <p:cTn id="26" dur="800" decel="100000" fill="hold"/>
                                        <p:tgtEl>
                                          <p:spTgt spid="8197"/>
                                        </p:tgtEl>
                                        <p:attrNameLst>
                                          <p:attrName>ppt_x</p:attrName>
                                        </p:attrNameLst>
                                      </p:cBhvr>
                                      <p:tavLst>
                                        <p:tav tm="0">
                                          <p:val>
                                            <p:strVal val="#ppt_x+0.4"/>
                                          </p:val>
                                        </p:tav>
                                        <p:tav tm="100000">
                                          <p:val>
                                            <p:strVal val="#ppt_x-0.05"/>
                                          </p:val>
                                        </p:tav>
                                      </p:tavLst>
                                    </p:anim>
                                    <p:anim calcmode="lin" valueType="num">
                                      <p:cBhvr>
                                        <p:cTn id="27" dur="800" decel="100000" fill="hold"/>
                                        <p:tgtEl>
                                          <p:spTgt spid="8197"/>
                                        </p:tgtEl>
                                        <p:attrNameLst>
                                          <p:attrName>ppt_y</p:attrName>
                                        </p:attrNameLst>
                                      </p:cBhvr>
                                      <p:tavLst>
                                        <p:tav tm="0">
                                          <p:val>
                                            <p:strVal val="#ppt_y-0.4"/>
                                          </p:val>
                                        </p:tav>
                                        <p:tav tm="100000">
                                          <p:val>
                                            <p:strVal val="#ppt_y+0.1"/>
                                          </p:val>
                                        </p:tav>
                                      </p:tavLst>
                                    </p:anim>
                                    <p:anim calcmode="lin" valueType="num">
                                      <p:cBhvr>
                                        <p:cTn id="28" dur="200" accel="100000" fill="hold">
                                          <p:stCondLst>
                                            <p:cond delay="800"/>
                                          </p:stCondLst>
                                        </p:cTn>
                                        <p:tgtEl>
                                          <p:spTgt spid="8197"/>
                                        </p:tgtEl>
                                        <p:attrNameLst>
                                          <p:attrName>ppt_x</p:attrName>
                                        </p:attrNameLst>
                                      </p:cBhvr>
                                      <p:tavLst>
                                        <p:tav tm="0">
                                          <p:val>
                                            <p:strVal val="#ppt_x-0.05"/>
                                          </p:val>
                                        </p:tav>
                                        <p:tav tm="100000">
                                          <p:val>
                                            <p:strVal val="#ppt_x"/>
                                          </p:val>
                                        </p:tav>
                                      </p:tavLst>
                                    </p:anim>
                                    <p:anim calcmode="lin" valueType="num">
                                      <p:cBhvr>
                                        <p:cTn id="29" dur="200" accel="100000" fill="hold">
                                          <p:stCondLst>
                                            <p:cond delay="800"/>
                                          </p:stCondLst>
                                        </p:cTn>
                                        <p:tgtEl>
                                          <p:spTgt spid="8197"/>
                                        </p:tgtEl>
                                        <p:attrNameLst>
                                          <p:attrName>ppt_y</p:attrName>
                                        </p:attrNameLst>
                                      </p:cBhvr>
                                      <p:tavLst>
                                        <p:tav tm="0">
                                          <p:val>
                                            <p:strVal val="#ppt_y+0.1"/>
                                          </p:val>
                                        </p:tav>
                                        <p:tav tm="100000">
                                          <p:val>
                                            <p:strVal val="#ppt_y"/>
                                          </p:val>
                                        </p:tav>
                                      </p:tavLst>
                                    </p:anim>
                                  </p:childTnLst>
                                </p:cTn>
                              </p:par>
                              <p:par>
                                <p:cTn id="30" presetID="30" presetClass="entr" presetSubtype="0" fill="hold"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800" decel="100000"/>
                                        <p:tgtEl>
                                          <p:spTgt spid="21"/>
                                        </p:tgtEl>
                                      </p:cBhvr>
                                    </p:animEffect>
                                    <p:anim calcmode="lin" valueType="num">
                                      <p:cBhvr>
                                        <p:cTn id="33" dur="800" decel="100000" fill="hold"/>
                                        <p:tgtEl>
                                          <p:spTgt spid="21"/>
                                        </p:tgtEl>
                                        <p:attrNameLst>
                                          <p:attrName>style.rotation</p:attrName>
                                        </p:attrNameLst>
                                      </p:cBhvr>
                                      <p:tavLst>
                                        <p:tav tm="0">
                                          <p:val>
                                            <p:fltVal val="-90.000000"/>
                                          </p:val>
                                        </p:tav>
                                        <p:tav tm="100000">
                                          <p:val>
                                            <p:fltVal val="0.000000"/>
                                          </p:val>
                                        </p:tav>
                                      </p:tavLst>
                                    </p:anim>
                                    <p:anim calcmode="lin" valueType="num">
                                      <p:cBhvr>
                                        <p:cTn id="34" dur="800" decel="100000" fill="hold"/>
                                        <p:tgtEl>
                                          <p:spTgt spid="21"/>
                                        </p:tgtEl>
                                        <p:attrNameLst>
                                          <p:attrName>ppt_x</p:attrName>
                                        </p:attrNameLst>
                                      </p:cBhvr>
                                      <p:tavLst>
                                        <p:tav tm="0">
                                          <p:val>
                                            <p:strVal val="#ppt_x+0.4"/>
                                          </p:val>
                                        </p:tav>
                                        <p:tav tm="100000">
                                          <p:val>
                                            <p:strVal val="#ppt_x-0.05"/>
                                          </p:val>
                                        </p:tav>
                                      </p:tavLst>
                                    </p:anim>
                                    <p:anim calcmode="lin" valueType="num">
                                      <p:cBhvr>
                                        <p:cTn id="35" dur="800" decel="100000" fill="hold"/>
                                        <p:tgtEl>
                                          <p:spTgt spid="21"/>
                                        </p:tgtEl>
                                        <p:attrNameLst>
                                          <p:attrName>ppt_y</p:attrName>
                                        </p:attrNameLst>
                                      </p:cBhvr>
                                      <p:tavLst>
                                        <p:tav tm="0">
                                          <p:val>
                                            <p:strVal val="#ppt_y-0.4"/>
                                          </p:val>
                                        </p:tav>
                                        <p:tav tm="100000">
                                          <p:val>
                                            <p:strVal val="#ppt_y+0.1"/>
                                          </p:val>
                                        </p:tav>
                                      </p:tavLst>
                                    </p:anim>
                                    <p:anim calcmode="lin" valueType="num">
                                      <p:cBhvr>
                                        <p:cTn id="36" dur="200" accel="100000" fill="hold">
                                          <p:stCondLst>
                                            <p:cond delay="800"/>
                                          </p:stCondLst>
                                        </p:cTn>
                                        <p:tgtEl>
                                          <p:spTgt spid="21"/>
                                        </p:tgtEl>
                                        <p:attrNameLst>
                                          <p:attrName>ppt_x</p:attrName>
                                        </p:attrNameLst>
                                      </p:cBhvr>
                                      <p:tavLst>
                                        <p:tav tm="0">
                                          <p:val>
                                            <p:strVal val="#ppt_x-0.05"/>
                                          </p:val>
                                        </p:tav>
                                        <p:tav tm="100000">
                                          <p:val>
                                            <p:strVal val="#ppt_x"/>
                                          </p:val>
                                        </p:tav>
                                      </p:tavLst>
                                    </p:anim>
                                    <p:anim calcmode="lin" valueType="num">
                                      <p:cBhvr>
                                        <p:cTn id="37" dur="200" accel="100000" fill="hold">
                                          <p:stCondLst>
                                            <p:cond delay="800"/>
                                          </p:stCondLst>
                                        </p:cTn>
                                        <p:tgtEl>
                                          <p:spTgt spid="21"/>
                                        </p:tgtEl>
                                        <p:attrNameLst>
                                          <p:attrName>ppt_y</p:attrName>
                                        </p:attrNameLst>
                                      </p:cBhvr>
                                      <p:tavLst>
                                        <p:tav tm="0">
                                          <p:val>
                                            <p:strVal val="#ppt_y+0.1"/>
                                          </p:val>
                                        </p:tav>
                                        <p:tav tm="100000">
                                          <p:val>
                                            <p:strVal val="#ppt_y"/>
                                          </p:val>
                                        </p:tav>
                                      </p:tavLst>
                                    </p:anim>
                                  </p:childTnLst>
                                </p:cTn>
                              </p:par>
                              <p:par>
                                <p:cTn id="38" presetID="30" presetClass="entr" presetSubtype="0" fill="hold"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800" decel="100000"/>
                                        <p:tgtEl>
                                          <p:spTgt spid="22"/>
                                        </p:tgtEl>
                                      </p:cBhvr>
                                    </p:animEffect>
                                    <p:anim calcmode="lin" valueType="num">
                                      <p:cBhvr>
                                        <p:cTn id="41" dur="800" decel="100000" fill="hold"/>
                                        <p:tgtEl>
                                          <p:spTgt spid="22"/>
                                        </p:tgtEl>
                                        <p:attrNameLst>
                                          <p:attrName>style.rotation</p:attrName>
                                        </p:attrNameLst>
                                      </p:cBhvr>
                                      <p:tavLst>
                                        <p:tav tm="0">
                                          <p:val>
                                            <p:fltVal val="-90.000000"/>
                                          </p:val>
                                        </p:tav>
                                        <p:tav tm="100000">
                                          <p:val>
                                            <p:fltVal val="0.000000"/>
                                          </p:val>
                                        </p:tav>
                                      </p:tavLst>
                                    </p:anim>
                                    <p:anim calcmode="lin" valueType="num">
                                      <p:cBhvr>
                                        <p:cTn id="42" dur="800" decel="100000" fill="hold"/>
                                        <p:tgtEl>
                                          <p:spTgt spid="22"/>
                                        </p:tgtEl>
                                        <p:attrNameLst>
                                          <p:attrName>ppt_x</p:attrName>
                                        </p:attrNameLst>
                                      </p:cBhvr>
                                      <p:tavLst>
                                        <p:tav tm="0">
                                          <p:val>
                                            <p:strVal val="#ppt_x+0.4"/>
                                          </p:val>
                                        </p:tav>
                                        <p:tav tm="100000">
                                          <p:val>
                                            <p:strVal val="#ppt_x-0.05"/>
                                          </p:val>
                                        </p:tav>
                                      </p:tavLst>
                                    </p:anim>
                                    <p:anim calcmode="lin" valueType="num">
                                      <p:cBhvr>
                                        <p:cTn id="43" dur="800" decel="100000" fill="hold"/>
                                        <p:tgtEl>
                                          <p:spTgt spid="22"/>
                                        </p:tgtEl>
                                        <p:attrNameLst>
                                          <p:attrName>ppt_y</p:attrName>
                                        </p:attrNameLst>
                                      </p:cBhvr>
                                      <p:tavLst>
                                        <p:tav tm="0">
                                          <p:val>
                                            <p:strVal val="#ppt_y-0.4"/>
                                          </p:val>
                                        </p:tav>
                                        <p:tav tm="100000">
                                          <p:val>
                                            <p:strVal val="#ppt_y+0.1"/>
                                          </p:val>
                                        </p:tav>
                                      </p:tavLst>
                                    </p:anim>
                                    <p:anim calcmode="lin" valueType="num">
                                      <p:cBhvr>
                                        <p:cTn id="44" dur="200" accel="100000" fill="hold">
                                          <p:stCondLst>
                                            <p:cond delay="800"/>
                                          </p:stCondLst>
                                        </p:cTn>
                                        <p:tgtEl>
                                          <p:spTgt spid="22"/>
                                        </p:tgtEl>
                                        <p:attrNameLst>
                                          <p:attrName>ppt_x</p:attrName>
                                        </p:attrNameLst>
                                      </p:cBhvr>
                                      <p:tavLst>
                                        <p:tav tm="0">
                                          <p:val>
                                            <p:strVal val="#ppt_x-0.05"/>
                                          </p:val>
                                        </p:tav>
                                        <p:tav tm="100000">
                                          <p:val>
                                            <p:strVal val="#ppt_x"/>
                                          </p:val>
                                        </p:tav>
                                      </p:tavLst>
                                    </p:anim>
                                    <p:anim calcmode="lin" valueType="num">
                                      <p:cBhvr>
                                        <p:cTn id="45" dur="200" accel="100000" fill="hold">
                                          <p:stCondLst>
                                            <p:cond delay="800"/>
                                          </p:stCondLst>
                                        </p:cTn>
                                        <p:tgtEl>
                                          <p:spTgt spid="22"/>
                                        </p:tgtEl>
                                        <p:attrNameLst>
                                          <p:attrName>ppt_y</p:attrName>
                                        </p:attrNameLst>
                                      </p:cBhvr>
                                      <p:tavLst>
                                        <p:tav tm="0">
                                          <p:val>
                                            <p:strVal val="#ppt_y+0.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0" presetClass="entr" presetSubtype="0" fill="hold" grpId="0" nodeType="clickEffect">
                                  <p:stCondLst>
                                    <p:cond delay="0"/>
                                  </p:stCondLst>
                                  <p:childTnLst>
                                    <p:set>
                                      <p:cBhvr>
                                        <p:cTn id="49" dur="500" fill="hold">
                                          <p:stCondLst>
                                            <p:cond delay="0"/>
                                          </p:stCondLst>
                                        </p:cTn>
                                        <p:tgtEl>
                                          <p:spTgt spid="14"/>
                                        </p:tgtEl>
                                        <p:attrNameLst>
                                          <p:attrName>style.visibility</p:attrName>
                                        </p:attrNameLst>
                                      </p:cBhvr>
                                      <p:to>
                                        <p:strVal val="visible"/>
                                      </p:to>
                                    </p:set>
                                    <p:animEffect transition="in" filter="wedge">
                                      <p:cBhvr>
                                        <p:cTn id="50" dur="500"/>
                                        <p:tgtEl>
                                          <p:spTgt spid="14"/>
                                        </p:tgtEl>
                                      </p:cBhvr>
                                    </p:animEffect>
                                  </p:childTnLst>
                                </p:cTn>
                              </p:par>
                              <p:par>
                                <p:cTn id="51" presetID="20" presetClass="entr" presetSubtype="0" fill="hold" grpId="0" nodeType="withEffect">
                                  <p:stCondLst>
                                    <p:cond delay="0"/>
                                  </p:stCondLst>
                                  <p:childTnLst>
                                    <p:set>
                                      <p:cBhvr>
                                        <p:cTn id="52" dur="500" fill="hold">
                                          <p:stCondLst>
                                            <p:cond delay="0"/>
                                          </p:stCondLst>
                                        </p:cTn>
                                        <p:tgtEl>
                                          <p:spTgt spid="15"/>
                                        </p:tgtEl>
                                        <p:attrNameLst>
                                          <p:attrName>style.visibility</p:attrName>
                                        </p:attrNameLst>
                                      </p:cBhvr>
                                      <p:to>
                                        <p:strVal val="visible"/>
                                      </p:to>
                                    </p:set>
                                    <p:animEffect transition="in" filter="wedge">
                                      <p:cBhvr>
                                        <p:cTn id="53" dur="500"/>
                                        <p:tgtEl>
                                          <p:spTgt spid="15"/>
                                        </p:tgtEl>
                                      </p:cBhvr>
                                    </p:animEffect>
                                  </p:childTnLst>
                                </p:cTn>
                              </p:par>
                              <p:par>
                                <p:cTn id="54" presetID="20" presetClass="entr" presetSubtype="0" fill="hold" grpId="0" nodeType="withEffect">
                                  <p:stCondLst>
                                    <p:cond delay="0"/>
                                  </p:stCondLst>
                                  <p:childTnLst>
                                    <p:set>
                                      <p:cBhvr>
                                        <p:cTn id="55" dur="500" fill="hold">
                                          <p:stCondLst>
                                            <p:cond delay="0"/>
                                          </p:stCondLst>
                                        </p:cTn>
                                        <p:tgtEl>
                                          <p:spTgt spid="18"/>
                                        </p:tgtEl>
                                        <p:attrNameLst>
                                          <p:attrName>style.visibility</p:attrName>
                                        </p:attrNameLst>
                                      </p:cBhvr>
                                      <p:to>
                                        <p:strVal val="visible"/>
                                      </p:to>
                                    </p:set>
                                    <p:animEffect transition="in" filter="wedge">
                                      <p:cBhvr>
                                        <p:cTn id="56" dur="500"/>
                                        <p:tgtEl>
                                          <p:spTgt spid="18"/>
                                        </p:tgtEl>
                                      </p:cBhvr>
                                    </p:animEffect>
                                  </p:childTnLst>
                                </p:cTn>
                              </p:par>
                              <p:par>
                                <p:cTn id="57" presetID="20" presetClass="entr" presetSubtype="0" fill="hold" grpId="0" nodeType="withEffect">
                                  <p:stCondLst>
                                    <p:cond delay="0"/>
                                  </p:stCondLst>
                                  <p:childTnLst>
                                    <p:set>
                                      <p:cBhvr>
                                        <p:cTn id="58" dur="500" fill="hold">
                                          <p:stCondLst>
                                            <p:cond delay="0"/>
                                          </p:stCondLst>
                                        </p:cTn>
                                        <p:tgtEl>
                                          <p:spTgt spid="19"/>
                                        </p:tgtEl>
                                        <p:attrNameLst>
                                          <p:attrName>style.visibility</p:attrName>
                                        </p:attrNameLst>
                                      </p:cBhvr>
                                      <p:to>
                                        <p:strVal val="visible"/>
                                      </p:to>
                                    </p:set>
                                    <p:animEffect transition="in" filter="wedge">
                                      <p:cBhvr>
                                        <p:cTn id="5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14" grpId="0" bldLvl="0" animBg="1"/>
      <p:bldP spid="15" grpId="0" bldLvl="0" animBg="1"/>
      <p:bldP spid="18" grpId="0" bldLvl="0" animBg="1"/>
      <p:bldP spid="19"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圆角矩形 5"/>
          <p:cNvSpPr/>
          <p:nvPr/>
        </p:nvSpPr>
        <p:spPr>
          <a:xfrm>
            <a:off x="260350" y="439738"/>
            <a:ext cx="8623300" cy="4462462"/>
          </a:xfrm>
          <a:prstGeom prst="roundRect">
            <a:avLst>
              <a:gd name="adj" fmla="val 16667"/>
            </a:avLst>
          </a:prstGeom>
          <a:noFill/>
          <a:ln w="47625" cap="flat" cmpd="sng">
            <a:solidFill>
              <a:srgbClr val="FC6C02"/>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sym typeface="Bodoni MT" panose="02070603080606020203" pitchFamily="18" charset="0"/>
            </a:endParaRPr>
          </a:p>
        </p:txBody>
      </p:sp>
      <p:sp useBgFill="1">
        <p:nvSpPr>
          <p:cNvPr id="12" name="矩形 11"/>
          <p:cNvSpPr/>
          <p:nvPr/>
        </p:nvSpPr>
        <p:spPr>
          <a:xfrm>
            <a:off x="717549" y="121918"/>
            <a:ext cx="2413636" cy="583566"/>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概述</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4" name="文本框 3"/>
          <p:cNvSpPr txBox="1"/>
          <p:nvPr/>
        </p:nvSpPr>
        <p:spPr>
          <a:xfrm>
            <a:off x="4909819" y="560068"/>
            <a:ext cx="3165475" cy="521971"/>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sz="2800" b="1" kern="1200" cap="none" spc="0" normalizeH="0" baseline="0" noProof="1">
                <a:ln>
                  <a:solidFill>
                    <a:schemeClr val="tx1"/>
                  </a:solidFill>
                </a:ln>
                <a:solidFill>
                  <a:srgbClr val="FC6C02"/>
                </a:solidFill>
                <a:latin typeface="Arial" panose="020B0604020202020204" pitchFamily="34" charset="0"/>
                <a:ea typeface="宋体" panose="02010600030101010101" pitchFamily="2" charset="-122"/>
                <a:cs typeface="+mn-cs"/>
              </a:rPr>
              <a:t>STM32F103ZET6</a:t>
            </a:r>
            <a:endParaRPr kumimoji="0" lang="en-US" altLang="zh-CN" sz="2800" b="1" kern="1200" cap="none" spc="0" normalizeH="0" baseline="0" noProof="1">
              <a:ln>
                <a:solidFill>
                  <a:schemeClr val="tx1"/>
                </a:solidFill>
              </a:ln>
              <a:solidFill>
                <a:srgbClr val="FC6C02"/>
              </a:solidFill>
              <a:latin typeface="Arial" panose="020B0604020202020204" pitchFamily="34" charset="0"/>
              <a:ea typeface="宋体" panose="02010600030101010101" pitchFamily="2" charset="-122"/>
              <a:cs typeface="+mn-cs"/>
            </a:endParaRPr>
          </a:p>
        </p:txBody>
      </p:sp>
      <p:sp>
        <p:nvSpPr>
          <p:cNvPr id="34" name="文本框 33"/>
          <p:cNvSpPr txBox="1"/>
          <p:nvPr/>
        </p:nvSpPr>
        <p:spPr>
          <a:xfrm>
            <a:off x="923925" y="1082033"/>
            <a:ext cx="6408420" cy="368300"/>
          </a:xfrm>
          <a:prstGeom prst="rect">
            <a:avLst/>
          </a:prstGeom>
          <a:noFill/>
          <a:effectLst>
            <a:outerShdw blurRad="50800" dist="38100" dir="8100000" algn="tr" rotWithShape="0">
              <a:prstClr val="black">
                <a:alpha val="40000"/>
              </a:prstClr>
            </a:outerShdw>
          </a:effectLst>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STM32</a:t>
            </a:r>
            <a:r>
              <a:rPr kumimoji="0" lang="zh-CN" altLang="en-US"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a:t>
            </a:r>
            <a:r>
              <a:rPr kumimoji="0" lang="zh-CN" altLang="en-US" kern="1200" cap="none" spc="0" normalizeH="0" baseline="0" noProof="1">
                <a:latin typeface="Arial" panose="020B0604020202020204" pitchFamily="34" charset="0"/>
                <a:ea typeface="宋体" panose="02010600030101010101" pitchFamily="2" charset="-122"/>
                <a:cs typeface="+mn-cs"/>
              </a:rPr>
              <a:t>产品系列，</a:t>
            </a:r>
            <a:r>
              <a:rPr kumimoji="0" lang="en-US" altLang="zh-CN" kern="1200" cap="none" spc="0" normalizeH="0" baseline="0" noProof="1">
                <a:latin typeface="Arial" panose="020B0604020202020204" pitchFamily="34" charset="0"/>
                <a:ea typeface="宋体" panose="02010600030101010101" pitchFamily="2" charset="-122"/>
                <a:cs typeface="+mn-cs"/>
              </a:rPr>
              <a:t>STM32=</a:t>
            </a:r>
            <a:r>
              <a:rPr kumimoji="0" lang="zh-CN" altLang="en-US" kern="1200" cap="none" spc="0" normalizeH="0" baseline="0" noProof="1">
                <a:latin typeface="Arial" panose="020B0604020202020204" pitchFamily="34" charset="0"/>
                <a:ea typeface="宋体" panose="02010600030101010101" pitchFamily="2" charset="-122"/>
                <a:cs typeface="+mn-cs"/>
              </a:rPr>
              <a:t>基于</a:t>
            </a:r>
            <a:r>
              <a:rPr kumimoji="0" lang="en-US" altLang="zh-CN" kern="1200" cap="none" spc="0" normalizeH="0" baseline="0" noProof="1">
                <a:latin typeface="Arial" panose="020B0604020202020204" pitchFamily="34" charset="0"/>
                <a:ea typeface="宋体" panose="02010600030101010101" pitchFamily="2" charset="-122"/>
                <a:cs typeface="+mn-cs"/>
              </a:rPr>
              <a:t>ARM</a:t>
            </a:r>
            <a:r>
              <a:rPr kumimoji="0" lang="zh-CN" altLang="en-US" kern="1200" cap="none" spc="0" normalizeH="0" baseline="0" noProof="1">
                <a:latin typeface="Arial" panose="020B0604020202020204" pitchFamily="34" charset="0"/>
                <a:ea typeface="宋体" panose="02010600030101010101" pitchFamily="2" charset="-122"/>
                <a:cs typeface="+mn-cs"/>
              </a:rPr>
              <a:t>的</a:t>
            </a:r>
            <a:r>
              <a:rPr kumimoji="0" lang="en-US" altLang="zh-CN" kern="1200" cap="none" spc="0" normalizeH="0" baseline="0" noProof="1">
                <a:latin typeface="Arial" panose="020B0604020202020204" pitchFamily="34" charset="0"/>
                <a:ea typeface="宋体" panose="02010600030101010101" pitchFamily="2" charset="-122"/>
                <a:cs typeface="+mn-cs"/>
              </a:rPr>
              <a:t>32</a:t>
            </a:r>
            <a:r>
              <a:rPr kumimoji="0" lang="zh-CN" altLang="en-US" kern="1200" cap="none" spc="0" normalizeH="0" baseline="0" noProof="1">
                <a:latin typeface="Arial" panose="020B0604020202020204" pitchFamily="34" charset="0"/>
                <a:ea typeface="宋体" panose="02010600030101010101" pitchFamily="2" charset="-122"/>
                <a:cs typeface="+mn-cs"/>
              </a:rPr>
              <a:t>位微控制器</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35" name="文本框 34"/>
          <p:cNvSpPr txBox="1"/>
          <p:nvPr/>
        </p:nvSpPr>
        <p:spPr>
          <a:xfrm>
            <a:off x="923925" y="1450336"/>
            <a:ext cx="6408420" cy="36830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F：</a:t>
            </a:r>
            <a:r>
              <a:rPr kumimoji="0" lang="zh-CN" altLang="en-US" kern="1200" cap="none" spc="0" normalizeH="0" baseline="0" noProof="1">
                <a:latin typeface="Arial" panose="020B0604020202020204" pitchFamily="34" charset="0"/>
                <a:ea typeface="宋体" panose="02010600030101010101" pitchFamily="2" charset="-122"/>
                <a:cs typeface="+mn-cs"/>
              </a:rPr>
              <a:t>产品类型，</a:t>
            </a:r>
            <a:r>
              <a:rPr kumimoji="0" lang="en-US" altLang="zh-CN" kern="1200" cap="none" spc="0" normalizeH="0" baseline="0" noProof="1">
                <a:latin typeface="Arial" panose="020B0604020202020204" pitchFamily="34" charset="0"/>
                <a:ea typeface="宋体" panose="02010600030101010101" pitchFamily="2" charset="-122"/>
                <a:cs typeface="+mn-cs"/>
              </a:rPr>
              <a:t>F=</a:t>
            </a:r>
            <a:r>
              <a:rPr kumimoji="0" lang="zh-CN" altLang="en-US" kern="1200" cap="none" spc="0" normalizeH="0" baseline="0" noProof="1">
                <a:latin typeface="Arial" panose="020B0604020202020204" pitchFamily="34" charset="0"/>
                <a:ea typeface="宋体" panose="02010600030101010101" pitchFamily="2" charset="-122"/>
                <a:cs typeface="+mn-cs"/>
              </a:rPr>
              <a:t>通用类型</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36" name="文本框 35"/>
          <p:cNvSpPr txBox="1"/>
          <p:nvPr/>
        </p:nvSpPr>
        <p:spPr>
          <a:xfrm>
            <a:off x="923924" y="1818639"/>
            <a:ext cx="6408420" cy="64516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103：</a:t>
            </a:r>
            <a:r>
              <a:rPr kumimoji="0" lang="zh-CN" altLang="en-US" kern="1200" cap="none" spc="0" normalizeH="0" baseline="0" noProof="1">
                <a:latin typeface="Arial" panose="020B0604020202020204" pitchFamily="34" charset="0"/>
                <a:ea typeface="宋体" panose="02010600030101010101" pitchFamily="2" charset="-122"/>
                <a:cs typeface="+mn-cs"/>
              </a:rPr>
              <a:t>产品子系列；</a:t>
            </a:r>
            <a:r>
              <a:rPr kumimoji="0" lang="en-US" kern="1200" cap="none" spc="0" normalizeH="0" baseline="0" noProof="1">
                <a:latin typeface="Arial" panose="020B0604020202020204" pitchFamily="34" charset="0"/>
                <a:ea typeface="宋体" panose="02010600030101010101" pitchFamily="2" charset="-122"/>
                <a:cs typeface="+mn-cs"/>
              </a:rPr>
              <a:t>101=</a:t>
            </a:r>
            <a:r>
              <a:rPr kumimoji="0" lang="zh-CN" altLang="en-US" kern="1200" cap="none" spc="0" normalizeH="0" baseline="0" noProof="1">
                <a:latin typeface="Arial" panose="020B0604020202020204" pitchFamily="34" charset="0"/>
                <a:ea typeface="宋体" panose="02010600030101010101" pitchFamily="2" charset="-122"/>
                <a:cs typeface="+mn-cs"/>
              </a:rPr>
              <a:t>基本型；</a:t>
            </a:r>
            <a:r>
              <a:rPr kumimoji="0" lang="en-US" altLang="zh-CN" kern="1200" cap="none" spc="0" normalizeH="0" baseline="0" noProof="1">
                <a:latin typeface="Arial" panose="020B0604020202020204" pitchFamily="34" charset="0"/>
                <a:ea typeface="宋体" panose="02010600030101010101" pitchFamily="2" charset="-122"/>
                <a:cs typeface="+mn-cs"/>
              </a:rPr>
              <a:t>102=USB</a:t>
            </a:r>
            <a:r>
              <a:rPr kumimoji="0" lang="zh-CN" altLang="en-US" kern="1200" cap="none" spc="0" normalizeH="0" baseline="0" noProof="1">
                <a:latin typeface="Arial" panose="020B0604020202020204" pitchFamily="34" charset="0"/>
                <a:ea typeface="宋体" panose="02010600030101010101" pitchFamily="2" charset="-122"/>
                <a:cs typeface="+mn-cs"/>
              </a:rPr>
              <a:t>型；</a:t>
            </a:r>
            <a:r>
              <a:rPr kumimoji="0" lang="en-US" altLang="zh-CN" kern="1200" cap="none" spc="0" normalizeH="0" baseline="0" noProof="1">
                <a:latin typeface="Arial" panose="020B0604020202020204" pitchFamily="34" charset="0"/>
                <a:ea typeface="宋体" panose="02010600030101010101" pitchFamily="2" charset="-122"/>
                <a:cs typeface="+mn-cs"/>
              </a:rPr>
              <a:t>103=</a:t>
            </a:r>
            <a:r>
              <a:rPr kumimoji="0" lang="zh-CN" altLang="en-US" kern="1200" cap="none" spc="0" normalizeH="0" baseline="0" noProof="1">
                <a:latin typeface="Arial" panose="020B0604020202020204" pitchFamily="34" charset="0"/>
                <a:ea typeface="宋体" panose="02010600030101010101" pitchFamily="2" charset="-122"/>
                <a:cs typeface="+mn-cs"/>
              </a:rPr>
              <a:t>增强型；</a:t>
            </a:r>
            <a:r>
              <a:rPr kumimoji="0" lang="en-US" altLang="zh-CN" kern="1200" cap="none" spc="0" normalizeH="0" baseline="0" noProof="1">
                <a:latin typeface="Arial" panose="020B0604020202020204" pitchFamily="34" charset="0"/>
                <a:ea typeface="宋体" panose="02010600030101010101" pitchFamily="2" charset="-122"/>
                <a:cs typeface="+mn-cs"/>
              </a:rPr>
              <a:t>105</a:t>
            </a:r>
            <a:r>
              <a:rPr kumimoji="0" lang="zh-CN" altLang="en-US" kern="1200" cap="none" spc="0" normalizeH="0" baseline="0" noProof="1">
                <a:latin typeface="Arial" panose="020B0604020202020204" pitchFamily="34" charset="0"/>
                <a:ea typeface="宋体" panose="02010600030101010101" pitchFamily="2" charset="-122"/>
                <a:cs typeface="+mn-cs"/>
              </a:rPr>
              <a:t>或</a:t>
            </a:r>
            <a:r>
              <a:rPr kumimoji="0" lang="en-US" altLang="zh-CN" kern="1200" cap="none" spc="0" normalizeH="0" baseline="0" noProof="1">
                <a:latin typeface="Arial" panose="020B0604020202020204" pitchFamily="34" charset="0"/>
                <a:ea typeface="宋体" panose="02010600030101010101" pitchFamily="2" charset="-122"/>
                <a:cs typeface="+mn-cs"/>
              </a:rPr>
              <a:t>107=</a:t>
            </a:r>
            <a:r>
              <a:rPr kumimoji="0" lang="zh-CN" altLang="en-US" kern="1200" cap="none" spc="0" normalizeH="0" baseline="0" noProof="1">
                <a:latin typeface="Arial" panose="020B0604020202020204" pitchFamily="34" charset="0"/>
                <a:ea typeface="宋体" panose="02010600030101010101" pitchFamily="2" charset="-122"/>
                <a:cs typeface="+mn-cs"/>
              </a:rPr>
              <a:t>互联型</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37" name="文本框 36"/>
          <p:cNvSpPr txBox="1"/>
          <p:nvPr/>
        </p:nvSpPr>
        <p:spPr>
          <a:xfrm>
            <a:off x="923925" y="2463800"/>
            <a:ext cx="6913245" cy="64516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Z：</a:t>
            </a:r>
            <a:r>
              <a:rPr kumimoji="0" lang="zh-CN" altLang="en-US" kern="1200" cap="none" spc="0" normalizeH="0" baseline="0" noProof="1">
                <a:latin typeface="Arial" panose="020B0604020202020204" pitchFamily="34" charset="0"/>
                <a:ea typeface="宋体" panose="02010600030101010101" pitchFamily="2" charset="-122"/>
                <a:cs typeface="+mn-cs"/>
              </a:rPr>
              <a:t>引脚数目，</a:t>
            </a:r>
            <a:r>
              <a:rPr kumimoji="0" lang="en-US" altLang="zh-CN" kern="1200" cap="none" spc="0" normalizeH="0" baseline="0" noProof="1">
                <a:latin typeface="Arial" panose="020B0604020202020204" pitchFamily="34" charset="0"/>
                <a:ea typeface="宋体" panose="02010600030101010101" pitchFamily="2" charset="-122"/>
                <a:cs typeface="+mn-cs"/>
              </a:rPr>
              <a:t>T=36 Pins</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C</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=48 Pins</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r>
              <a:rPr kumimoji="0" lang="en-US" altLang="zh-CN" kern="1200" cap="none" spc="0" normalizeH="0" baseline="0" noProof="1">
                <a:latin typeface="Arial" panose="020B0604020202020204" pitchFamily="34" charset="0"/>
                <a:ea typeface="宋体" panose="02010600030101010101" pitchFamily="2" charset="-122"/>
                <a:cs typeface="+mn-cs"/>
              </a:rPr>
              <a:t>R</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=64 Pins</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r>
              <a:rPr kumimoji="0" lang="en-US" altLang="zh-CN" kern="1200" cap="none" spc="0" normalizeH="0" baseline="0" noProof="1">
                <a:latin typeface="Arial" panose="020B0604020202020204" pitchFamily="34" charset="0"/>
                <a:ea typeface="宋体" panose="02010600030101010101" pitchFamily="2" charset="-122"/>
                <a:cs typeface="+mn-cs"/>
              </a:rPr>
              <a:t>V</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=100 Pins</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r>
              <a:rPr kumimoji="0" lang="en-US" altLang="zh-CN" kern="1200" cap="none" spc="0" normalizeH="0" baseline="0" noProof="1">
                <a:latin typeface="Arial" panose="020B0604020202020204" pitchFamily="34" charset="0"/>
                <a:ea typeface="宋体" panose="02010600030101010101" pitchFamily="2" charset="-122"/>
                <a:cs typeface="+mn-cs"/>
              </a:rPr>
              <a:t>Z</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=144 Pins</a:t>
            </a:r>
            <a:endParaRPr kumimoji="0" lang="en-US" altLang="zh-CN" kern="1200" cap="none" spc="0" normalizeH="0" baseline="0" noProof="1">
              <a:latin typeface="Arial" panose="020B0604020202020204" pitchFamily="34" charset="0"/>
              <a:ea typeface="宋体" panose="02010600030101010101" pitchFamily="2" charset="-122"/>
              <a:cs typeface="+mn-cs"/>
            </a:endParaRPr>
          </a:p>
        </p:txBody>
      </p:sp>
      <p:sp>
        <p:nvSpPr>
          <p:cNvPr id="38" name="文本框 37"/>
          <p:cNvSpPr txBox="1"/>
          <p:nvPr/>
        </p:nvSpPr>
        <p:spPr>
          <a:xfrm>
            <a:off x="923925" y="3108960"/>
            <a:ext cx="7275195" cy="64516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E：</a:t>
            </a:r>
            <a:r>
              <a:rPr kumimoji="0" lang="zh-CN" altLang="en-US" kern="1200" cap="none" spc="0" normalizeH="0" baseline="0" noProof="1">
                <a:latin typeface="Arial" panose="020B0604020202020204" pitchFamily="34" charset="0"/>
                <a:ea typeface="宋体" panose="02010600030101010101" pitchFamily="2" charset="-122"/>
                <a:cs typeface="+mn-cs"/>
              </a:rPr>
              <a:t>闪存容量，</a:t>
            </a:r>
            <a:r>
              <a:rPr kumimoji="0" lang="en-US" kern="1200" cap="none" spc="0" normalizeH="0" baseline="0" noProof="1">
                <a:latin typeface="Arial" panose="020B0604020202020204" pitchFamily="34" charset="0"/>
                <a:ea typeface="宋体" panose="02010600030101010101" pitchFamily="2" charset="-122"/>
                <a:cs typeface="+mn-cs"/>
              </a:rPr>
              <a:t>4=16KB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6=32KB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8</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=64KB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B</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=128KB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C</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=256KB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D</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=384KB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E</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=512KB</a:t>
            </a:r>
            <a:endParaRPr kumimoji="0" lang="en-US" altLang="zh-CN" kern="1200" cap="none" spc="0" normalizeH="0" baseline="0" noProof="1">
              <a:latin typeface="Arial" panose="020B0604020202020204" pitchFamily="34" charset="0"/>
              <a:ea typeface="宋体" panose="02010600030101010101" pitchFamily="2" charset="-122"/>
              <a:cs typeface="+mn-cs"/>
            </a:endParaRPr>
          </a:p>
        </p:txBody>
      </p:sp>
      <p:sp>
        <p:nvSpPr>
          <p:cNvPr id="39" name="文本框 38"/>
          <p:cNvSpPr txBox="1"/>
          <p:nvPr/>
        </p:nvSpPr>
        <p:spPr>
          <a:xfrm>
            <a:off x="923925" y="3754118"/>
            <a:ext cx="6408420" cy="36830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T：</a:t>
            </a:r>
            <a:r>
              <a:rPr kumimoji="0" lang="zh-CN" altLang="en-US" kern="1200" cap="none" spc="0" normalizeH="0" baseline="0" noProof="1">
                <a:latin typeface="Arial" panose="020B0604020202020204" pitchFamily="34" charset="0"/>
                <a:ea typeface="宋体" panose="02010600030101010101" pitchFamily="2" charset="-122"/>
                <a:cs typeface="+mn-cs"/>
              </a:rPr>
              <a:t>封装，</a:t>
            </a:r>
            <a:r>
              <a:rPr kumimoji="0" lang="en-US" altLang="zh-CN" kern="1200" cap="none" spc="0" normalizeH="0" baseline="0" noProof="1">
                <a:latin typeface="Arial" panose="020B0604020202020204" pitchFamily="34" charset="0"/>
                <a:ea typeface="宋体" panose="02010600030101010101" pitchFamily="2" charset="-122"/>
                <a:cs typeface="+mn-cs"/>
              </a:rPr>
              <a:t>H=BGA</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T=LQFP</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U=VFQFPN</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Y=WLCSP64</a:t>
            </a:r>
            <a:endParaRPr kumimoji="0" lang="en-US" altLang="zh-CN" kern="1200" cap="none" spc="0" normalizeH="0" baseline="0" noProof="1">
              <a:latin typeface="Arial" panose="020B0604020202020204" pitchFamily="34" charset="0"/>
              <a:ea typeface="宋体" panose="02010600030101010101" pitchFamily="2" charset="-122"/>
              <a:cs typeface="+mn-cs"/>
            </a:endParaRPr>
          </a:p>
        </p:txBody>
      </p:sp>
      <p:sp>
        <p:nvSpPr>
          <p:cNvPr id="40" name="文本框 39"/>
          <p:cNvSpPr txBox="1"/>
          <p:nvPr/>
        </p:nvSpPr>
        <p:spPr>
          <a:xfrm>
            <a:off x="923925" y="4122419"/>
            <a:ext cx="6408420" cy="36830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6：</a:t>
            </a:r>
            <a:r>
              <a:rPr kumimoji="0" lang="zh-CN" altLang="en-US" kern="1200" cap="none" spc="0" normalizeH="0" baseline="0" noProof="1">
                <a:latin typeface="Arial" panose="020B0604020202020204" pitchFamily="34" charset="0"/>
                <a:ea typeface="宋体" panose="02010600030101010101" pitchFamily="2" charset="-122"/>
                <a:cs typeface="+mn-cs"/>
              </a:rPr>
              <a:t>温度范围，</a:t>
            </a:r>
            <a:r>
              <a:rPr kumimoji="0" lang="en-US" altLang="zh-CN" kern="1200" cap="none" spc="0" normalizeH="0" baseline="0" noProof="1">
                <a:latin typeface="Arial" panose="020B0604020202020204" pitchFamily="34" charset="0"/>
                <a:ea typeface="宋体" panose="02010600030101010101" pitchFamily="2" charset="-122"/>
                <a:cs typeface="+mn-cs"/>
              </a:rPr>
              <a:t>6=-40℃~85℃</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7=-40℃~105℃</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13323" name="文本框 1"/>
          <p:cNvSpPr txBox="1"/>
          <p:nvPr/>
        </p:nvSpPr>
        <p:spPr>
          <a:xfrm>
            <a:off x="5360988" y="4491038"/>
            <a:ext cx="3114675" cy="336550"/>
          </a:xfrm>
          <a:prstGeom prst="rect">
            <a:avLst/>
          </a:prstGeom>
          <a:noFill/>
          <a:ln w="9525">
            <a:noFill/>
          </a:ln>
        </p:spPr>
        <p:txBody>
          <a:bodyPr anchor="t" anchorCtr="0">
            <a:spAutoFit/>
          </a:bodyPr>
          <a:p>
            <a:r>
              <a:rPr lang="zh-CN" altLang="en-US" sz="1600" i="1" dirty="0">
                <a:latin typeface="Arial" panose="020B0604020202020204" pitchFamily="34" charset="0"/>
                <a:ea typeface="宋体" panose="02010600030101010101" pitchFamily="2" charset="-122"/>
                <a:sym typeface="Bodoni MT" panose="02070603080606020203" pitchFamily="18" charset="0"/>
              </a:rPr>
              <a:t>参考资料：《</a:t>
            </a:r>
            <a:r>
              <a:rPr lang="en-US" altLang="zh-CN" sz="1600" i="1" dirty="0">
                <a:latin typeface="Arial" panose="020B0604020202020204" pitchFamily="34" charset="0"/>
                <a:ea typeface="宋体" panose="02010600030101010101" pitchFamily="2" charset="-122"/>
                <a:sym typeface="Bodoni MT" panose="02070603080606020203" pitchFamily="18" charset="0"/>
              </a:rPr>
              <a:t>ST MCU</a:t>
            </a:r>
            <a:r>
              <a:rPr lang="zh-CN" altLang="en-US" sz="1600" i="1" dirty="0">
                <a:latin typeface="Arial" panose="020B0604020202020204" pitchFamily="34" charset="0"/>
                <a:ea typeface="宋体" panose="02010600030101010101" pitchFamily="2" charset="-122"/>
                <a:sym typeface="Bodoni MT" panose="02070603080606020203" pitchFamily="18" charset="0"/>
              </a:rPr>
              <a:t>选型手册》</a:t>
            </a:r>
            <a:endParaRPr lang="zh-CN" altLang="en-US" sz="1600" i="1" dirty="0">
              <a:latin typeface="Arial" panose="020B0604020202020204" pitchFamily="34" charset="0"/>
              <a:ea typeface="宋体" panose="02010600030101010101" pitchFamily="2" charset="-122"/>
              <a:sym typeface="Bodoni MT" panose="020706030806060202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500" fill="hold">
                                          <p:stCondLst>
                                            <p:cond delay="0"/>
                                          </p:stCondLst>
                                        </p:cTn>
                                        <p:tgtEl>
                                          <p:spTgt spid="6"/>
                                        </p:tgtEl>
                                        <p:attrNameLst>
                                          <p:attrName>style.visibility</p:attrName>
                                        </p:attrNameLst>
                                      </p:cBhvr>
                                      <p:to>
                                        <p:strVal val="visible"/>
                                      </p:to>
                                    </p:set>
                                    <p:animEffect transition="in" filter="plus(in)">
                                      <p:cBhvr>
                                        <p:cTn id="7" dur="500"/>
                                        <p:tgtEl>
                                          <p:spTgt spid="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par>
                                <p:cTn id="12" presetID="14" presetClass="entr" presetSubtype="1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randombar(horizontal)">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anim calcmode="lin" valueType="num">
                                      <p:cBhvr>
                                        <p:cTn id="19" dur="500"/>
                                        <p:tgtEl>
                                          <p:spTgt spid="34"/>
                                        </p:tgtEl>
                                        <p:attrNameLst>
                                          <p:attrName>ppt_y</p:attrName>
                                        </p:attrNameLst>
                                      </p:cBhvr>
                                      <p:tavLst>
                                        <p:tav tm="0">
                                          <p:val>
                                            <p:strVal val="#ppt_y+#ppt_h*1.125000"/>
                                          </p:val>
                                        </p:tav>
                                        <p:tav tm="100000">
                                          <p:val>
                                            <p:strVal val="#ppt_y"/>
                                          </p:val>
                                        </p:tav>
                                      </p:tavLst>
                                    </p:anim>
                                    <p:animEffect transition="in" filter="wipe(up)">
                                      <p:cBhvr>
                                        <p:cTn id="20" dur="500"/>
                                        <p:tgtEl>
                                          <p:spTgt spid="34"/>
                                        </p:tgtEl>
                                      </p:cBhvr>
                                    </p:animEffect>
                                  </p:childTnLst>
                                </p:cTn>
                              </p:par>
                              <p:par>
                                <p:cTn id="21" presetID="12" presetClass="entr" presetSubtype="4" fill="hold" nodeType="withEffect">
                                  <p:stCondLst>
                                    <p:cond delay="0"/>
                                  </p:stCondLst>
                                  <p:childTnLst>
                                    <p:set>
                                      <p:cBhvr>
                                        <p:cTn id="22" dur="1" fill="hold">
                                          <p:stCondLst>
                                            <p:cond delay="0"/>
                                          </p:stCondLst>
                                        </p:cTn>
                                        <p:tgtEl>
                                          <p:spTgt spid="35"/>
                                        </p:tgtEl>
                                        <p:attrNameLst>
                                          <p:attrName>style.visibility</p:attrName>
                                        </p:attrNameLst>
                                      </p:cBhvr>
                                      <p:to>
                                        <p:strVal val="visible"/>
                                      </p:to>
                                    </p:set>
                                    <p:anim calcmode="lin" valueType="num">
                                      <p:cBhvr>
                                        <p:cTn id="23" dur="500"/>
                                        <p:tgtEl>
                                          <p:spTgt spid="35"/>
                                        </p:tgtEl>
                                        <p:attrNameLst>
                                          <p:attrName>ppt_y</p:attrName>
                                        </p:attrNameLst>
                                      </p:cBhvr>
                                      <p:tavLst>
                                        <p:tav tm="0">
                                          <p:val>
                                            <p:strVal val="#ppt_y+#ppt_h*1.125000"/>
                                          </p:val>
                                        </p:tav>
                                        <p:tav tm="100000">
                                          <p:val>
                                            <p:strVal val="#ppt_y"/>
                                          </p:val>
                                        </p:tav>
                                      </p:tavLst>
                                    </p:anim>
                                    <p:animEffect transition="in" filter="wipe(up)">
                                      <p:cBhvr>
                                        <p:cTn id="24" dur="500"/>
                                        <p:tgtEl>
                                          <p:spTgt spid="35"/>
                                        </p:tgtEl>
                                      </p:cBhvr>
                                    </p:animEffect>
                                  </p:childTnLst>
                                </p:cTn>
                              </p:par>
                              <p:par>
                                <p:cTn id="25" presetID="12" presetClass="entr" presetSubtype="4" fill="hold" nodeType="withEffect">
                                  <p:stCondLst>
                                    <p:cond delay="0"/>
                                  </p:stCondLst>
                                  <p:childTnLst>
                                    <p:set>
                                      <p:cBhvr>
                                        <p:cTn id="26" dur="1" fill="hold">
                                          <p:stCondLst>
                                            <p:cond delay="0"/>
                                          </p:stCondLst>
                                        </p:cTn>
                                        <p:tgtEl>
                                          <p:spTgt spid="36"/>
                                        </p:tgtEl>
                                        <p:attrNameLst>
                                          <p:attrName>style.visibility</p:attrName>
                                        </p:attrNameLst>
                                      </p:cBhvr>
                                      <p:to>
                                        <p:strVal val="visible"/>
                                      </p:to>
                                    </p:set>
                                    <p:anim calcmode="lin" valueType="num">
                                      <p:cBhvr>
                                        <p:cTn id="27" dur="500"/>
                                        <p:tgtEl>
                                          <p:spTgt spid="36"/>
                                        </p:tgtEl>
                                        <p:attrNameLst>
                                          <p:attrName>ppt_y</p:attrName>
                                        </p:attrNameLst>
                                      </p:cBhvr>
                                      <p:tavLst>
                                        <p:tav tm="0">
                                          <p:val>
                                            <p:strVal val="#ppt_y+#ppt_h*1.125000"/>
                                          </p:val>
                                        </p:tav>
                                        <p:tav tm="100000">
                                          <p:val>
                                            <p:strVal val="#ppt_y"/>
                                          </p:val>
                                        </p:tav>
                                      </p:tavLst>
                                    </p:anim>
                                    <p:animEffect transition="in" filter="wipe(up)">
                                      <p:cBhvr>
                                        <p:cTn id="28" dur="500"/>
                                        <p:tgtEl>
                                          <p:spTgt spid="36"/>
                                        </p:tgtEl>
                                      </p:cBhvr>
                                    </p:animEffect>
                                  </p:childTnLst>
                                </p:cTn>
                              </p:par>
                              <p:par>
                                <p:cTn id="29" presetID="12" presetClass="entr" presetSubtype="4" fill="hold" nodeType="withEffect">
                                  <p:stCondLst>
                                    <p:cond delay="0"/>
                                  </p:stCondLst>
                                  <p:childTnLst>
                                    <p:set>
                                      <p:cBhvr>
                                        <p:cTn id="30" dur="1" fill="hold">
                                          <p:stCondLst>
                                            <p:cond delay="0"/>
                                          </p:stCondLst>
                                        </p:cTn>
                                        <p:tgtEl>
                                          <p:spTgt spid="37"/>
                                        </p:tgtEl>
                                        <p:attrNameLst>
                                          <p:attrName>style.visibility</p:attrName>
                                        </p:attrNameLst>
                                      </p:cBhvr>
                                      <p:to>
                                        <p:strVal val="visible"/>
                                      </p:to>
                                    </p:set>
                                    <p:anim calcmode="lin" valueType="num">
                                      <p:cBhvr>
                                        <p:cTn id="31" dur="500"/>
                                        <p:tgtEl>
                                          <p:spTgt spid="37"/>
                                        </p:tgtEl>
                                        <p:attrNameLst>
                                          <p:attrName>ppt_y</p:attrName>
                                        </p:attrNameLst>
                                      </p:cBhvr>
                                      <p:tavLst>
                                        <p:tav tm="0">
                                          <p:val>
                                            <p:strVal val="#ppt_y+#ppt_h*1.125000"/>
                                          </p:val>
                                        </p:tav>
                                        <p:tav tm="100000">
                                          <p:val>
                                            <p:strVal val="#ppt_y"/>
                                          </p:val>
                                        </p:tav>
                                      </p:tavLst>
                                    </p:anim>
                                    <p:animEffect transition="in" filter="wipe(up)">
                                      <p:cBhvr>
                                        <p:cTn id="32" dur="500"/>
                                        <p:tgtEl>
                                          <p:spTgt spid="37"/>
                                        </p:tgtEl>
                                      </p:cBhvr>
                                    </p:animEffect>
                                  </p:childTnLst>
                                </p:cTn>
                              </p:par>
                              <p:par>
                                <p:cTn id="33" presetID="12" presetClass="entr" presetSubtype="4" fill="hold" nodeType="withEffect">
                                  <p:stCondLst>
                                    <p:cond delay="0"/>
                                  </p:stCondLst>
                                  <p:childTnLst>
                                    <p:set>
                                      <p:cBhvr>
                                        <p:cTn id="34" dur="1" fill="hold">
                                          <p:stCondLst>
                                            <p:cond delay="0"/>
                                          </p:stCondLst>
                                        </p:cTn>
                                        <p:tgtEl>
                                          <p:spTgt spid="38"/>
                                        </p:tgtEl>
                                        <p:attrNameLst>
                                          <p:attrName>style.visibility</p:attrName>
                                        </p:attrNameLst>
                                      </p:cBhvr>
                                      <p:to>
                                        <p:strVal val="visible"/>
                                      </p:to>
                                    </p:set>
                                    <p:anim calcmode="lin" valueType="num">
                                      <p:cBhvr>
                                        <p:cTn id="35" dur="500"/>
                                        <p:tgtEl>
                                          <p:spTgt spid="38"/>
                                        </p:tgtEl>
                                        <p:attrNameLst>
                                          <p:attrName>ppt_y</p:attrName>
                                        </p:attrNameLst>
                                      </p:cBhvr>
                                      <p:tavLst>
                                        <p:tav tm="0">
                                          <p:val>
                                            <p:strVal val="#ppt_y+#ppt_h*1.125000"/>
                                          </p:val>
                                        </p:tav>
                                        <p:tav tm="100000">
                                          <p:val>
                                            <p:strVal val="#ppt_y"/>
                                          </p:val>
                                        </p:tav>
                                      </p:tavLst>
                                    </p:anim>
                                    <p:animEffect transition="in" filter="wipe(up)">
                                      <p:cBhvr>
                                        <p:cTn id="36" dur="500"/>
                                        <p:tgtEl>
                                          <p:spTgt spid="38"/>
                                        </p:tgtEl>
                                      </p:cBhvr>
                                    </p:animEffect>
                                  </p:childTnLst>
                                </p:cTn>
                              </p:par>
                              <p:par>
                                <p:cTn id="37" presetID="12" presetClass="entr" presetSubtype="4" fill="hold" nodeType="withEffect">
                                  <p:stCondLst>
                                    <p:cond delay="0"/>
                                  </p:stCondLst>
                                  <p:childTnLst>
                                    <p:set>
                                      <p:cBhvr>
                                        <p:cTn id="38" dur="1" fill="hold">
                                          <p:stCondLst>
                                            <p:cond delay="0"/>
                                          </p:stCondLst>
                                        </p:cTn>
                                        <p:tgtEl>
                                          <p:spTgt spid="39"/>
                                        </p:tgtEl>
                                        <p:attrNameLst>
                                          <p:attrName>style.visibility</p:attrName>
                                        </p:attrNameLst>
                                      </p:cBhvr>
                                      <p:to>
                                        <p:strVal val="visible"/>
                                      </p:to>
                                    </p:set>
                                    <p:anim calcmode="lin" valueType="num">
                                      <p:cBhvr>
                                        <p:cTn id="39" dur="500"/>
                                        <p:tgtEl>
                                          <p:spTgt spid="39"/>
                                        </p:tgtEl>
                                        <p:attrNameLst>
                                          <p:attrName>ppt_y</p:attrName>
                                        </p:attrNameLst>
                                      </p:cBhvr>
                                      <p:tavLst>
                                        <p:tav tm="0">
                                          <p:val>
                                            <p:strVal val="#ppt_y+#ppt_h*1.125000"/>
                                          </p:val>
                                        </p:tav>
                                        <p:tav tm="100000">
                                          <p:val>
                                            <p:strVal val="#ppt_y"/>
                                          </p:val>
                                        </p:tav>
                                      </p:tavLst>
                                    </p:anim>
                                    <p:animEffect transition="in" filter="wipe(up)">
                                      <p:cBhvr>
                                        <p:cTn id="40" dur="500"/>
                                        <p:tgtEl>
                                          <p:spTgt spid="39"/>
                                        </p:tgtEl>
                                      </p:cBhvr>
                                    </p:animEffect>
                                  </p:childTnLst>
                                </p:cTn>
                              </p:par>
                              <p:par>
                                <p:cTn id="41" presetID="12" presetClass="entr" presetSubtype="4" fill="hold" nodeType="withEffect">
                                  <p:stCondLst>
                                    <p:cond delay="0"/>
                                  </p:stCondLst>
                                  <p:childTnLst>
                                    <p:set>
                                      <p:cBhvr>
                                        <p:cTn id="42" dur="1" fill="hold">
                                          <p:stCondLst>
                                            <p:cond delay="0"/>
                                          </p:stCondLst>
                                        </p:cTn>
                                        <p:tgtEl>
                                          <p:spTgt spid="40"/>
                                        </p:tgtEl>
                                        <p:attrNameLst>
                                          <p:attrName>style.visibility</p:attrName>
                                        </p:attrNameLst>
                                      </p:cBhvr>
                                      <p:to>
                                        <p:strVal val="visible"/>
                                      </p:to>
                                    </p:set>
                                    <p:anim calcmode="lin" valueType="num">
                                      <p:cBhvr>
                                        <p:cTn id="43" dur="500"/>
                                        <p:tgtEl>
                                          <p:spTgt spid="40"/>
                                        </p:tgtEl>
                                        <p:attrNameLst>
                                          <p:attrName>ppt_y</p:attrName>
                                        </p:attrNameLst>
                                      </p:cBhvr>
                                      <p:tavLst>
                                        <p:tav tm="0">
                                          <p:val>
                                            <p:strVal val="#ppt_y+#ppt_h*1.125000"/>
                                          </p:val>
                                        </p:tav>
                                        <p:tav tm="100000">
                                          <p:val>
                                            <p:strVal val="#ppt_y"/>
                                          </p:val>
                                        </p:tav>
                                      </p:tavLst>
                                    </p:anim>
                                    <p:animEffect transition="in" filter="wipe(up)">
                                      <p:cBhvr>
                                        <p:cTn id="44" dur="500"/>
                                        <p:tgtEl>
                                          <p:spTgt spid="40"/>
                                        </p:tgtEl>
                                      </p:cBhvr>
                                    </p:animEffect>
                                  </p:childTnLst>
                                </p:cTn>
                              </p:par>
                            </p:childTnLst>
                          </p:cTn>
                        </p:par>
                      </p:childTnLst>
                    </p:cTn>
                  </p:par>
                  <p:par>
                    <p:cTn id="45" fill="hold">
                      <p:stCondLst>
                        <p:cond delay="indefinite"/>
                      </p:stCondLst>
                      <p:childTnLst>
                        <p:par>
                          <p:cTn id="46" fill="hold">
                            <p:stCondLst>
                              <p:cond delay="0"/>
                            </p:stCondLst>
                            <p:childTnLst>
                              <p:par>
                                <p:cTn id="47" presetID="6" presetClass="emph" presetSubtype="0" fill="hold" nodeType="clickEffect">
                                  <p:stCondLst>
                                    <p:cond delay="0"/>
                                  </p:stCondLst>
                                  <p:childTnLst>
                                    <p:animScale>
                                      <p:cBhvr>
                                        <p:cTn id="48" dur="500" fill="hold"/>
                                        <p:tgtEl>
                                          <p:spTgt spid="34"/>
                                        </p:tgtEl>
                                      </p:cBhvr>
                                      <p:by x="130000" y="13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圆角矩形 5"/>
          <p:cNvSpPr/>
          <p:nvPr/>
        </p:nvSpPr>
        <p:spPr>
          <a:xfrm>
            <a:off x="260350" y="439738"/>
            <a:ext cx="8623300" cy="4462462"/>
          </a:xfrm>
          <a:prstGeom prst="roundRect">
            <a:avLst>
              <a:gd name="adj" fmla="val 16667"/>
            </a:avLst>
          </a:prstGeom>
          <a:noFill/>
          <a:ln w="47625" cap="flat" cmpd="sng">
            <a:solidFill>
              <a:srgbClr val="FC6C02"/>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sym typeface="Bodoni MT" panose="02070603080606020203" pitchFamily="18" charset="0"/>
            </a:endParaRPr>
          </a:p>
        </p:txBody>
      </p:sp>
      <p:sp useBgFill="1">
        <p:nvSpPr>
          <p:cNvPr id="12" name="矩形 11"/>
          <p:cNvSpPr/>
          <p:nvPr/>
        </p:nvSpPr>
        <p:spPr>
          <a:xfrm>
            <a:off x="717549" y="121918"/>
            <a:ext cx="2413636" cy="583566"/>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概述</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4" name="文本框 3"/>
          <p:cNvSpPr txBox="1"/>
          <p:nvPr/>
        </p:nvSpPr>
        <p:spPr>
          <a:xfrm>
            <a:off x="4909819" y="560068"/>
            <a:ext cx="3165475" cy="521971"/>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sz="2800" b="1" kern="1200" cap="none" spc="0" normalizeH="0" baseline="0" noProof="1">
                <a:ln>
                  <a:solidFill>
                    <a:schemeClr val="tx1"/>
                  </a:solidFill>
                </a:ln>
                <a:solidFill>
                  <a:srgbClr val="FC6C02"/>
                </a:solidFill>
                <a:latin typeface="Arial" panose="020B0604020202020204" pitchFamily="34" charset="0"/>
                <a:ea typeface="宋体" panose="02010600030101010101" pitchFamily="2" charset="-122"/>
                <a:cs typeface="+mn-cs"/>
              </a:rPr>
              <a:t>STM32F103ZET6</a:t>
            </a:r>
            <a:endParaRPr kumimoji="0" lang="en-US" altLang="zh-CN" sz="2800" b="1" kern="1200" cap="none" spc="0" normalizeH="0" baseline="0" noProof="1">
              <a:ln>
                <a:solidFill>
                  <a:schemeClr val="tx1"/>
                </a:solidFill>
              </a:ln>
              <a:solidFill>
                <a:srgbClr val="FC6C02"/>
              </a:solidFill>
              <a:latin typeface="Arial" panose="020B0604020202020204" pitchFamily="34" charset="0"/>
              <a:ea typeface="宋体" panose="02010600030101010101" pitchFamily="2" charset="-122"/>
              <a:cs typeface="+mn-cs"/>
            </a:endParaRPr>
          </a:p>
        </p:txBody>
      </p:sp>
      <p:sp>
        <p:nvSpPr>
          <p:cNvPr id="34" name="文本框 33"/>
          <p:cNvSpPr txBox="1"/>
          <p:nvPr/>
        </p:nvSpPr>
        <p:spPr>
          <a:xfrm>
            <a:off x="923925" y="1082033"/>
            <a:ext cx="6408420" cy="368300"/>
          </a:xfrm>
          <a:prstGeom prst="rect">
            <a:avLst/>
          </a:prstGeom>
          <a:noFill/>
          <a:effectLst>
            <a:outerShdw blurRad="50800" dist="38100" dir="8100000" algn="tr" rotWithShape="0">
              <a:prstClr val="black">
                <a:alpha val="40000"/>
              </a:prstClr>
            </a:outerShdw>
          </a:effectLst>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STM32</a:t>
            </a:r>
            <a:r>
              <a:rPr kumimoji="0" lang="zh-CN" altLang="en-US"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a:t>
            </a:r>
            <a:r>
              <a:rPr kumimoji="0" lang="zh-CN" altLang="en-US" kern="1200" cap="none" spc="0" normalizeH="0" baseline="0" noProof="1">
                <a:latin typeface="Arial" panose="020B0604020202020204" pitchFamily="34" charset="0"/>
                <a:ea typeface="宋体" panose="02010600030101010101" pitchFamily="2" charset="-122"/>
                <a:cs typeface="+mn-cs"/>
              </a:rPr>
              <a:t>产品系列，</a:t>
            </a:r>
            <a:r>
              <a:rPr kumimoji="0" lang="en-US" altLang="zh-CN" kern="1200" cap="none" spc="0" normalizeH="0" baseline="0" noProof="1">
                <a:latin typeface="Arial" panose="020B0604020202020204" pitchFamily="34" charset="0"/>
                <a:ea typeface="宋体" panose="02010600030101010101" pitchFamily="2" charset="-122"/>
                <a:cs typeface="+mn-cs"/>
              </a:rPr>
              <a:t>STM32=</a:t>
            </a:r>
            <a:r>
              <a:rPr kumimoji="0" lang="zh-CN" altLang="en-US" kern="1200" cap="none" spc="0" normalizeH="0" baseline="0" noProof="1">
                <a:latin typeface="Arial" panose="020B0604020202020204" pitchFamily="34" charset="0"/>
                <a:ea typeface="宋体" panose="02010600030101010101" pitchFamily="2" charset="-122"/>
                <a:cs typeface="+mn-cs"/>
              </a:rPr>
              <a:t>基于</a:t>
            </a:r>
            <a:r>
              <a:rPr kumimoji="0" lang="en-US" altLang="zh-CN" kern="1200" cap="none" spc="0" normalizeH="0" baseline="0" noProof="1">
                <a:latin typeface="Arial" panose="020B0604020202020204" pitchFamily="34" charset="0"/>
                <a:ea typeface="宋体" panose="02010600030101010101" pitchFamily="2" charset="-122"/>
                <a:cs typeface="+mn-cs"/>
              </a:rPr>
              <a:t>ARM</a:t>
            </a:r>
            <a:r>
              <a:rPr kumimoji="0" lang="zh-CN" altLang="en-US" kern="1200" cap="none" spc="0" normalizeH="0" baseline="0" noProof="1">
                <a:latin typeface="Arial" panose="020B0604020202020204" pitchFamily="34" charset="0"/>
                <a:ea typeface="宋体" panose="02010600030101010101" pitchFamily="2" charset="-122"/>
                <a:cs typeface="+mn-cs"/>
              </a:rPr>
              <a:t>的</a:t>
            </a:r>
            <a:r>
              <a:rPr kumimoji="0" lang="en-US" altLang="zh-CN" kern="1200" cap="none" spc="0" normalizeH="0" baseline="0" noProof="1">
                <a:latin typeface="Arial" panose="020B0604020202020204" pitchFamily="34" charset="0"/>
                <a:ea typeface="宋体" panose="02010600030101010101" pitchFamily="2" charset="-122"/>
                <a:cs typeface="+mn-cs"/>
              </a:rPr>
              <a:t>32</a:t>
            </a:r>
            <a:r>
              <a:rPr kumimoji="0" lang="zh-CN" altLang="en-US" kern="1200" cap="none" spc="0" normalizeH="0" baseline="0" noProof="1">
                <a:latin typeface="Arial" panose="020B0604020202020204" pitchFamily="34" charset="0"/>
                <a:ea typeface="宋体" panose="02010600030101010101" pitchFamily="2" charset="-122"/>
                <a:cs typeface="+mn-cs"/>
              </a:rPr>
              <a:t>位微控制器</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35" name="文本框 34"/>
          <p:cNvSpPr txBox="1"/>
          <p:nvPr/>
        </p:nvSpPr>
        <p:spPr>
          <a:xfrm>
            <a:off x="923925" y="1450336"/>
            <a:ext cx="6408420" cy="36830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F：</a:t>
            </a:r>
            <a:r>
              <a:rPr kumimoji="0" lang="zh-CN" altLang="en-US" kern="1200" cap="none" spc="0" normalizeH="0" baseline="0" noProof="1">
                <a:latin typeface="Arial" panose="020B0604020202020204" pitchFamily="34" charset="0"/>
                <a:ea typeface="宋体" panose="02010600030101010101" pitchFamily="2" charset="-122"/>
                <a:cs typeface="+mn-cs"/>
              </a:rPr>
              <a:t>产品类型，</a:t>
            </a:r>
            <a:r>
              <a:rPr kumimoji="0" lang="en-US" altLang="zh-CN" kern="1200" cap="none" spc="0" normalizeH="0" baseline="0" noProof="1">
                <a:latin typeface="Arial" panose="020B0604020202020204" pitchFamily="34" charset="0"/>
                <a:ea typeface="宋体" panose="02010600030101010101" pitchFamily="2" charset="-122"/>
                <a:cs typeface="+mn-cs"/>
              </a:rPr>
              <a:t>F=</a:t>
            </a:r>
            <a:r>
              <a:rPr kumimoji="0" lang="zh-CN" altLang="en-US" kern="1200" cap="none" spc="0" normalizeH="0" baseline="0" noProof="1">
                <a:latin typeface="Arial" panose="020B0604020202020204" pitchFamily="34" charset="0"/>
                <a:ea typeface="宋体" panose="02010600030101010101" pitchFamily="2" charset="-122"/>
                <a:cs typeface="+mn-cs"/>
              </a:rPr>
              <a:t>通用类型</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36" name="文本框 35"/>
          <p:cNvSpPr txBox="1"/>
          <p:nvPr/>
        </p:nvSpPr>
        <p:spPr>
          <a:xfrm>
            <a:off x="923924" y="1818639"/>
            <a:ext cx="6408420" cy="64516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103：</a:t>
            </a:r>
            <a:r>
              <a:rPr kumimoji="0" lang="zh-CN" altLang="en-US" kern="1200" cap="none" spc="0" normalizeH="0" baseline="0" noProof="1">
                <a:latin typeface="Arial" panose="020B0604020202020204" pitchFamily="34" charset="0"/>
                <a:ea typeface="宋体" panose="02010600030101010101" pitchFamily="2" charset="-122"/>
                <a:cs typeface="+mn-cs"/>
              </a:rPr>
              <a:t>产品子系列；</a:t>
            </a:r>
            <a:r>
              <a:rPr kumimoji="0" lang="en-US" kern="1200" cap="none" spc="0" normalizeH="0" baseline="0" noProof="1">
                <a:latin typeface="Arial" panose="020B0604020202020204" pitchFamily="34" charset="0"/>
                <a:ea typeface="宋体" panose="02010600030101010101" pitchFamily="2" charset="-122"/>
                <a:cs typeface="+mn-cs"/>
              </a:rPr>
              <a:t>101=</a:t>
            </a:r>
            <a:r>
              <a:rPr kumimoji="0" lang="zh-CN" altLang="en-US" kern="1200" cap="none" spc="0" normalizeH="0" baseline="0" noProof="1">
                <a:latin typeface="Arial" panose="020B0604020202020204" pitchFamily="34" charset="0"/>
                <a:ea typeface="宋体" panose="02010600030101010101" pitchFamily="2" charset="-122"/>
                <a:cs typeface="+mn-cs"/>
              </a:rPr>
              <a:t>基本型；</a:t>
            </a:r>
            <a:r>
              <a:rPr kumimoji="0" lang="en-US" altLang="zh-CN" kern="1200" cap="none" spc="0" normalizeH="0" baseline="0" noProof="1">
                <a:latin typeface="Arial" panose="020B0604020202020204" pitchFamily="34" charset="0"/>
                <a:ea typeface="宋体" panose="02010600030101010101" pitchFamily="2" charset="-122"/>
                <a:cs typeface="+mn-cs"/>
              </a:rPr>
              <a:t>102=USB</a:t>
            </a:r>
            <a:r>
              <a:rPr kumimoji="0" lang="zh-CN" altLang="en-US" kern="1200" cap="none" spc="0" normalizeH="0" baseline="0" noProof="1">
                <a:latin typeface="Arial" panose="020B0604020202020204" pitchFamily="34" charset="0"/>
                <a:ea typeface="宋体" panose="02010600030101010101" pitchFamily="2" charset="-122"/>
                <a:cs typeface="+mn-cs"/>
              </a:rPr>
              <a:t>型；</a:t>
            </a:r>
            <a:r>
              <a:rPr kumimoji="0" lang="en-US" altLang="zh-CN" kern="1200" cap="none" spc="0" normalizeH="0" baseline="0" noProof="1">
                <a:latin typeface="Arial" panose="020B0604020202020204" pitchFamily="34" charset="0"/>
                <a:ea typeface="宋体" panose="02010600030101010101" pitchFamily="2" charset="-122"/>
                <a:cs typeface="+mn-cs"/>
              </a:rPr>
              <a:t>103=</a:t>
            </a:r>
            <a:r>
              <a:rPr kumimoji="0" lang="zh-CN" altLang="en-US" kern="1200" cap="none" spc="0" normalizeH="0" baseline="0" noProof="1">
                <a:latin typeface="Arial" panose="020B0604020202020204" pitchFamily="34" charset="0"/>
                <a:ea typeface="宋体" panose="02010600030101010101" pitchFamily="2" charset="-122"/>
                <a:cs typeface="+mn-cs"/>
              </a:rPr>
              <a:t>增强型；</a:t>
            </a:r>
            <a:r>
              <a:rPr kumimoji="0" lang="en-US" altLang="zh-CN" kern="1200" cap="none" spc="0" normalizeH="0" baseline="0" noProof="1">
                <a:latin typeface="Arial" panose="020B0604020202020204" pitchFamily="34" charset="0"/>
                <a:ea typeface="宋体" panose="02010600030101010101" pitchFamily="2" charset="-122"/>
                <a:cs typeface="+mn-cs"/>
              </a:rPr>
              <a:t>105</a:t>
            </a:r>
            <a:r>
              <a:rPr kumimoji="0" lang="zh-CN" altLang="en-US" kern="1200" cap="none" spc="0" normalizeH="0" baseline="0" noProof="1">
                <a:latin typeface="Arial" panose="020B0604020202020204" pitchFamily="34" charset="0"/>
                <a:ea typeface="宋体" panose="02010600030101010101" pitchFamily="2" charset="-122"/>
                <a:cs typeface="+mn-cs"/>
              </a:rPr>
              <a:t>或</a:t>
            </a:r>
            <a:r>
              <a:rPr kumimoji="0" lang="en-US" altLang="zh-CN" kern="1200" cap="none" spc="0" normalizeH="0" baseline="0" noProof="1">
                <a:latin typeface="Arial" panose="020B0604020202020204" pitchFamily="34" charset="0"/>
                <a:ea typeface="宋体" panose="02010600030101010101" pitchFamily="2" charset="-122"/>
                <a:cs typeface="+mn-cs"/>
              </a:rPr>
              <a:t>107=</a:t>
            </a:r>
            <a:r>
              <a:rPr kumimoji="0" lang="zh-CN" altLang="en-US" kern="1200" cap="none" spc="0" normalizeH="0" baseline="0" noProof="1">
                <a:latin typeface="Arial" panose="020B0604020202020204" pitchFamily="34" charset="0"/>
                <a:ea typeface="宋体" panose="02010600030101010101" pitchFamily="2" charset="-122"/>
                <a:cs typeface="+mn-cs"/>
              </a:rPr>
              <a:t>互联型</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37" name="文本框 36"/>
          <p:cNvSpPr txBox="1"/>
          <p:nvPr/>
        </p:nvSpPr>
        <p:spPr>
          <a:xfrm>
            <a:off x="923925" y="2463800"/>
            <a:ext cx="6913245" cy="64516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Z：</a:t>
            </a:r>
            <a:r>
              <a:rPr kumimoji="0" lang="zh-CN" altLang="en-US" kern="1200" cap="none" spc="0" normalizeH="0" baseline="0" noProof="1">
                <a:latin typeface="Arial" panose="020B0604020202020204" pitchFamily="34" charset="0"/>
                <a:ea typeface="宋体" panose="02010600030101010101" pitchFamily="2" charset="-122"/>
                <a:cs typeface="+mn-cs"/>
              </a:rPr>
              <a:t>引脚数目，</a:t>
            </a:r>
            <a:r>
              <a:rPr kumimoji="0" lang="en-US" altLang="zh-CN" kern="1200" cap="none" spc="0" normalizeH="0" baseline="0" noProof="1">
                <a:latin typeface="Arial" panose="020B0604020202020204" pitchFamily="34" charset="0"/>
                <a:ea typeface="宋体" panose="02010600030101010101" pitchFamily="2" charset="-122"/>
                <a:cs typeface="+mn-cs"/>
              </a:rPr>
              <a:t>T=36 Pins</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C</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=48 Pins</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r>
              <a:rPr kumimoji="0" lang="en-US" altLang="zh-CN" kern="1200" cap="none" spc="0" normalizeH="0" baseline="0" noProof="1">
                <a:latin typeface="Arial" panose="020B0604020202020204" pitchFamily="34" charset="0"/>
                <a:ea typeface="宋体" panose="02010600030101010101" pitchFamily="2" charset="-122"/>
                <a:cs typeface="+mn-cs"/>
              </a:rPr>
              <a:t>R</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=64 Pins</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r>
              <a:rPr kumimoji="0" lang="en-US" altLang="zh-CN" kern="1200" cap="none" spc="0" normalizeH="0" baseline="0" noProof="1">
                <a:latin typeface="Arial" panose="020B0604020202020204" pitchFamily="34" charset="0"/>
                <a:ea typeface="宋体" panose="02010600030101010101" pitchFamily="2" charset="-122"/>
                <a:cs typeface="+mn-cs"/>
              </a:rPr>
              <a:t>V</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=100 Pins</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r>
              <a:rPr kumimoji="0" lang="en-US" altLang="zh-CN" kern="1200" cap="none" spc="0" normalizeH="0" baseline="0" noProof="1">
                <a:latin typeface="Arial" panose="020B0604020202020204" pitchFamily="34" charset="0"/>
                <a:ea typeface="宋体" panose="02010600030101010101" pitchFamily="2" charset="-122"/>
                <a:cs typeface="+mn-cs"/>
              </a:rPr>
              <a:t>Z</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=144 Pins</a:t>
            </a:r>
            <a:endParaRPr kumimoji="0" lang="en-US" altLang="zh-CN" kern="1200" cap="none" spc="0" normalizeH="0" baseline="0" noProof="1">
              <a:latin typeface="Arial" panose="020B0604020202020204" pitchFamily="34" charset="0"/>
              <a:ea typeface="宋体" panose="02010600030101010101" pitchFamily="2" charset="-122"/>
              <a:cs typeface="+mn-cs"/>
            </a:endParaRPr>
          </a:p>
        </p:txBody>
      </p:sp>
      <p:sp>
        <p:nvSpPr>
          <p:cNvPr id="38" name="文本框 37"/>
          <p:cNvSpPr txBox="1"/>
          <p:nvPr/>
        </p:nvSpPr>
        <p:spPr>
          <a:xfrm>
            <a:off x="923925" y="3108960"/>
            <a:ext cx="7275195" cy="64516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E：</a:t>
            </a:r>
            <a:r>
              <a:rPr kumimoji="0" lang="zh-CN" altLang="en-US" kern="1200" cap="none" spc="0" normalizeH="0" baseline="0" noProof="1">
                <a:latin typeface="Arial" panose="020B0604020202020204" pitchFamily="34" charset="0"/>
                <a:ea typeface="宋体" panose="02010600030101010101" pitchFamily="2" charset="-122"/>
                <a:cs typeface="+mn-cs"/>
              </a:rPr>
              <a:t>闪存容量，</a:t>
            </a:r>
            <a:r>
              <a:rPr kumimoji="0" lang="en-US" kern="1200" cap="none" spc="0" normalizeH="0" baseline="0" noProof="1">
                <a:latin typeface="Arial" panose="020B0604020202020204" pitchFamily="34" charset="0"/>
                <a:ea typeface="宋体" panose="02010600030101010101" pitchFamily="2" charset="-122"/>
                <a:cs typeface="+mn-cs"/>
              </a:rPr>
              <a:t>4=16KB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6=32KB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8</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=64KB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B</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=128KB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C</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=256KB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D</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=384KB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E</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=512KB</a:t>
            </a:r>
            <a:endParaRPr kumimoji="0" lang="en-US" altLang="zh-CN" kern="1200" cap="none" spc="0" normalizeH="0" baseline="0" noProof="1">
              <a:latin typeface="Arial" panose="020B0604020202020204" pitchFamily="34" charset="0"/>
              <a:ea typeface="宋体" panose="02010600030101010101" pitchFamily="2" charset="-122"/>
              <a:cs typeface="+mn-cs"/>
            </a:endParaRPr>
          </a:p>
        </p:txBody>
      </p:sp>
      <p:sp>
        <p:nvSpPr>
          <p:cNvPr id="39" name="文本框 38"/>
          <p:cNvSpPr txBox="1"/>
          <p:nvPr/>
        </p:nvSpPr>
        <p:spPr>
          <a:xfrm>
            <a:off x="923925" y="3754118"/>
            <a:ext cx="6408420" cy="36830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T：</a:t>
            </a:r>
            <a:r>
              <a:rPr kumimoji="0" lang="zh-CN" altLang="en-US" kern="1200" cap="none" spc="0" normalizeH="0" baseline="0" noProof="1">
                <a:latin typeface="Arial" panose="020B0604020202020204" pitchFamily="34" charset="0"/>
                <a:ea typeface="宋体" panose="02010600030101010101" pitchFamily="2" charset="-122"/>
                <a:cs typeface="+mn-cs"/>
              </a:rPr>
              <a:t>封装，</a:t>
            </a:r>
            <a:r>
              <a:rPr kumimoji="0" lang="en-US" altLang="zh-CN" kern="1200" cap="none" spc="0" normalizeH="0" baseline="0" noProof="1">
                <a:latin typeface="Arial" panose="020B0604020202020204" pitchFamily="34" charset="0"/>
                <a:ea typeface="宋体" panose="02010600030101010101" pitchFamily="2" charset="-122"/>
                <a:cs typeface="+mn-cs"/>
              </a:rPr>
              <a:t>H=BGA</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T=LQFP</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U=VFQFPN</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Y=WLCSP64</a:t>
            </a:r>
            <a:endParaRPr kumimoji="0" lang="en-US" altLang="zh-CN" kern="1200" cap="none" spc="0" normalizeH="0" baseline="0" noProof="1">
              <a:latin typeface="Arial" panose="020B0604020202020204" pitchFamily="34" charset="0"/>
              <a:ea typeface="宋体" panose="02010600030101010101" pitchFamily="2" charset="-122"/>
              <a:cs typeface="+mn-cs"/>
            </a:endParaRPr>
          </a:p>
        </p:txBody>
      </p:sp>
      <p:sp>
        <p:nvSpPr>
          <p:cNvPr id="40" name="文本框 39"/>
          <p:cNvSpPr txBox="1"/>
          <p:nvPr/>
        </p:nvSpPr>
        <p:spPr>
          <a:xfrm>
            <a:off x="923925" y="4122419"/>
            <a:ext cx="6408420" cy="36830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6：</a:t>
            </a:r>
            <a:r>
              <a:rPr kumimoji="0" lang="zh-CN" altLang="en-US" kern="1200" cap="none" spc="0" normalizeH="0" baseline="0" noProof="1">
                <a:latin typeface="Arial" panose="020B0604020202020204" pitchFamily="34" charset="0"/>
                <a:ea typeface="宋体" panose="02010600030101010101" pitchFamily="2" charset="-122"/>
                <a:cs typeface="+mn-cs"/>
              </a:rPr>
              <a:t>温度范围，</a:t>
            </a:r>
            <a:r>
              <a:rPr kumimoji="0" lang="en-US" altLang="zh-CN" kern="1200" cap="none" spc="0" normalizeH="0" baseline="0" noProof="1">
                <a:latin typeface="Arial" panose="020B0604020202020204" pitchFamily="34" charset="0"/>
                <a:ea typeface="宋体" panose="02010600030101010101" pitchFamily="2" charset="-122"/>
                <a:cs typeface="+mn-cs"/>
              </a:rPr>
              <a:t>6=-40℃~85℃</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7=-40℃~105℃</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14347" name="文本框 1"/>
          <p:cNvSpPr txBox="1"/>
          <p:nvPr/>
        </p:nvSpPr>
        <p:spPr>
          <a:xfrm>
            <a:off x="5360988" y="4491038"/>
            <a:ext cx="3114675" cy="336550"/>
          </a:xfrm>
          <a:prstGeom prst="rect">
            <a:avLst/>
          </a:prstGeom>
          <a:noFill/>
          <a:ln w="9525">
            <a:noFill/>
          </a:ln>
        </p:spPr>
        <p:txBody>
          <a:bodyPr anchor="t" anchorCtr="0">
            <a:spAutoFit/>
          </a:bodyPr>
          <a:p>
            <a:r>
              <a:rPr lang="zh-CN" altLang="en-US" sz="1600" i="1" dirty="0">
                <a:latin typeface="Arial" panose="020B0604020202020204" pitchFamily="34" charset="0"/>
                <a:ea typeface="宋体" panose="02010600030101010101" pitchFamily="2" charset="-122"/>
                <a:sym typeface="Bodoni MT" panose="02070603080606020203" pitchFamily="18" charset="0"/>
              </a:rPr>
              <a:t>参考资料：《</a:t>
            </a:r>
            <a:r>
              <a:rPr lang="en-US" altLang="zh-CN" sz="1600" i="1" dirty="0">
                <a:latin typeface="Arial" panose="020B0604020202020204" pitchFamily="34" charset="0"/>
                <a:ea typeface="宋体" panose="02010600030101010101" pitchFamily="2" charset="-122"/>
                <a:sym typeface="微软雅黑" panose="020B0503020204020204" pitchFamily="34" charset="-122"/>
              </a:rPr>
              <a:t>ST MCU</a:t>
            </a:r>
            <a:r>
              <a:rPr lang="zh-CN" altLang="en-US" sz="1600" i="1" dirty="0">
                <a:latin typeface="Arial" panose="020B0604020202020204" pitchFamily="34" charset="0"/>
                <a:ea typeface="宋体" panose="02010600030101010101" pitchFamily="2" charset="-122"/>
                <a:sym typeface="微软雅黑" panose="020B0503020204020204" pitchFamily="34" charset="-122"/>
              </a:rPr>
              <a:t>选型手册</a:t>
            </a:r>
            <a:r>
              <a:rPr lang="zh-CN" altLang="en-US" sz="1600" i="1" dirty="0">
                <a:latin typeface="Arial" panose="020B0604020202020204" pitchFamily="34" charset="0"/>
                <a:ea typeface="宋体" panose="02010600030101010101" pitchFamily="2" charset="-122"/>
                <a:sym typeface="Bodoni MT" panose="02070603080606020203" pitchFamily="18" charset="0"/>
              </a:rPr>
              <a:t>》</a:t>
            </a:r>
            <a:endParaRPr lang="zh-CN" altLang="en-US" sz="1600" i="1" dirty="0">
              <a:latin typeface="Arial" panose="020B0604020202020204" pitchFamily="34" charset="0"/>
              <a:ea typeface="宋体" panose="02010600030101010101" pitchFamily="2" charset="-122"/>
              <a:sym typeface="Bodoni MT" panose="020706030806060202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500" fill="hold"/>
                                        <p:tgtEl>
                                          <p:spTgt spid="35"/>
                                        </p:tgtEl>
                                      </p:cBhvr>
                                      <p:by x="130000" y="13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圆角矩形 5"/>
          <p:cNvSpPr/>
          <p:nvPr/>
        </p:nvSpPr>
        <p:spPr>
          <a:xfrm>
            <a:off x="260350" y="439738"/>
            <a:ext cx="8623300" cy="4462462"/>
          </a:xfrm>
          <a:prstGeom prst="roundRect">
            <a:avLst>
              <a:gd name="adj" fmla="val 16667"/>
            </a:avLst>
          </a:prstGeom>
          <a:noFill/>
          <a:ln w="47625" cap="flat" cmpd="sng">
            <a:solidFill>
              <a:srgbClr val="FC6C02"/>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sym typeface="Bodoni MT" panose="02070603080606020203" pitchFamily="18" charset="0"/>
            </a:endParaRPr>
          </a:p>
        </p:txBody>
      </p:sp>
      <p:sp useBgFill="1">
        <p:nvSpPr>
          <p:cNvPr id="12" name="矩形 11"/>
          <p:cNvSpPr/>
          <p:nvPr/>
        </p:nvSpPr>
        <p:spPr>
          <a:xfrm>
            <a:off x="717549" y="121918"/>
            <a:ext cx="2413636" cy="583566"/>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概述</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4" name="文本框 3"/>
          <p:cNvSpPr txBox="1"/>
          <p:nvPr/>
        </p:nvSpPr>
        <p:spPr>
          <a:xfrm>
            <a:off x="4909819" y="560068"/>
            <a:ext cx="3165475" cy="521971"/>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sz="2800" b="1" kern="1200" cap="none" spc="0" normalizeH="0" baseline="0" noProof="1">
                <a:ln>
                  <a:solidFill>
                    <a:schemeClr val="tx1"/>
                  </a:solidFill>
                </a:ln>
                <a:solidFill>
                  <a:srgbClr val="FC6C02"/>
                </a:solidFill>
                <a:latin typeface="Arial" panose="020B0604020202020204" pitchFamily="34" charset="0"/>
                <a:ea typeface="宋体" panose="02010600030101010101" pitchFamily="2" charset="-122"/>
                <a:cs typeface="+mn-cs"/>
              </a:rPr>
              <a:t>STM32F103ZET6</a:t>
            </a:r>
            <a:endParaRPr kumimoji="0" lang="en-US" altLang="zh-CN" sz="2800" b="1" kern="1200" cap="none" spc="0" normalizeH="0" baseline="0" noProof="1">
              <a:ln>
                <a:solidFill>
                  <a:schemeClr val="tx1"/>
                </a:solidFill>
              </a:ln>
              <a:solidFill>
                <a:srgbClr val="FC6C02"/>
              </a:solidFill>
              <a:latin typeface="Arial" panose="020B0604020202020204" pitchFamily="34" charset="0"/>
              <a:ea typeface="宋体" panose="02010600030101010101" pitchFamily="2" charset="-122"/>
              <a:cs typeface="+mn-cs"/>
            </a:endParaRPr>
          </a:p>
        </p:txBody>
      </p:sp>
      <p:sp>
        <p:nvSpPr>
          <p:cNvPr id="34" name="文本框 33"/>
          <p:cNvSpPr txBox="1"/>
          <p:nvPr/>
        </p:nvSpPr>
        <p:spPr>
          <a:xfrm>
            <a:off x="923925" y="1082033"/>
            <a:ext cx="6408420" cy="368300"/>
          </a:xfrm>
          <a:prstGeom prst="rect">
            <a:avLst/>
          </a:prstGeom>
          <a:noFill/>
          <a:effectLst>
            <a:outerShdw blurRad="50800" dist="38100" dir="8100000" algn="tr" rotWithShape="0">
              <a:prstClr val="black">
                <a:alpha val="40000"/>
              </a:prstClr>
            </a:outerShdw>
          </a:effectLst>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STM32</a:t>
            </a:r>
            <a:r>
              <a:rPr kumimoji="0" lang="zh-CN" altLang="en-US"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a:t>
            </a:r>
            <a:r>
              <a:rPr kumimoji="0" lang="zh-CN" altLang="en-US" kern="1200" cap="none" spc="0" normalizeH="0" baseline="0" noProof="1">
                <a:latin typeface="Arial" panose="020B0604020202020204" pitchFamily="34" charset="0"/>
                <a:ea typeface="宋体" panose="02010600030101010101" pitchFamily="2" charset="-122"/>
                <a:cs typeface="+mn-cs"/>
              </a:rPr>
              <a:t>产品系列，</a:t>
            </a:r>
            <a:r>
              <a:rPr kumimoji="0" lang="en-US" altLang="zh-CN" kern="1200" cap="none" spc="0" normalizeH="0" baseline="0" noProof="1">
                <a:latin typeface="Arial" panose="020B0604020202020204" pitchFamily="34" charset="0"/>
                <a:ea typeface="宋体" panose="02010600030101010101" pitchFamily="2" charset="-122"/>
                <a:cs typeface="+mn-cs"/>
              </a:rPr>
              <a:t>STM32=</a:t>
            </a:r>
            <a:r>
              <a:rPr kumimoji="0" lang="zh-CN" altLang="en-US" kern="1200" cap="none" spc="0" normalizeH="0" baseline="0" noProof="1">
                <a:latin typeface="Arial" panose="020B0604020202020204" pitchFamily="34" charset="0"/>
                <a:ea typeface="宋体" panose="02010600030101010101" pitchFamily="2" charset="-122"/>
                <a:cs typeface="+mn-cs"/>
              </a:rPr>
              <a:t>基于</a:t>
            </a:r>
            <a:r>
              <a:rPr kumimoji="0" lang="en-US" altLang="zh-CN" kern="1200" cap="none" spc="0" normalizeH="0" baseline="0" noProof="1">
                <a:latin typeface="Arial" panose="020B0604020202020204" pitchFamily="34" charset="0"/>
                <a:ea typeface="宋体" panose="02010600030101010101" pitchFamily="2" charset="-122"/>
                <a:cs typeface="+mn-cs"/>
              </a:rPr>
              <a:t>ARM</a:t>
            </a:r>
            <a:r>
              <a:rPr kumimoji="0" lang="zh-CN" altLang="en-US" kern="1200" cap="none" spc="0" normalizeH="0" baseline="0" noProof="1">
                <a:latin typeface="Arial" panose="020B0604020202020204" pitchFamily="34" charset="0"/>
                <a:ea typeface="宋体" panose="02010600030101010101" pitchFamily="2" charset="-122"/>
                <a:cs typeface="+mn-cs"/>
              </a:rPr>
              <a:t>的</a:t>
            </a:r>
            <a:r>
              <a:rPr kumimoji="0" lang="en-US" altLang="zh-CN" kern="1200" cap="none" spc="0" normalizeH="0" baseline="0" noProof="1">
                <a:latin typeface="Arial" panose="020B0604020202020204" pitchFamily="34" charset="0"/>
                <a:ea typeface="宋体" panose="02010600030101010101" pitchFamily="2" charset="-122"/>
                <a:cs typeface="+mn-cs"/>
              </a:rPr>
              <a:t>32</a:t>
            </a:r>
            <a:r>
              <a:rPr kumimoji="0" lang="zh-CN" altLang="en-US" kern="1200" cap="none" spc="0" normalizeH="0" baseline="0" noProof="1">
                <a:latin typeface="Arial" panose="020B0604020202020204" pitchFamily="34" charset="0"/>
                <a:ea typeface="宋体" panose="02010600030101010101" pitchFamily="2" charset="-122"/>
                <a:cs typeface="+mn-cs"/>
              </a:rPr>
              <a:t>位微控制器</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35" name="文本框 34"/>
          <p:cNvSpPr txBox="1"/>
          <p:nvPr/>
        </p:nvSpPr>
        <p:spPr>
          <a:xfrm>
            <a:off x="923925" y="1450336"/>
            <a:ext cx="6408420" cy="36830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F：</a:t>
            </a:r>
            <a:r>
              <a:rPr kumimoji="0" lang="zh-CN" altLang="en-US" kern="1200" cap="none" spc="0" normalizeH="0" baseline="0" noProof="1">
                <a:latin typeface="Arial" panose="020B0604020202020204" pitchFamily="34" charset="0"/>
                <a:ea typeface="宋体" panose="02010600030101010101" pitchFamily="2" charset="-122"/>
                <a:cs typeface="+mn-cs"/>
              </a:rPr>
              <a:t>产品类型，</a:t>
            </a:r>
            <a:r>
              <a:rPr kumimoji="0" lang="en-US" altLang="zh-CN" kern="1200" cap="none" spc="0" normalizeH="0" baseline="0" noProof="1">
                <a:latin typeface="Arial" panose="020B0604020202020204" pitchFamily="34" charset="0"/>
                <a:ea typeface="宋体" panose="02010600030101010101" pitchFamily="2" charset="-122"/>
                <a:cs typeface="+mn-cs"/>
              </a:rPr>
              <a:t>F=</a:t>
            </a:r>
            <a:r>
              <a:rPr kumimoji="0" lang="zh-CN" altLang="en-US" kern="1200" cap="none" spc="0" normalizeH="0" baseline="0" noProof="1">
                <a:latin typeface="Arial" panose="020B0604020202020204" pitchFamily="34" charset="0"/>
                <a:ea typeface="宋体" panose="02010600030101010101" pitchFamily="2" charset="-122"/>
                <a:cs typeface="+mn-cs"/>
              </a:rPr>
              <a:t>通用类型</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36" name="文本框 35"/>
          <p:cNvSpPr txBox="1"/>
          <p:nvPr/>
        </p:nvSpPr>
        <p:spPr>
          <a:xfrm>
            <a:off x="923924" y="1818639"/>
            <a:ext cx="6408420" cy="64516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103：</a:t>
            </a:r>
            <a:r>
              <a:rPr kumimoji="0" lang="zh-CN" altLang="en-US" kern="1200" cap="none" spc="0" normalizeH="0" baseline="0" noProof="1">
                <a:latin typeface="Arial" panose="020B0604020202020204" pitchFamily="34" charset="0"/>
                <a:ea typeface="宋体" panose="02010600030101010101" pitchFamily="2" charset="-122"/>
                <a:cs typeface="+mn-cs"/>
              </a:rPr>
              <a:t>产品子系列；</a:t>
            </a:r>
            <a:r>
              <a:rPr kumimoji="0" lang="en-US" kern="1200" cap="none" spc="0" normalizeH="0" baseline="0" noProof="1">
                <a:latin typeface="Arial" panose="020B0604020202020204" pitchFamily="34" charset="0"/>
                <a:ea typeface="宋体" panose="02010600030101010101" pitchFamily="2" charset="-122"/>
                <a:cs typeface="+mn-cs"/>
              </a:rPr>
              <a:t>101=</a:t>
            </a:r>
            <a:r>
              <a:rPr kumimoji="0" lang="zh-CN" altLang="en-US" kern="1200" cap="none" spc="0" normalizeH="0" baseline="0" noProof="1">
                <a:latin typeface="Arial" panose="020B0604020202020204" pitchFamily="34" charset="0"/>
                <a:ea typeface="宋体" panose="02010600030101010101" pitchFamily="2" charset="-122"/>
                <a:cs typeface="+mn-cs"/>
              </a:rPr>
              <a:t>基本型；</a:t>
            </a:r>
            <a:r>
              <a:rPr kumimoji="0" lang="en-US" altLang="zh-CN" kern="1200" cap="none" spc="0" normalizeH="0" baseline="0" noProof="1">
                <a:latin typeface="Arial" panose="020B0604020202020204" pitchFamily="34" charset="0"/>
                <a:ea typeface="宋体" panose="02010600030101010101" pitchFamily="2" charset="-122"/>
                <a:cs typeface="+mn-cs"/>
              </a:rPr>
              <a:t>102=USB</a:t>
            </a:r>
            <a:r>
              <a:rPr kumimoji="0" lang="zh-CN" altLang="en-US" kern="1200" cap="none" spc="0" normalizeH="0" baseline="0" noProof="1">
                <a:latin typeface="Arial" panose="020B0604020202020204" pitchFamily="34" charset="0"/>
                <a:ea typeface="宋体" panose="02010600030101010101" pitchFamily="2" charset="-122"/>
                <a:cs typeface="+mn-cs"/>
              </a:rPr>
              <a:t>型；</a:t>
            </a:r>
            <a:r>
              <a:rPr kumimoji="0" lang="en-US" altLang="zh-CN" kern="1200" cap="none" spc="0" normalizeH="0" baseline="0" noProof="1">
                <a:latin typeface="Arial" panose="020B0604020202020204" pitchFamily="34" charset="0"/>
                <a:ea typeface="宋体" panose="02010600030101010101" pitchFamily="2" charset="-122"/>
                <a:cs typeface="+mn-cs"/>
              </a:rPr>
              <a:t>103=</a:t>
            </a:r>
            <a:r>
              <a:rPr kumimoji="0" lang="zh-CN" altLang="en-US" kern="1200" cap="none" spc="0" normalizeH="0" baseline="0" noProof="1">
                <a:latin typeface="Arial" panose="020B0604020202020204" pitchFamily="34" charset="0"/>
                <a:ea typeface="宋体" panose="02010600030101010101" pitchFamily="2" charset="-122"/>
                <a:cs typeface="+mn-cs"/>
              </a:rPr>
              <a:t>增强型；</a:t>
            </a:r>
            <a:r>
              <a:rPr kumimoji="0" lang="en-US" altLang="zh-CN" kern="1200" cap="none" spc="0" normalizeH="0" baseline="0" noProof="1">
                <a:latin typeface="Arial" panose="020B0604020202020204" pitchFamily="34" charset="0"/>
                <a:ea typeface="宋体" panose="02010600030101010101" pitchFamily="2" charset="-122"/>
                <a:cs typeface="+mn-cs"/>
              </a:rPr>
              <a:t>105</a:t>
            </a:r>
            <a:r>
              <a:rPr kumimoji="0" lang="zh-CN" altLang="en-US" kern="1200" cap="none" spc="0" normalizeH="0" baseline="0" noProof="1">
                <a:latin typeface="Arial" panose="020B0604020202020204" pitchFamily="34" charset="0"/>
                <a:ea typeface="宋体" panose="02010600030101010101" pitchFamily="2" charset="-122"/>
                <a:cs typeface="+mn-cs"/>
              </a:rPr>
              <a:t>或</a:t>
            </a:r>
            <a:r>
              <a:rPr kumimoji="0" lang="en-US" altLang="zh-CN" kern="1200" cap="none" spc="0" normalizeH="0" baseline="0" noProof="1">
                <a:latin typeface="Arial" panose="020B0604020202020204" pitchFamily="34" charset="0"/>
                <a:ea typeface="宋体" panose="02010600030101010101" pitchFamily="2" charset="-122"/>
                <a:cs typeface="+mn-cs"/>
              </a:rPr>
              <a:t>107=</a:t>
            </a:r>
            <a:r>
              <a:rPr kumimoji="0" lang="zh-CN" altLang="en-US" kern="1200" cap="none" spc="0" normalizeH="0" baseline="0" noProof="1">
                <a:latin typeface="Arial" panose="020B0604020202020204" pitchFamily="34" charset="0"/>
                <a:ea typeface="宋体" panose="02010600030101010101" pitchFamily="2" charset="-122"/>
                <a:cs typeface="+mn-cs"/>
              </a:rPr>
              <a:t>互联型</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37" name="文本框 36"/>
          <p:cNvSpPr txBox="1"/>
          <p:nvPr/>
        </p:nvSpPr>
        <p:spPr>
          <a:xfrm>
            <a:off x="923925" y="2463800"/>
            <a:ext cx="6913245" cy="64516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Z：</a:t>
            </a:r>
            <a:r>
              <a:rPr kumimoji="0" lang="zh-CN" altLang="en-US" kern="1200" cap="none" spc="0" normalizeH="0" baseline="0" noProof="1">
                <a:latin typeface="Arial" panose="020B0604020202020204" pitchFamily="34" charset="0"/>
                <a:ea typeface="宋体" panose="02010600030101010101" pitchFamily="2" charset="-122"/>
                <a:cs typeface="+mn-cs"/>
              </a:rPr>
              <a:t>引脚数目，</a:t>
            </a:r>
            <a:r>
              <a:rPr kumimoji="0" lang="en-US" altLang="zh-CN" kern="1200" cap="none" spc="0" normalizeH="0" baseline="0" noProof="1">
                <a:latin typeface="Arial" panose="020B0604020202020204" pitchFamily="34" charset="0"/>
                <a:ea typeface="宋体" panose="02010600030101010101" pitchFamily="2" charset="-122"/>
                <a:cs typeface="+mn-cs"/>
              </a:rPr>
              <a:t>T=36 Pins</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C</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=48 Pins</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r>
              <a:rPr kumimoji="0" lang="en-US" altLang="zh-CN" kern="1200" cap="none" spc="0" normalizeH="0" baseline="0" noProof="1">
                <a:latin typeface="Arial" panose="020B0604020202020204" pitchFamily="34" charset="0"/>
                <a:ea typeface="宋体" panose="02010600030101010101" pitchFamily="2" charset="-122"/>
                <a:cs typeface="+mn-cs"/>
              </a:rPr>
              <a:t>R</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=64 Pins</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r>
              <a:rPr kumimoji="0" lang="en-US" altLang="zh-CN" kern="1200" cap="none" spc="0" normalizeH="0" baseline="0" noProof="1">
                <a:latin typeface="Arial" panose="020B0604020202020204" pitchFamily="34" charset="0"/>
                <a:ea typeface="宋体" panose="02010600030101010101" pitchFamily="2" charset="-122"/>
                <a:cs typeface="+mn-cs"/>
              </a:rPr>
              <a:t>V</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=100 Pins</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r>
              <a:rPr kumimoji="0" lang="en-US" altLang="zh-CN" kern="1200" cap="none" spc="0" normalizeH="0" baseline="0" noProof="1">
                <a:latin typeface="Arial" panose="020B0604020202020204" pitchFamily="34" charset="0"/>
                <a:ea typeface="宋体" panose="02010600030101010101" pitchFamily="2" charset="-122"/>
                <a:cs typeface="+mn-cs"/>
              </a:rPr>
              <a:t>Z</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=144 Pins</a:t>
            </a:r>
            <a:endParaRPr kumimoji="0" lang="en-US" altLang="zh-CN" kern="1200" cap="none" spc="0" normalizeH="0" baseline="0" noProof="1">
              <a:latin typeface="Arial" panose="020B0604020202020204" pitchFamily="34" charset="0"/>
              <a:ea typeface="宋体" panose="02010600030101010101" pitchFamily="2" charset="-122"/>
              <a:cs typeface="+mn-cs"/>
            </a:endParaRPr>
          </a:p>
        </p:txBody>
      </p:sp>
      <p:sp>
        <p:nvSpPr>
          <p:cNvPr id="38" name="文本框 37"/>
          <p:cNvSpPr txBox="1"/>
          <p:nvPr/>
        </p:nvSpPr>
        <p:spPr>
          <a:xfrm>
            <a:off x="923925" y="3108960"/>
            <a:ext cx="7275195" cy="64516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E：</a:t>
            </a:r>
            <a:r>
              <a:rPr kumimoji="0" lang="zh-CN" altLang="en-US" kern="1200" cap="none" spc="0" normalizeH="0" baseline="0" noProof="1">
                <a:latin typeface="Arial" panose="020B0604020202020204" pitchFamily="34" charset="0"/>
                <a:ea typeface="宋体" panose="02010600030101010101" pitchFamily="2" charset="-122"/>
                <a:cs typeface="+mn-cs"/>
              </a:rPr>
              <a:t>闪存容量，</a:t>
            </a:r>
            <a:r>
              <a:rPr kumimoji="0" lang="en-US" kern="1200" cap="none" spc="0" normalizeH="0" baseline="0" noProof="1">
                <a:latin typeface="Arial" panose="020B0604020202020204" pitchFamily="34" charset="0"/>
                <a:ea typeface="宋体" panose="02010600030101010101" pitchFamily="2" charset="-122"/>
                <a:cs typeface="+mn-cs"/>
              </a:rPr>
              <a:t>4=16KB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6=32KB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8</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=64KB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B</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=128KB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C</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=256KB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D</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=384KB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E</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=512KB</a:t>
            </a:r>
            <a:endParaRPr kumimoji="0" lang="en-US" altLang="zh-CN" kern="1200" cap="none" spc="0" normalizeH="0" baseline="0" noProof="1">
              <a:latin typeface="Arial" panose="020B0604020202020204" pitchFamily="34" charset="0"/>
              <a:ea typeface="宋体" panose="02010600030101010101" pitchFamily="2" charset="-122"/>
              <a:cs typeface="+mn-cs"/>
            </a:endParaRPr>
          </a:p>
        </p:txBody>
      </p:sp>
      <p:sp>
        <p:nvSpPr>
          <p:cNvPr id="39" name="文本框 38"/>
          <p:cNvSpPr txBox="1"/>
          <p:nvPr/>
        </p:nvSpPr>
        <p:spPr>
          <a:xfrm>
            <a:off x="923925" y="3754118"/>
            <a:ext cx="6408420" cy="36830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T：</a:t>
            </a:r>
            <a:r>
              <a:rPr kumimoji="0" lang="zh-CN" altLang="en-US" kern="1200" cap="none" spc="0" normalizeH="0" baseline="0" noProof="1">
                <a:latin typeface="Arial" panose="020B0604020202020204" pitchFamily="34" charset="0"/>
                <a:ea typeface="宋体" panose="02010600030101010101" pitchFamily="2" charset="-122"/>
                <a:cs typeface="+mn-cs"/>
              </a:rPr>
              <a:t>封装，</a:t>
            </a:r>
            <a:r>
              <a:rPr kumimoji="0" lang="en-US" altLang="zh-CN" kern="1200" cap="none" spc="0" normalizeH="0" baseline="0" noProof="1">
                <a:latin typeface="Arial" panose="020B0604020202020204" pitchFamily="34" charset="0"/>
                <a:ea typeface="宋体" panose="02010600030101010101" pitchFamily="2" charset="-122"/>
                <a:cs typeface="+mn-cs"/>
              </a:rPr>
              <a:t>H=BGA</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T=LQFP</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U=VFQFPN</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Y=WLCSP64</a:t>
            </a:r>
            <a:endParaRPr kumimoji="0" lang="en-US" altLang="zh-CN" kern="1200" cap="none" spc="0" normalizeH="0" baseline="0" noProof="1">
              <a:latin typeface="Arial" panose="020B0604020202020204" pitchFamily="34" charset="0"/>
              <a:ea typeface="宋体" panose="02010600030101010101" pitchFamily="2" charset="-122"/>
              <a:cs typeface="+mn-cs"/>
            </a:endParaRPr>
          </a:p>
        </p:txBody>
      </p:sp>
      <p:sp>
        <p:nvSpPr>
          <p:cNvPr id="40" name="文本框 39"/>
          <p:cNvSpPr txBox="1"/>
          <p:nvPr/>
        </p:nvSpPr>
        <p:spPr>
          <a:xfrm>
            <a:off x="923925" y="4122419"/>
            <a:ext cx="6408420" cy="36830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6：</a:t>
            </a:r>
            <a:r>
              <a:rPr kumimoji="0" lang="zh-CN" altLang="en-US" kern="1200" cap="none" spc="0" normalizeH="0" baseline="0" noProof="1">
                <a:latin typeface="Arial" panose="020B0604020202020204" pitchFamily="34" charset="0"/>
                <a:ea typeface="宋体" panose="02010600030101010101" pitchFamily="2" charset="-122"/>
                <a:cs typeface="+mn-cs"/>
              </a:rPr>
              <a:t>温度范围，</a:t>
            </a:r>
            <a:r>
              <a:rPr kumimoji="0" lang="en-US" altLang="zh-CN" kern="1200" cap="none" spc="0" normalizeH="0" baseline="0" noProof="1">
                <a:latin typeface="Arial" panose="020B0604020202020204" pitchFamily="34" charset="0"/>
                <a:ea typeface="宋体" panose="02010600030101010101" pitchFamily="2" charset="-122"/>
                <a:cs typeface="+mn-cs"/>
              </a:rPr>
              <a:t>6=-40℃~85℃</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7=-40℃~105℃</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15371" name="文本框 1"/>
          <p:cNvSpPr txBox="1"/>
          <p:nvPr/>
        </p:nvSpPr>
        <p:spPr>
          <a:xfrm>
            <a:off x="5360988" y="4491038"/>
            <a:ext cx="3114675" cy="336550"/>
          </a:xfrm>
          <a:prstGeom prst="rect">
            <a:avLst/>
          </a:prstGeom>
          <a:noFill/>
          <a:ln w="9525">
            <a:noFill/>
          </a:ln>
        </p:spPr>
        <p:txBody>
          <a:bodyPr anchor="t" anchorCtr="0">
            <a:spAutoFit/>
          </a:bodyPr>
          <a:p>
            <a:r>
              <a:rPr lang="zh-CN" altLang="en-US" sz="1600" i="1" dirty="0">
                <a:latin typeface="Arial" panose="020B0604020202020204" pitchFamily="34" charset="0"/>
                <a:ea typeface="宋体" panose="02010600030101010101" pitchFamily="2" charset="-122"/>
                <a:sym typeface="Bodoni MT" panose="02070603080606020203" pitchFamily="18" charset="0"/>
              </a:rPr>
              <a:t>参考资料：《</a:t>
            </a:r>
            <a:r>
              <a:rPr lang="en-US" altLang="zh-CN" sz="1600" i="1" dirty="0">
                <a:latin typeface="Arial" panose="020B0604020202020204" pitchFamily="34" charset="0"/>
                <a:ea typeface="宋体" panose="02010600030101010101" pitchFamily="2" charset="-122"/>
                <a:sym typeface="微软雅黑" panose="020B0503020204020204" pitchFamily="34" charset="-122"/>
              </a:rPr>
              <a:t>ST MCU</a:t>
            </a:r>
            <a:r>
              <a:rPr lang="zh-CN" altLang="en-US" sz="1600" i="1" dirty="0">
                <a:latin typeface="Arial" panose="020B0604020202020204" pitchFamily="34" charset="0"/>
                <a:ea typeface="宋体" panose="02010600030101010101" pitchFamily="2" charset="-122"/>
                <a:sym typeface="微软雅黑" panose="020B0503020204020204" pitchFamily="34" charset="-122"/>
              </a:rPr>
              <a:t>选型手册</a:t>
            </a:r>
            <a:r>
              <a:rPr lang="zh-CN" altLang="en-US" sz="1600" i="1" dirty="0">
                <a:latin typeface="Arial" panose="020B0604020202020204" pitchFamily="34" charset="0"/>
                <a:ea typeface="宋体" panose="02010600030101010101" pitchFamily="2" charset="-122"/>
                <a:sym typeface="Bodoni MT" panose="02070603080606020203" pitchFamily="18" charset="0"/>
              </a:rPr>
              <a:t>》</a:t>
            </a:r>
            <a:endParaRPr lang="zh-CN" altLang="en-US" sz="1600" i="1" dirty="0">
              <a:latin typeface="Arial" panose="020B0604020202020204" pitchFamily="34" charset="0"/>
              <a:ea typeface="宋体" panose="02010600030101010101" pitchFamily="2" charset="-122"/>
              <a:sym typeface="Bodoni MT" panose="020706030806060202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500" fill="hold"/>
                                        <p:tgtEl>
                                          <p:spTgt spid="36"/>
                                        </p:tgtEl>
                                      </p:cBhvr>
                                      <p:by x="130000" y="13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圆角矩形 5"/>
          <p:cNvSpPr/>
          <p:nvPr/>
        </p:nvSpPr>
        <p:spPr>
          <a:xfrm>
            <a:off x="260350" y="439738"/>
            <a:ext cx="8623300" cy="4462462"/>
          </a:xfrm>
          <a:prstGeom prst="roundRect">
            <a:avLst>
              <a:gd name="adj" fmla="val 16667"/>
            </a:avLst>
          </a:prstGeom>
          <a:noFill/>
          <a:ln w="47625" cap="flat" cmpd="sng">
            <a:solidFill>
              <a:srgbClr val="FC6C02"/>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sym typeface="Bodoni MT" panose="02070603080606020203" pitchFamily="18" charset="0"/>
            </a:endParaRPr>
          </a:p>
        </p:txBody>
      </p:sp>
      <p:sp useBgFill="1">
        <p:nvSpPr>
          <p:cNvPr id="12" name="矩形 11"/>
          <p:cNvSpPr/>
          <p:nvPr/>
        </p:nvSpPr>
        <p:spPr>
          <a:xfrm>
            <a:off x="717549" y="121918"/>
            <a:ext cx="2413636" cy="583566"/>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概述</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4" name="文本框 3"/>
          <p:cNvSpPr txBox="1"/>
          <p:nvPr/>
        </p:nvSpPr>
        <p:spPr>
          <a:xfrm>
            <a:off x="4909819" y="560068"/>
            <a:ext cx="3165475" cy="521971"/>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sz="2800" b="1" kern="1200" cap="none" spc="0" normalizeH="0" baseline="0" noProof="1">
                <a:ln>
                  <a:solidFill>
                    <a:schemeClr val="tx1"/>
                  </a:solidFill>
                </a:ln>
                <a:solidFill>
                  <a:srgbClr val="FC6C02"/>
                </a:solidFill>
                <a:latin typeface="Arial" panose="020B0604020202020204" pitchFamily="34" charset="0"/>
                <a:ea typeface="宋体" panose="02010600030101010101" pitchFamily="2" charset="-122"/>
                <a:cs typeface="+mn-cs"/>
              </a:rPr>
              <a:t>STM32F103ZET6</a:t>
            </a:r>
            <a:endParaRPr kumimoji="0" lang="en-US" altLang="zh-CN" sz="2800" b="1" kern="1200" cap="none" spc="0" normalizeH="0" baseline="0" noProof="1">
              <a:ln>
                <a:solidFill>
                  <a:schemeClr val="tx1"/>
                </a:solidFill>
              </a:ln>
              <a:solidFill>
                <a:srgbClr val="FC6C02"/>
              </a:solidFill>
              <a:latin typeface="Arial" panose="020B0604020202020204" pitchFamily="34" charset="0"/>
              <a:ea typeface="宋体" panose="02010600030101010101" pitchFamily="2" charset="-122"/>
              <a:cs typeface="+mn-cs"/>
            </a:endParaRPr>
          </a:p>
        </p:txBody>
      </p:sp>
      <p:sp>
        <p:nvSpPr>
          <p:cNvPr id="34" name="文本框 33"/>
          <p:cNvSpPr txBox="1"/>
          <p:nvPr/>
        </p:nvSpPr>
        <p:spPr>
          <a:xfrm>
            <a:off x="923925" y="1082033"/>
            <a:ext cx="6408420" cy="368300"/>
          </a:xfrm>
          <a:prstGeom prst="rect">
            <a:avLst/>
          </a:prstGeom>
          <a:noFill/>
          <a:effectLst>
            <a:outerShdw blurRad="50800" dist="38100" dir="8100000" algn="tr" rotWithShape="0">
              <a:prstClr val="black">
                <a:alpha val="40000"/>
              </a:prstClr>
            </a:outerShdw>
          </a:effectLst>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STM32</a:t>
            </a:r>
            <a:r>
              <a:rPr kumimoji="0" lang="zh-CN" altLang="en-US"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a:t>
            </a:r>
            <a:r>
              <a:rPr kumimoji="0" lang="zh-CN" altLang="en-US" kern="1200" cap="none" spc="0" normalizeH="0" baseline="0" noProof="1">
                <a:latin typeface="Arial" panose="020B0604020202020204" pitchFamily="34" charset="0"/>
                <a:ea typeface="宋体" panose="02010600030101010101" pitchFamily="2" charset="-122"/>
                <a:cs typeface="+mn-cs"/>
              </a:rPr>
              <a:t>产品系列，</a:t>
            </a:r>
            <a:r>
              <a:rPr kumimoji="0" lang="en-US" altLang="zh-CN" kern="1200" cap="none" spc="0" normalizeH="0" baseline="0" noProof="1">
                <a:latin typeface="Arial" panose="020B0604020202020204" pitchFamily="34" charset="0"/>
                <a:ea typeface="宋体" panose="02010600030101010101" pitchFamily="2" charset="-122"/>
                <a:cs typeface="+mn-cs"/>
              </a:rPr>
              <a:t>STM32=</a:t>
            </a:r>
            <a:r>
              <a:rPr kumimoji="0" lang="zh-CN" altLang="en-US" kern="1200" cap="none" spc="0" normalizeH="0" baseline="0" noProof="1">
                <a:latin typeface="Arial" panose="020B0604020202020204" pitchFamily="34" charset="0"/>
                <a:ea typeface="宋体" panose="02010600030101010101" pitchFamily="2" charset="-122"/>
                <a:cs typeface="+mn-cs"/>
              </a:rPr>
              <a:t>基于</a:t>
            </a:r>
            <a:r>
              <a:rPr kumimoji="0" lang="en-US" altLang="zh-CN" kern="1200" cap="none" spc="0" normalizeH="0" baseline="0" noProof="1">
                <a:latin typeface="Arial" panose="020B0604020202020204" pitchFamily="34" charset="0"/>
                <a:ea typeface="宋体" panose="02010600030101010101" pitchFamily="2" charset="-122"/>
                <a:cs typeface="+mn-cs"/>
              </a:rPr>
              <a:t>ARM</a:t>
            </a:r>
            <a:r>
              <a:rPr kumimoji="0" lang="zh-CN" altLang="en-US" kern="1200" cap="none" spc="0" normalizeH="0" baseline="0" noProof="1">
                <a:latin typeface="Arial" panose="020B0604020202020204" pitchFamily="34" charset="0"/>
                <a:ea typeface="宋体" panose="02010600030101010101" pitchFamily="2" charset="-122"/>
                <a:cs typeface="+mn-cs"/>
              </a:rPr>
              <a:t>的</a:t>
            </a:r>
            <a:r>
              <a:rPr kumimoji="0" lang="en-US" altLang="zh-CN" kern="1200" cap="none" spc="0" normalizeH="0" baseline="0" noProof="1">
                <a:latin typeface="Arial" panose="020B0604020202020204" pitchFamily="34" charset="0"/>
                <a:ea typeface="宋体" panose="02010600030101010101" pitchFamily="2" charset="-122"/>
                <a:cs typeface="+mn-cs"/>
              </a:rPr>
              <a:t>32</a:t>
            </a:r>
            <a:r>
              <a:rPr kumimoji="0" lang="zh-CN" altLang="en-US" kern="1200" cap="none" spc="0" normalizeH="0" baseline="0" noProof="1">
                <a:latin typeface="Arial" panose="020B0604020202020204" pitchFamily="34" charset="0"/>
                <a:ea typeface="宋体" panose="02010600030101010101" pitchFamily="2" charset="-122"/>
                <a:cs typeface="+mn-cs"/>
              </a:rPr>
              <a:t>位微控制器</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35" name="文本框 34"/>
          <p:cNvSpPr txBox="1"/>
          <p:nvPr/>
        </p:nvSpPr>
        <p:spPr>
          <a:xfrm>
            <a:off x="923925" y="1450336"/>
            <a:ext cx="6408420" cy="36830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F：</a:t>
            </a:r>
            <a:r>
              <a:rPr kumimoji="0" lang="zh-CN" altLang="en-US" kern="1200" cap="none" spc="0" normalizeH="0" baseline="0" noProof="1">
                <a:latin typeface="Arial" panose="020B0604020202020204" pitchFamily="34" charset="0"/>
                <a:ea typeface="宋体" panose="02010600030101010101" pitchFamily="2" charset="-122"/>
                <a:cs typeface="+mn-cs"/>
              </a:rPr>
              <a:t>产品类型，</a:t>
            </a:r>
            <a:r>
              <a:rPr kumimoji="0" lang="en-US" altLang="zh-CN" kern="1200" cap="none" spc="0" normalizeH="0" baseline="0" noProof="1">
                <a:latin typeface="Arial" panose="020B0604020202020204" pitchFamily="34" charset="0"/>
                <a:ea typeface="宋体" panose="02010600030101010101" pitchFamily="2" charset="-122"/>
                <a:cs typeface="+mn-cs"/>
              </a:rPr>
              <a:t>F=</a:t>
            </a:r>
            <a:r>
              <a:rPr kumimoji="0" lang="zh-CN" altLang="en-US" kern="1200" cap="none" spc="0" normalizeH="0" baseline="0" noProof="1">
                <a:latin typeface="Arial" panose="020B0604020202020204" pitchFamily="34" charset="0"/>
                <a:ea typeface="宋体" panose="02010600030101010101" pitchFamily="2" charset="-122"/>
                <a:cs typeface="+mn-cs"/>
              </a:rPr>
              <a:t>通用类型</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36" name="文本框 35"/>
          <p:cNvSpPr txBox="1"/>
          <p:nvPr/>
        </p:nvSpPr>
        <p:spPr>
          <a:xfrm>
            <a:off x="923924" y="1818639"/>
            <a:ext cx="6408420" cy="64516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103：</a:t>
            </a:r>
            <a:r>
              <a:rPr kumimoji="0" lang="zh-CN" altLang="en-US" kern="1200" cap="none" spc="0" normalizeH="0" baseline="0" noProof="1">
                <a:latin typeface="Arial" panose="020B0604020202020204" pitchFamily="34" charset="0"/>
                <a:ea typeface="宋体" panose="02010600030101010101" pitchFamily="2" charset="-122"/>
                <a:cs typeface="+mn-cs"/>
              </a:rPr>
              <a:t>产品子系列；</a:t>
            </a:r>
            <a:r>
              <a:rPr kumimoji="0" lang="en-US" kern="1200" cap="none" spc="0" normalizeH="0" baseline="0" noProof="1">
                <a:latin typeface="Arial" panose="020B0604020202020204" pitchFamily="34" charset="0"/>
                <a:ea typeface="宋体" panose="02010600030101010101" pitchFamily="2" charset="-122"/>
                <a:cs typeface="+mn-cs"/>
              </a:rPr>
              <a:t>101=</a:t>
            </a:r>
            <a:r>
              <a:rPr kumimoji="0" lang="zh-CN" altLang="en-US" kern="1200" cap="none" spc="0" normalizeH="0" baseline="0" noProof="1">
                <a:latin typeface="Arial" panose="020B0604020202020204" pitchFamily="34" charset="0"/>
                <a:ea typeface="宋体" panose="02010600030101010101" pitchFamily="2" charset="-122"/>
                <a:cs typeface="+mn-cs"/>
              </a:rPr>
              <a:t>基本型；</a:t>
            </a:r>
            <a:r>
              <a:rPr kumimoji="0" lang="en-US" altLang="zh-CN" kern="1200" cap="none" spc="0" normalizeH="0" baseline="0" noProof="1">
                <a:latin typeface="Arial" panose="020B0604020202020204" pitchFamily="34" charset="0"/>
                <a:ea typeface="宋体" panose="02010600030101010101" pitchFamily="2" charset="-122"/>
                <a:cs typeface="+mn-cs"/>
              </a:rPr>
              <a:t>102=USB</a:t>
            </a:r>
            <a:r>
              <a:rPr kumimoji="0" lang="zh-CN" altLang="en-US" kern="1200" cap="none" spc="0" normalizeH="0" baseline="0" noProof="1">
                <a:latin typeface="Arial" panose="020B0604020202020204" pitchFamily="34" charset="0"/>
                <a:ea typeface="宋体" panose="02010600030101010101" pitchFamily="2" charset="-122"/>
                <a:cs typeface="+mn-cs"/>
              </a:rPr>
              <a:t>型；</a:t>
            </a:r>
            <a:r>
              <a:rPr kumimoji="0" lang="en-US" altLang="zh-CN" kern="1200" cap="none" spc="0" normalizeH="0" baseline="0" noProof="1">
                <a:latin typeface="Arial" panose="020B0604020202020204" pitchFamily="34" charset="0"/>
                <a:ea typeface="宋体" panose="02010600030101010101" pitchFamily="2" charset="-122"/>
                <a:cs typeface="+mn-cs"/>
              </a:rPr>
              <a:t>103=</a:t>
            </a:r>
            <a:r>
              <a:rPr kumimoji="0" lang="zh-CN" altLang="en-US" kern="1200" cap="none" spc="0" normalizeH="0" baseline="0" noProof="1">
                <a:latin typeface="Arial" panose="020B0604020202020204" pitchFamily="34" charset="0"/>
                <a:ea typeface="宋体" panose="02010600030101010101" pitchFamily="2" charset="-122"/>
                <a:cs typeface="+mn-cs"/>
              </a:rPr>
              <a:t>增强型；</a:t>
            </a:r>
            <a:r>
              <a:rPr kumimoji="0" lang="en-US" altLang="zh-CN" kern="1200" cap="none" spc="0" normalizeH="0" baseline="0" noProof="1">
                <a:latin typeface="Arial" panose="020B0604020202020204" pitchFamily="34" charset="0"/>
                <a:ea typeface="宋体" panose="02010600030101010101" pitchFamily="2" charset="-122"/>
                <a:cs typeface="+mn-cs"/>
              </a:rPr>
              <a:t>105</a:t>
            </a:r>
            <a:r>
              <a:rPr kumimoji="0" lang="zh-CN" altLang="en-US" kern="1200" cap="none" spc="0" normalizeH="0" baseline="0" noProof="1">
                <a:latin typeface="Arial" panose="020B0604020202020204" pitchFamily="34" charset="0"/>
                <a:ea typeface="宋体" panose="02010600030101010101" pitchFamily="2" charset="-122"/>
                <a:cs typeface="+mn-cs"/>
              </a:rPr>
              <a:t>或</a:t>
            </a:r>
            <a:r>
              <a:rPr kumimoji="0" lang="en-US" altLang="zh-CN" kern="1200" cap="none" spc="0" normalizeH="0" baseline="0" noProof="1">
                <a:latin typeface="Arial" panose="020B0604020202020204" pitchFamily="34" charset="0"/>
                <a:ea typeface="宋体" panose="02010600030101010101" pitchFamily="2" charset="-122"/>
                <a:cs typeface="+mn-cs"/>
              </a:rPr>
              <a:t>107=</a:t>
            </a:r>
            <a:r>
              <a:rPr kumimoji="0" lang="zh-CN" altLang="en-US" kern="1200" cap="none" spc="0" normalizeH="0" baseline="0" noProof="1">
                <a:latin typeface="Arial" panose="020B0604020202020204" pitchFamily="34" charset="0"/>
                <a:ea typeface="宋体" panose="02010600030101010101" pitchFamily="2" charset="-122"/>
                <a:cs typeface="+mn-cs"/>
              </a:rPr>
              <a:t>互联型</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37" name="文本框 36"/>
          <p:cNvSpPr txBox="1"/>
          <p:nvPr/>
        </p:nvSpPr>
        <p:spPr>
          <a:xfrm>
            <a:off x="923925" y="2463800"/>
            <a:ext cx="6913245" cy="64516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Z：</a:t>
            </a:r>
            <a:r>
              <a:rPr kumimoji="0" lang="zh-CN" altLang="en-US" kern="1200" cap="none" spc="0" normalizeH="0" baseline="0" noProof="1">
                <a:latin typeface="Arial" panose="020B0604020202020204" pitchFamily="34" charset="0"/>
                <a:ea typeface="宋体" panose="02010600030101010101" pitchFamily="2" charset="-122"/>
                <a:cs typeface="+mn-cs"/>
              </a:rPr>
              <a:t>引脚数目，</a:t>
            </a:r>
            <a:r>
              <a:rPr kumimoji="0" lang="en-US" altLang="zh-CN" kern="1200" cap="none" spc="0" normalizeH="0" baseline="0" noProof="1">
                <a:latin typeface="Arial" panose="020B0604020202020204" pitchFamily="34" charset="0"/>
                <a:ea typeface="宋体" panose="02010600030101010101" pitchFamily="2" charset="-122"/>
                <a:cs typeface="+mn-cs"/>
              </a:rPr>
              <a:t>T=36 Pins</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C</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=48 Pins</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r>
              <a:rPr kumimoji="0" lang="en-US" altLang="zh-CN" kern="1200" cap="none" spc="0" normalizeH="0" baseline="0" noProof="1">
                <a:latin typeface="Arial" panose="020B0604020202020204" pitchFamily="34" charset="0"/>
                <a:ea typeface="宋体" panose="02010600030101010101" pitchFamily="2" charset="-122"/>
                <a:cs typeface="+mn-cs"/>
              </a:rPr>
              <a:t>R</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=64 Pins</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r>
              <a:rPr kumimoji="0" lang="en-US" altLang="zh-CN" kern="1200" cap="none" spc="0" normalizeH="0" baseline="0" noProof="1">
                <a:latin typeface="Arial" panose="020B0604020202020204" pitchFamily="34" charset="0"/>
                <a:ea typeface="宋体" panose="02010600030101010101" pitchFamily="2" charset="-122"/>
                <a:cs typeface="+mn-cs"/>
              </a:rPr>
              <a:t>V</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=100 Pins</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r>
              <a:rPr kumimoji="0" lang="en-US" altLang="zh-CN" kern="1200" cap="none" spc="0" normalizeH="0" baseline="0" noProof="1">
                <a:latin typeface="Arial" panose="020B0604020202020204" pitchFamily="34" charset="0"/>
                <a:ea typeface="宋体" panose="02010600030101010101" pitchFamily="2" charset="-122"/>
                <a:cs typeface="+mn-cs"/>
              </a:rPr>
              <a:t>Z</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=144 Pins</a:t>
            </a:r>
            <a:endParaRPr kumimoji="0" lang="en-US" altLang="zh-CN" kern="1200" cap="none" spc="0" normalizeH="0" baseline="0" noProof="1">
              <a:latin typeface="Arial" panose="020B0604020202020204" pitchFamily="34" charset="0"/>
              <a:ea typeface="宋体" panose="02010600030101010101" pitchFamily="2" charset="-122"/>
              <a:cs typeface="+mn-cs"/>
            </a:endParaRPr>
          </a:p>
        </p:txBody>
      </p:sp>
      <p:sp>
        <p:nvSpPr>
          <p:cNvPr id="38" name="文本框 37"/>
          <p:cNvSpPr txBox="1"/>
          <p:nvPr/>
        </p:nvSpPr>
        <p:spPr>
          <a:xfrm>
            <a:off x="923925" y="3108960"/>
            <a:ext cx="7275195" cy="64516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E：</a:t>
            </a:r>
            <a:r>
              <a:rPr kumimoji="0" lang="zh-CN" altLang="en-US" kern="1200" cap="none" spc="0" normalizeH="0" baseline="0" noProof="1">
                <a:latin typeface="Arial" panose="020B0604020202020204" pitchFamily="34" charset="0"/>
                <a:ea typeface="宋体" panose="02010600030101010101" pitchFamily="2" charset="-122"/>
                <a:cs typeface="+mn-cs"/>
              </a:rPr>
              <a:t>闪存容量，</a:t>
            </a:r>
            <a:r>
              <a:rPr kumimoji="0" lang="en-US" kern="1200" cap="none" spc="0" normalizeH="0" baseline="0" noProof="1">
                <a:latin typeface="Arial" panose="020B0604020202020204" pitchFamily="34" charset="0"/>
                <a:ea typeface="宋体" panose="02010600030101010101" pitchFamily="2" charset="-122"/>
                <a:cs typeface="+mn-cs"/>
              </a:rPr>
              <a:t>4=16KB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6=32KB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8</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=64KB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B</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=128KB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C</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=256KB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D</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=384KB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E</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=512KB</a:t>
            </a:r>
            <a:endParaRPr kumimoji="0" lang="en-US" altLang="zh-CN" kern="1200" cap="none" spc="0" normalizeH="0" baseline="0" noProof="1">
              <a:latin typeface="Arial" panose="020B0604020202020204" pitchFamily="34" charset="0"/>
              <a:ea typeface="宋体" panose="02010600030101010101" pitchFamily="2" charset="-122"/>
              <a:cs typeface="+mn-cs"/>
            </a:endParaRPr>
          </a:p>
        </p:txBody>
      </p:sp>
      <p:sp>
        <p:nvSpPr>
          <p:cNvPr id="39" name="文本框 38"/>
          <p:cNvSpPr txBox="1"/>
          <p:nvPr/>
        </p:nvSpPr>
        <p:spPr>
          <a:xfrm>
            <a:off x="923925" y="3754118"/>
            <a:ext cx="6408420" cy="36830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T：</a:t>
            </a:r>
            <a:r>
              <a:rPr kumimoji="0" lang="zh-CN" altLang="en-US" kern="1200" cap="none" spc="0" normalizeH="0" baseline="0" noProof="1">
                <a:latin typeface="Arial" panose="020B0604020202020204" pitchFamily="34" charset="0"/>
                <a:ea typeface="宋体" panose="02010600030101010101" pitchFamily="2" charset="-122"/>
                <a:cs typeface="+mn-cs"/>
              </a:rPr>
              <a:t>封装，</a:t>
            </a:r>
            <a:r>
              <a:rPr kumimoji="0" lang="en-US" altLang="zh-CN" kern="1200" cap="none" spc="0" normalizeH="0" baseline="0" noProof="1">
                <a:latin typeface="Arial" panose="020B0604020202020204" pitchFamily="34" charset="0"/>
                <a:ea typeface="宋体" panose="02010600030101010101" pitchFamily="2" charset="-122"/>
                <a:cs typeface="+mn-cs"/>
              </a:rPr>
              <a:t>H=BGA</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T=LQFP</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U=VFQFPN</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Y=WLCSP64</a:t>
            </a:r>
            <a:endParaRPr kumimoji="0" lang="en-US" altLang="zh-CN" kern="1200" cap="none" spc="0" normalizeH="0" baseline="0" noProof="1">
              <a:latin typeface="Arial" panose="020B0604020202020204" pitchFamily="34" charset="0"/>
              <a:ea typeface="宋体" panose="02010600030101010101" pitchFamily="2" charset="-122"/>
              <a:cs typeface="+mn-cs"/>
            </a:endParaRPr>
          </a:p>
        </p:txBody>
      </p:sp>
      <p:sp>
        <p:nvSpPr>
          <p:cNvPr id="40" name="文本框 39"/>
          <p:cNvSpPr txBox="1"/>
          <p:nvPr/>
        </p:nvSpPr>
        <p:spPr>
          <a:xfrm>
            <a:off x="923925" y="4122419"/>
            <a:ext cx="6408420" cy="36830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6：</a:t>
            </a:r>
            <a:r>
              <a:rPr kumimoji="0" lang="zh-CN" altLang="en-US" kern="1200" cap="none" spc="0" normalizeH="0" baseline="0" noProof="1">
                <a:latin typeface="Arial" panose="020B0604020202020204" pitchFamily="34" charset="0"/>
                <a:ea typeface="宋体" panose="02010600030101010101" pitchFamily="2" charset="-122"/>
                <a:cs typeface="+mn-cs"/>
              </a:rPr>
              <a:t>温度范围，</a:t>
            </a:r>
            <a:r>
              <a:rPr kumimoji="0" lang="en-US" altLang="zh-CN" kern="1200" cap="none" spc="0" normalizeH="0" baseline="0" noProof="1">
                <a:latin typeface="Arial" panose="020B0604020202020204" pitchFamily="34" charset="0"/>
                <a:ea typeface="宋体" panose="02010600030101010101" pitchFamily="2" charset="-122"/>
                <a:cs typeface="+mn-cs"/>
              </a:rPr>
              <a:t>6=-40℃~85℃</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7=-40℃~105℃</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16395" name="文本框 1"/>
          <p:cNvSpPr txBox="1"/>
          <p:nvPr/>
        </p:nvSpPr>
        <p:spPr>
          <a:xfrm>
            <a:off x="5360988" y="4491038"/>
            <a:ext cx="3114675" cy="336550"/>
          </a:xfrm>
          <a:prstGeom prst="rect">
            <a:avLst/>
          </a:prstGeom>
          <a:noFill/>
          <a:ln w="9525">
            <a:noFill/>
          </a:ln>
        </p:spPr>
        <p:txBody>
          <a:bodyPr anchor="t" anchorCtr="0">
            <a:spAutoFit/>
          </a:bodyPr>
          <a:p>
            <a:r>
              <a:rPr lang="zh-CN" altLang="en-US" sz="1600" i="1" dirty="0">
                <a:latin typeface="Arial" panose="020B0604020202020204" pitchFamily="34" charset="0"/>
                <a:ea typeface="宋体" panose="02010600030101010101" pitchFamily="2" charset="-122"/>
                <a:sym typeface="Bodoni MT" panose="02070603080606020203" pitchFamily="18" charset="0"/>
              </a:rPr>
              <a:t>参考资料：《</a:t>
            </a:r>
            <a:r>
              <a:rPr lang="en-US" altLang="zh-CN" sz="1600" i="1" dirty="0">
                <a:latin typeface="Arial" panose="020B0604020202020204" pitchFamily="34" charset="0"/>
                <a:ea typeface="宋体" panose="02010600030101010101" pitchFamily="2" charset="-122"/>
                <a:sym typeface="微软雅黑" panose="020B0503020204020204" pitchFamily="34" charset="-122"/>
              </a:rPr>
              <a:t>ST MCU</a:t>
            </a:r>
            <a:r>
              <a:rPr lang="zh-CN" altLang="en-US" sz="1600" i="1" dirty="0">
                <a:latin typeface="Arial" panose="020B0604020202020204" pitchFamily="34" charset="0"/>
                <a:ea typeface="宋体" panose="02010600030101010101" pitchFamily="2" charset="-122"/>
                <a:sym typeface="微软雅黑" panose="020B0503020204020204" pitchFamily="34" charset="-122"/>
              </a:rPr>
              <a:t>选型手册</a:t>
            </a:r>
            <a:r>
              <a:rPr lang="zh-CN" altLang="en-US" sz="1600" i="1" dirty="0">
                <a:latin typeface="Arial" panose="020B0604020202020204" pitchFamily="34" charset="0"/>
                <a:ea typeface="宋体" panose="02010600030101010101" pitchFamily="2" charset="-122"/>
                <a:sym typeface="Bodoni MT" panose="02070603080606020203" pitchFamily="18" charset="0"/>
              </a:rPr>
              <a:t>》</a:t>
            </a:r>
            <a:endParaRPr lang="zh-CN" altLang="en-US" sz="1600" i="1" dirty="0">
              <a:latin typeface="Arial" panose="020B0604020202020204" pitchFamily="34" charset="0"/>
              <a:ea typeface="宋体" panose="02010600030101010101" pitchFamily="2" charset="-122"/>
              <a:sym typeface="Bodoni MT" panose="020706030806060202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500" fill="hold"/>
                                        <p:tgtEl>
                                          <p:spTgt spid="37"/>
                                        </p:tgtEl>
                                      </p:cBhvr>
                                      <p:by x="130000" y="13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圆角矩形 5"/>
          <p:cNvSpPr/>
          <p:nvPr/>
        </p:nvSpPr>
        <p:spPr>
          <a:xfrm>
            <a:off x="260350" y="439738"/>
            <a:ext cx="8623300" cy="4462462"/>
          </a:xfrm>
          <a:prstGeom prst="roundRect">
            <a:avLst>
              <a:gd name="adj" fmla="val 16667"/>
            </a:avLst>
          </a:prstGeom>
          <a:noFill/>
          <a:ln w="47625" cap="flat" cmpd="sng">
            <a:solidFill>
              <a:srgbClr val="FC6C02"/>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sym typeface="Bodoni MT" panose="02070603080606020203" pitchFamily="18" charset="0"/>
            </a:endParaRPr>
          </a:p>
        </p:txBody>
      </p:sp>
      <p:sp useBgFill="1">
        <p:nvSpPr>
          <p:cNvPr id="12" name="矩形 11"/>
          <p:cNvSpPr/>
          <p:nvPr/>
        </p:nvSpPr>
        <p:spPr>
          <a:xfrm>
            <a:off x="717549" y="121918"/>
            <a:ext cx="2413636" cy="583566"/>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概述</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4" name="文本框 3"/>
          <p:cNvSpPr txBox="1"/>
          <p:nvPr/>
        </p:nvSpPr>
        <p:spPr>
          <a:xfrm>
            <a:off x="4909819" y="560068"/>
            <a:ext cx="3165475" cy="521971"/>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sz="2800" b="1" kern="1200" cap="none" spc="0" normalizeH="0" baseline="0" noProof="1">
                <a:ln>
                  <a:solidFill>
                    <a:schemeClr val="tx1"/>
                  </a:solidFill>
                </a:ln>
                <a:solidFill>
                  <a:srgbClr val="FC6C02"/>
                </a:solidFill>
                <a:latin typeface="Arial" panose="020B0604020202020204" pitchFamily="34" charset="0"/>
                <a:ea typeface="宋体" panose="02010600030101010101" pitchFamily="2" charset="-122"/>
                <a:cs typeface="+mn-cs"/>
              </a:rPr>
              <a:t>STM32F103ZET6</a:t>
            </a:r>
            <a:endParaRPr kumimoji="0" lang="en-US" altLang="zh-CN" sz="2800" b="1" kern="1200" cap="none" spc="0" normalizeH="0" baseline="0" noProof="1">
              <a:ln>
                <a:solidFill>
                  <a:schemeClr val="tx1"/>
                </a:solidFill>
              </a:ln>
              <a:solidFill>
                <a:srgbClr val="FC6C02"/>
              </a:solidFill>
              <a:latin typeface="Arial" panose="020B0604020202020204" pitchFamily="34" charset="0"/>
              <a:ea typeface="宋体" panose="02010600030101010101" pitchFamily="2" charset="-122"/>
              <a:cs typeface="+mn-cs"/>
            </a:endParaRPr>
          </a:p>
        </p:txBody>
      </p:sp>
      <p:sp>
        <p:nvSpPr>
          <p:cNvPr id="34" name="文本框 33"/>
          <p:cNvSpPr txBox="1"/>
          <p:nvPr/>
        </p:nvSpPr>
        <p:spPr>
          <a:xfrm>
            <a:off x="923925" y="1082033"/>
            <a:ext cx="6408420" cy="368300"/>
          </a:xfrm>
          <a:prstGeom prst="rect">
            <a:avLst/>
          </a:prstGeom>
          <a:noFill/>
          <a:effectLst>
            <a:outerShdw blurRad="50800" dist="38100" dir="8100000" algn="tr" rotWithShape="0">
              <a:prstClr val="black">
                <a:alpha val="40000"/>
              </a:prstClr>
            </a:outerShdw>
          </a:effectLst>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STM32</a:t>
            </a:r>
            <a:r>
              <a:rPr kumimoji="0" lang="zh-CN" altLang="en-US"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a:t>
            </a:r>
            <a:r>
              <a:rPr kumimoji="0" lang="zh-CN" altLang="en-US" kern="1200" cap="none" spc="0" normalizeH="0" baseline="0" noProof="1">
                <a:latin typeface="Arial" panose="020B0604020202020204" pitchFamily="34" charset="0"/>
                <a:ea typeface="宋体" panose="02010600030101010101" pitchFamily="2" charset="-122"/>
                <a:cs typeface="+mn-cs"/>
              </a:rPr>
              <a:t>产品系列，</a:t>
            </a:r>
            <a:r>
              <a:rPr kumimoji="0" lang="en-US" altLang="zh-CN" kern="1200" cap="none" spc="0" normalizeH="0" baseline="0" noProof="1">
                <a:latin typeface="Arial" panose="020B0604020202020204" pitchFamily="34" charset="0"/>
                <a:ea typeface="宋体" panose="02010600030101010101" pitchFamily="2" charset="-122"/>
                <a:cs typeface="+mn-cs"/>
              </a:rPr>
              <a:t>STM32=</a:t>
            </a:r>
            <a:r>
              <a:rPr kumimoji="0" lang="zh-CN" altLang="en-US" kern="1200" cap="none" spc="0" normalizeH="0" baseline="0" noProof="1">
                <a:latin typeface="Arial" panose="020B0604020202020204" pitchFamily="34" charset="0"/>
                <a:ea typeface="宋体" panose="02010600030101010101" pitchFamily="2" charset="-122"/>
                <a:cs typeface="+mn-cs"/>
              </a:rPr>
              <a:t>基于</a:t>
            </a:r>
            <a:r>
              <a:rPr kumimoji="0" lang="en-US" altLang="zh-CN" kern="1200" cap="none" spc="0" normalizeH="0" baseline="0" noProof="1">
                <a:latin typeface="Arial" panose="020B0604020202020204" pitchFamily="34" charset="0"/>
                <a:ea typeface="宋体" panose="02010600030101010101" pitchFamily="2" charset="-122"/>
                <a:cs typeface="+mn-cs"/>
              </a:rPr>
              <a:t>ARM</a:t>
            </a:r>
            <a:r>
              <a:rPr kumimoji="0" lang="zh-CN" altLang="en-US" kern="1200" cap="none" spc="0" normalizeH="0" baseline="0" noProof="1">
                <a:latin typeface="Arial" panose="020B0604020202020204" pitchFamily="34" charset="0"/>
                <a:ea typeface="宋体" panose="02010600030101010101" pitchFamily="2" charset="-122"/>
                <a:cs typeface="+mn-cs"/>
              </a:rPr>
              <a:t>的</a:t>
            </a:r>
            <a:r>
              <a:rPr kumimoji="0" lang="en-US" altLang="zh-CN" kern="1200" cap="none" spc="0" normalizeH="0" baseline="0" noProof="1">
                <a:latin typeface="Arial" panose="020B0604020202020204" pitchFamily="34" charset="0"/>
                <a:ea typeface="宋体" panose="02010600030101010101" pitchFamily="2" charset="-122"/>
                <a:cs typeface="+mn-cs"/>
              </a:rPr>
              <a:t>32</a:t>
            </a:r>
            <a:r>
              <a:rPr kumimoji="0" lang="zh-CN" altLang="en-US" kern="1200" cap="none" spc="0" normalizeH="0" baseline="0" noProof="1">
                <a:latin typeface="Arial" panose="020B0604020202020204" pitchFamily="34" charset="0"/>
                <a:ea typeface="宋体" panose="02010600030101010101" pitchFamily="2" charset="-122"/>
                <a:cs typeface="+mn-cs"/>
              </a:rPr>
              <a:t>位微控制器</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35" name="文本框 34"/>
          <p:cNvSpPr txBox="1"/>
          <p:nvPr/>
        </p:nvSpPr>
        <p:spPr>
          <a:xfrm>
            <a:off x="923925" y="1450336"/>
            <a:ext cx="6408420" cy="36830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F：</a:t>
            </a:r>
            <a:r>
              <a:rPr kumimoji="0" lang="zh-CN" altLang="en-US" kern="1200" cap="none" spc="0" normalizeH="0" baseline="0" noProof="1">
                <a:latin typeface="Arial" panose="020B0604020202020204" pitchFamily="34" charset="0"/>
                <a:ea typeface="宋体" panose="02010600030101010101" pitchFamily="2" charset="-122"/>
                <a:cs typeface="+mn-cs"/>
              </a:rPr>
              <a:t>产品类型，</a:t>
            </a:r>
            <a:r>
              <a:rPr kumimoji="0" lang="en-US" altLang="zh-CN" kern="1200" cap="none" spc="0" normalizeH="0" baseline="0" noProof="1">
                <a:latin typeface="Arial" panose="020B0604020202020204" pitchFamily="34" charset="0"/>
                <a:ea typeface="宋体" panose="02010600030101010101" pitchFamily="2" charset="-122"/>
                <a:cs typeface="+mn-cs"/>
              </a:rPr>
              <a:t>F=</a:t>
            </a:r>
            <a:r>
              <a:rPr kumimoji="0" lang="zh-CN" altLang="en-US" kern="1200" cap="none" spc="0" normalizeH="0" baseline="0" noProof="1">
                <a:latin typeface="Arial" panose="020B0604020202020204" pitchFamily="34" charset="0"/>
                <a:ea typeface="宋体" panose="02010600030101010101" pitchFamily="2" charset="-122"/>
                <a:cs typeface="+mn-cs"/>
              </a:rPr>
              <a:t>通用类型</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36" name="文本框 35"/>
          <p:cNvSpPr txBox="1"/>
          <p:nvPr/>
        </p:nvSpPr>
        <p:spPr>
          <a:xfrm>
            <a:off x="923924" y="1818639"/>
            <a:ext cx="6408420" cy="64516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103：</a:t>
            </a:r>
            <a:r>
              <a:rPr kumimoji="0" lang="zh-CN" altLang="en-US" kern="1200" cap="none" spc="0" normalizeH="0" baseline="0" noProof="1">
                <a:latin typeface="Arial" panose="020B0604020202020204" pitchFamily="34" charset="0"/>
                <a:ea typeface="宋体" panose="02010600030101010101" pitchFamily="2" charset="-122"/>
                <a:cs typeface="+mn-cs"/>
              </a:rPr>
              <a:t>产品子系列；</a:t>
            </a:r>
            <a:r>
              <a:rPr kumimoji="0" lang="en-US" kern="1200" cap="none" spc="0" normalizeH="0" baseline="0" noProof="1">
                <a:latin typeface="Arial" panose="020B0604020202020204" pitchFamily="34" charset="0"/>
                <a:ea typeface="宋体" panose="02010600030101010101" pitchFamily="2" charset="-122"/>
                <a:cs typeface="+mn-cs"/>
              </a:rPr>
              <a:t>101=</a:t>
            </a:r>
            <a:r>
              <a:rPr kumimoji="0" lang="zh-CN" altLang="en-US" kern="1200" cap="none" spc="0" normalizeH="0" baseline="0" noProof="1">
                <a:latin typeface="Arial" panose="020B0604020202020204" pitchFamily="34" charset="0"/>
                <a:ea typeface="宋体" panose="02010600030101010101" pitchFamily="2" charset="-122"/>
                <a:cs typeface="+mn-cs"/>
              </a:rPr>
              <a:t>基本型；</a:t>
            </a:r>
            <a:r>
              <a:rPr kumimoji="0" lang="en-US" altLang="zh-CN" kern="1200" cap="none" spc="0" normalizeH="0" baseline="0" noProof="1">
                <a:latin typeface="Arial" panose="020B0604020202020204" pitchFamily="34" charset="0"/>
                <a:ea typeface="宋体" panose="02010600030101010101" pitchFamily="2" charset="-122"/>
                <a:cs typeface="+mn-cs"/>
              </a:rPr>
              <a:t>102=USB</a:t>
            </a:r>
            <a:r>
              <a:rPr kumimoji="0" lang="zh-CN" altLang="en-US" kern="1200" cap="none" spc="0" normalizeH="0" baseline="0" noProof="1">
                <a:latin typeface="Arial" panose="020B0604020202020204" pitchFamily="34" charset="0"/>
                <a:ea typeface="宋体" panose="02010600030101010101" pitchFamily="2" charset="-122"/>
                <a:cs typeface="+mn-cs"/>
              </a:rPr>
              <a:t>型；</a:t>
            </a:r>
            <a:r>
              <a:rPr kumimoji="0" lang="en-US" altLang="zh-CN" kern="1200" cap="none" spc="0" normalizeH="0" baseline="0" noProof="1">
                <a:latin typeface="Arial" panose="020B0604020202020204" pitchFamily="34" charset="0"/>
                <a:ea typeface="宋体" panose="02010600030101010101" pitchFamily="2" charset="-122"/>
                <a:cs typeface="+mn-cs"/>
              </a:rPr>
              <a:t>103=</a:t>
            </a:r>
            <a:r>
              <a:rPr kumimoji="0" lang="zh-CN" altLang="en-US" kern="1200" cap="none" spc="0" normalizeH="0" baseline="0" noProof="1">
                <a:latin typeface="Arial" panose="020B0604020202020204" pitchFamily="34" charset="0"/>
                <a:ea typeface="宋体" panose="02010600030101010101" pitchFamily="2" charset="-122"/>
                <a:cs typeface="+mn-cs"/>
              </a:rPr>
              <a:t>增强型；</a:t>
            </a:r>
            <a:r>
              <a:rPr kumimoji="0" lang="en-US" altLang="zh-CN" kern="1200" cap="none" spc="0" normalizeH="0" baseline="0" noProof="1">
                <a:latin typeface="Arial" panose="020B0604020202020204" pitchFamily="34" charset="0"/>
                <a:ea typeface="宋体" panose="02010600030101010101" pitchFamily="2" charset="-122"/>
                <a:cs typeface="+mn-cs"/>
              </a:rPr>
              <a:t>105</a:t>
            </a:r>
            <a:r>
              <a:rPr kumimoji="0" lang="zh-CN" altLang="en-US" kern="1200" cap="none" spc="0" normalizeH="0" baseline="0" noProof="1">
                <a:latin typeface="Arial" panose="020B0604020202020204" pitchFamily="34" charset="0"/>
                <a:ea typeface="宋体" panose="02010600030101010101" pitchFamily="2" charset="-122"/>
                <a:cs typeface="+mn-cs"/>
              </a:rPr>
              <a:t>或</a:t>
            </a:r>
            <a:r>
              <a:rPr kumimoji="0" lang="en-US" altLang="zh-CN" kern="1200" cap="none" spc="0" normalizeH="0" baseline="0" noProof="1">
                <a:latin typeface="Arial" panose="020B0604020202020204" pitchFamily="34" charset="0"/>
                <a:ea typeface="宋体" panose="02010600030101010101" pitchFamily="2" charset="-122"/>
                <a:cs typeface="+mn-cs"/>
              </a:rPr>
              <a:t>107=</a:t>
            </a:r>
            <a:r>
              <a:rPr kumimoji="0" lang="zh-CN" altLang="en-US" kern="1200" cap="none" spc="0" normalizeH="0" baseline="0" noProof="1">
                <a:latin typeface="Arial" panose="020B0604020202020204" pitchFamily="34" charset="0"/>
                <a:ea typeface="宋体" panose="02010600030101010101" pitchFamily="2" charset="-122"/>
                <a:cs typeface="+mn-cs"/>
              </a:rPr>
              <a:t>互联型</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37" name="文本框 36"/>
          <p:cNvSpPr txBox="1"/>
          <p:nvPr/>
        </p:nvSpPr>
        <p:spPr>
          <a:xfrm>
            <a:off x="923925" y="2463800"/>
            <a:ext cx="6913245" cy="64516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Z：</a:t>
            </a:r>
            <a:r>
              <a:rPr kumimoji="0" lang="zh-CN" altLang="en-US" kern="1200" cap="none" spc="0" normalizeH="0" baseline="0" noProof="1">
                <a:latin typeface="Arial" panose="020B0604020202020204" pitchFamily="34" charset="0"/>
                <a:ea typeface="宋体" panose="02010600030101010101" pitchFamily="2" charset="-122"/>
                <a:cs typeface="+mn-cs"/>
              </a:rPr>
              <a:t>引脚数目，</a:t>
            </a:r>
            <a:r>
              <a:rPr kumimoji="0" lang="en-US" altLang="zh-CN" kern="1200" cap="none" spc="0" normalizeH="0" baseline="0" noProof="1">
                <a:latin typeface="Arial" panose="020B0604020202020204" pitchFamily="34" charset="0"/>
                <a:ea typeface="宋体" panose="02010600030101010101" pitchFamily="2" charset="-122"/>
                <a:cs typeface="+mn-cs"/>
              </a:rPr>
              <a:t>T=36 Pins</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C</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=48 Pins</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r>
              <a:rPr kumimoji="0" lang="en-US" altLang="zh-CN" kern="1200" cap="none" spc="0" normalizeH="0" baseline="0" noProof="1">
                <a:latin typeface="Arial" panose="020B0604020202020204" pitchFamily="34" charset="0"/>
                <a:ea typeface="宋体" panose="02010600030101010101" pitchFamily="2" charset="-122"/>
                <a:cs typeface="+mn-cs"/>
              </a:rPr>
              <a:t>R</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=64 Pins</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r>
              <a:rPr kumimoji="0" lang="en-US" altLang="zh-CN" kern="1200" cap="none" spc="0" normalizeH="0" baseline="0" noProof="1">
                <a:latin typeface="Arial" panose="020B0604020202020204" pitchFamily="34" charset="0"/>
                <a:ea typeface="宋体" panose="02010600030101010101" pitchFamily="2" charset="-122"/>
                <a:cs typeface="+mn-cs"/>
              </a:rPr>
              <a:t>V</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=100 Pins</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r>
              <a:rPr kumimoji="0" lang="en-US" altLang="zh-CN" kern="1200" cap="none" spc="0" normalizeH="0" baseline="0" noProof="1">
                <a:latin typeface="Arial" panose="020B0604020202020204" pitchFamily="34" charset="0"/>
                <a:ea typeface="宋体" panose="02010600030101010101" pitchFamily="2" charset="-122"/>
                <a:cs typeface="+mn-cs"/>
              </a:rPr>
              <a:t>Z</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=144 Pins</a:t>
            </a:r>
            <a:endParaRPr kumimoji="0" lang="en-US" altLang="zh-CN" kern="1200" cap="none" spc="0" normalizeH="0" baseline="0" noProof="1">
              <a:latin typeface="Arial" panose="020B0604020202020204" pitchFamily="34" charset="0"/>
              <a:ea typeface="宋体" panose="02010600030101010101" pitchFamily="2" charset="-122"/>
              <a:cs typeface="+mn-cs"/>
            </a:endParaRPr>
          </a:p>
        </p:txBody>
      </p:sp>
      <p:sp>
        <p:nvSpPr>
          <p:cNvPr id="38" name="文本框 37"/>
          <p:cNvSpPr txBox="1"/>
          <p:nvPr/>
        </p:nvSpPr>
        <p:spPr>
          <a:xfrm>
            <a:off x="923925" y="3108960"/>
            <a:ext cx="7275195" cy="64516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E：</a:t>
            </a:r>
            <a:r>
              <a:rPr kumimoji="0" lang="zh-CN" altLang="en-US" kern="1200" cap="none" spc="0" normalizeH="0" baseline="0" noProof="1">
                <a:latin typeface="Arial" panose="020B0604020202020204" pitchFamily="34" charset="0"/>
                <a:ea typeface="宋体" panose="02010600030101010101" pitchFamily="2" charset="-122"/>
                <a:cs typeface="+mn-cs"/>
              </a:rPr>
              <a:t>闪存容量，</a:t>
            </a:r>
            <a:r>
              <a:rPr kumimoji="0" lang="en-US" kern="1200" cap="none" spc="0" normalizeH="0" baseline="0" noProof="1">
                <a:latin typeface="Arial" panose="020B0604020202020204" pitchFamily="34" charset="0"/>
                <a:ea typeface="宋体" panose="02010600030101010101" pitchFamily="2" charset="-122"/>
                <a:cs typeface="+mn-cs"/>
              </a:rPr>
              <a:t>4=16KB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6=32KB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8</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=64KB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B</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=128KB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C</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=256KB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D</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=384KB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E</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=512KB</a:t>
            </a:r>
            <a:endParaRPr kumimoji="0" lang="en-US" altLang="zh-CN" kern="1200" cap="none" spc="0" normalizeH="0" baseline="0" noProof="1">
              <a:latin typeface="Arial" panose="020B0604020202020204" pitchFamily="34" charset="0"/>
              <a:ea typeface="宋体" panose="02010600030101010101" pitchFamily="2" charset="-122"/>
              <a:cs typeface="+mn-cs"/>
            </a:endParaRPr>
          </a:p>
        </p:txBody>
      </p:sp>
      <p:sp>
        <p:nvSpPr>
          <p:cNvPr id="39" name="文本框 38"/>
          <p:cNvSpPr txBox="1"/>
          <p:nvPr/>
        </p:nvSpPr>
        <p:spPr>
          <a:xfrm>
            <a:off x="923925" y="3754118"/>
            <a:ext cx="6408420" cy="36830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T：</a:t>
            </a:r>
            <a:r>
              <a:rPr kumimoji="0" lang="zh-CN" altLang="en-US" kern="1200" cap="none" spc="0" normalizeH="0" baseline="0" noProof="1">
                <a:latin typeface="Arial" panose="020B0604020202020204" pitchFamily="34" charset="0"/>
                <a:ea typeface="宋体" panose="02010600030101010101" pitchFamily="2" charset="-122"/>
                <a:cs typeface="+mn-cs"/>
              </a:rPr>
              <a:t>封装，</a:t>
            </a:r>
            <a:r>
              <a:rPr kumimoji="0" lang="en-US" altLang="zh-CN" kern="1200" cap="none" spc="0" normalizeH="0" baseline="0" noProof="1">
                <a:latin typeface="Arial" panose="020B0604020202020204" pitchFamily="34" charset="0"/>
                <a:ea typeface="宋体" panose="02010600030101010101" pitchFamily="2" charset="-122"/>
                <a:cs typeface="+mn-cs"/>
              </a:rPr>
              <a:t>H=BGA</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T=LQFP</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U=VFQFPN</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Y=WLCSP64</a:t>
            </a:r>
            <a:endParaRPr kumimoji="0" lang="en-US" altLang="zh-CN" kern="1200" cap="none" spc="0" normalizeH="0" baseline="0" noProof="1">
              <a:latin typeface="Arial" panose="020B0604020202020204" pitchFamily="34" charset="0"/>
              <a:ea typeface="宋体" panose="02010600030101010101" pitchFamily="2" charset="-122"/>
              <a:cs typeface="+mn-cs"/>
            </a:endParaRPr>
          </a:p>
        </p:txBody>
      </p:sp>
      <p:sp>
        <p:nvSpPr>
          <p:cNvPr id="40" name="文本框 39"/>
          <p:cNvSpPr txBox="1"/>
          <p:nvPr/>
        </p:nvSpPr>
        <p:spPr>
          <a:xfrm>
            <a:off x="923925" y="4122419"/>
            <a:ext cx="6408420" cy="36830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6：</a:t>
            </a:r>
            <a:r>
              <a:rPr kumimoji="0" lang="zh-CN" altLang="en-US" kern="1200" cap="none" spc="0" normalizeH="0" baseline="0" noProof="1">
                <a:latin typeface="Arial" panose="020B0604020202020204" pitchFamily="34" charset="0"/>
                <a:ea typeface="宋体" panose="02010600030101010101" pitchFamily="2" charset="-122"/>
                <a:cs typeface="+mn-cs"/>
              </a:rPr>
              <a:t>温度范围，</a:t>
            </a:r>
            <a:r>
              <a:rPr kumimoji="0" lang="en-US" altLang="zh-CN" kern="1200" cap="none" spc="0" normalizeH="0" baseline="0" noProof="1">
                <a:latin typeface="Arial" panose="020B0604020202020204" pitchFamily="34" charset="0"/>
                <a:ea typeface="宋体" panose="02010600030101010101" pitchFamily="2" charset="-122"/>
                <a:cs typeface="+mn-cs"/>
              </a:rPr>
              <a:t>6=-40℃~85℃</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7=-40℃~105℃</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17419" name="文本框 1"/>
          <p:cNvSpPr txBox="1"/>
          <p:nvPr/>
        </p:nvSpPr>
        <p:spPr>
          <a:xfrm>
            <a:off x="5360988" y="4491038"/>
            <a:ext cx="3114675" cy="336550"/>
          </a:xfrm>
          <a:prstGeom prst="rect">
            <a:avLst/>
          </a:prstGeom>
          <a:noFill/>
          <a:ln w="9525">
            <a:noFill/>
          </a:ln>
        </p:spPr>
        <p:txBody>
          <a:bodyPr anchor="t" anchorCtr="0">
            <a:spAutoFit/>
          </a:bodyPr>
          <a:p>
            <a:r>
              <a:rPr lang="zh-CN" altLang="en-US" sz="1600" i="1" dirty="0">
                <a:latin typeface="Arial" panose="020B0604020202020204" pitchFamily="34" charset="0"/>
                <a:ea typeface="宋体" panose="02010600030101010101" pitchFamily="2" charset="-122"/>
                <a:sym typeface="Bodoni MT" panose="02070603080606020203" pitchFamily="18" charset="0"/>
              </a:rPr>
              <a:t>参考资料：《</a:t>
            </a:r>
            <a:r>
              <a:rPr lang="en-US" altLang="zh-CN" sz="1600" i="1" dirty="0">
                <a:latin typeface="Arial" panose="020B0604020202020204" pitchFamily="34" charset="0"/>
                <a:ea typeface="宋体" panose="02010600030101010101" pitchFamily="2" charset="-122"/>
                <a:sym typeface="微软雅黑" panose="020B0503020204020204" pitchFamily="34" charset="-122"/>
              </a:rPr>
              <a:t>ST MCU</a:t>
            </a:r>
            <a:r>
              <a:rPr lang="zh-CN" altLang="en-US" sz="1600" i="1" dirty="0">
                <a:latin typeface="Arial" panose="020B0604020202020204" pitchFamily="34" charset="0"/>
                <a:ea typeface="宋体" panose="02010600030101010101" pitchFamily="2" charset="-122"/>
                <a:sym typeface="微软雅黑" panose="020B0503020204020204" pitchFamily="34" charset="-122"/>
              </a:rPr>
              <a:t>选型手册</a:t>
            </a:r>
            <a:r>
              <a:rPr lang="zh-CN" altLang="en-US" sz="1600" i="1" dirty="0">
                <a:latin typeface="Arial" panose="020B0604020202020204" pitchFamily="34" charset="0"/>
                <a:ea typeface="宋体" panose="02010600030101010101" pitchFamily="2" charset="-122"/>
                <a:sym typeface="Bodoni MT" panose="02070603080606020203" pitchFamily="18" charset="0"/>
              </a:rPr>
              <a:t>》</a:t>
            </a:r>
            <a:endParaRPr lang="zh-CN" altLang="en-US" sz="1600" i="1" dirty="0">
              <a:latin typeface="Arial" panose="020B0604020202020204" pitchFamily="34" charset="0"/>
              <a:ea typeface="宋体" panose="02010600030101010101" pitchFamily="2" charset="-122"/>
              <a:sym typeface="Bodoni MT" panose="020706030806060202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500" fill="hold"/>
                                        <p:tgtEl>
                                          <p:spTgt spid="38"/>
                                        </p:tgtEl>
                                      </p:cBhvr>
                                      <p:by x="130000" y="13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圆角矩形 5"/>
          <p:cNvSpPr/>
          <p:nvPr/>
        </p:nvSpPr>
        <p:spPr>
          <a:xfrm>
            <a:off x="260350" y="439738"/>
            <a:ext cx="8623300" cy="4462462"/>
          </a:xfrm>
          <a:prstGeom prst="roundRect">
            <a:avLst>
              <a:gd name="adj" fmla="val 16667"/>
            </a:avLst>
          </a:prstGeom>
          <a:noFill/>
          <a:ln w="47625" cap="flat" cmpd="sng">
            <a:solidFill>
              <a:srgbClr val="FC6C02"/>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sym typeface="Bodoni MT" panose="02070603080606020203" pitchFamily="18" charset="0"/>
            </a:endParaRPr>
          </a:p>
        </p:txBody>
      </p:sp>
      <p:sp useBgFill="1">
        <p:nvSpPr>
          <p:cNvPr id="12" name="矩形 11"/>
          <p:cNvSpPr/>
          <p:nvPr/>
        </p:nvSpPr>
        <p:spPr>
          <a:xfrm>
            <a:off x="717549" y="121918"/>
            <a:ext cx="2413636" cy="583566"/>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概述</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4" name="文本框 3"/>
          <p:cNvSpPr txBox="1"/>
          <p:nvPr/>
        </p:nvSpPr>
        <p:spPr>
          <a:xfrm>
            <a:off x="4909819" y="560068"/>
            <a:ext cx="3165475" cy="521971"/>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sz="2800" b="1" kern="1200" cap="none" spc="0" normalizeH="0" baseline="0" noProof="1">
                <a:ln>
                  <a:solidFill>
                    <a:schemeClr val="tx1"/>
                  </a:solidFill>
                </a:ln>
                <a:solidFill>
                  <a:srgbClr val="FC6C02"/>
                </a:solidFill>
                <a:latin typeface="Arial" panose="020B0604020202020204" pitchFamily="34" charset="0"/>
                <a:ea typeface="宋体" panose="02010600030101010101" pitchFamily="2" charset="-122"/>
                <a:cs typeface="+mn-cs"/>
              </a:rPr>
              <a:t>STM32F103ZET6</a:t>
            </a:r>
            <a:endParaRPr kumimoji="0" lang="en-US" altLang="zh-CN" sz="2800" b="1" kern="1200" cap="none" spc="0" normalizeH="0" baseline="0" noProof="1">
              <a:ln>
                <a:solidFill>
                  <a:schemeClr val="tx1"/>
                </a:solidFill>
              </a:ln>
              <a:solidFill>
                <a:srgbClr val="FC6C02"/>
              </a:solidFill>
              <a:latin typeface="Arial" panose="020B0604020202020204" pitchFamily="34" charset="0"/>
              <a:ea typeface="宋体" panose="02010600030101010101" pitchFamily="2" charset="-122"/>
              <a:cs typeface="+mn-cs"/>
            </a:endParaRPr>
          </a:p>
        </p:txBody>
      </p:sp>
      <p:sp>
        <p:nvSpPr>
          <p:cNvPr id="34" name="文本框 33"/>
          <p:cNvSpPr txBox="1"/>
          <p:nvPr/>
        </p:nvSpPr>
        <p:spPr>
          <a:xfrm>
            <a:off x="923925" y="1082033"/>
            <a:ext cx="6408420" cy="368300"/>
          </a:xfrm>
          <a:prstGeom prst="rect">
            <a:avLst/>
          </a:prstGeom>
          <a:noFill/>
          <a:effectLst>
            <a:outerShdw blurRad="50800" dist="38100" dir="8100000" algn="tr" rotWithShape="0">
              <a:prstClr val="black">
                <a:alpha val="40000"/>
              </a:prstClr>
            </a:outerShdw>
          </a:effectLst>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STM32</a:t>
            </a:r>
            <a:r>
              <a:rPr kumimoji="0" lang="zh-CN" altLang="en-US"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a:t>
            </a:r>
            <a:r>
              <a:rPr kumimoji="0" lang="zh-CN" altLang="en-US" kern="1200" cap="none" spc="0" normalizeH="0" baseline="0" noProof="1">
                <a:latin typeface="Arial" panose="020B0604020202020204" pitchFamily="34" charset="0"/>
                <a:ea typeface="宋体" panose="02010600030101010101" pitchFamily="2" charset="-122"/>
                <a:cs typeface="+mn-cs"/>
              </a:rPr>
              <a:t>产品系列，</a:t>
            </a:r>
            <a:r>
              <a:rPr kumimoji="0" lang="en-US" altLang="zh-CN" kern="1200" cap="none" spc="0" normalizeH="0" baseline="0" noProof="1">
                <a:latin typeface="Arial" panose="020B0604020202020204" pitchFamily="34" charset="0"/>
                <a:ea typeface="宋体" panose="02010600030101010101" pitchFamily="2" charset="-122"/>
                <a:cs typeface="+mn-cs"/>
              </a:rPr>
              <a:t>STM32=</a:t>
            </a:r>
            <a:r>
              <a:rPr kumimoji="0" lang="zh-CN" altLang="en-US" kern="1200" cap="none" spc="0" normalizeH="0" baseline="0" noProof="1">
                <a:latin typeface="Arial" panose="020B0604020202020204" pitchFamily="34" charset="0"/>
                <a:ea typeface="宋体" panose="02010600030101010101" pitchFamily="2" charset="-122"/>
                <a:cs typeface="+mn-cs"/>
              </a:rPr>
              <a:t>基于</a:t>
            </a:r>
            <a:r>
              <a:rPr kumimoji="0" lang="en-US" altLang="zh-CN" kern="1200" cap="none" spc="0" normalizeH="0" baseline="0" noProof="1">
                <a:latin typeface="Arial" panose="020B0604020202020204" pitchFamily="34" charset="0"/>
                <a:ea typeface="宋体" panose="02010600030101010101" pitchFamily="2" charset="-122"/>
                <a:cs typeface="+mn-cs"/>
              </a:rPr>
              <a:t>ARM</a:t>
            </a:r>
            <a:r>
              <a:rPr kumimoji="0" lang="zh-CN" altLang="en-US" kern="1200" cap="none" spc="0" normalizeH="0" baseline="0" noProof="1">
                <a:latin typeface="Arial" panose="020B0604020202020204" pitchFamily="34" charset="0"/>
                <a:ea typeface="宋体" panose="02010600030101010101" pitchFamily="2" charset="-122"/>
                <a:cs typeface="+mn-cs"/>
              </a:rPr>
              <a:t>的</a:t>
            </a:r>
            <a:r>
              <a:rPr kumimoji="0" lang="en-US" altLang="zh-CN" kern="1200" cap="none" spc="0" normalizeH="0" baseline="0" noProof="1">
                <a:latin typeface="Arial" panose="020B0604020202020204" pitchFamily="34" charset="0"/>
                <a:ea typeface="宋体" panose="02010600030101010101" pitchFamily="2" charset="-122"/>
                <a:cs typeface="+mn-cs"/>
              </a:rPr>
              <a:t>32</a:t>
            </a:r>
            <a:r>
              <a:rPr kumimoji="0" lang="zh-CN" altLang="en-US" kern="1200" cap="none" spc="0" normalizeH="0" baseline="0" noProof="1">
                <a:latin typeface="Arial" panose="020B0604020202020204" pitchFamily="34" charset="0"/>
                <a:ea typeface="宋体" panose="02010600030101010101" pitchFamily="2" charset="-122"/>
                <a:cs typeface="+mn-cs"/>
              </a:rPr>
              <a:t>位微控制器</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35" name="文本框 34"/>
          <p:cNvSpPr txBox="1"/>
          <p:nvPr/>
        </p:nvSpPr>
        <p:spPr>
          <a:xfrm>
            <a:off x="923925" y="1450336"/>
            <a:ext cx="6408420" cy="36830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F：</a:t>
            </a:r>
            <a:r>
              <a:rPr kumimoji="0" lang="zh-CN" altLang="en-US" kern="1200" cap="none" spc="0" normalizeH="0" baseline="0" noProof="1">
                <a:latin typeface="Arial" panose="020B0604020202020204" pitchFamily="34" charset="0"/>
                <a:ea typeface="宋体" panose="02010600030101010101" pitchFamily="2" charset="-122"/>
                <a:cs typeface="+mn-cs"/>
              </a:rPr>
              <a:t>产品类型，</a:t>
            </a:r>
            <a:r>
              <a:rPr kumimoji="0" lang="en-US" altLang="zh-CN" kern="1200" cap="none" spc="0" normalizeH="0" baseline="0" noProof="1">
                <a:latin typeface="Arial" panose="020B0604020202020204" pitchFamily="34" charset="0"/>
                <a:ea typeface="宋体" panose="02010600030101010101" pitchFamily="2" charset="-122"/>
                <a:cs typeface="+mn-cs"/>
              </a:rPr>
              <a:t>F=</a:t>
            </a:r>
            <a:r>
              <a:rPr kumimoji="0" lang="zh-CN" altLang="en-US" kern="1200" cap="none" spc="0" normalizeH="0" baseline="0" noProof="1">
                <a:latin typeface="Arial" panose="020B0604020202020204" pitchFamily="34" charset="0"/>
                <a:ea typeface="宋体" panose="02010600030101010101" pitchFamily="2" charset="-122"/>
                <a:cs typeface="+mn-cs"/>
              </a:rPr>
              <a:t>通用类型</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36" name="文本框 35"/>
          <p:cNvSpPr txBox="1"/>
          <p:nvPr/>
        </p:nvSpPr>
        <p:spPr>
          <a:xfrm>
            <a:off x="923924" y="1818639"/>
            <a:ext cx="6408420" cy="64516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103：</a:t>
            </a:r>
            <a:r>
              <a:rPr kumimoji="0" lang="zh-CN" altLang="en-US" kern="1200" cap="none" spc="0" normalizeH="0" baseline="0" noProof="1">
                <a:latin typeface="Arial" panose="020B0604020202020204" pitchFamily="34" charset="0"/>
                <a:ea typeface="宋体" panose="02010600030101010101" pitchFamily="2" charset="-122"/>
                <a:cs typeface="+mn-cs"/>
              </a:rPr>
              <a:t>产品子系列；</a:t>
            </a:r>
            <a:r>
              <a:rPr kumimoji="0" lang="en-US" kern="1200" cap="none" spc="0" normalizeH="0" baseline="0" noProof="1">
                <a:latin typeface="Arial" panose="020B0604020202020204" pitchFamily="34" charset="0"/>
                <a:ea typeface="宋体" panose="02010600030101010101" pitchFamily="2" charset="-122"/>
                <a:cs typeface="+mn-cs"/>
              </a:rPr>
              <a:t>101=</a:t>
            </a:r>
            <a:r>
              <a:rPr kumimoji="0" lang="zh-CN" altLang="en-US" kern="1200" cap="none" spc="0" normalizeH="0" baseline="0" noProof="1">
                <a:latin typeface="Arial" panose="020B0604020202020204" pitchFamily="34" charset="0"/>
                <a:ea typeface="宋体" panose="02010600030101010101" pitchFamily="2" charset="-122"/>
                <a:cs typeface="+mn-cs"/>
              </a:rPr>
              <a:t>基本型；</a:t>
            </a:r>
            <a:r>
              <a:rPr kumimoji="0" lang="en-US" altLang="zh-CN" kern="1200" cap="none" spc="0" normalizeH="0" baseline="0" noProof="1">
                <a:latin typeface="Arial" panose="020B0604020202020204" pitchFamily="34" charset="0"/>
                <a:ea typeface="宋体" panose="02010600030101010101" pitchFamily="2" charset="-122"/>
                <a:cs typeface="+mn-cs"/>
              </a:rPr>
              <a:t>102=USB</a:t>
            </a:r>
            <a:r>
              <a:rPr kumimoji="0" lang="zh-CN" altLang="en-US" kern="1200" cap="none" spc="0" normalizeH="0" baseline="0" noProof="1">
                <a:latin typeface="Arial" panose="020B0604020202020204" pitchFamily="34" charset="0"/>
                <a:ea typeface="宋体" panose="02010600030101010101" pitchFamily="2" charset="-122"/>
                <a:cs typeface="+mn-cs"/>
              </a:rPr>
              <a:t>型；</a:t>
            </a:r>
            <a:r>
              <a:rPr kumimoji="0" lang="en-US" altLang="zh-CN" kern="1200" cap="none" spc="0" normalizeH="0" baseline="0" noProof="1">
                <a:latin typeface="Arial" panose="020B0604020202020204" pitchFamily="34" charset="0"/>
                <a:ea typeface="宋体" panose="02010600030101010101" pitchFamily="2" charset="-122"/>
                <a:cs typeface="+mn-cs"/>
              </a:rPr>
              <a:t>103=</a:t>
            </a:r>
            <a:r>
              <a:rPr kumimoji="0" lang="zh-CN" altLang="en-US" kern="1200" cap="none" spc="0" normalizeH="0" baseline="0" noProof="1">
                <a:latin typeface="Arial" panose="020B0604020202020204" pitchFamily="34" charset="0"/>
                <a:ea typeface="宋体" panose="02010600030101010101" pitchFamily="2" charset="-122"/>
                <a:cs typeface="+mn-cs"/>
              </a:rPr>
              <a:t>增强型；</a:t>
            </a:r>
            <a:r>
              <a:rPr kumimoji="0" lang="en-US" altLang="zh-CN" kern="1200" cap="none" spc="0" normalizeH="0" baseline="0" noProof="1">
                <a:latin typeface="Arial" panose="020B0604020202020204" pitchFamily="34" charset="0"/>
                <a:ea typeface="宋体" panose="02010600030101010101" pitchFamily="2" charset="-122"/>
                <a:cs typeface="+mn-cs"/>
              </a:rPr>
              <a:t>105</a:t>
            </a:r>
            <a:r>
              <a:rPr kumimoji="0" lang="zh-CN" altLang="en-US" kern="1200" cap="none" spc="0" normalizeH="0" baseline="0" noProof="1">
                <a:latin typeface="Arial" panose="020B0604020202020204" pitchFamily="34" charset="0"/>
                <a:ea typeface="宋体" panose="02010600030101010101" pitchFamily="2" charset="-122"/>
                <a:cs typeface="+mn-cs"/>
              </a:rPr>
              <a:t>或</a:t>
            </a:r>
            <a:r>
              <a:rPr kumimoji="0" lang="en-US" altLang="zh-CN" kern="1200" cap="none" spc="0" normalizeH="0" baseline="0" noProof="1">
                <a:latin typeface="Arial" panose="020B0604020202020204" pitchFamily="34" charset="0"/>
                <a:ea typeface="宋体" panose="02010600030101010101" pitchFamily="2" charset="-122"/>
                <a:cs typeface="+mn-cs"/>
              </a:rPr>
              <a:t>107=</a:t>
            </a:r>
            <a:r>
              <a:rPr kumimoji="0" lang="zh-CN" altLang="en-US" kern="1200" cap="none" spc="0" normalizeH="0" baseline="0" noProof="1">
                <a:latin typeface="Arial" panose="020B0604020202020204" pitchFamily="34" charset="0"/>
                <a:ea typeface="宋体" panose="02010600030101010101" pitchFamily="2" charset="-122"/>
                <a:cs typeface="+mn-cs"/>
              </a:rPr>
              <a:t>互联型</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37" name="文本框 36"/>
          <p:cNvSpPr txBox="1"/>
          <p:nvPr/>
        </p:nvSpPr>
        <p:spPr>
          <a:xfrm>
            <a:off x="923925" y="2463800"/>
            <a:ext cx="6913245" cy="64516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Z：</a:t>
            </a:r>
            <a:r>
              <a:rPr kumimoji="0" lang="zh-CN" altLang="en-US" kern="1200" cap="none" spc="0" normalizeH="0" baseline="0" noProof="1">
                <a:latin typeface="Arial" panose="020B0604020202020204" pitchFamily="34" charset="0"/>
                <a:ea typeface="宋体" panose="02010600030101010101" pitchFamily="2" charset="-122"/>
                <a:cs typeface="+mn-cs"/>
              </a:rPr>
              <a:t>引脚数目，</a:t>
            </a:r>
            <a:r>
              <a:rPr kumimoji="0" lang="en-US" altLang="zh-CN" kern="1200" cap="none" spc="0" normalizeH="0" baseline="0" noProof="1">
                <a:latin typeface="Arial" panose="020B0604020202020204" pitchFamily="34" charset="0"/>
                <a:ea typeface="宋体" panose="02010600030101010101" pitchFamily="2" charset="-122"/>
                <a:cs typeface="+mn-cs"/>
              </a:rPr>
              <a:t>T=36 Pins</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C</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=48 Pins</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r>
              <a:rPr kumimoji="0" lang="en-US" altLang="zh-CN" kern="1200" cap="none" spc="0" normalizeH="0" baseline="0" noProof="1">
                <a:latin typeface="Arial" panose="020B0604020202020204" pitchFamily="34" charset="0"/>
                <a:ea typeface="宋体" panose="02010600030101010101" pitchFamily="2" charset="-122"/>
                <a:cs typeface="+mn-cs"/>
              </a:rPr>
              <a:t>R</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=64 Pins</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r>
              <a:rPr kumimoji="0" lang="en-US" altLang="zh-CN" kern="1200" cap="none" spc="0" normalizeH="0" baseline="0" noProof="1">
                <a:latin typeface="Arial" panose="020B0604020202020204" pitchFamily="34" charset="0"/>
                <a:ea typeface="宋体" panose="02010600030101010101" pitchFamily="2" charset="-122"/>
                <a:cs typeface="+mn-cs"/>
              </a:rPr>
              <a:t>V</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=100 Pins</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r>
              <a:rPr kumimoji="0" lang="en-US" altLang="zh-CN" kern="1200" cap="none" spc="0" normalizeH="0" baseline="0" noProof="1">
                <a:latin typeface="Arial" panose="020B0604020202020204" pitchFamily="34" charset="0"/>
                <a:ea typeface="宋体" panose="02010600030101010101" pitchFamily="2" charset="-122"/>
                <a:cs typeface="+mn-cs"/>
              </a:rPr>
              <a:t>Z</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=144 Pins</a:t>
            </a:r>
            <a:endParaRPr kumimoji="0" lang="en-US" altLang="zh-CN" kern="1200" cap="none" spc="0" normalizeH="0" baseline="0" noProof="1">
              <a:latin typeface="Arial" panose="020B0604020202020204" pitchFamily="34" charset="0"/>
              <a:ea typeface="宋体" panose="02010600030101010101" pitchFamily="2" charset="-122"/>
              <a:cs typeface="+mn-cs"/>
            </a:endParaRPr>
          </a:p>
        </p:txBody>
      </p:sp>
      <p:sp>
        <p:nvSpPr>
          <p:cNvPr id="38" name="文本框 37"/>
          <p:cNvSpPr txBox="1"/>
          <p:nvPr/>
        </p:nvSpPr>
        <p:spPr>
          <a:xfrm>
            <a:off x="923925" y="3108960"/>
            <a:ext cx="7275195" cy="64516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E：</a:t>
            </a:r>
            <a:r>
              <a:rPr kumimoji="0" lang="zh-CN" altLang="en-US" kern="1200" cap="none" spc="0" normalizeH="0" baseline="0" noProof="1">
                <a:latin typeface="Arial" panose="020B0604020202020204" pitchFamily="34" charset="0"/>
                <a:ea typeface="宋体" panose="02010600030101010101" pitchFamily="2" charset="-122"/>
                <a:cs typeface="+mn-cs"/>
              </a:rPr>
              <a:t>闪存容量，</a:t>
            </a:r>
            <a:r>
              <a:rPr kumimoji="0" lang="en-US" kern="1200" cap="none" spc="0" normalizeH="0" baseline="0" noProof="1">
                <a:latin typeface="Arial" panose="020B0604020202020204" pitchFamily="34" charset="0"/>
                <a:ea typeface="宋体" panose="02010600030101010101" pitchFamily="2" charset="-122"/>
                <a:cs typeface="+mn-cs"/>
              </a:rPr>
              <a:t>4=16KB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6=32KB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8</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=64KB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B</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=128KB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C</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=256KB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D</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=384KB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E</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=512KB</a:t>
            </a:r>
            <a:endParaRPr kumimoji="0" lang="en-US" altLang="zh-CN" kern="1200" cap="none" spc="0" normalizeH="0" baseline="0" noProof="1">
              <a:latin typeface="Arial" panose="020B0604020202020204" pitchFamily="34" charset="0"/>
              <a:ea typeface="宋体" panose="02010600030101010101" pitchFamily="2" charset="-122"/>
              <a:cs typeface="+mn-cs"/>
            </a:endParaRPr>
          </a:p>
        </p:txBody>
      </p:sp>
      <p:sp>
        <p:nvSpPr>
          <p:cNvPr id="39" name="文本框 38"/>
          <p:cNvSpPr txBox="1"/>
          <p:nvPr/>
        </p:nvSpPr>
        <p:spPr>
          <a:xfrm>
            <a:off x="923925" y="3754118"/>
            <a:ext cx="6408420" cy="36830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T：</a:t>
            </a:r>
            <a:r>
              <a:rPr kumimoji="0" lang="zh-CN" altLang="en-US" kern="1200" cap="none" spc="0" normalizeH="0" baseline="0" noProof="1">
                <a:latin typeface="Arial" panose="020B0604020202020204" pitchFamily="34" charset="0"/>
                <a:ea typeface="宋体" panose="02010600030101010101" pitchFamily="2" charset="-122"/>
                <a:cs typeface="+mn-cs"/>
              </a:rPr>
              <a:t>封装，</a:t>
            </a:r>
            <a:r>
              <a:rPr kumimoji="0" lang="en-US" altLang="zh-CN" kern="1200" cap="none" spc="0" normalizeH="0" baseline="0" noProof="1">
                <a:latin typeface="Arial" panose="020B0604020202020204" pitchFamily="34" charset="0"/>
                <a:ea typeface="宋体" panose="02010600030101010101" pitchFamily="2" charset="-122"/>
                <a:cs typeface="+mn-cs"/>
              </a:rPr>
              <a:t>H=BGA</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T=LQFP</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U=VFQFPN</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Y=WLCSP64</a:t>
            </a:r>
            <a:endParaRPr kumimoji="0" lang="en-US" altLang="zh-CN" kern="1200" cap="none" spc="0" normalizeH="0" baseline="0" noProof="1">
              <a:latin typeface="Arial" panose="020B0604020202020204" pitchFamily="34" charset="0"/>
              <a:ea typeface="宋体" panose="02010600030101010101" pitchFamily="2" charset="-122"/>
              <a:cs typeface="+mn-cs"/>
            </a:endParaRPr>
          </a:p>
        </p:txBody>
      </p:sp>
      <p:sp>
        <p:nvSpPr>
          <p:cNvPr id="40" name="文本框 39"/>
          <p:cNvSpPr txBox="1"/>
          <p:nvPr/>
        </p:nvSpPr>
        <p:spPr>
          <a:xfrm>
            <a:off x="923925" y="4122419"/>
            <a:ext cx="6408420" cy="36830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6：</a:t>
            </a:r>
            <a:r>
              <a:rPr kumimoji="0" lang="zh-CN" altLang="en-US" kern="1200" cap="none" spc="0" normalizeH="0" baseline="0" noProof="1">
                <a:latin typeface="Arial" panose="020B0604020202020204" pitchFamily="34" charset="0"/>
                <a:ea typeface="宋体" panose="02010600030101010101" pitchFamily="2" charset="-122"/>
                <a:cs typeface="+mn-cs"/>
              </a:rPr>
              <a:t>温度范围，</a:t>
            </a:r>
            <a:r>
              <a:rPr kumimoji="0" lang="en-US" altLang="zh-CN" kern="1200" cap="none" spc="0" normalizeH="0" baseline="0" noProof="1">
                <a:latin typeface="Arial" panose="020B0604020202020204" pitchFamily="34" charset="0"/>
                <a:ea typeface="宋体" panose="02010600030101010101" pitchFamily="2" charset="-122"/>
                <a:cs typeface="+mn-cs"/>
              </a:rPr>
              <a:t>6=-40℃~85℃</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7=-40℃~105℃</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18443" name="文本框 1"/>
          <p:cNvSpPr txBox="1"/>
          <p:nvPr/>
        </p:nvSpPr>
        <p:spPr>
          <a:xfrm>
            <a:off x="5360988" y="4491038"/>
            <a:ext cx="3114675" cy="336550"/>
          </a:xfrm>
          <a:prstGeom prst="rect">
            <a:avLst/>
          </a:prstGeom>
          <a:noFill/>
          <a:ln w="9525">
            <a:noFill/>
          </a:ln>
        </p:spPr>
        <p:txBody>
          <a:bodyPr anchor="t" anchorCtr="0">
            <a:spAutoFit/>
          </a:bodyPr>
          <a:p>
            <a:r>
              <a:rPr lang="zh-CN" altLang="en-US" sz="1600" i="1" dirty="0">
                <a:latin typeface="Arial" panose="020B0604020202020204" pitchFamily="34" charset="0"/>
                <a:ea typeface="宋体" panose="02010600030101010101" pitchFamily="2" charset="-122"/>
                <a:sym typeface="Bodoni MT" panose="02070603080606020203" pitchFamily="18" charset="0"/>
              </a:rPr>
              <a:t>参考资料：《</a:t>
            </a:r>
            <a:r>
              <a:rPr lang="en-US" altLang="zh-CN" sz="1600" i="1" dirty="0">
                <a:latin typeface="Arial" panose="020B0604020202020204" pitchFamily="34" charset="0"/>
                <a:ea typeface="宋体" panose="02010600030101010101" pitchFamily="2" charset="-122"/>
                <a:sym typeface="微软雅黑" panose="020B0503020204020204" pitchFamily="34" charset="-122"/>
              </a:rPr>
              <a:t>ST MCU</a:t>
            </a:r>
            <a:r>
              <a:rPr lang="zh-CN" altLang="en-US" sz="1600" i="1" dirty="0">
                <a:latin typeface="Arial" panose="020B0604020202020204" pitchFamily="34" charset="0"/>
                <a:ea typeface="宋体" panose="02010600030101010101" pitchFamily="2" charset="-122"/>
                <a:sym typeface="微软雅黑" panose="020B0503020204020204" pitchFamily="34" charset="-122"/>
              </a:rPr>
              <a:t>选型手册</a:t>
            </a:r>
            <a:r>
              <a:rPr lang="zh-CN" altLang="en-US" sz="1600" i="1" dirty="0">
                <a:latin typeface="Arial" panose="020B0604020202020204" pitchFamily="34" charset="0"/>
                <a:ea typeface="宋体" panose="02010600030101010101" pitchFamily="2" charset="-122"/>
                <a:sym typeface="Bodoni MT" panose="02070603080606020203" pitchFamily="18" charset="0"/>
              </a:rPr>
              <a:t>》</a:t>
            </a:r>
            <a:endParaRPr lang="zh-CN" altLang="en-US" sz="1600" i="1" dirty="0">
              <a:latin typeface="Arial" panose="020B0604020202020204" pitchFamily="34" charset="0"/>
              <a:ea typeface="宋体" panose="02010600030101010101" pitchFamily="2" charset="-122"/>
              <a:sym typeface="Bodoni MT" panose="020706030806060202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500" fill="hold"/>
                                        <p:tgtEl>
                                          <p:spTgt spid="39"/>
                                        </p:tgtEl>
                                      </p:cBhvr>
                                      <p:by x="130000" y="13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圆角矩形 5"/>
          <p:cNvSpPr/>
          <p:nvPr/>
        </p:nvSpPr>
        <p:spPr>
          <a:xfrm>
            <a:off x="260350" y="439738"/>
            <a:ext cx="8623300" cy="4462462"/>
          </a:xfrm>
          <a:prstGeom prst="roundRect">
            <a:avLst>
              <a:gd name="adj" fmla="val 16667"/>
            </a:avLst>
          </a:prstGeom>
          <a:noFill/>
          <a:ln w="47625" cap="flat" cmpd="sng">
            <a:solidFill>
              <a:srgbClr val="FC6C02"/>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sym typeface="Bodoni MT" panose="02070603080606020203" pitchFamily="18" charset="0"/>
            </a:endParaRPr>
          </a:p>
        </p:txBody>
      </p:sp>
      <p:sp useBgFill="1">
        <p:nvSpPr>
          <p:cNvPr id="12" name="矩形 11"/>
          <p:cNvSpPr/>
          <p:nvPr/>
        </p:nvSpPr>
        <p:spPr>
          <a:xfrm>
            <a:off x="717549" y="121918"/>
            <a:ext cx="2413636" cy="583566"/>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概述</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4" name="文本框 3"/>
          <p:cNvSpPr txBox="1"/>
          <p:nvPr/>
        </p:nvSpPr>
        <p:spPr>
          <a:xfrm>
            <a:off x="4909819" y="560068"/>
            <a:ext cx="3165475" cy="521971"/>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sz="2800" b="1" kern="1200" cap="none" spc="0" normalizeH="0" baseline="0" noProof="1">
                <a:ln>
                  <a:solidFill>
                    <a:schemeClr val="tx1"/>
                  </a:solidFill>
                </a:ln>
                <a:solidFill>
                  <a:srgbClr val="FC6C02"/>
                </a:solidFill>
                <a:latin typeface="Arial" panose="020B0604020202020204" pitchFamily="34" charset="0"/>
                <a:ea typeface="宋体" panose="02010600030101010101" pitchFamily="2" charset="-122"/>
                <a:cs typeface="+mn-cs"/>
              </a:rPr>
              <a:t>STM32F103ZET6</a:t>
            </a:r>
            <a:endParaRPr kumimoji="0" lang="en-US" altLang="zh-CN" sz="2800" b="1" kern="1200" cap="none" spc="0" normalizeH="0" baseline="0" noProof="1">
              <a:ln>
                <a:solidFill>
                  <a:schemeClr val="tx1"/>
                </a:solidFill>
              </a:ln>
              <a:solidFill>
                <a:srgbClr val="FC6C02"/>
              </a:solidFill>
              <a:latin typeface="Arial" panose="020B0604020202020204" pitchFamily="34" charset="0"/>
              <a:ea typeface="宋体" panose="02010600030101010101" pitchFamily="2" charset="-122"/>
              <a:cs typeface="+mn-cs"/>
            </a:endParaRPr>
          </a:p>
        </p:txBody>
      </p:sp>
      <p:sp>
        <p:nvSpPr>
          <p:cNvPr id="34" name="文本框 33"/>
          <p:cNvSpPr txBox="1"/>
          <p:nvPr/>
        </p:nvSpPr>
        <p:spPr>
          <a:xfrm>
            <a:off x="923925" y="1082033"/>
            <a:ext cx="6408420" cy="368300"/>
          </a:xfrm>
          <a:prstGeom prst="rect">
            <a:avLst/>
          </a:prstGeom>
          <a:noFill/>
          <a:effectLst>
            <a:outerShdw blurRad="50800" dist="38100" dir="8100000" algn="tr" rotWithShape="0">
              <a:prstClr val="black">
                <a:alpha val="40000"/>
              </a:prstClr>
            </a:outerShdw>
          </a:effectLst>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STM32</a:t>
            </a:r>
            <a:r>
              <a:rPr kumimoji="0" lang="zh-CN" altLang="en-US"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a:t>
            </a:r>
            <a:r>
              <a:rPr kumimoji="0" lang="zh-CN" altLang="en-US" kern="1200" cap="none" spc="0" normalizeH="0" baseline="0" noProof="1">
                <a:latin typeface="Arial" panose="020B0604020202020204" pitchFamily="34" charset="0"/>
                <a:ea typeface="宋体" panose="02010600030101010101" pitchFamily="2" charset="-122"/>
                <a:cs typeface="+mn-cs"/>
              </a:rPr>
              <a:t>产品系列，</a:t>
            </a:r>
            <a:r>
              <a:rPr kumimoji="0" lang="en-US" altLang="zh-CN" kern="1200" cap="none" spc="0" normalizeH="0" baseline="0" noProof="1">
                <a:latin typeface="Arial" panose="020B0604020202020204" pitchFamily="34" charset="0"/>
                <a:ea typeface="宋体" panose="02010600030101010101" pitchFamily="2" charset="-122"/>
                <a:cs typeface="+mn-cs"/>
              </a:rPr>
              <a:t>STM32=</a:t>
            </a:r>
            <a:r>
              <a:rPr kumimoji="0" lang="zh-CN" altLang="en-US" kern="1200" cap="none" spc="0" normalizeH="0" baseline="0" noProof="1">
                <a:latin typeface="Arial" panose="020B0604020202020204" pitchFamily="34" charset="0"/>
                <a:ea typeface="宋体" panose="02010600030101010101" pitchFamily="2" charset="-122"/>
                <a:cs typeface="+mn-cs"/>
              </a:rPr>
              <a:t>基于</a:t>
            </a:r>
            <a:r>
              <a:rPr kumimoji="0" lang="en-US" altLang="zh-CN" kern="1200" cap="none" spc="0" normalizeH="0" baseline="0" noProof="1">
                <a:latin typeface="Arial" panose="020B0604020202020204" pitchFamily="34" charset="0"/>
                <a:ea typeface="宋体" panose="02010600030101010101" pitchFamily="2" charset="-122"/>
                <a:cs typeface="+mn-cs"/>
              </a:rPr>
              <a:t>ARM</a:t>
            </a:r>
            <a:r>
              <a:rPr kumimoji="0" lang="zh-CN" altLang="en-US" kern="1200" cap="none" spc="0" normalizeH="0" baseline="0" noProof="1">
                <a:latin typeface="Arial" panose="020B0604020202020204" pitchFamily="34" charset="0"/>
                <a:ea typeface="宋体" panose="02010600030101010101" pitchFamily="2" charset="-122"/>
                <a:cs typeface="+mn-cs"/>
              </a:rPr>
              <a:t>的</a:t>
            </a:r>
            <a:r>
              <a:rPr kumimoji="0" lang="en-US" altLang="zh-CN" kern="1200" cap="none" spc="0" normalizeH="0" baseline="0" noProof="1">
                <a:latin typeface="Arial" panose="020B0604020202020204" pitchFamily="34" charset="0"/>
                <a:ea typeface="宋体" panose="02010600030101010101" pitchFamily="2" charset="-122"/>
                <a:cs typeface="+mn-cs"/>
              </a:rPr>
              <a:t>32</a:t>
            </a:r>
            <a:r>
              <a:rPr kumimoji="0" lang="zh-CN" altLang="en-US" kern="1200" cap="none" spc="0" normalizeH="0" baseline="0" noProof="1">
                <a:latin typeface="Arial" panose="020B0604020202020204" pitchFamily="34" charset="0"/>
                <a:ea typeface="宋体" panose="02010600030101010101" pitchFamily="2" charset="-122"/>
                <a:cs typeface="+mn-cs"/>
              </a:rPr>
              <a:t>位微控制器</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35" name="文本框 34"/>
          <p:cNvSpPr txBox="1"/>
          <p:nvPr/>
        </p:nvSpPr>
        <p:spPr>
          <a:xfrm>
            <a:off x="923925" y="1450336"/>
            <a:ext cx="6408420" cy="36830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F：</a:t>
            </a:r>
            <a:r>
              <a:rPr kumimoji="0" lang="zh-CN" altLang="en-US" kern="1200" cap="none" spc="0" normalizeH="0" baseline="0" noProof="1">
                <a:latin typeface="Arial" panose="020B0604020202020204" pitchFamily="34" charset="0"/>
                <a:ea typeface="宋体" panose="02010600030101010101" pitchFamily="2" charset="-122"/>
                <a:cs typeface="+mn-cs"/>
              </a:rPr>
              <a:t>产品类型，</a:t>
            </a:r>
            <a:r>
              <a:rPr kumimoji="0" lang="en-US" altLang="zh-CN" kern="1200" cap="none" spc="0" normalizeH="0" baseline="0" noProof="1">
                <a:latin typeface="Arial" panose="020B0604020202020204" pitchFamily="34" charset="0"/>
                <a:ea typeface="宋体" panose="02010600030101010101" pitchFamily="2" charset="-122"/>
                <a:cs typeface="+mn-cs"/>
              </a:rPr>
              <a:t>F=</a:t>
            </a:r>
            <a:r>
              <a:rPr kumimoji="0" lang="zh-CN" altLang="en-US" kern="1200" cap="none" spc="0" normalizeH="0" baseline="0" noProof="1">
                <a:latin typeface="Arial" panose="020B0604020202020204" pitchFamily="34" charset="0"/>
                <a:ea typeface="宋体" panose="02010600030101010101" pitchFamily="2" charset="-122"/>
                <a:cs typeface="+mn-cs"/>
              </a:rPr>
              <a:t>通用类型</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36" name="文本框 35"/>
          <p:cNvSpPr txBox="1"/>
          <p:nvPr/>
        </p:nvSpPr>
        <p:spPr>
          <a:xfrm>
            <a:off x="923924" y="1818639"/>
            <a:ext cx="6408420" cy="64516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103：</a:t>
            </a:r>
            <a:r>
              <a:rPr kumimoji="0" lang="zh-CN" altLang="en-US" kern="1200" cap="none" spc="0" normalizeH="0" baseline="0" noProof="1">
                <a:latin typeface="Arial" panose="020B0604020202020204" pitchFamily="34" charset="0"/>
                <a:ea typeface="宋体" panose="02010600030101010101" pitchFamily="2" charset="-122"/>
                <a:cs typeface="+mn-cs"/>
              </a:rPr>
              <a:t>产品子系列；</a:t>
            </a:r>
            <a:r>
              <a:rPr kumimoji="0" lang="en-US" kern="1200" cap="none" spc="0" normalizeH="0" baseline="0" noProof="1">
                <a:latin typeface="Arial" panose="020B0604020202020204" pitchFamily="34" charset="0"/>
                <a:ea typeface="宋体" panose="02010600030101010101" pitchFamily="2" charset="-122"/>
                <a:cs typeface="+mn-cs"/>
              </a:rPr>
              <a:t>101=</a:t>
            </a:r>
            <a:r>
              <a:rPr kumimoji="0" lang="zh-CN" altLang="en-US" kern="1200" cap="none" spc="0" normalizeH="0" baseline="0" noProof="1">
                <a:latin typeface="Arial" panose="020B0604020202020204" pitchFamily="34" charset="0"/>
                <a:ea typeface="宋体" panose="02010600030101010101" pitchFamily="2" charset="-122"/>
                <a:cs typeface="+mn-cs"/>
              </a:rPr>
              <a:t>基本型；</a:t>
            </a:r>
            <a:r>
              <a:rPr kumimoji="0" lang="en-US" altLang="zh-CN" kern="1200" cap="none" spc="0" normalizeH="0" baseline="0" noProof="1">
                <a:latin typeface="Arial" panose="020B0604020202020204" pitchFamily="34" charset="0"/>
                <a:ea typeface="宋体" panose="02010600030101010101" pitchFamily="2" charset="-122"/>
                <a:cs typeface="+mn-cs"/>
              </a:rPr>
              <a:t>102=USB</a:t>
            </a:r>
            <a:r>
              <a:rPr kumimoji="0" lang="zh-CN" altLang="en-US" kern="1200" cap="none" spc="0" normalizeH="0" baseline="0" noProof="1">
                <a:latin typeface="Arial" panose="020B0604020202020204" pitchFamily="34" charset="0"/>
                <a:ea typeface="宋体" panose="02010600030101010101" pitchFamily="2" charset="-122"/>
                <a:cs typeface="+mn-cs"/>
              </a:rPr>
              <a:t>型；</a:t>
            </a:r>
            <a:r>
              <a:rPr kumimoji="0" lang="en-US" altLang="zh-CN" kern="1200" cap="none" spc="0" normalizeH="0" baseline="0" noProof="1">
                <a:latin typeface="Arial" panose="020B0604020202020204" pitchFamily="34" charset="0"/>
                <a:ea typeface="宋体" panose="02010600030101010101" pitchFamily="2" charset="-122"/>
                <a:cs typeface="+mn-cs"/>
              </a:rPr>
              <a:t>103=</a:t>
            </a:r>
            <a:r>
              <a:rPr kumimoji="0" lang="zh-CN" altLang="en-US" kern="1200" cap="none" spc="0" normalizeH="0" baseline="0" noProof="1">
                <a:latin typeface="Arial" panose="020B0604020202020204" pitchFamily="34" charset="0"/>
                <a:ea typeface="宋体" panose="02010600030101010101" pitchFamily="2" charset="-122"/>
                <a:cs typeface="+mn-cs"/>
              </a:rPr>
              <a:t>增强型；</a:t>
            </a:r>
            <a:r>
              <a:rPr kumimoji="0" lang="en-US" altLang="zh-CN" kern="1200" cap="none" spc="0" normalizeH="0" baseline="0" noProof="1">
                <a:latin typeface="Arial" panose="020B0604020202020204" pitchFamily="34" charset="0"/>
                <a:ea typeface="宋体" panose="02010600030101010101" pitchFamily="2" charset="-122"/>
                <a:cs typeface="+mn-cs"/>
              </a:rPr>
              <a:t>105</a:t>
            </a:r>
            <a:r>
              <a:rPr kumimoji="0" lang="zh-CN" altLang="en-US" kern="1200" cap="none" spc="0" normalizeH="0" baseline="0" noProof="1">
                <a:latin typeface="Arial" panose="020B0604020202020204" pitchFamily="34" charset="0"/>
                <a:ea typeface="宋体" panose="02010600030101010101" pitchFamily="2" charset="-122"/>
                <a:cs typeface="+mn-cs"/>
              </a:rPr>
              <a:t>或</a:t>
            </a:r>
            <a:r>
              <a:rPr kumimoji="0" lang="en-US" altLang="zh-CN" kern="1200" cap="none" spc="0" normalizeH="0" baseline="0" noProof="1">
                <a:latin typeface="Arial" panose="020B0604020202020204" pitchFamily="34" charset="0"/>
                <a:ea typeface="宋体" panose="02010600030101010101" pitchFamily="2" charset="-122"/>
                <a:cs typeface="+mn-cs"/>
              </a:rPr>
              <a:t>107=</a:t>
            </a:r>
            <a:r>
              <a:rPr kumimoji="0" lang="zh-CN" altLang="en-US" kern="1200" cap="none" spc="0" normalizeH="0" baseline="0" noProof="1">
                <a:latin typeface="Arial" panose="020B0604020202020204" pitchFamily="34" charset="0"/>
                <a:ea typeface="宋体" panose="02010600030101010101" pitchFamily="2" charset="-122"/>
                <a:cs typeface="+mn-cs"/>
              </a:rPr>
              <a:t>互联型</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37" name="文本框 36"/>
          <p:cNvSpPr txBox="1"/>
          <p:nvPr/>
        </p:nvSpPr>
        <p:spPr>
          <a:xfrm>
            <a:off x="923925" y="2463800"/>
            <a:ext cx="6913245" cy="64516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Z：</a:t>
            </a:r>
            <a:r>
              <a:rPr kumimoji="0" lang="zh-CN" altLang="en-US" kern="1200" cap="none" spc="0" normalizeH="0" baseline="0" noProof="1">
                <a:latin typeface="Arial" panose="020B0604020202020204" pitchFamily="34" charset="0"/>
                <a:ea typeface="宋体" panose="02010600030101010101" pitchFamily="2" charset="-122"/>
                <a:cs typeface="+mn-cs"/>
              </a:rPr>
              <a:t>引脚数目，</a:t>
            </a:r>
            <a:r>
              <a:rPr kumimoji="0" lang="en-US" altLang="zh-CN" kern="1200" cap="none" spc="0" normalizeH="0" baseline="0" noProof="1">
                <a:latin typeface="Arial" panose="020B0604020202020204" pitchFamily="34" charset="0"/>
                <a:ea typeface="宋体" panose="02010600030101010101" pitchFamily="2" charset="-122"/>
                <a:cs typeface="+mn-cs"/>
              </a:rPr>
              <a:t>T=36 Pins</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C</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=48 Pins</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r>
              <a:rPr kumimoji="0" lang="en-US" altLang="zh-CN" kern="1200" cap="none" spc="0" normalizeH="0" baseline="0" noProof="1">
                <a:latin typeface="Arial" panose="020B0604020202020204" pitchFamily="34" charset="0"/>
                <a:ea typeface="宋体" panose="02010600030101010101" pitchFamily="2" charset="-122"/>
                <a:cs typeface="+mn-cs"/>
              </a:rPr>
              <a:t>R</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=64 Pins</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r>
              <a:rPr kumimoji="0" lang="en-US" altLang="zh-CN" kern="1200" cap="none" spc="0" normalizeH="0" baseline="0" noProof="1">
                <a:latin typeface="Arial" panose="020B0604020202020204" pitchFamily="34" charset="0"/>
                <a:ea typeface="宋体" panose="02010600030101010101" pitchFamily="2" charset="-122"/>
                <a:cs typeface="+mn-cs"/>
              </a:rPr>
              <a:t>V</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=100 Pins</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r>
              <a:rPr kumimoji="0" lang="en-US" altLang="zh-CN" kern="1200" cap="none" spc="0" normalizeH="0" baseline="0" noProof="1">
                <a:latin typeface="Arial" panose="020B0604020202020204" pitchFamily="34" charset="0"/>
                <a:ea typeface="宋体" panose="02010600030101010101" pitchFamily="2" charset="-122"/>
                <a:cs typeface="+mn-cs"/>
              </a:rPr>
              <a:t>Z</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=144 Pins</a:t>
            </a:r>
            <a:endParaRPr kumimoji="0" lang="en-US" altLang="zh-CN" kern="1200" cap="none" spc="0" normalizeH="0" baseline="0" noProof="1">
              <a:latin typeface="Arial" panose="020B0604020202020204" pitchFamily="34" charset="0"/>
              <a:ea typeface="宋体" panose="02010600030101010101" pitchFamily="2" charset="-122"/>
              <a:cs typeface="+mn-cs"/>
            </a:endParaRPr>
          </a:p>
        </p:txBody>
      </p:sp>
      <p:sp>
        <p:nvSpPr>
          <p:cNvPr id="38" name="文本框 37"/>
          <p:cNvSpPr txBox="1"/>
          <p:nvPr/>
        </p:nvSpPr>
        <p:spPr>
          <a:xfrm>
            <a:off x="923925" y="3108960"/>
            <a:ext cx="7275195" cy="64516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E：</a:t>
            </a:r>
            <a:r>
              <a:rPr kumimoji="0" lang="zh-CN" altLang="en-US" kern="1200" cap="none" spc="0" normalizeH="0" baseline="0" noProof="1">
                <a:latin typeface="Arial" panose="020B0604020202020204" pitchFamily="34" charset="0"/>
                <a:ea typeface="宋体" panose="02010600030101010101" pitchFamily="2" charset="-122"/>
                <a:cs typeface="+mn-cs"/>
              </a:rPr>
              <a:t>闪存容量，</a:t>
            </a:r>
            <a:r>
              <a:rPr kumimoji="0" lang="en-US" kern="1200" cap="none" spc="0" normalizeH="0" baseline="0" noProof="1">
                <a:latin typeface="Arial" panose="020B0604020202020204" pitchFamily="34" charset="0"/>
                <a:ea typeface="宋体" panose="02010600030101010101" pitchFamily="2" charset="-122"/>
                <a:cs typeface="+mn-cs"/>
              </a:rPr>
              <a:t>4=16KB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6=32KB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8</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=64KB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B</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=128KB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C</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=256KB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D</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=384KB</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E</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=512KB</a:t>
            </a:r>
            <a:endParaRPr kumimoji="0" lang="en-US" altLang="zh-CN" kern="1200" cap="none" spc="0" normalizeH="0" baseline="0" noProof="1">
              <a:latin typeface="Arial" panose="020B0604020202020204" pitchFamily="34" charset="0"/>
              <a:ea typeface="宋体" panose="02010600030101010101" pitchFamily="2" charset="-122"/>
              <a:cs typeface="+mn-cs"/>
            </a:endParaRPr>
          </a:p>
        </p:txBody>
      </p:sp>
      <p:sp>
        <p:nvSpPr>
          <p:cNvPr id="39" name="文本框 38"/>
          <p:cNvSpPr txBox="1"/>
          <p:nvPr/>
        </p:nvSpPr>
        <p:spPr>
          <a:xfrm>
            <a:off x="923925" y="3754118"/>
            <a:ext cx="6408420" cy="36830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T：</a:t>
            </a:r>
            <a:r>
              <a:rPr kumimoji="0" lang="zh-CN" altLang="en-US" kern="1200" cap="none" spc="0" normalizeH="0" baseline="0" noProof="1">
                <a:latin typeface="Arial" panose="020B0604020202020204" pitchFamily="34" charset="0"/>
                <a:ea typeface="宋体" panose="02010600030101010101" pitchFamily="2" charset="-122"/>
                <a:cs typeface="+mn-cs"/>
              </a:rPr>
              <a:t>封装，</a:t>
            </a:r>
            <a:r>
              <a:rPr kumimoji="0" lang="en-US" altLang="zh-CN" kern="1200" cap="none" spc="0" normalizeH="0" baseline="0" noProof="1">
                <a:latin typeface="Arial" panose="020B0604020202020204" pitchFamily="34" charset="0"/>
                <a:ea typeface="宋体" panose="02010600030101010101" pitchFamily="2" charset="-122"/>
                <a:cs typeface="+mn-cs"/>
              </a:rPr>
              <a:t>H=BGA</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T=LQFP</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U=VFQFPN</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rPr>
              <a:t>Y=WLCSP64</a:t>
            </a:r>
            <a:endParaRPr kumimoji="0" lang="en-US" altLang="zh-CN" kern="1200" cap="none" spc="0" normalizeH="0" baseline="0" noProof="1">
              <a:latin typeface="Arial" panose="020B0604020202020204" pitchFamily="34" charset="0"/>
              <a:ea typeface="宋体" panose="02010600030101010101" pitchFamily="2" charset="-122"/>
              <a:cs typeface="+mn-cs"/>
            </a:endParaRPr>
          </a:p>
        </p:txBody>
      </p:sp>
      <p:sp>
        <p:nvSpPr>
          <p:cNvPr id="40" name="文本框 39"/>
          <p:cNvSpPr txBox="1"/>
          <p:nvPr/>
        </p:nvSpPr>
        <p:spPr>
          <a:xfrm>
            <a:off x="923925" y="4122419"/>
            <a:ext cx="6408420" cy="36830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kern="1200" cap="none" spc="0" normalizeH="0" baseline="0" noProof="1">
                <a:ln w="22225">
                  <a:solidFill>
                    <a:srgbClr val="FF0000"/>
                  </a:solidFill>
                  <a:prstDash val="solid"/>
                </a:ln>
                <a:solidFill>
                  <a:srgbClr val="FF120D"/>
                </a:solidFill>
                <a:latin typeface="Arial" panose="020B0604020202020204" pitchFamily="34" charset="0"/>
                <a:ea typeface="宋体" panose="02010600030101010101" pitchFamily="2" charset="-122"/>
                <a:cs typeface="+mn-cs"/>
              </a:rPr>
              <a:t>6：</a:t>
            </a:r>
            <a:r>
              <a:rPr kumimoji="0" lang="zh-CN" altLang="en-US" kern="1200" cap="none" spc="0" normalizeH="0" baseline="0" noProof="1">
                <a:latin typeface="Arial" panose="020B0604020202020204" pitchFamily="34" charset="0"/>
                <a:ea typeface="宋体" panose="02010600030101010101" pitchFamily="2" charset="-122"/>
                <a:cs typeface="+mn-cs"/>
              </a:rPr>
              <a:t>温度范围，</a:t>
            </a:r>
            <a:r>
              <a:rPr kumimoji="0" lang="en-US" altLang="zh-CN" kern="1200" cap="none" spc="0" normalizeH="0" baseline="0" noProof="1">
                <a:latin typeface="Arial" panose="020B0604020202020204" pitchFamily="34" charset="0"/>
                <a:ea typeface="宋体" panose="02010600030101010101" pitchFamily="2" charset="-122"/>
                <a:cs typeface="+mn-cs"/>
              </a:rPr>
              <a:t>6=-40℃~85℃</a:t>
            </a:r>
            <a:r>
              <a:rPr kumimoji="0" lang="zh-CN" altLang="en-US" kern="1200" cap="none" spc="0" normalizeH="0" baseline="0" noProof="1">
                <a:latin typeface="Arial" panose="020B0604020202020204" pitchFamily="34" charset="0"/>
                <a:ea typeface="宋体" panose="02010600030101010101" pitchFamily="2" charset="-122"/>
                <a:cs typeface="+mn-cs"/>
              </a:rPr>
              <a:t>；</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7=-40℃~105℃</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19467" name="文本框 1"/>
          <p:cNvSpPr txBox="1"/>
          <p:nvPr/>
        </p:nvSpPr>
        <p:spPr>
          <a:xfrm>
            <a:off x="5360988" y="4491038"/>
            <a:ext cx="3114675" cy="336550"/>
          </a:xfrm>
          <a:prstGeom prst="rect">
            <a:avLst/>
          </a:prstGeom>
          <a:noFill/>
          <a:ln w="9525">
            <a:noFill/>
          </a:ln>
        </p:spPr>
        <p:txBody>
          <a:bodyPr anchor="t" anchorCtr="0">
            <a:spAutoFit/>
          </a:bodyPr>
          <a:p>
            <a:r>
              <a:rPr lang="zh-CN" altLang="en-US" sz="1600" i="1" dirty="0">
                <a:latin typeface="Arial" panose="020B0604020202020204" pitchFamily="34" charset="0"/>
                <a:ea typeface="宋体" panose="02010600030101010101" pitchFamily="2" charset="-122"/>
                <a:sym typeface="Bodoni MT" panose="02070603080606020203" pitchFamily="18" charset="0"/>
              </a:rPr>
              <a:t>参考资料：《</a:t>
            </a:r>
            <a:r>
              <a:rPr lang="en-US" altLang="zh-CN" sz="1600" i="1" dirty="0">
                <a:latin typeface="Arial" panose="020B0604020202020204" pitchFamily="34" charset="0"/>
                <a:ea typeface="宋体" panose="02010600030101010101" pitchFamily="2" charset="-122"/>
                <a:sym typeface="微软雅黑" panose="020B0503020204020204" pitchFamily="34" charset="-122"/>
              </a:rPr>
              <a:t>ST MCU</a:t>
            </a:r>
            <a:r>
              <a:rPr lang="zh-CN" altLang="en-US" sz="1600" i="1" dirty="0">
                <a:latin typeface="Arial" panose="020B0604020202020204" pitchFamily="34" charset="0"/>
                <a:ea typeface="宋体" panose="02010600030101010101" pitchFamily="2" charset="-122"/>
                <a:sym typeface="微软雅黑" panose="020B0503020204020204" pitchFamily="34" charset="-122"/>
              </a:rPr>
              <a:t>选型手册</a:t>
            </a:r>
            <a:r>
              <a:rPr lang="zh-CN" altLang="en-US" sz="1600" i="1" dirty="0">
                <a:latin typeface="Arial" panose="020B0604020202020204" pitchFamily="34" charset="0"/>
                <a:ea typeface="宋体" panose="02010600030101010101" pitchFamily="2" charset="-122"/>
                <a:sym typeface="Bodoni MT" panose="02070603080606020203" pitchFamily="18" charset="0"/>
              </a:rPr>
              <a:t>》</a:t>
            </a:r>
            <a:endParaRPr lang="zh-CN" altLang="en-US" sz="1600" i="1" dirty="0">
              <a:latin typeface="Arial" panose="020B0604020202020204" pitchFamily="34" charset="0"/>
              <a:ea typeface="宋体" panose="02010600030101010101" pitchFamily="2" charset="-122"/>
              <a:sym typeface="Bodoni MT" panose="020706030806060202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500" fill="hold"/>
                                        <p:tgtEl>
                                          <p:spTgt spid="40"/>
                                        </p:tgtEl>
                                      </p:cBhvr>
                                      <p:by x="130000" y="13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圆角矩形 5"/>
          <p:cNvSpPr/>
          <p:nvPr/>
        </p:nvSpPr>
        <p:spPr>
          <a:xfrm>
            <a:off x="260350" y="439738"/>
            <a:ext cx="8623300" cy="4462462"/>
          </a:xfrm>
          <a:prstGeom prst="roundRect">
            <a:avLst>
              <a:gd name="adj" fmla="val 16667"/>
            </a:avLst>
          </a:prstGeom>
          <a:noFill/>
          <a:ln w="47625" cap="flat" cmpd="sng">
            <a:solidFill>
              <a:srgbClr val="FC6C02"/>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sym typeface="Bodoni MT" panose="02070603080606020203" pitchFamily="18" charset="0"/>
            </a:endParaRPr>
          </a:p>
        </p:txBody>
      </p:sp>
      <p:sp useBgFill="1">
        <p:nvSpPr>
          <p:cNvPr id="12" name="矩形 11"/>
          <p:cNvSpPr/>
          <p:nvPr/>
        </p:nvSpPr>
        <p:spPr>
          <a:xfrm>
            <a:off x="717549" y="121918"/>
            <a:ext cx="2413636" cy="583566"/>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概述</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10244" name="TextBox 1"/>
          <p:cNvSpPr txBox="1"/>
          <p:nvPr/>
        </p:nvSpPr>
        <p:spPr>
          <a:xfrm>
            <a:off x="717550" y="876300"/>
            <a:ext cx="7200900" cy="29543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j-lt"/>
              </a:defRPr>
            </a:lvl2pPr>
            <a:lvl3pPr marL="1143000" indent="-228600" algn="l" rtl="0" eaLnBrk="0" fontAlgn="base" hangingPunct="0">
              <a:spcBef>
                <a:spcPct val="20000"/>
              </a:spcBef>
              <a:spcAft>
                <a:spcPct val="0"/>
              </a:spcAft>
              <a:buClr>
                <a:schemeClr val="tx1"/>
              </a:buClr>
              <a:buChar char="•"/>
              <a:defRPr sz="2400">
                <a:solidFill>
                  <a:schemeClr val="tx1"/>
                </a:solidFill>
                <a:latin typeface="+mj-lt"/>
              </a:defRPr>
            </a:lvl3pPr>
            <a:lvl4pPr marL="1600200" indent="-228600" algn="l" rtl="0" eaLnBrk="0" fontAlgn="base" hangingPunct="0">
              <a:spcBef>
                <a:spcPct val="20000"/>
              </a:spcBef>
              <a:spcAft>
                <a:spcPct val="0"/>
              </a:spcAft>
              <a:buChar char="–"/>
              <a:defRPr sz="2000">
                <a:solidFill>
                  <a:schemeClr val="tx1"/>
                </a:solidFill>
                <a:latin typeface="+mj-lt"/>
              </a:defRPr>
            </a:lvl4pPr>
            <a:lvl5pPr marL="2057400" indent="-228600" algn="l" rtl="0" eaLnBrk="0" fontAlgn="base" hangingPunct="0">
              <a:spcBef>
                <a:spcPct val="20000"/>
              </a:spcBef>
              <a:spcAft>
                <a:spcPct val="0"/>
              </a:spcAft>
              <a:buChar char="»"/>
              <a:defRPr sz="2000">
                <a:solidFill>
                  <a:schemeClr val="tx1"/>
                </a:solidFill>
                <a:latin typeface="+mj-lt"/>
              </a:defRPr>
            </a:lvl5pPr>
          </a:lstStyle>
          <a:p>
            <a:pPr marL="0" marR="0" lvl="0" indent="0" algn="l" defTabSz="914400" rtl="0" eaLnBrk="1" fontAlgn="base" latinLnBrk="0" hangingPunct="1">
              <a:lnSpc>
                <a:spcPct val="150000"/>
              </a:lnSpc>
              <a:spcBef>
                <a:spcPct val="0"/>
              </a:spcBef>
              <a:spcAft>
                <a:spcPct val="0"/>
              </a:spcAft>
              <a:buClrTx/>
              <a:buSzTx/>
              <a:buFont typeface="Wingdings" panose="05000000000000000000" pitchFamily="2" charset="2"/>
              <a:buNone/>
              <a:defRPr/>
            </a:pPr>
            <a:r>
              <a:rPr kumimoji="0" lang="zh-CN" altLang="en-US" sz="18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a:t>
            </a:r>
            <a:r>
              <a:rPr kumimoji="0" lang="zh-CN" altLang="en-US" sz="18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sym typeface="+mn-ea"/>
              </a:rPr>
              <a:t>以</a:t>
            </a:r>
            <a:r>
              <a:rPr kumimoji="0" lang="en-US" altLang="zh-CN" sz="18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sym typeface="+mn-ea"/>
              </a:rPr>
              <a:t>STM32F103ZET6</a:t>
            </a:r>
            <a:r>
              <a:rPr kumimoji="0" lang="zh-CN" altLang="en-US" sz="18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sym typeface="+mn-ea"/>
              </a:rPr>
              <a:t>和</a:t>
            </a:r>
            <a:r>
              <a:rPr kumimoji="0" lang="en-US" altLang="zh-CN" sz="18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sym typeface="+mn-ea"/>
              </a:rPr>
              <a:t>STM32F103RCT6</a:t>
            </a:r>
            <a:r>
              <a:rPr kumimoji="0" lang="zh-CN" altLang="en-US" sz="18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sym typeface="+mn-ea"/>
              </a:rPr>
              <a:t>为例</a:t>
            </a:r>
            <a:r>
              <a:rPr kumimoji="0" lang="zh-CN" altLang="en-US" sz="18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a:t>
            </a:r>
            <a:endParaRPr kumimoji="0" lang="zh-CN" altLang="en-US" sz="2800" b="0" i="0" u="none" strike="noStrike" kern="1200" cap="none" spc="0" normalizeH="0" baseline="0" noProof="1">
              <a:ln>
                <a:noFill/>
              </a:ln>
              <a:solidFill>
                <a:srgbClr val="FF0000"/>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u"/>
              <a:defRPr/>
            </a:pPr>
            <a:r>
              <a:rPr kumimoji="0" lang="zh-CN" altLang="en-US" sz="2800" b="1" i="0" u="none" strike="noStrike" kern="1200" cap="none" spc="0" normalizeH="0" baseline="0" noProof="1">
                <a:ln>
                  <a:noFill/>
                </a:ln>
                <a:solidFill>
                  <a:srgbClr val="FF0000"/>
                </a:solidFill>
                <a:effectLst/>
                <a:uLnTx/>
                <a:uFillTx/>
                <a:latin typeface="Arial" panose="020B0604020202020204" pitchFamily="34" charset="0"/>
                <a:ea typeface="宋体" panose="02010600030101010101" pitchFamily="2" charset="-122"/>
                <a:cs typeface="+mn-cs"/>
              </a:rPr>
              <a:t>内核：</a:t>
            </a:r>
            <a:endParaRPr kumimoji="0" lang="en-US" altLang="zh-CN" sz="2800" b="1" i="0" u="none" strike="noStrike" kern="1200" cap="none" spc="0" normalizeH="0" baseline="0" noProof="1">
              <a:ln>
                <a:noFill/>
              </a:ln>
              <a:solidFill>
                <a:srgbClr val="FF0000"/>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a:t>
            </a:r>
            <a:r>
              <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-32</a:t>
            </a: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位 高性能</a:t>
            </a:r>
            <a:r>
              <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ARM Cortex-M3</a:t>
            </a: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处理器</a:t>
            </a:r>
            <a:endPar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None/>
              <a:defRPr/>
            </a:pP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a:t>
            </a:r>
            <a:r>
              <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a:t>
            </a: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时钟：高达</a:t>
            </a:r>
            <a:r>
              <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72M,</a:t>
            </a: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实际还可以超频一点点</a:t>
            </a:r>
            <a:endPar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None/>
              <a:defRPr/>
            </a:pP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a:t>
            </a:r>
            <a:r>
              <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a:t>
            </a: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单周期乘法和硬件除法</a:t>
            </a:r>
            <a:endParaRPr kumimoji="0" lang="zh-CN" altLang="en-US" sz="2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None/>
              <a:defRPr/>
            </a:pPr>
            <a:endParaRPr kumimoji="0" lang="en-US" altLang="zh-CN" sz="18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圆角矩形 5"/>
          <p:cNvSpPr/>
          <p:nvPr/>
        </p:nvSpPr>
        <p:spPr>
          <a:xfrm>
            <a:off x="260350" y="439738"/>
            <a:ext cx="8623300" cy="4462462"/>
          </a:xfrm>
          <a:prstGeom prst="roundRect">
            <a:avLst>
              <a:gd name="adj" fmla="val 16667"/>
            </a:avLst>
          </a:prstGeom>
          <a:noFill/>
          <a:ln w="47625" cap="flat" cmpd="sng">
            <a:solidFill>
              <a:srgbClr val="FC6C02"/>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sym typeface="Bodoni MT" panose="02070603080606020203" pitchFamily="18" charset="0"/>
            </a:endParaRPr>
          </a:p>
        </p:txBody>
      </p:sp>
      <p:sp useBgFill="1">
        <p:nvSpPr>
          <p:cNvPr id="12" name="矩形 11"/>
          <p:cNvSpPr/>
          <p:nvPr/>
        </p:nvSpPr>
        <p:spPr>
          <a:xfrm>
            <a:off x="717549" y="121918"/>
            <a:ext cx="2413636" cy="583566"/>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概述</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9220" name="TextBox 1"/>
          <p:cNvSpPr txBox="1">
            <a:spLocks noChangeArrowheads="1"/>
          </p:cNvSpPr>
          <p:nvPr/>
        </p:nvSpPr>
        <p:spPr bwMode="auto">
          <a:xfrm>
            <a:off x="587375" y="839788"/>
            <a:ext cx="7807325" cy="341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en-US" altLang="zh-CN" sz="2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IO</a:t>
            </a:r>
            <a:r>
              <a:rPr kumimoji="0" lang="zh-CN" altLang="en-US" sz="2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口：</a:t>
            </a:r>
            <a:endParaRPr kumimoji="0" lang="en-US" altLang="zh-CN" sz="2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CN"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-STM32F103ZET6: 144</a:t>
            </a:r>
            <a:r>
              <a:rPr kumimoji="0" lang="zh-CN" altLang="en-US"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引脚 </a:t>
            </a:r>
            <a:r>
              <a:rPr kumimoji="0" lang="en-US" altLang="zh-CN"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112</a:t>
            </a:r>
            <a:r>
              <a:rPr kumimoji="0" lang="zh-CN" altLang="en-US"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个</a:t>
            </a:r>
            <a:r>
              <a:rPr kumimoji="0" lang="en-US" altLang="zh-CN"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IO</a:t>
            </a:r>
            <a:r>
              <a:rPr kumimoji="0" lang="zh-CN" altLang="en-US"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a:t>
            </a:r>
            <a:r>
              <a:rPr kumimoji="0" lang="en-US" altLang="zh-CN"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PA--PG</a:t>
            </a:r>
            <a:r>
              <a:rPr kumimoji="0" lang="zh-CN" altLang="en-US"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a:t>
            </a:r>
            <a:endParaRPr kumimoji="0" lang="zh-CN" altLang="en-US"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-STM32F103RCT6</a:t>
            </a:r>
            <a:r>
              <a:rPr kumimoji="0" lang="zh-CN" altLang="en-US"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a:t>
            </a:r>
            <a:r>
              <a:rPr kumimoji="0" lang="en-US" altLang="zh-CN"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64</a:t>
            </a:r>
            <a:r>
              <a:rPr kumimoji="0" lang="zh-CN" altLang="en-US"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引脚  </a:t>
            </a:r>
            <a:r>
              <a:rPr kumimoji="0" lang="en-US" altLang="zh-CN"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51</a:t>
            </a:r>
            <a:r>
              <a:rPr kumimoji="0" lang="zh-CN" altLang="en-US"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个</a:t>
            </a:r>
            <a:r>
              <a:rPr kumimoji="0" lang="en-US" altLang="zh-CN"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IO</a:t>
            </a:r>
            <a:endParaRPr kumimoji="0" lang="en-US" altLang="zh-CN"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a:t>
            </a:r>
            <a:r>
              <a:rPr kumimoji="0" lang="zh-CN" altLang="en-US"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大部分</a:t>
            </a:r>
            <a:r>
              <a:rPr kumimoji="0" lang="en-US" altLang="zh-CN"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IO</a:t>
            </a:r>
            <a:r>
              <a:rPr kumimoji="0" lang="zh-CN" altLang="en-US"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口都耐</a:t>
            </a:r>
            <a:r>
              <a:rPr kumimoji="0" lang="en-US" altLang="zh-CN"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5V(</a:t>
            </a:r>
            <a:r>
              <a:rPr kumimoji="0" lang="zh-CN" altLang="en-US"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模拟通道除外</a:t>
            </a:r>
            <a:r>
              <a:rPr kumimoji="0" lang="en-US" altLang="zh-CN"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a:t>
            </a:r>
            <a:endParaRPr kumimoji="0" lang="en-US" altLang="zh-CN"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a:t>
            </a:r>
            <a:r>
              <a:rPr kumimoji="0" lang="zh-CN" altLang="en-US"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支持调试：</a:t>
            </a:r>
            <a:r>
              <a:rPr kumimoji="0" lang="en-US" altLang="zh-CN"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SWD</a:t>
            </a:r>
            <a:r>
              <a:rPr kumimoji="0" lang="zh-CN" altLang="en-US"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和</a:t>
            </a:r>
            <a:r>
              <a:rPr kumimoji="0" lang="en-US" altLang="zh-CN"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JTAG</a:t>
            </a:r>
            <a:r>
              <a:rPr kumimoji="0" lang="zh-CN" altLang="en-US"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a:t>
            </a:r>
            <a:r>
              <a:rPr kumimoji="0" lang="en-US" altLang="zh-CN"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SWD</a:t>
            </a:r>
            <a:r>
              <a:rPr kumimoji="0" lang="zh-CN" altLang="en-US"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只要</a:t>
            </a:r>
            <a:r>
              <a:rPr kumimoji="0" lang="en-US" altLang="zh-CN"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2</a:t>
            </a:r>
            <a:r>
              <a:rPr kumimoji="0" lang="zh-CN" altLang="en-US" sz="20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根数据线</a:t>
            </a:r>
            <a:endParaRPr kumimoji="0" lang="en-US" altLang="zh-CN" sz="1400" b="0" i="0" u="none" strike="noStrike" kern="1200" cap="none" spc="0" normalizeH="0" baseline="0" noProof="0" dirty="0">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存储器容量：</a:t>
            </a:r>
            <a:endParaRPr kumimoji="0" lang="en-US" altLang="zh-CN" sz="2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STM32F103ZET6:  512K FLASH</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64K SRAM</a:t>
            </a:r>
            <a:endPar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STM32F103RCT6: 256K FLASH</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48K  SRAM</a:t>
            </a:r>
            <a:endPar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圆角矩形 5"/>
          <p:cNvSpPr/>
          <p:nvPr/>
        </p:nvSpPr>
        <p:spPr>
          <a:xfrm>
            <a:off x="260350" y="439738"/>
            <a:ext cx="8623300" cy="4462462"/>
          </a:xfrm>
          <a:prstGeom prst="roundRect">
            <a:avLst>
              <a:gd name="adj" fmla="val 16667"/>
            </a:avLst>
          </a:prstGeom>
          <a:noFill/>
          <a:ln w="47625" cap="flat" cmpd="sng">
            <a:solidFill>
              <a:srgbClr val="FC6C02"/>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sym typeface="Bodoni MT" panose="02070603080606020203" pitchFamily="18" charset="0"/>
            </a:endParaRPr>
          </a:p>
        </p:txBody>
      </p:sp>
      <p:sp useBgFill="1">
        <p:nvSpPr>
          <p:cNvPr id="12" name="矩形 11"/>
          <p:cNvSpPr/>
          <p:nvPr/>
        </p:nvSpPr>
        <p:spPr>
          <a:xfrm>
            <a:off x="717549" y="121918"/>
            <a:ext cx="2413636" cy="583566"/>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概述</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22531" name="TextBox 1"/>
          <p:cNvSpPr txBox="1"/>
          <p:nvPr/>
        </p:nvSpPr>
        <p:spPr>
          <a:xfrm>
            <a:off x="533400" y="704850"/>
            <a:ext cx="6427788" cy="522288"/>
          </a:xfrm>
          <a:prstGeom prst="rect">
            <a:avLst/>
          </a:prstGeom>
          <a:noFill/>
          <a:ln w="9525">
            <a:noFill/>
          </a:ln>
        </p:spPr>
        <p:txBody>
          <a:bodyPr anchor="t" anchorCtr="0">
            <a:spAutoFit/>
          </a:bodyPr>
          <a:p>
            <a:pPr>
              <a:buFont typeface="Wingdings" panose="05000000000000000000" pitchFamily="2" charset="2"/>
              <a:buChar char="u"/>
            </a:pPr>
            <a:r>
              <a:rPr lang="zh-CN" altLang="en-US" sz="2800" b="1" dirty="0">
                <a:solidFill>
                  <a:srgbClr val="FF0000"/>
                </a:solidFill>
                <a:latin typeface="Arial" panose="020B0604020202020204" pitchFamily="34" charset="0"/>
                <a:ea typeface="宋体" panose="02010600030101010101" pitchFamily="2" charset="-122"/>
                <a:sym typeface="Bodoni MT" panose="02070603080606020203" pitchFamily="18" charset="0"/>
              </a:rPr>
              <a:t>时钟和电源管理：</a:t>
            </a:r>
            <a:endParaRPr lang="en-US" altLang="zh-CN" sz="2800" b="1" dirty="0">
              <a:solidFill>
                <a:srgbClr val="FF0000"/>
              </a:solidFill>
              <a:latin typeface="Arial" panose="020B0604020202020204" pitchFamily="34" charset="0"/>
              <a:ea typeface="宋体" panose="02010600030101010101" pitchFamily="2" charset="-122"/>
              <a:sym typeface="Bodoni MT" panose="02070603080606020203" pitchFamily="18" charset="0"/>
            </a:endParaRPr>
          </a:p>
        </p:txBody>
      </p:sp>
      <p:sp>
        <p:nvSpPr>
          <p:cNvPr id="12293" name="TextBox 1"/>
          <p:cNvSpPr txBox="1"/>
          <p:nvPr/>
        </p:nvSpPr>
        <p:spPr>
          <a:xfrm>
            <a:off x="604838" y="1228725"/>
            <a:ext cx="7315200" cy="34766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j-lt"/>
              </a:defRPr>
            </a:lvl2pPr>
            <a:lvl3pPr marL="1143000" indent="-228600" algn="l" rtl="0" eaLnBrk="0" fontAlgn="base" hangingPunct="0">
              <a:spcBef>
                <a:spcPct val="20000"/>
              </a:spcBef>
              <a:spcAft>
                <a:spcPct val="0"/>
              </a:spcAft>
              <a:buClr>
                <a:schemeClr val="tx1"/>
              </a:buClr>
              <a:buChar char="•"/>
              <a:defRPr sz="2400">
                <a:solidFill>
                  <a:schemeClr val="tx1"/>
                </a:solidFill>
                <a:latin typeface="+mj-lt"/>
              </a:defRPr>
            </a:lvl3pPr>
            <a:lvl4pPr marL="1600200" indent="-228600" algn="l" rtl="0" eaLnBrk="0" fontAlgn="base" hangingPunct="0">
              <a:spcBef>
                <a:spcPct val="20000"/>
              </a:spcBef>
              <a:spcAft>
                <a:spcPct val="0"/>
              </a:spcAft>
              <a:buChar char="–"/>
              <a:defRPr sz="2000">
                <a:solidFill>
                  <a:schemeClr val="tx1"/>
                </a:solidFill>
                <a:latin typeface="+mj-lt"/>
              </a:defRPr>
            </a:lvl4pPr>
            <a:lvl5pPr marL="2057400" indent="-228600" algn="l" rtl="0" eaLnBrk="0" fontAlgn="base" hangingPunct="0">
              <a:spcBef>
                <a:spcPct val="20000"/>
              </a:spcBef>
              <a:spcAft>
                <a:spcPct val="0"/>
              </a:spcAft>
              <a:buChar char="»"/>
              <a:defRPr sz="2000">
                <a:solidFill>
                  <a:schemeClr val="tx1"/>
                </a:solidFill>
                <a:latin typeface="+mj-lt"/>
              </a:defRPr>
            </a:lvl5pPr>
          </a:lstStyle>
          <a:p>
            <a:pPr marL="457200" marR="0" lvl="0" indent="-457200" algn="l" defTabSz="914400" rtl="0" eaLnBrk="1" fontAlgn="base" latinLnBrk="0" hangingPunct="1">
              <a:lnSpc>
                <a:spcPts val="3300"/>
              </a:lnSpc>
              <a:spcBef>
                <a:spcPct val="0"/>
              </a:spcBef>
              <a:spcAft>
                <a:spcPct val="0"/>
              </a:spcAft>
              <a:buClrTx/>
              <a:buSzTx/>
              <a:buFont typeface="Wingdings" panose="05000000000000000000" pitchFamily="2" charset="2"/>
              <a:buAutoNum type="circleNumDbPlain"/>
              <a:defRPr/>
            </a:pPr>
            <a:r>
              <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2.0~3.6V</a:t>
            </a: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电源和</a:t>
            </a:r>
            <a:r>
              <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IO</a:t>
            </a: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电压</a:t>
            </a:r>
            <a:endPar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ts val="3300"/>
              </a:lnSpc>
              <a:spcBef>
                <a:spcPct val="0"/>
              </a:spcBef>
              <a:spcAft>
                <a:spcPct val="0"/>
              </a:spcAft>
              <a:buClrTx/>
              <a:buSzTx/>
              <a:buFont typeface="Wingdings" panose="05000000000000000000" pitchFamily="2" charset="2"/>
              <a:buAutoNum type="circleNumDbPlain"/>
              <a:defRPr/>
            </a:pPr>
            <a:r>
              <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a:t>
            </a: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强大的时钟系统</a:t>
            </a:r>
            <a:endPar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ts val="3300"/>
              </a:lnSpc>
              <a:spcBef>
                <a:spcPct val="0"/>
              </a:spcBef>
              <a:spcAft>
                <a:spcPct val="0"/>
              </a:spcAft>
              <a:buClrTx/>
              <a:buSzTx/>
              <a:buFont typeface="Wingdings" panose="05000000000000000000" pitchFamily="2" charset="2"/>
              <a:buNone/>
              <a:defRPr/>
            </a:pPr>
            <a:r>
              <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4~16M</a:t>
            </a: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的外部高速晶振</a:t>
            </a:r>
            <a:endPar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ts val="3300"/>
              </a:lnSpc>
              <a:spcBef>
                <a:spcPct val="0"/>
              </a:spcBef>
              <a:spcAft>
                <a:spcPct val="0"/>
              </a:spcAft>
              <a:buClrTx/>
              <a:buSzTx/>
              <a:buFont typeface="Wingdings" panose="05000000000000000000" pitchFamily="2" charset="2"/>
              <a:buNone/>
              <a:defRPr/>
            </a:pPr>
            <a:r>
              <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a:t>
            </a: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内部</a:t>
            </a:r>
            <a:r>
              <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8MHz</a:t>
            </a: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的高速</a:t>
            </a:r>
            <a:r>
              <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RC</a:t>
            </a: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振荡器</a:t>
            </a:r>
            <a:endPar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ts val="3300"/>
              </a:lnSpc>
              <a:spcBef>
                <a:spcPct val="0"/>
              </a:spcBef>
              <a:spcAft>
                <a:spcPct val="0"/>
              </a:spcAft>
              <a:buClrTx/>
              <a:buSzTx/>
              <a:buFont typeface="Wingdings" panose="05000000000000000000" pitchFamily="2" charset="2"/>
              <a:buNone/>
              <a:defRPr/>
            </a:pPr>
            <a:r>
              <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a:t>
            </a: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内部</a:t>
            </a:r>
            <a:r>
              <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40KHz</a:t>
            </a: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低速</a:t>
            </a:r>
            <a:r>
              <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RC</a:t>
            </a: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振荡器，看门狗时钟</a:t>
            </a:r>
            <a:endPar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ts val="3300"/>
              </a:lnSpc>
              <a:spcBef>
                <a:spcPct val="0"/>
              </a:spcBef>
              <a:spcAft>
                <a:spcPct val="0"/>
              </a:spcAft>
              <a:buClrTx/>
              <a:buSzTx/>
              <a:buFont typeface="Wingdings" panose="05000000000000000000" pitchFamily="2" charset="2"/>
              <a:buNone/>
              <a:defRPr/>
            </a:pPr>
            <a:r>
              <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a:t>
            </a: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内部锁相环（</a:t>
            </a:r>
            <a:r>
              <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PLL</a:t>
            </a: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，倍频），一般系统时钟都是外</a:t>
            </a:r>
            <a:endPar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ts val="3300"/>
              </a:lnSpc>
              <a:spcBef>
                <a:spcPct val="0"/>
              </a:spcBef>
              <a:spcAft>
                <a:spcPct val="0"/>
              </a:spcAft>
              <a:buClrTx/>
              <a:buSzTx/>
              <a:buFont typeface="Wingdings" panose="05000000000000000000" pitchFamily="2" charset="2"/>
              <a:buNone/>
              <a:defRPr/>
            </a:pPr>
            <a:r>
              <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a:t>
            </a: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部或者内部高速时钟经过</a:t>
            </a:r>
            <a:r>
              <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PLL</a:t>
            </a: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倍频后得到</a:t>
            </a:r>
            <a:endPar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ts val="3300"/>
              </a:lnSpc>
              <a:spcBef>
                <a:spcPct val="0"/>
              </a:spcBef>
              <a:spcAft>
                <a:spcPct val="0"/>
              </a:spcAft>
              <a:buClrTx/>
              <a:buSzTx/>
              <a:buFont typeface="Wingdings" panose="05000000000000000000" pitchFamily="2" charset="2"/>
              <a:buNone/>
              <a:defRPr/>
            </a:pPr>
            <a:r>
              <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a:t>
            </a: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外部低速</a:t>
            </a:r>
            <a:r>
              <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32.768K</a:t>
            </a: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的晶振，主要做</a:t>
            </a:r>
            <a:r>
              <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RTC</a:t>
            </a: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时钟源</a:t>
            </a:r>
            <a:endPar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圆角矩形 5"/>
          <p:cNvSpPr/>
          <p:nvPr/>
        </p:nvSpPr>
        <p:spPr>
          <a:xfrm>
            <a:off x="260350" y="439738"/>
            <a:ext cx="8623300" cy="4462462"/>
          </a:xfrm>
          <a:prstGeom prst="roundRect">
            <a:avLst>
              <a:gd name="adj" fmla="val 16667"/>
            </a:avLst>
          </a:prstGeom>
          <a:noFill/>
          <a:ln w="47625" cap="flat" cmpd="sng">
            <a:solidFill>
              <a:srgbClr val="FC6C02"/>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sym typeface="Bodoni MT" panose="02070603080606020203" pitchFamily="18" charset="0"/>
            </a:endParaRPr>
          </a:p>
        </p:txBody>
      </p:sp>
      <p:sp useBgFill="1">
        <p:nvSpPr>
          <p:cNvPr id="12" name="矩形 11"/>
          <p:cNvSpPr/>
          <p:nvPr/>
        </p:nvSpPr>
        <p:spPr>
          <a:xfrm>
            <a:off x="717549" y="121918"/>
            <a:ext cx="2413636" cy="583566"/>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概述</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13316" name="TextBox 1"/>
          <p:cNvSpPr txBox="1"/>
          <p:nvPr/>
        </p:nvSpPr>
        <p:spPr>
          <a:xfrm>
            <a:off x="508000" y="609600"/>
            <a:ext cx="8375650" cy="4108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j-lt"/>
              </a:defRPr>
            </a:lvl2pPr>
            <a:lvl3pPr marL="1143000" indent="-228600" algn="l" rtl="0" eaLnBrk="0" fontAlgn="base" hangingPunct="0">
              <a:spcBef>
                <a:spcPct val="20000"/>
              </a:spcBef>
              <a:spcAft>
                <a:spcPct val="0"/>
              </a:spcAft>
              <a:buClr>
                <a:schemeClr val="tx1"/>
              </a:buClr>
              <a:buChar char="•"/>
              <a:defRPr sz="2400">
                <a:solidFill>
                  <a:schemeClr val="tx1"/>
                </a:solidFill>
                <a:latin typeface="+mj-lt"/>
              </a:defRPr>
            </a:lvl3pPr>
            <a:lvl4pPr marL="1600200" indent="-228600" algn="l" rtl="0" eaLnBrk="0" fontAlgn="base" hangingPunct="0">
              <a:spcBef>
                <a:spcPct val="20000"/>
              </a:spcBef>
              <a:spcAft>
                <a:spcPct val="0"/>
              </a:spcAft>
              <a:buChar char="–"/>
              <a:defRPr sz="2000">
                <a:solidFill>
                  <a:schemeClr val="tx1"/>
                </a:solidFill>
                <a:latin typeface="+mj-lt"/>
              </a:defRPr>
            </a:lvl4pPr>
            <a:lvl5pPr marL="2057400" indent="-228600" algn="l" rtl="0" eaLnBrk="0" fontAlgn="base" hangingPunct="0">
              <a:spcBef>
                <a:spcPct val="20000"/>
              </a:spcBef>
              <a:spcAft>
                <a:spcPct val="0"/>
              </a:spcAft>
              <a:buChar char="»"/>
              <a:defRPr sz="2000">
                <a:solidFill>
                  <a:schemeClr val="tx1"/>
                </a:solidFill>
                <a:latin typeface="+mj-lt"/>
              </a:defRPr>
            </a:lvl5pPr>
          </a:lstStyle>
          <a:p>
            <a:pPr marL="285750" marR="0" lvl="0" indent="-285750" algn="l" defTabSz="914400" rtl="0" eaLnBrk="1" fontAlgn="base" latinLnBrk="0" hangingPunct="1">
              <a:lnSpc>
                <a:spcPct val="150000"/>
              </a:lnSpc>
              <a:spcBef>
                <a:spcPct val="0"/>
              </a:spcBef>
              <a:spcAft>
                <a:spcPct val="0"/>
              </a:spcAft>
              <a:buClrTx/>
              <a:buSzTx/>
              <a:buFont typeface="Wingdings" panose="05000000000000000000" pitchFamily="2" charset="2"/>
              <a:buChar char="u"/>
              <a:defRPr/>
            </a:pPr>
            <a:r>
              <a:rPr kumimoji="0" lang="zh-CN" altLang="en-US" sz="2400" b="1" i="0" u="none" strike="noStrike" kern="1200" cap="none" spc="0" normalizeH="0" baseline="0" noProof="1">
                <a:ln>
                  <a:noFill/>
                </a:ln>
                <a:solidFill>
                  <a:srgbClr val="FF0000"/>
                </a:solidFill>
                <a:effectLst/>
                <a:uLnTx/>
                <a:uFillTx/>
                <a:latin typeface="Arial" panose="020B0604020202020204" pitchFamily="34" charset="0"/>
                <a:ea typeface="宋体" panose="02010600030101010101" pitchFamily="2" charset="-122"/>
                <a:cs typeface="+mn-cs"/>
              </a:rPr>
              <a:t>低功耗：</a:t>
            </a:r>
            <a:endParaRPr kumimoji="0" lang="en-US" altLang="zh-CN" sz="2800" b="1" i="0" u="none" strike="noStrike" kern="1200" cap="none" spc="0" normalizeH="0" baseline="0" noProof="1">
              <a:ln>
                <a:noFill/>
              </a:ln>
              <a:solidFill>
                <a:srgbClr val="FF0000"/>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ts val="3300"/>
              </a:lnSpc>
              <a:spcBef>
                <a:spcPct val="20000"/>
              </a:spcBef>
              <a:spcAft>
                <a:spcPct val="0"/>
              </a:spcAft>
              <a:buClrTx/>
              <a:buSzTx/>
              <a:buFont typeface="Wingdings" panose="05000000000000000000" pitchFamily="2" charset="2"/>
              <a:buNone/>
              <a:defRPr/>
            </a:pP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-睡眠，停止和待机三种低功耗模式</a:t>
            </a:r>
            <a:endPar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ts val="3300"/>
              </a:lnSpc>
              <a:spcBef>
                <a:spcPct val="20000"/>
              </a:spcBef>
              <a:spcAft>
                <a:spcPct val="0"/>
              </a:spcAft>
              <a:buClrTx/>
              <a:buSzTx/>
              <a:buFont typeface="Wingdings" panose="05000000000000000000" pitchFamily="2" charset="2"/>
              <a:buNone/>
              <a:defRPr/>
            </a:pP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-可用电池为RTC和备份寄存器供电</a:t>
            </a:r>
            <a:endParaRPr kumimoji="0" lang="en-US" altLang="zh-CN" sz="1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a:p>
            <a:pPr marL="285750" marR="0" lvl="0" indent="-285750" algn="l" defTabSz="914400" rtl="0" eaLnBrk="1" fontAlgn="base" latinLnBrk="0" hangingPunct="1">
              <a:lnSpc>
                <a:spcPct val="150000"/>
              </a:lnSpc>
              <a:spcBef>
                <a:spcPct val="0"/>
              </a:spcBef>
              <a:spcAft>
                <a:spcPct val="0"/>
              </a:spcAft>
              <a:buClrTx/>
              <a:buSzTx/>
              <a:buFont typeface="Wingdings" panose="05000000000000000000" pitchFamily="2" charset="2"/>
              <a:buChar char="u"/>
              <a:defRPr/>
            </a:pPr>
            <a:r>
              <a:rPr kumimoji="0" lang="en-US" altLang="zh-CN" sz="2400" b="0" i="0" u="none" strike="noStrike" kern="1200" cap="none" spc="0" normalizeH="0" baseline="0" noProof="1">
                <a:ln>
                  <a:noFill/>
                </a:ln>
                <a:solidFill>
                  <a:srgbClr val="FF0000"/>
                </a:solidFill>
                <a:effectLst/>
                <a:uLnTx/>
                <a:uFillTx/>
                <a:latin typeface="Arial" panose="020B0604020202020204" pitchFamily="34" charset="0"/>
                <a:ea typeface="宋体" panose="02010600030101010101" pitchFamily="2" charset="-122"/>
                <a:cs typeface="+mn-cs"/>
              </a:rPr>
              <a:t>AD&amp;DA:</a:t>
            </a:r>
            <a:endParaRPr kumimoji="0" lang="en-US" altLang="zh-CN" sz="2800" b="1" i="0" u="none" strike="noStrike" kern="1200" cap="none" spc="0" normalizeH="0" baseline="0" noProof="1">
              <a:ln>
                <a:noFill/>
              </a:ln>
              <a:solidFill>
                <a:srgbClr val="FF0000"/>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ts val="3300"/>
              </a:lnSpc>
              <a:spcBef>
                <a:spcPct val="20000"/>
              </a:spcBef>
              <a:spcAft>
                <a:spcPct val="0"/>
              </a:spcAft>
              <a:buClrTx/>
              <a:buSzTx/>
              <a:buFont typeface="Wingdings" panose="05000000000000000000" pitchFamily="2" charset="2"/>
              <a:buNone/>
              <a:defRPr/>
            </a:pP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-3个12位AD【多达21个外部测量通道】，</a:t>
            </a:r>
            <a:r>
              <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2</a:t>
            </a: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个</a:t>
            </a:r>
            <a:r>
              <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12</a:t>
            </a: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位</a:t>
            </a:r>
            <a:r>
              <a:rPr kumimoji="0" lang="en-US" altLang="zh-CN"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DA</a:t>
            </a:r>
            <a:endPar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ts val="3300"/>
              </a:lnSpc>
              <a:spcBef>
                <a:spcPct val="20000"/>
              </a:spcBef>
              <a:spcAft>
                <a:spcPct val="0"/>
              </a:spcAft>
              <a:buClrTx/>
              <a:buSzTx/>
              <a:buFont typeface="Wingdings" panose="05000000000000000000" pitchFamily="2" charset="2"/>
              <a:buNone/>
              <a:defRPr/>
            </a:pP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-转换范围：0~3.6(电源电压）</a:t>
            </a:r>
            <a:endPar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ts val="3300"/>
              </a:lnSpc>
              <a:spcBef>
                <a:spcPct val="20000"/>
              </a:spcBef>
              <a:spcAft>
                <a:spcPct val="0"/>
              </a:spcAft>
              <a:buClrTx/>
              <a:buSzTx/>
              <a:buFont typeface="Wingdings" panose="05000000000000000000" pitchFamily="2" charset="2"/>
              <a:buNone/>
              <a:defRPr/>
            </a:pP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-内部通道可以用于内部温度测量</a:t>
            </a:r>
            <a:endPar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ts val="3300"/>
              </a:lnSpc>
              <a:spcBef>
                <a:spcPct val="20000"/>
              </a:spcBef>
              <a:spcAft>
                <a:spcPct val="0"/>
              </a:spcAft>
              <a:buClrTx/>
              <a:buSzTx/>
              <a:buFont typeface="Wingdings" panose="05000000000000000000" pitchFamily="2" charset="2"/>
              <a:buNone/>
              <a:defRPr/>
            </a:pP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-内置参考电压  </a:t>
            </a:r>
            <a:endPar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圆角矩形 5"/>
          <p:cNvSpPr/>
          <p:nvPr/>
        </p:nvSpPr>
        <p:spPr>
          <a:xfrm>
            <a:off x="260350" y="439738"/>
            <a:ext cx="8623300" cy="4462462"/>
          </a:xfrm>
          <a:prstGeom prst="roundRect">
            <a:avLst>
              <a:gd name="adj" fmla="val 16667"/>
            </a:avLst>
          </a:prstGeom>
          <a:noFill/>
          <a:ln w="47625" cap="flat" cmpd="sng">
            <a:solidFill>
              <a:srgbClr val="FC6C02"/>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sym typeface="Bodoni MT" panose="02070603080606020203" pitchFamily="18" charset="0"/>
            </a:endParaRPr>
          </a:p>
        </p:txBody>
      </p:sp>
      <p:sp useBgFill="1">
        <p:nvSpPr>
          <p:cNvPr id="12" name="矩形 11"/>
          <p:cNvSpPr/>
          <p:nvPr/>
        </p:nvSpPr>
        <p:spPr>
          <a:xfrm>
            <a:off x="717549" y="121918"/>
            <a:ext cx="2413636" cy="583566"/>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概述</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14340" name="TextBox 1"/>
          <p:cNvSpPr txBox="1"/>
          <p:nvPr/>
        </p:nvSpPr>
        <p:spPr>
          <a:xfrm>
            <a:off x="598488" y="704850"/>
            <a:ext cx="7527925" cy="34321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j-lt"/>
              </a:defRPr>
            </a:lvl2pPr>
            <a:lvl3pPr marL="1143000" indent="-228600" algn="l" rtl="0" eaLnBrk="0" fontAlgn="base" hangingPunct="0">
              <a:spcBef>
                <a:spcPct val="20000"/>
              </a:spcBef>
              <a:spcAft>
                <a:spcPct val="0"/>
              </a:spcAft>
              <a:buClr>
                <a:schemeClr val="tx1"/>
              </a:buClr>
              <a:buChar char="•"/>
              <a:defRPr sz="2400">
                <a:solidFill>
                  <a:schemeClr val="tx1"/>
                </a:solidFill>
                <a:latin typeface="+mj-lt"/>
              </a:defRPr>
            </a:lvl3pPr>
            <a:lvl4pPr marL="1600200" indent="-228600" algn="l" rtl="0" eaLnBrk="0" fontAlgn="base" hangingPunct="0">
              <a:spcBef>
                <a:spcPct val="20000"/>
              </a:spcBef>
              <a:spcAft>
                <a:spcPct val="0"/>
              </a:spcAft>
              <a:buChar char="–"/>
              <a:defRPr sz="2000">
                <a:solidFill>
                  <a:schemeClr val="tx1"/>
                </a:solidFill>
                <a:latin typeface="+mj-lt"/>
              </a:defRPr>
            </a:lvl4pPr>
            <a:lvl5pPr marL="2057400" indent="-228600" algn="l" rtl="0" eaLnBrk="0" fontAlgn="base" hangingPunct="0">
              <a:spcBef>
                <a:spcPct val="20000"/>
              </a:spcBef>
              <a:spcAft>
                <a:spcPct val="0"/>
              </a:spcAft>
              <a:buChar char="»"/>
              <a:defRPr sz="2000">
                <a:solidFill>
                  <a:schemeClr val="tx1"/>
                </a:solidFill>
                <a:latin typeface="+mj-lt"/>
              </a:defRPr>
            </a:lvl5pPr>
          </a:lstStyle>
          <a:p>
            <a:pPr marL="285750" marR="0" lvl="0" indent="-285750" algn="l" defTabSz="914400" rtl="0" eaLnBrk="1" fontAlgn="base" latinLnBrk="0" hangingPunct="1">
              <a:lnSpc>
                <a:spcPct val="150000"/>
              </a:lnSpc>
              <a:spcBef>
                <a:spcPct val="0"/>
              </a:spcBef>
              <a:spcAft>
                <a:spcPct val="0"/>
              </a:spcAft>
              <a:buClrTx/>
              <a:buSzTx/>
              <a:buFont typeface="Wingdings" panose="05000000000000000000" pitchFamily="2" charset="2"/>
              <a:buNone/>
              <a:defRPr/>
            </a:pPr>
            <a:r>
              <a:rPr kumimoji="0" lang="en-US" altLang="zh-CN" sz="2400" b="0" i="0" u="none" strike="noStrike" kern="1200" cap="none" spc="0" normalizeH="0" baseline="0" noProof="1">
                <a:ln>
                  <a:noFill/>
                </a:ln>
                <a:solidFill>
                  <a:srgbClr val="FF0000"/>
                </a:solidFill>
                <a:effectLst/>
                <a:uLnTx/>
                <a:uFillTx/>
                <a:latin typeface="Arial" panose="020B0604020202020204" pitchFamily="34" charset="0"/>
                <a:ea typeface="宋体" panose="02010600030101010101" pitchFamily="2" charset="-122"/>
                <a:cs typeface="+mn-cs"/>
              </a:rPr>
              <a:t>DMA</a:t>
            </a:r>
            <a:r>
              <a:rPr kumimoji="0" lang="zh-CN" altLang="en-US" sz="2400" b="0" i="0" u="none" strike="noStrike" kern="1200" cap="none" spc="0" normalizeH="0" baseline="0" noProof="1">
                <a:ln>
                  <a:noFill/>
                </a:ln>
                <a:solidFill>
                  <a:srgbClr val="FF0000"/>
                </a:solidFill>
                <a:effectLst/>
                <a:uLnTx/>
                <a:uFillTx/>
                <a:latin typeface="Arial" panose="020B0604020202020204" pitchFamily="34" charset="0"/>
                <a:ea typeface="宋体" panose="02010600030101010101" pitchFamily="2" charset="-122"/>
                <a:cs typeface="+mn-cs"/>
              </a:rPr>
              <a:t>（</a:t>
            </a:r>
            <a:r>
              <a:rPr kumimoji="0" lang="en-US" altLang="zh-CN" sz="2400" b="0" i="0" u="none" strike="noStrike" kern="1200" cap="none" spc="0" normalizeH="0" baseline="0" noProof="1">
                <a:ln>
                  <a:noFill/>
                </a:ln>
                <a:solidFill>
                  <a:srgbClr val="FF0000"/>
                </a:solidFill>
                <a:effectLst/>
                <a:uLnTx/>
                <a:uFillTx/>
                <a:latin typeface="Arial" panose="020B0604020202020204" pitchFamily="34" charset="0"/>
                <a:ea typeface="宋体" panose="02010600030101010101" pitchFamily="2" charset="-122"/>
                <a:cs typeface="+mn-cs"/>
                <a:sym typeface="+mn-ea"/>
              </a:rPr>
              <a:t>直接存储器访问</a:t>
            </a:r>
            <a:r>
              <a:rPr kumimoji="0" lang="zh-CN" altLang="en-US" sz="2400" b="0" i="0" u="none" strike="noStrike" kern="1200" cap="none" spc="0" normalizeH="0" baseline="0" noProof="1">
                <a:ln>
                  <a:noFill/>
                </a:ln>
                <a:solidFill>
                  <a:srgbClr val="FF0000"/>
                </a:solidFill>
                <a:effectLst/>
                <a:uLnTx/>
                <a:uFillTx/>
                <a:latin typeface="Arial" panose="020B0604020202020204" pitchFamily="34" charset="0"/>
                <a:ea typeface="宋体" panose="02010600030101010101" pitchFamily="2" charset="-122"/>
                <a:cs typeface="+mn-cs"/>
              </a:rPr>
              <a:t>）</a:t>
            </a:r>
            <a:r>
              <a:rPr kumimoji="0" lang="en-US" altLang="zh-CN" sz="2400" b="0" i="0" u="none" strike="noStrike" kern="1200" cap="none" spc="0" normalizeH="0" baseline="0" noProof="1">
                <a:ln>
                  <a:noFill/>
                </a:ln>
                <a:solidFill>
                  <a:srgbClr val="FF0000"/>
                </a:solidFill>
                <a:effectLst/>
                <a:uLnTx/>
                <a:uFillTx/>
                <a:latin typeface="Arial" panose="020B0604020202020204" pitchFamily="34" charset="0"/>
                <a:ea typeface="宋体" panose="02010600030101010101" pitchFamily="2" charset="-122"/>
                <a:cs typeface="+mn-cs"/>
              </a:rPr>
              <a:t>:</a:t>
            </a:r>
            <a:endParaRPr kumimoji="0" lang="en-US" altLang="zh-CN" sz="2800" b="1" i="0" u="none" strike="noStrike" kern="1200" cap="none" spc="0" normalizeH="0" baseline="0" noProof="1">
              <a:ln>
                <a:noFill/>
              </a:ln>
              <a:solidFill>
                <a:srgbClr val="FF0000"/>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ts val="3300"/>
              </a:lnSpc>
              <a:spcBef>
                <a:spcPct val="20000"/>
              </a:spcBef>
              <a:spcAft>
                <a:spcPct val="0"/>
              </a:spcAft>
              <a:buClrTx/>
              <a:buSzTx/>
              <a:buFont typeface="Wingdings" panose="05000000000000000000" pitchFamily="2" charset="2"/>
              <a:buNone/>
              <a:defRPr/>
            </a:pP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12个DMA通道（7+5=12; 7通道DMA1,5通道DMA2)</a:t>
            </a:r>
            <a:endPar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ts val="3300"/>
              </a:lnSpc>
              <a:spcBef>
                <a:spcPct val="20000"/>
              </a:spcBef>
              <a:spcAft>
                <a:spcPct val="0"/>
              </a:spcAft>
              <a:buClrTx/>
              <a:buSzTx/>
              <a:buFont typeface="Wingdings" panose="05000000000000000000" pitchFamily="2" charset="2"/>
              <a:buNone/>
              <a:defRPr/>
            </a:pP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支持外设：定时器，ADC,DAC，SDIO,I2S,SPI,I2C,和USART</a:t>
            </a:r>
            <a:endPar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ts val="3300"/>
              </a:lnSpc>
              <a:spcBef>
                <a:spcPct val="20000"/>
              </a:spcBef>
              <a:spcAft>
                <a:spcPct val="0"/>
              </a:spcAft>
              <a:buClrTx/>
              <a:buSzTx/>
              <a:buFont typeface="Wingdings" panose="05000000000000000000" pitchFamily="2" charset="2"/>
              <a:buNone/>
              <a:defRPr/>
            </a:pP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sym typeface="+mn-ea"/>
              </a:rPr>
              <a:t>     </a:t>
            </a:r>
            <a:endPar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sym typeface="+mn-ea"/>
            </a:endParaRPr>
          </a:p>
          <a:p>
            <a:pPr marL="457200" marR="0" lvl="0" indent="-457200" algn="l" defTabSz="914400" rtl="0" eaLnBrk="1" fontAlgn="base" latinLnBrk="0" hangingPunct="1">
              <a:lnSpc>
                <a:spcPts val="3300"/>
              </a:lnSpc>
              <a:spcBef>
                <a:spcPct val="20000"/>
              </a:spcBef>
              <a:spcAft>
                <a:spcPct val="0"/>
              </a:spcAft>
              <a:buClrTx/>
              <a:buSzTx/>
              <a:buFont typeface="Wingdings" panose="05000000000000000000" pitchFamily="2" charset="2"/>
              <a:buNone/>
              <a:defRPr/>
            </a:pP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sym typeface="+mn-ea"/>
              </a:rPr>
              <a:t>       DMA传输方式无需CPU直接控制传输，也没有中断处理方式那样保留现场和恢复现场过程，通过硬件为RAM和IO设备开辟一条直接传输数据的通道，使得CPU的效率大大提高。</a:t>
            </a:r>
            <a:endParaRPr kumimoji="0" lang="en-US" altLang="zh-CN" sz="18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圆角矩形 5"/>
          <p:cNvSpPr/>
          <p:nvPr/>
        </p:nvSpPr>
        <p:spPr>
          <a:xfrm>
            <a:off x="260350" y="439738"/>
            <a:ext cx="8623300" cy="4462462"/>
          </a:xfrm>
          <a:prstGeom prst="roundRect">
            <a:avLst>
              <a:gd name="adj" fmla="val 16667"/>
            </a:avLst>
          </a:prstGeom>
          <a:noFill/>
          <a:ln w="47625" cap="flat" cmpd="sng">
            <a:solidFill>
              <a:srgbClr val="FC6C02"/>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sym typeface="Bodoni MT" panose="02070603080606020203" pitchFamily="18" charset="0"/>
            </a:endParaRPr>
          </a:p>
        </p:txBody>
      </p:sp>
      <p:sp useBgFill="1">
        <p:nvSpPr>
          <p:cNvPr id="12" name="矩形 11"/>
          <p:cNvSpPr/>
          <p:nvPr/>
        </p:nvSpPr>
        <p:spPr>
          <a:xfrm>
            <a:off x="717549" y="121918"/>
            <a:ext cx="2413636" cy="583566"/>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概述</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15364" name="TextBox 1"/>
          <p:cNvSpPr txBox="1"/>
          <p:nvPr/>
        </p:nvSpPr>
        <p:spPr>
          <a:xfrm>
            <a:off x="461963" y="1039813"/>
            <a:ext cx="3768725" cy="29448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j-lt"/>
              </a:defRPr>
            </a:lvl2pPr>
            <a:lvl3pPr marL="1143000" indent="-228600" algn="l" rtl="0" eaLnBrk="0" fontAlgn="base" hangingPunct="0">
              <a:spcBef>
                <a:spcPct val="20000"/>
              </a:spcBef>
              <a:spcAft>
                <a:spcPct val="0"/>
              </a:spcAft>
              <a:buClr>
                <a:schemeClr val="tx1"/>
              </a:buClr>
              <a:buChar char="•"/>
              <a:defRPr sz="2400">
                <a:solidFill>
                  <a:schemeClr val="tx1"/>
                </a:solidFill>
                <a:latin typeface="+mj-lt"/>
              </a:defRPr>
            </a:lvl3pPr>
            <a:lvl4pPr marL="1600200" indent="-228600" algn="l" rtl="0" eaLnBrk="0" fontAlgn="base" hangingPunct="0">
              <a:spcBef>
                <a:spcPct val="20000"/>
              </a:spcBef>
              <a:spcAft>
                <a:spcPct val="0"/>
              </a:spcAft>
              <a:buChar char="–"/>
              <a:defRPr sz="2000">
                <a:solidFill>
                  <a:schemeClr val="tx1"/>
                </a:solidFill>
                <a:latin typeface="+mj-lt"/>
              </a:defRPr>
            </a:lvl4pPr>
            <a:lvl5pPr marL="2057400" indent="-228600" algn="l" rtl="0" eaLnBrk="0" fontAlgn="base" hangingPunct="0">
              <a:spcBef>
                <a:spcPct val="20000"/>
              </a:spcBef>
              <a:spcAft>
                <a:spcPct val="0"/>
              </a:spcAft>
              <a:buChar char="»"/>
              <a:defRPr sz="2000">
                <a:solidFill>
                  <a:schemeClr val="tx1"/>
                </a:solidFill>
                <a:latin typeface="+mj-lt"/>
              </a:defRPr>
            </a:lvl5pPr>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800" b="1" i="0" u="none" strike="noStrike" kern="1200" cap="none" spc="0" normalizeH="0" baseline="0" noProof="1">
                <a:ln>
                  <a:noFill/>
                </a:ln>
                <a:solidFill>
                  <a:srgbClr val="FF0000"/>
                </a:solidFill>
                <a:effectLst/>
                <a:uLnTx/>
                <a:uFillTx/>
                <a:latin typeface="Arial" panose="020B0604020202020204" pitchFamily="34" charset="0"/>
                <a:ea typeface="宋体" panose="02010600030101010101" pitchFamily="2" charset="-122"/>
                <a:cs typeface="+mn-cs"/>
              </a:rPr>
              <a:t>定时器：</a:t>
            </a:r>
            <a:r>
              <a:rPr kumimoji="0" lang="en-US" altLang="zh-CN" sz="2800" b="1" i="0" u="none" strike="noStrike" kern="1200" cap="none" spc="0" normalizeH="0" baseline="0" noProof="1">
                <a:ln>
                  <a:noFill/>
                </a:ln>
                <a:solidFill>
                  <a:srgbClr val="FF0000"/>
                </a:solidFill>
                <a:effectLst/>
                <a:uLnTx/>
                <a:uFillTx/>
                <a:latin typeface="Arial" panose="020B0604020202020204" pitchFamily="34" charset="0"/>
                <a:ea typeface="宋体" panose="02010600030101010101" pitchFamily="2" charset="-122"/>
                <a:cs typeface="+mn-cs"/>
              </a:rPr>
              <a:t>11</a:t>
            </a:r>
            <a:r>
              <a:rPr kumimoji="0" lang="zh-CN" altLang="en-US" sz="2800" b="1" i="0" u="none" strike="noStrike" kern="1200" cap="none" spc="0" normalizeH="0" baseline="0" noProof="1">
                <a:ln>
                  <a:noFill/>
                </a:ln>
                <a:solidFill>
                  <a:srgbClr val="FF0000"/>
                </a:solidFill>
                <a:effectLst/>
                <a:uLnTx/>
                <a:uFillTx/>
                <a:latin typeface="Arial" panose="020B0604020202020204" pitchFamily="34" charset="0"/>
                <a:ea typeface="宋体" panose="02010600030101010101" pitchFamily="2" charset="-122"/>
                <a:cs typeface="+mn-cs"/>
              </a:rPr>
              <a:t>个定时器</a:t>
            </a:r>
            <a:endParaRPr kumimoji="0" lang="en-US" altLang="zh-CN" sz="2800" b="1" i="0" u="none" strike="noStrike" kern="1200" cap="none" spc="0" normalizeH="0" baseline="0" noProof="1">
              <a:ln>
                <a:noFill/>
              </a:ln>
              <a:solidFill>
                <a:srgbClr val="FF0000"/>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ts val="3300"/>
              </a:lnSpc>
              <a:spcBef>
                <a:spcPct val="20000"/>
              </a:spcBef>
              <a:spcAft>
                <a:spcPct val="0"/>
              </a:spcAft>
              <a:buClrTx/>
              <a:buSzTx/>
              <a:buFont typeface="Wingdings" panose="05000000000000000000" pitchFamily="2" charset="2"/>
              <a:buNone/>
              <a:defRPr/>
            </a:pP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-4个通用定时器</a:t>
            </a:r>
            <a:endPar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ts val="3300"/>
              </a:lnSpc>
              <a:spcBef>
                <a:spcPct val="20000"/>
              </a:spcBef>
              <a:spcAft>
                <a:spcPct val="0"/>
              </a:spcAft>
              <a:buClrTx/>
              <a:buSzTx/>
              <a:buFont typeface="Wingdings" panose="05000000000000000000" pitchFamily="2" charset="2"/>
              <a:buNone/>
              <a:defRPr/>
            </a:pP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-2个基本定时器</a:t>
            </a:r>
            <a:endPar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ts val="3300"/>
              </a:lnSpc>
              <a:spcBef>
                <a:spcPct val="20000"/>
              </a:spcBef>
              <a:spcAft>
                <a:spcPct val="0"/>
              </a:spcAft>
              <a:buClrTx/>
              <a:buSzTx/>
              <a:buFont typeface="Wingdings" panose="05000000000000000000" pitchFamily="2" charset="2"/>
              <a:buNone/>
              <a:defRPr/>
            </a:pP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-2个高级定时器</a:t>
            </a:r>
            <a:endPar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ts val="3300"/>
              </a:lnSpc>
              <a:spcBef>
                <a:spcPct val="20000"/>
              </a:spcBef>
              <a:spcAft>
                <a:spcPct val="0"/>
              </a:spcAft>
              <a:buClrTx/>
              <a:buSzTx/>
              <a:buFont typeface="Wingdings" panose="05000000000000000000" pitchFamily="2" charset="2"/>
              <a:buNone/>
              <a:defRPr/>
            </a:pP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-1个系统定时器</a:t>
            </a:r>
            <a:endPar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ts val="3300"/>
              </a:lnSpc>
              <a:spcBef>
                <a:spcPct val="20000"/>
              </a:spcBef>
              <a:spcAft>
                <a:spcPct val="0"/>
              </a:spcAft>
              <a:buClrTx/>
              <a:buSzTx/>
              <a:buFont typeface="Wingdings" panose="05000000000000000000" pitchFamily="2" charset="2"/>
              <a:buNone/>
              <a:defRPr/>
            </a:pP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-2个看门狗定时器</a:t>
            </a:r>
            <a:endPar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6388" name="TextBox 1"/>
          <p:cNvSpPr txBox="1"/>
          <p:nvPr/>
        </p:nvSpPr>
        <p:spPr>
          <a:xfrm>
            <a:off x="4281488" y="847725"/>
            <a:ext cx="4503738" cy="36464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j-lt"/>
              </a:defRPr>
            </a:lvl2pPr>
            <a:lvl3pPr marL="1143000" indent="-228600" algn="l" rtl="0" eaLnBrk="0" fontAlgn="base" hangingPunct="0">
              <a:spcBef>
                <a:spcPct val="20000"/>
              </a:spcBef>
              <a:spcAft>
                <a:spcPct val="0"/>
              </a:spcAft>
              <a:buClr>
                <a:schemeClr val="tx1"/>
              </a:buClr>
              <a:buChar char="•"/>
              <a:defRPr sz="2400">
                <a:solidFill>
                  <a:schemeClr val="tx1"/>
                </a:solidFill>
                <a:latin typeface="+mj-lt"/>
              </a:defRPr>
            </a:lvl3pPr>
            <a:lvl4pPr marL="1600200" indent="-228600" algn="l" rtl="0" eaLnBrk="0" fontAlgn="base" hangingPunct="0">
              <a:spcBef>
                <a:spcPct val="20000"/>
              </a:spcBef>
              <a:spcAft>
                <a:spcPct val="0"/>
              </a:spcAft>
              <a:buChar char="–"/>
              <a:defRPr sz="2000">
                <a:solidFill>
                  <a:schemeClr val="tx1"/>
                </a:solidFill>
                <a:latin typeface="+mj-lt"/>
              </a:defRPr>
            </a:lvl4pPr>
            <a:lvl5pPr marL="2057400" indent="-228600" algn="l" rtl="0" eaLnBrk="0" fontAlgn="base" hangingPunct="0">
              <a:spcBef>
                <a:spcPct val="20000"/>
              </a:spcBef>
              <a:spcAft>
                <a:spcPct val="0"/>
              </a:spcAft>
              <a:buChar char="»"/>
              <a:defRPr sz="2000">
                <a:solidFill>
                  <a:schemeClr val="tx1"/>
                </a:solidFill>
                <a:latin typeface="+mj-lt"/>
              </a:defRPr>
            </a:lvl5pPr>
          </a:lstStyle>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u"/>
              <a:defRPr/>
            </a:pPr>
            <a:r>
              <a:rPr kumimoji="0" lang="zh-CN" altLang="en-US" sz="2800" b="1" i="0" u="none" strike="noStrike" kern="1200" cap="none" spc="0" normalizeH="0" baseline="0" noProof="1">
                <a:ln>
                  <a:noFill/>
                </a:ln>
                <a:solidFill>
                  <a:srgbClr val="FF0000"/>
                </a:solidFill>
                <a:effectLst/>
                <a:uLnTx/>
                <a:uFillTx/>
                <a:latin typeface="Arial" panose="020B0604020202020204" pitchFamily="34" charset="0"/>
                <a:ea typeface="宋体" panose="02010600030101010101" pitchFamily="2" charset="-122"/>
                <a:cs typeface="+mn-cs"/>
              </a:rPr>
              <a:t>通信接口：</a:t>
            </a:r>
            <a:r>
              <a:rPr kumimoji="0" lang="en-US" altLang="zh-CN" sz="2800" b="1" i="0" u="none" strike="noStrike" kern="1200" cap="none" spc="0" normalizeH="0" baseline="0" noProof="1">
                <a:ln>
                  <a:noFill/>
                </a:ln>
                <a:solidFill>
                  <a:srgbClr val="FF0000"/>
                </a:solidFill>
                <a:effectLst/>
                <a:uLnTx/>
                <a:uFillTx/>
                <a:latin typeface="Arial" panose="020B0604020202020204" pitchFamily="34" charset="0"/>
                <a:ea typeface="宋体" panose="02010600030101010101" pitchFamily="2" charset="-122"/>
                <a:cs typeface="+mn-cs"/>
              </a:rPr>
              <a:t>13</a:t>
            </a:r>
            <a:r>
              <a:rPr kumimoji="0" lang="zh-CN" altLang="en-US" sz="2800" b="1" i="0" u="none" strike="noStrike" kern="1200" cap="none" spc="0" normalizeH="0" baseline="0" noProof="1">
                <a:ln>
                  <a:noFill/>
                </a:ln>
                <a:solidFill>
                  <a:srgbClr val="FF0000"/>
                </a:solidFill>
                <a:effectLst/>
                <a:uLnTx/>
                <a:uFillTx/>
                <a:latin typeface="Arial" panose="020B0604020202020204" pitchFamily="34" charset="0"/>
                <a:ea typeface="宋体" panose="02010600030101010101" pitchFamily="2" charset="-122"/>
                <a:cs typeface="+mn-cs"/>
              </a:rPr>
              <a:t>个通信接口</a:t>
            </a:r>
            <a:endParaRPr kumimoji="0" lang="en-US" altLang="zh-CN" sz="2800" b="1" i="0" u="none" strike="noStrike" kern="1200" cap="none" spc="0" normalizeH="0" baseline="0" noProof="1">
              <a:ln>
                <a:noFill/>
              </a:ln>
              <a:solidFill>
                <a:srgbClr val="FF0000"/>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ts val="3300"/>
              </a:lnSpc>
              <a:spcBef>
                <a:spcPct val="20000"/>
              </a:spcBef>
              <a:spcAft>
                <a:spcPct val="0"/>
              </a:spcAft>
              <a:buClrTx/>
              <a:buSzTx/>
              <a:buFont typeface="Wingdings" panose="05000000000000000000" pitchFamily="2" charset="2"/>
              <a:buNone/>
              <a:defRPr/>
            </a:pP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-2个I2C接口</a:t>
            </a:r>
            <a:endPar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ts val="3300"/>
              </a:lnSpc>
              <a:spcBef>
                <a:spcPct val="20000"/>
              </a:spcBef>
              <a:spcAft>
                <a:spcPct val="0"/>
              </a:spcAft>
              <a:buClrTx/>
              <a:buSzTx/>
              <a:buFont typeface="Wingdings" panose="05000000000000000000" pitchFamily="2" charset="2"/>
              <a:buNone/>
              <a:defRPr/>
            </a:pP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-5个串口</a:t>
            </a:r>
            <a:endPar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ts val="3300"/>
              </a:lnSpc>
              <a:spcBef>
                <a:spcPct val="20000"/>
              </a:spcBef>
              <a:spcAft>
                <a:spcPct val="0"/>
              </a:spcAft>
              <a:buClrTx/>
              <a:buSzTx/>
              <a:buFont typeface="Wingdings" panose="05000000000000000000" pitchFamily="2" charset="2"/>
              <a:buNone/>
              <a:defRPr/>
            </a:pP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-3个SPI接口</a:t>
            </a:r>
            <a:endPar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ts val="3300"/>
              </a:lnSpc>
              <a:spcBef>
                <a:spcPct val="20000"/>
              </a:spcBef>
              <a:spcAft>
                <a:spcPct val="0"/>
              </a:spcAft>
              <a:buClrTx/>
              <a:buSzTx/>
              <a:buFont typeface="Wingdings" panose="05000000000000000000" pitchFamily="2" charset="2"/>
              <a:buNone/>
              <a:defRPr/>
            </a:pP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-1个CAN2.0</a:t>
            </a:r>
            <a:endPar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ts val="3300"/>
              </a:lnSpc>
              <a:spcBef>
                <a:spcPct val="20000"/>
              </a:spcBef>
              <a:spcAft>
                <a:spcPct val="0"/>
              </a:spcAft>
              <a:buClrTx/>
              <a:buSzTx/>
              <a:buFont typeface="Wingdings" panose="05000000000000000000" pitchFamily="2" charset="2"/>
              <a:buNone/>
              <a:defRPr/>
            </a:pP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-1个USB FS</a:t>
            </a:r>
            <a:endPar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ts val="3300"/>
              </a:lnSpc>
              <a:spcBef>
                <a:spcPct val="20000"/>
              </a:spcBef>
              <a:spcAft>
                <a:spcPct val="0"/>
              </a:spcAft>
              <a:buClrTx/>
              <a:buSzTx/>
              <a:buFont typeface="Wingdings" panose="05000000000000000000" pitchFamily="2" charset="2"/>
              <a:buNone/>
              <a:defRPr/>
            </a:pPr>
            <a:r>
              <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-1个SDIO</a:t>
            </a:r>
            <a:endParaRPr kumimoji="0" lang="zh-CN" altLang="en-US" sz="2000" b="0" i="0" u="none" strike="noStrike" kern="1200" cap="none" spc="0" normalizeH="0" baseline="0" noProof="1">
              <a:ln>
                <a:noFill/>
              </a:ln>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圆角矩形 5"/>
          <p:cNvSpPr/>
          <p:nvPr/>
        </p:nvSpPr>
        <p:spPr>
          <a:xfrm>
            <a:off x="260350" y="439738"/>
            <a:ext cx="8623300" cy="4462462"/>
          </a:xfrm>
          <a:prstGeom prst="roundRect">
            <a:avLst>
              <a:gd name="adj" fmla="val 16667"/>
            </a:avLst>
          </a:prstGeom>
          <a:noFill/>
          <a:ln w="47625" cap="flat" cmpd="sng">
            <a:solidFill>
              <a:srgbClr val="FC6C02"/>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sym typeface="Bodoni MT" panose="02070603080606020203" pitchFamily="18" charset="0"/>
            </a:endParaRPr>
          </a:p>
        </p:txBody>
      </p:sp>
      <p:sp useBgFill="1">
        <p:nvSpPr>
          <p:cNvPr id="12" name="矩形 11"/>
          <p:cNvSpPr/>
          <p:nvPr/>
        </p:nvSpPr>
        <p:spPr>
          <a:xfrm>
            <a:off x="717549" y="121918"/>
            <a:ext cx="2413636" cy="583566"/>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概述</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26627" name="TextBox 1"/>
          <p:cNvSpPr txBox="1"/>
          <p:nvPr/>
        </p:nvSpPr>
        <p:spPr>
          <a:xfrm>
            <a:off x="338138" y="952500"/>
            <a:ext cx="3562350" cy="520700"/>
          </a:xfrm>
          <a:prstGeom prst="rect">
            <a:avLst/>
          </a:prstGeom>
          <a:noFill/>
          <a:ln w="9525">
            <a:noFill/>
          </a:ln>
        </p:spPr>
        <p:txBody>
          <a:bodyPr anchor="t" anchorCtr="0">
            <a:spAutoFit/>
          </a:bodyPr>
          <a:p>
            <a:pPr marL="457200" indent="-457200">
              <a:buFont typeface="Wingdings" panose="05000000000000000000" pitchFamily="2" charset="2"/>
              <a:buChar char="u"/>
            </a:pPr>
            <a:r>
              <a:rPr lang="en-US" altLang="zh-CN" sz="2800" b="1" dirty="0">
                <a:solidFill>
                  <a:srgbClr val="FF0000"/>
                </a:solidFill>
                <a:latin typeface="Arial" panose="020B0604020202020204" pitchFamily="34" charset="0"/>
                <a:ea typeface="宋体" panose="02010600030101010101" pitchFamily="2" charset="-122"/>
                <a:sym typeface="Bodoni MT" panose="02070603080606020203" pitchFamily="18" charset="0"/>
              </a:rPr>
              <a:t>PIN to PIN</a:t>
            </a:r>
            <a:r>
              <a:rPr lang="zh-CN" altLang="en-US" sz="2800" b="1" dirty="0">
                <a:solidFill>
                  <a:srgbClr val="FF0000"/>
                </a:solidFill>
                <a:latin typeface="Arial" panose="020B0604020202020204" pitchFamily="34" charset="0"/>
                <a:ea typeface="宋体" panose="02010600030101010101" pitchFamily="2" charset="-122"/>
                <a:sym typeface="Bodoni MT" panose="02070603080606020203" pitchFamily="18" charset="0"/>
              </a:rPr>
              <a:t>兼容 </a:t>
            </a:r>
            <a:endParaRPr lang="zh-CN" altLang="en-US" sz="2800" dirty="0">
              <a:solidFill>
                <a:srgbClr val="FF0000"/>
              </a:solidFill>
              <a:latin typeface="Arial" panose="020B0604020202020204" pitchFamily="34" charset="0"/>
              <a:ea typeface="宋体" panose="02010600030101010101" pitchFamily="2" charset="-122"/>
              <a:sym typeface="Bodoni MT" panose="02070603080606020203" pitchFamily="18" charset="0"/>
            </a:endParaRPr>
          </a:p>
        </p:txBody>
      </p:sp>
      <p:sp>
        <p:nvSpPr>
          <p:cNvPr id="2" name="TextBox 8"/>
          <p:cNvSpPr txBox="1"/>
          <p:nvPr/>
        </p:nvSpPr>
        <p:spPr>
          <a:xfrm>
            <a:off x="606425" y="1585913"/>
            <a:ext cx="8096250" cy="1476375"/>
          </a:xfrm>
          <a:prstGeom prst="rect">
            <a:avLst/>
          </a:prstGeom>
          <a:noFill/>
          <a:ln w="9525">
            <a:noFill/>
          </a:ln>
        </p:spPr>
        <p:txBody>
          <a:bodyPr anchor="t" anchorCtr="0">
            <a:spAutoFit/>
          </a:bodyPr>
          <a:p>
            <a:pPr>
              <a:lnSpc>
                <a:spcPct val="150000"/>
              </a:lnSpc>
            </a:pPr>
            <a:r>
              <a:rPr lang="en-US" altLang="zh-CN" sz="2000" dirty="0">
                <a:latin typeface="微软雅黑" panose="020B0503020204020204" pitchFamily="34" charset="-122"/>
                <a:ea typeface="微软雅黑" panose="020B0503020204020204" pitchFamily="34" charset="-122"/>
                <a:sym typeface="Bodoni MT" panose="02070603080606020203" pitchFamily="18" charset="0"/>
              </a:rPr>
              <a:t>STM32F103xC</a:t>
            </a:r>
            <a:r>
              <a:rPr lang="zh-CN" altLang="en-US" sz="2000" dirty="0">
                <a:latin typeface="微软雅黑" panose="020B0503020204020204" pitchFamily="34" charset="-122"/>
                <a:ea typeface="微软雅黑" panose="020B0503020204020204" pitchFamily="34" charset="-122"/>
                <a:sym typeface="Bodoni MT" panose="02070603080606020203" pitchFamily="18" charset="0"/>
              </a:rPr>
              <a:t>、</a:t>
            </a:r>
            <a:r>
              <a:rPr lang="en-US" altLang="zh-CN" sz="2000" dirty="0">
                <a:latin typeface="微软雅黑" panose="020B0503020204020204" pitchFamily="34" charset="-122"/>
                <a:ea typeface="微软雅黑" panose="020B0503020204020204" pitchFamily="34" charset="-122"/>
                <a:sym typeface="Bodoni MT" panose="02070603080606020203" pitchFamily="18" charset="0"/>
              </a:rPr>
              <a:t>STM32F103xD</a:t>
            </a:r>
            <a:r>
              <a:rPr lang="zh-CN" altLang="en-US" sz="2000" dirty="0">
                <a:latin typeface="微软雅黑" panose="020B0503020204020204" pitchFamily="34" charset="-122"/>
                <a:ea typeface="微软雅黑" panose="020B0503020204020204" pitchFamily="34" charset="-122"/>
                <a:sym typeface="Bodoni MT" panose="02070603080606020203" pitchFamily="18" charset="0"/>
              </a:rPr>
              <a:t>和</a:t>
            </a:r>
            <a:r>
              <a:rPr lang="en-US" altLang="zh-CN" sz="2000" dirty="0">
                <a:latin typeface="微软雅黑" panose="020B0503020204020204" pitchFamily="34" charset="-122"/>
                <a:ea typeface="微软雅黑" panose="020B0503020204020204" pitchFamily="34" charset="-122"/>
                <a:sym typeface="Bodoni MT" panose="02070603080606020203" pitchFamily="18" charset="0"/>
              </a:rPr>
              <a:t>STM32F103xE</a:t>
            </a:r>
            <a:r>
              <a:rPr lang="zh-CN" altLang="en-US" sz="2000" dirty="0">
                <a:latin typeface="微软雅黑" panose="020B0503020204020204" pitchFamily="34" charset="-122"/>
                <a:ea typeface="微软雅黑" panose="020B0503020204020204" pitchFamily="34" charset="-122"/>
                <a:sym typeface="Bodoni MT" panose="02070603080606020203" pitchFamily="18" charset="0"/>
              </a:rPr>
              <a:t>（</a:t>
            </a:r>
            <a:r>
              <a:rPr lang="en-US" altLang="zh-CN" sz="2000" dirty="0">
                <a:latin typeface="微软雅黑" panose="020B0503020204020204" pitchFamily="34" charset="-122"/>
                <a:ea typeface="微软雅黑" panose="020B0503020204020204" pitchFamily="34" charset="-122"/>
                <a:sym typeface="Bodoni MT" panose="02070603080606020203" pitchFamily="18" charset="0"/>
              </a:rPr>
              <a:t>x=R,V</a:t>
            </a:r>
            <a:r>
              <a:rPr lang="zh-CN" altLang="en-US" sz="2000" dirty="0">
                <a:latin typeface="微软雅黑" panose="020B0503020204020204" pitchFamily="34" charset="-122"/>
                <a:ea typeface="微软雅黑" panose="020B0503020204020204" pitchFamily="34" charset="-122"/>
                <a:sym typeface="Bodoni MT" panose="02070603080606020203" pitchFamily="18" charset="0"/>
              </a:rPr>
              <a:t>或</a:t>
            </a:r>
            <a:r>
              <a:rPr lang="en-US" altLang="zh-CN" sz="2000" dirty="0">
                <a:latin typeface="微软雅黑" panose="020B0503020204020204" pitchFamily="34" charset="-122"/>
                <a:ea typeface="微软雅黑" panose="020B0503020204020204" pitchFamily="34" charset="-122"/>
                <a:sym typeface="Bodoni MT" panose="02070603080606020203" pitchFamily="18" charset="0"/>
              </a:rPr>
              <a:t>Z</a:t>
            </a:r>
            <a:r>
              <a:rPr lang="zh-CN" altLang="en-US" sz="2000" dirty="0">
                <a:latin typeface="微软雅黑" panose="020B0503020204020204" pitchFamily="34" charset="-122"/>
                <a:ea typeface="微软雅黑" panose="020B0503020204020204" pitchFamily="34" charset="-122"/>
                <a:sym typeface="Bodoni MT" panose="02070603080606020203" pitchFamily="18" charset="0"/>
              </a:rPr>
              <a:t>）这三个系列的相同封装的芯片是管脚兼容的，这种芯片兼容方式是芯片升级换代的最高兼容标准。</a:t>
            </a:r>
            <a:endParaRPr lang="zh-CN" altLang="en-US" sz="2000" dirty="0">
              <a:latin typeface="微软雅黑" panose="020B0503020204020204" pitchFamily="34" charset="-122"/>
              <a:ea typeface="微软雅黑" panose="020B0503020204020204" pitchFamily="34" charset="-122"/>
              <a:sym typeface="Bodoni MT" panose="020706030806060202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圆角矩形 5"/>
          <p:cNvSpPr/>
          <p:nvPr/>
        </p:nvSpPr>
        <p:spPr>
          <a:xfrm>
            <a:off x="260350" y="439738"/>
            <a:ext cx="8623300" cy="4462462"/>
          </a:xfrm>
          <a:prstGeom prst="roundRect">
            <a:avLst>
              <a:gd name="adj" fmla="val 16667"/>
            </a:avLst>
          </a:prstGeom>
          <a:noFill/>
          <a:ln w="47625" cap="flat" cmpd="sng">
            <a:solidFill>
              <a:srgbClr val="FC6C02"/>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sym typeface="Bodoni MT" panose="02070603080606020203" pitchFamily="18" charset="0"/>
            </a:endParaRPr>
          </a:p>
        </p:txBody>
      </p:sp>
      <p:sp useBgFill="1">
        <p:nvSpPr>
          <p:cNvPr id="12" name="矩形 11"/>
          <p:cNvSpPr/>
          <p:nvPr/>
        </p:nvSpPr>
        <p:spPr>
          <a:xfrm>
            <a:off x="717549" y="121918"/>
            <a:ext cx="2413636" cy="583566"/>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概述</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pic>
        <p:nvPicPr>
          <p:cNvPr id="5" name="图片 4"/>
          <p:cNvPicPr/>
          <p:nvPr/>
        </p:nvPicPr>
        <p:blipFill>
          <a:blip r:embed="rId1"/>
          <a:stretch>
            <a:fillRect/>
          </a:stretch>
        </p:blipFill>
        <p:spPr>
          <a:xfrm>
            <a:off x="2860675" y="638175"/>
            <a:ext cx="5148263" cy="4067175"/>
          </a:xfrm>
          <a:prstGeom prst="rect">
            <a:avLst/>
          </a:prstGeom>
          <a:noFill/>
          <a:ln w="9525">
            <a:noFill/>
          </a:ln>
        </p:spPr>
      </p:pic>
      <p:sp>
        <p:nvSpPr>
          <p:cNvPr id="4" name="TextBox 3"/>
          <p:cNvSpPr txBox="1"/>
          <p:nvPr/>
        </p:nvSpPr>
        <p:spPr>
          <a:xfrm>
            <a:off x="479425" y="823913"/>
            <a:ext cx="2247900" cy="1630362"/>
          </a:xfrm>
          <a:prstGeom prst="rect">
            <a:avLst/>
          </a:prstGeom>
          <a:noFill/>
          <a:ln w="9525">
            <a:noFill/>
          </a:ln>
        </p:spPr>
        <p:txBody>
          <a:bodyPr anchor="t" anchorCtr="0">
            <a:spAutoFit/>
          </a:bodyPr>
          <a:p>
            <a:r>
              <a:rPr lang="zh-CN" altLang="en-US" sz="2000" dirty="0">
                <a:latin typeface="微软雅黑" panose="020B0503020204020204" pitchFamily="34" charset="-122"/>
                <a:ea typeface="微软雅黑" panose="020B0503020204020204" pitchFamily="34" charset="-122"/>
                <a:sym typeface="Bodoni MT" panose="02070603080606020203" pitchFamily="18" charset="0"/>
              </a:rPr>
              <a:t>芯片</a:t>
            </a:r>
            <a:r>
              <a:rPr lang="en-US" altLang="zh-CN" sz="2000" dirty="0">
                <a:latin typeface="微软雅黑" panose="020B0503020204020204" pitchFamily="34" charset="-122"/>
                <a:ea typeface="微软雅黑" panose="020B0503020204020204" pitchFamily="34" charset="-122"/>
                <a:sym typeface="Bodoni MT" panose="02070603080606020203" pitchFamily="18" charset="0"/>
              </a:rPr>
              <a:t>STM32F103ZET6</a:t>
            </a:r>
            <a:r>
              <a:rPr lang="zh-CN" altLang="en-US" sz="2000" dirty="0">
                <a:latin typeface="微软雅黑" panose="020B0503020204020204" pitchFamily="34" charset="-122"/>
                <a:ea typeface="微软雅黑" panose="020B0503020204020204" pitchFamily="34" charset="-122"/>
                <a:sym typeface="Bodoni MT" panose="02070603080606020203" pitchFamily="18" charset="0"/>
              </a:rPr>
              <a:t>为</a:t>
            </a:r>
            <a:r>
              <a:rPr lang="en-US" altLang="zh-CN" sz="2000" dirty="0">
                <a:latin typeface="微软雅黑" panose="020B0503020204020204" pitchFamily="34" charset="-122"/>
                <a:ea typeface="微软雅黑" panose="020B0503020204020204" pitchFamily="34" charset="-122"/>
                <a:sym typeface="Bodoni MT" panose="02070603080606020203" pitchFamily="18" charset="0"/>
              </a:rPr>
              <a:t>144</a:t>
            </a:r>
            <a:r>
              <a:rPr lang="zh-CN" altLang="en-US" sz="2000" dirty="0">
                <a:latin typeface="微软雅黑" panose="020B0503020204020204" pitchFamily="34" charset="-122"/>
                <a:ea typeface="微软雅黑" panose="020B0503020204020204" pitchFamily="34" charset="-122"/>
                <a:sym typeface="Bodoni MT" panose="02070603080606020203" pitchFamily="18" charset="0"/>
              </a:rPr>
              <a:t>管脚</a:t>
            </a:r>
            <a:r>
              <a:rPr lang="en-US" altLang="zh-CN" sz="2000" dirty="0">
                <a:latin typeface="微软雅黑" panose="020B0503020204020204" pitchFamily="34" charset="-122"/>
                <a:ea typeface="微软雅黑" panose="020B0503020204020204" pitchFamily="34" charset="-122"/>
                <a:sym typeface="Bodoni MT" panose="02070603080606020203" pitchFamily="18" charset="0"/>
              </a:rPr>
              <a:t>LQFP144</a:t>
            </a:r>
            <a:r>
              <a:rPr lang="zh-CN" altLang="en-US" sz="2000" dirty="0">
                <a:latin typeface="微软雅黑" panose="020B0503020204020204" pitchFamily="34" charset="-122"/>
                <a:ea typeface="微软雅黑" panose="020B0503020204020204" pitchFamily="34" charset="-122"/>
                <a:sym typeface="Bodoni MT" panose="02070603080606020203" pitchFamily="18" charset="0"/>
              </a:rPr>
              <a:t>封装，其外型如图所示。</a:t>
            </a:r>
            <a:endParaRPr lang="zh-CN" altLang="en-US" sz="2000" dirty="0">
              <a:latin typeface="微软雅黑" panose="020B0503020204020204" pitchFamily="34" charset="-122"/>
              <a:ea typeface="微软雅黑" panose="020B0503020204020204" pitchFamily="34" charset="-122"/>
              <a:sym typeface="Bodoni MT" panose="02070603080606020203" pitchFamily="18" charset="0"/>
            </a:endParaRPr>
          </a:p>
        </p:txBody>
      </p:sp>
      <p:sp>
        <p:nvSpPr>
          <p:cNvPr id="27653" name="文本框 2"/>
          <p:cNvSpPr txBox="1"/>
          <p:nvPr/>
        </p:nvSpPr>
        <p:spPr>
          <a:xfrm>
            <a:off x="608013" y="3541713"/>
            <a:ext cx="1989137" cy="922337"/>
          </a:xfrm>
          <a:prstGeom prst="rect">
            <a:avLst/>
          </a:prstGeom>
          <a:noFill/>
          <a:ln w="9525">
            <a:noFill/>
          </a:ln>
        </p:spPr>
        <p:txBody>
          <a:bodyPr anchor="t" anchorCtr="0">
            <a:spAutoFit/>
          </a:bodyPr>
          <a:p>
            <a:r>
              <a:rPr lang="zh-CN" altLang="en-US" i="1" dirty="0">
                <a:latin typeface="Arial" panose="020B0604020202020204" pitchFamily="34" charset="0"/>
                <a:ea typeface="宋体" panose="02010600030101010101" pitchFamily="2" charset="-122"/>
                <a:sym typeface="Bodoni MT" panose="02070603080606020203" pitchFamily="18" charset="0"/>
              </a:rPr>
              <a:t>参考资料：STM32F103xCDE_DS_CH_V5</a:t>
            </a:r>
            <a:endParaRPr lang="zh-CN" altLang="en-US" i="1" dirty="0">
              <a:latin typeface="Arial" panose="020B0604020202020204" pitchFamily="34" charset="0"/>
              <a:ea typeface="宋体" panose="02010600030101010101" pitchFamily="2" charset="-122"/>
              <a:sym typeface="Bodoni MT" panose="020706030806060202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ppt_x</p:attrName>
                                        </p:attrNameLst>
                                      </p:cBhvr>
                                      <p:tavLst>
                                        <p:tav tm="0">
                                          <p:val>
                                            <p:strVal val="#ppt_x"/>
                                          </p:val>
                                        </p:tav>
                                        <p:tav tm="100000">
                                          <p:val>
                                            <p:strVal val="#ppt_x"/>
                                          </p:val>
                                        </p:tav>
                                      </p:tavLst>
                                    </p:anim>
                                    <p:anim calcmode="lin" valueType="num">
                                      <p:cBhvr>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圆角矩形 5"/>
          <p:cNvSpPr/>
          <p:nvPr/>
        </p:nvSpPr>
        <p:spPr>
          <a:xfrm>
            <a:off x="260350" y="439738"/>
            <a:ext cx="8623300" cy="4462462"/>
          </a:xfrm>
          <a:prstGeom prst="roundRect">
            <a:avLst>
              <a:gd name="adj" fmla="val 16667"/>
            </a:avLst>
          </a:prstGeom>
          <a:noFill/>
          <a:ln w="47625" cap="flat" cmpd="sng">
            <a:solidFill>
              <a:srgbClr val="FC6C02"/>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sym typeface="Bodoni MT" panose="02070603080606020203" pitchFamily="18" charset="0"/>
            </a:endParaRPr>
          </a:p>
        </p:txBody>
      </p:sp>
      <p:sp useBgFill="1">
        <p:nvSpPr>
          <p:cNvPr id="12" name="矩形 11"/>
          <p:cNvSpPr/>
          <p:nvPr/>
        </p:nvSpPr>
        <p:spPr>
          <a:xfrm>
            <a:off x="717549" y="121918"/>
            <a:ext cx="2413636" cy="583566"/>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概述</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4" name="TextBox 3"/>
          <p:cNvSpPr txBox="1"/>
          <p:nvPr/>
        </p:nvSpPr>
        <p:spPr>
          <a:xfrm>
            <a:off x="717550" y="768350"/>
            <a:ext cx="5378450" cy="368300"/>
          </a:xfrm>
          <a:prstGeom prst="rect">
            <a:avLst/>
          </a:prstGeom>
          <a:noFill/>
          <a:ln w="9525">
            <a:noFill/>
          </a:ln>
        </p:spPr>
        <p:txBody>
          <a:bodyPr anchor="t" anchorCtr="0">
            <a:spAutoFit/>
          </a:bodyPr>
          <a:p>
            <a:r>
              <a:rPr lang="zh-CN" altLang="en-US" dirty="0">
                <a:latin typeface="微软雅黑" panose="020B0503020204020204" pitchFamily="34" charset="-122"/>
                <a:ea typeface="微软雅黑" panose="020B0503020204020204" pitchFamily="34" charset="-122"/>
                <a:sym typeface="Bodoni MT" panose="02070603080606020203" pitchFamily="18" charset="0"/>
              </a:rPr>
              <a:t>芯片</a:t>
            </a:r>
            <a:r>
              <a:rPr lang="en-US" altLang="zh-CN" dirty="0">
                <a:latin typeface="微软雅黑" panose="020B0503020204020204" pitchFamily="34" charset="-122"/>
                <a:ea typeface="微软雅黑" panose="020B0503020204020204" pitchFamily="34" charset="-122"/>
                <a:sym typeface="Bodoni MT" panose="02070603080606020203" pitchFamily="18" charset="0"/>
              </a:rPr>
              <a:t>STM32F103ZET6</a:t>
            </a:r>
            <a:r>
              <a:rPr lang="zh-CN" altLang="en-US" dirty="0">
                <a:latin typeface="微软雅黑" panose="020B0503020204020204" pitchFamily="34" charset="-122"/>
                <a:ea typeface="微软雅黑" panose="020B0503020204020204" pitchFamily="34" charset="-122"/>
                <a:sym typeface="Bodoni MT" panose="02070603080606020203" pitchFamily="18" charset="0"/>
              </a:rPr>
              <a:t>的各个管脚的定义如表所示。</a:t>
            </a:r>
            <a:endParaRPr lang="zh-CN" altLang="en-US" dirty="0">
              <a:latin typeface="微软雅黑" panose="020B0503020204020204" pitchFamily="34" charset="-122"/>
              <a:ea typeface="微软雅黑" panose="020B0503020204020204" pitchFamily="34" charset="-122"/>
              <a:sym typeface="Bodoni MT" panose="02070603080606020203" pitchFamily="18" charset="0"/>
            </a:endParaRPr>
          </a:p>
        </p:txBody>
      </p:sp>
      <p:sp>
        <p:nvSpPr>
          <p:cNvPr id="28676" name="文本框 2"/>
          <p:cNvSpPr txBox="1"/>
          <p:nvPr/>
        </p:nvSpPr>
        <p:spPr>
          <a:xfrm>
            <a:off x="407988" y="3606800"/>
            <a:ext cx="1812925" cy="828675"/>
          </a:xfrm>
          <a:prstGeom prst="rect">
            <a:avLst/>
          </a:prstGeom>
          <a:noFill/>
          <a:ln w="9525">
            <a:noFill/>
          </a:ln>
        </p:spPr>
        <p:txBody>
          <a:bodyPr anchor="t" anchorCtr="0">
            <a:spAutoFit/>
          </a:bodyPr>
          <a:p>
            <a:r>
              <a:rPr lang="zh-CN" altLang="en-US" sz="1600" i="1" dirty="0">
                <a:latin typeface="Arial" panose="020B0604020202020204" pitchFamily="34" charset="0"/>
                <a:ea typeface="宋体" panose="02010600030101010101" pitchFamily="2" charset="-122"/>
                <a:sym typeface="Bodoni MT" panose="02070603080606020203" pitchFamily="18" charset="0"/>
              </a:rPr>
              <a:t>参考资料：STM32F103xCDE_DS_CH_V5</a:t>
            </a:r>
            <a:endParaRPr lang="zh-CN" altLang="en-US" sz="1600" i="1" dirty="0">
              <a:latin typeface="Arial" panose="020B0604020202020204" pitchFamily="34" charset="0"/>
              <a:ea typeface="宋体" panose="02010600030101010101" pitchFamily="2" charset="-122"/>
              <a:sym typeface="Bodoni MT" panose="02070603080606020203" pitchFamily="18" charset="0"/>
            </a:endParaRPr>
          </a:p>
        </p:txBody>
      </p:sp>
      <p:graphicFrame>
        <p:nvGraphicFramePr>
          <p:cNvPr id="7" name="表格 6"/>
          <p:cNvGraphicFramePr>
            <a:graphicFrameLocks noGrp="1"/>
          </p:cNvGraphicFramePr>
          <p:nvPr/>
        </p:nvGraphicFramePr>
        <p:xfrm>
          <a:off x="2274888" y="1306513"/>
          <a:ext cx="6280150" cy="3292475"/>
        </p:xfrm>
        <a:graphic>
          <a:graphicData uri="http://schemas.openxmlformats.org/drawingml/2006/table">
            <a:tbl>
              <a:tblPr/>
              <a:tblGrid>
                <a:gridCol w="497890"/>
                <a:gridCol w="522658"/>
                <a:gridCol w="1141845"/>
                <a:gridCol w="1051031"/>
                <a:gridCol w="1887411"/>
                <a:gridCol w="1179314"/>
              </a:tblGrid>
              <a:tr h="274373">
                <a:tc>
                  <a:txBody>
                    <a:bodyPr/>
                    <a:lstStyle/>
                    <a:p>
                      <a:pPr algn="ctr">
                        <a:spcAft>
                          <a:spcPts val="0"/>
                        </a:spcAft>
                      </a:pPr>
                      <a:r>
                        <a:rPr lang="zh-CN" sz="900" kern="100" dirty="0">
                          <a:latin typeface="Times New Roman" panose="02020603050405020304"/>
                          <a:ea typeface="宋体" panose="02010600030101010101" pitchFamily="2" charset="-122"/>
                          <a:cs typeface="Times New Roman" panose="02020603050405020304"/>
                        </a:rPr>
                        <a:t>序号</a:t>
                      </a:r>
                      <a:endParaRPr lang="zh-CN" sz="1100" kern="100" dirty="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900" kern="100">
                          <a:latin typeface="Times New Roman" panose="02020603050405020304"/>
                          <a:ea typeface="宋体" panose="02010600030101010101" pitchFamily="2" charset="-122"/>
                          <a:cs typeface="Times New Roman" panose="02020603050405020304"/>
                        </a:rPr>
                        <a:t>管脚编号</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900" kern="100">
                          <a:latin typeface="Times New Roman" panose="02020603050405020304"/>
                          <a:ea typeface="宋体" panose="02010600030101010101" pitchFamily="2" charset="-122"/>
                          <a:cs typeface="Times New Roman" panose="02020603050405020304"/>
                        </a:rPr>
                        <a:t>管脚名称</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900" kern="100">
                          <a:latin typeface="Times New Roman" panose="02020603050405020304"/>
                          <a:ea typeface="宋体" panose="02010600030101010101" pitchFamily="2" charset="-122"/>
                          <a:cs typeface="Times New Roman" panose="02020603050405020304"/>
                        </a:rPr>
                        <a:t>主要功能</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900" kern="100">
                          <a:latin typeface="Times New Roman" panose="02020603050405020304"/>
                          <a:ea typeface="宋体" panose="02010600030101010101" pitchFamily="2" charset="-122"/>
                          <a:cs typeface="Times New Roman" panose="02020603050405020304"/>
                        </a:rPr>
                        <a:t>复用功能</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900" kern="100">
                          <a:latin typeface="Times New Roman" panose="02020603050405020304"/>
                          <a:ea typeface="宋体" panose="02010600030101010101" pitchFamily="2" charset="-122"/>
                          <a:cs typeface="Times New Roman" panose="02020603050405020304"/>
                        </a:rPr>
                        <a:t>重映射功能</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7186">
                <a:tc gridSpan="6">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PA</a:t>
                      </a:r>
                      <a:r>
                        <a:rPr lang="zh-CN" sz="900" kern="100">
                          <a:latin typeface="Times New Roman" panose="02020603050405020304"/>
                          <a:ea typeface="宋体" panose="02010600030101010101" pitchFamily="2" charset="-122"/>
                          <a:cs typeface="Times New Roman" panose="02020603050405020304"/>
                        </a:rPr>
                        <a:t>口</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r>
              <a:tr h="548746">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1</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34</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PA0-WKUP</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PA0</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WKUP/USART2_CTS</a:t>
                      </a:r>
                      <a:endParaRPr lang="zh-CN" sz="1100" kern="100">
                        <a:latin typeface="Calibri" panose="020F0502020204030204"/>
                        <a:ea typeface="宋体" panose="02010600030101010101" pitchFamily="2" charset="-122"/>
                        <a:cs typeface="Times New Roman" panose="02020603050405020304"/>
                      </a:endParaRPr>
                    </a:p>
                    <a:p>
                      <a:pPr algn="ctr">
                        <a:spcAft>
                          <a:spcPts val="0"/>
                        </a:spcAft>
                      </a:pPr>
                      <a:r>
                        <a:rPr lang="en-US" sz="900" kern="100">
                          <a:latin typeface="Times New Roman" panose="02020603050405020304"/>
                          <a:ea typeface="宋体" panose="02010600030101010101" pitchFamily="2" charset="-122"/>
                          <a:cs typeface="Times New Roman" panose="02020603050405020304"/>
                        </a:rPr>
                        <a:t>/ADC123_IN0</a:t>
                      </a:r>
                      <a:endParaRPr lang="zh-CN" sz="1100" kern="100">
                        <a:latin typeface="Calibri" panose="020F0502020204030204"/>
                        <a:ea typeface="宋体" panose="02010600030101010101" pitchFamily="2" charset="-122"/>
                        <a:cs typeface="Times New Roman" panose="02020603050405020304"/>
                      </a:endParaRPr>
                    </a:p>
                    <a:p>
                      <a:pPr algn="ctr">
                        <a:spcAft>
                          <a:spcPts val="0"/>
                        </a:spcAft>
                      </a:pPr>
                      <a:r>
                        <a:rPr lang="en-US" sz="900" kern="100">
                          <a:latin typeface="Times New Roman" panose="02020603050405020304"/>
                          <a:ea typeface="宋体" panose="02010600030101010101" pitchFamily="2" charset="-122"/>
                          <a:cs typeface="Times New Roman" panose="02020603050405020304"/>
                        </a:rPr>
                        <a:t>/TIM2_CH1_ETR</a:t>
                      </a:r>
                      <a:endParaRPr lang="zh-CN" sz="1100" kern="100">
                        <a:latin typeface="Calibri" panose="020F0502020204030204"/>
                        <a:ea typeface="宋体" panose="02010600030101010101" pitchFamily="2" charset="-122"/>
                        <a:cs typeface="Times New Roman" panose="02020603050405020304"/>
                      </a:endParaRPr>
                    </a:p>
                    <a:p>
                      <a:pPr algn="ctr">
                        <a:spcAft>
                          <a:spcPts val="0"/>
                        </a:spcAft>
                      </a:pPr>
                      <a:r>
                        <a:rPr lang="en-US" sz="900" kern="100">
                          <a:latin typeface="Times New Roman" panose="02020603050405020304"/>
                          <a:ea typeface="宋体" panose="02010600030101010101" pitchFamily="2" charset="-122"/>
                          <a:cs typeface="Times New Roman" panose="02020603050405020304"/>
                        </a:rPr>
                        <a:t>/TIM5_CH1/TIM8_ETR</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900" kern="100">
                        <a:latin typeface="Times New Roman" panose="020206030504050203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73">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2</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35</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PA1</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PA1</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USART2_RTS/ADC123_IN1</a:t>
                      </a:r>
                      <a:endParaRPr lang="zh-CN" sz="1100" kern="100">
                        <a:latin typeface="Calibri" panose="020F0502020204030204"/>
                        <a:ea typeface="宋体" panose="02010600030101010101" pitchFamily="2" charset="-122"/>
                        <a:cs typeface="Times New Roman" panose="02020603050405020304"/>
                      </a:endParaRPr>
                    </a:p>
                    <a:p>
                      <a:pPr algn="ctr">
                        <a:spcAft>
                          <a:spcPts val="0"/>
                        </a:spcAft>
                      </a:pPr>
                      <a:r>
                        <a:rPr lang="en-US" sz="900" kern="100">
                          <a:latin typeface="Times New Roman" panose="02020603050405020304"/>
                          <a:ea typeface="宋体" panose="02010600030101010101" pitchFamily="2" charset="-122"/>
                          <a:cs typeface="Times New Roman" panose="02020603050405020304"/>
                        </a:rPr>
                        <a:t>/TIM5_CH2/TIM2_CH2</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900" kern="100">
                        <a:latin typeface="Times New Roman" panose="020206030504050203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73">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3</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36</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PA2</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PA2</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dirty="0">
                          <a:latin typeface="Times New Roman" panose="02020603050405020304"/>
                          <a:ea typeface="宋体" panose="02010600030101010101" pitchFamily="2" charset="-122"/>
                          <a:cs typeface="Times New Roman" panose="02020603050405020304"/>
                        </a:rPr>
                        <a:t>USART2_TX/TIM5_CH3</a:t>
                      </a:r>
                      <a:endParaRPr lang="zh-CN" sz="1100" kern="100" dirty="0">
                        <a:latin typeface="Calibri" panose="020F0502020204030204"/>
                        <a:ea typeface="宋体" panose="02010600030101010101" pitchFamily="2" charset="-122"/>
                        <a:cs typeface="Times New Roman" panose="02020603050405020304"/>
                      </a:endParaRPr>
                    </a:p>
                    <a:p>
                      <a:pPr algn="ctr">
                        <a:spcAft>
                          <a:spcPts val="0"/>
                        </a:spcAft>
                      </a:pPr>
                      <a:r>
                        <a:rPr lang="en-US" sz="900" kern="100" dirty="0">
                          <a:latin typeface="Times New Roman" panose="02020603050405020304"/>
                          <a:ea typeface="宋体" panose="02010600030101010101" pitchFamily="2" charset="-122"/>
                          <a:cs typeface="Times New Roman" panose="02020603050405020304"/>
                        </a:rPr>
                        <a:t>/ADC123_IN2/TIM2_CH3</a:t>
                      </a:r>
                      <a:endParaRPr lang="zh-CN" sz="1100" kern="100" dirty="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900" kern="100" dirty="0">
                        <a:latin typeface="Times New Roman" panose="020206030504050203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73">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4</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37</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PA3</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PA3</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USART2_RX/TIM5_CH4</a:t>
                      </a:r>
                      <a:endParaRPr lang="zh-CN" sz="1100" kern="100">
                        <a:latin typeface="Calibri" panose="020F0502020204030204"/>
                        <a:ea typeface="宋体" panose="02010600030101010101" pitchFamily="2" charset="-122"/>
                        <a:cs typeface="Times New Roman" panose="02020603050405020304"/>
                      </a:endParaRPr>
                    </a:p>
                    <a:p>
                      <a:pPr algn="ctr">
                        <a:spcAft>
                          <a:spcPts val="0"/>
                        </a:spcAft>
                      </a:pPr>
                      <a:r>
                        <a:rPr lang="en-US" sz="900" kern="100">
                          <a:latin typeface="Times New Roman" panose="02020603050405020304"/>
                          <a:ea typeface="宋体" panose="02010600030101010101" pitchFamily="2" charset="-122"/>
                          <a:cs typeface="Times New Roman" panose="02020603050405020304"/>
                        </a:rPr>
                        <a:t>/ADC123_IN3/TIM2_CH4</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900" kern="100">
                        <a:latin typeface="Times New Roman" panose="020206030504050203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73">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5</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40</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PA4</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PA4</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SPI1_NSS/USART2_CK</a:t>
                      </a:r>
                      <a:endParaRPr lang="zh-CN" sz="1100" kern="100">
                        <a:latin typeface="Calibri" panose="020F0502020204030204"/>
                        <a:ea typeface="宋体" panose="02010600030101010101" pitchFamily="2" charset="-122"/>
                        <a:cs typeface="Times New Roman" panose="02020603050405020304"/>
                      </a:endParaRPr>
                    </a:p>
                    <a:p>
                      <a:pPr algn="ctr">
                        <a:spcAft>
                          <a:spcPts val="0"/>
                        </a:spcAft>
                      </a:pPr>
                      <a:r>
                        <a:rPr lang="en-US" sz="900" kern="100">
                          <a:latin typeface="Times New Roman" panose="02020603050405020304"/>
                          <a:ea typeface="宋体" panose="02010600030101010101" pitchFamily="2" charset="-122"/>
                          <a:cs typeface="Times New Roman" panose="02020603050405020304"/>
                        </a:rPr>
                        <a:t>/DAC_OUT1/ADC12_IN4</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900" kern="100">
                        <a:latin typeface="Times New Roman" panose="020206030504050203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73">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6</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41</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PA5</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PA5</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SPI1_SCK</a:t>
                      </a:r>
                      <a:endParaRPr lang="zh-CN" sz="1100" kern="100">
                        <a:latin typeface="Calibri" panose="020F0502020204030204"/>
                        <a:ea typeface="宋体" panose="02010600030101010101" pitchFamily="2" charset="-122"/>
                        <a:cs typeface="Times New Roman" panose="02020603050405020304"/>
                      </a:endParaRPr>
                    </a:p>
                    <a:p>
                      <a:pPr algn="ctr">
                        <a:spcAft>
                          <a:spcPts val="0"/>
                        </a:spcAft>
                      </a:pPr>
                      <a:r>
                        <a:rPr lang="en-US" sz="900" kern="100">
                          <a:latin typeface="Times New Roman" panose="02020603050405020304"/>
                          <a:ea typeface="宋体" panose="02010600030101010101" pitchFamily="2" charset="-122"/>
                          <a:cs typeface="Times New Roman" panose="02020603050405020304"/>
                        </a:rPr>
                        <a:t>/DAC_OUT2/ADC12_IN5</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900" kern="100">
                        <a:latin typeface="Times New Roman" panose="020206030504050203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73">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7</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42</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PA6</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PA6</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SPI1_MISO/TIM8_BKIN</a:t>
                      </a:r>
                      <a:endParaRPr lang="zh-CN" sz="1100" kern="100">
                        <a:latin typeface="Calibri" panose="020F0502020204030204"/>
                        <a:ea typeface="宋体" panose="02010600030101010101" pitchFamily="2" charset="-122"/>
                        <a:cs typeface="Times New Roman" panose="02020603050405020304"/>
                      </a:endParaRPr>
                    </a:p>
                    <a:p>
                      <a:pPr algn="ctr">
                        <a:spcAft>
                          <a:spcPts val="0"/>
                        </a:spcAft>
                      </a:pPr>
                      <a:r>
                        <a:rPr lang="en-US" sz="900" kern="100">
                          <a:latin typeface="Times New Roman" panose="02020603050405020304"/>
                          <a:ea typeface="宋体" panose="02010600030101010101" pitchFamily="2" charset="-122"/>
                          <a:cs typeface="Times New Roman" panose="02020603050405020304"/>
                        </a:rPr>
                        <a:t>/ADC12_IN6/TIM3_CH1</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TIM1_BKIN</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73">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8</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43</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PA7</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PA7</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SPI1_MOSI/TIM8_CH1N</a:t>
                      </a:r>
                      <a:endParaRPr lang="zh-CN" sz="1100" kern="100">
                        <a:latin typeface="Calibri" panose="020F0502020204030204"/>
                        <a:ea typeface="宋体" panose="02010600030101010101" pitchFamily="2" charset="-122"/>
                        <a:cs typeface="Times New Roman" panose="02020603050405020304"/>
                      </a:endParaRPr>
                    </a:p>
                    <a:p>
                      <a:pPr algn="ctr">
                        <a:spcAft>
                          <a:spcPts val="0"/>
                        </a:spcAft>
                      </a:pPr>
                      <a:r>
                        <a:rPr lang="en-US" sz="900" kern="100">
                          <a:latin typeface="Times New Roman" panose="02020603050405020304"/>
                          <a:ea typeface="宋体" panose="02010600030101010101" pitchFamily="2" charset="-122"/>
                          <a:cs typeface="Times New Roman" panose="02020603050405020304"/>
                        </a:rPr>
                        <a:t>/ADC12_IN7/TIM3_CH2</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TIM1_CH1N</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73">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9</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100</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PA8</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PA8</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USART1_CK</a:t>
                      </a:r>
                      <a:endParaRPr lang="zh-CN" sz="1100" kern="100">
                        <a:latin typeface="Calibri" panose="020F0502020204030204"/>
                        <a:ea typeface="宋体" panose="02010600030101010101" pitchFamily="2" charset="-122"/>
                        <a:cs typeface="Times New Roman" panose="02020603050405020304"/>
                      </a:endParaRPr>
                    </a:p>
                    <a:p>
                      <a:pPr algn="ctr">
                        <a:spcAft>
                          <a:spcPts val="0"/>
                        </a:spcAft>
                      </a:pPr>
                      <a:r>
                        <a:rPr lang="en-US" sz="900" kern="100">
                          <a:latin typeface="Times New Roman" panose="02020603050405020304"/>
                          <a:ea typeface="宋体" panose="02010600030101010101" pitchFamily="2" charset="-122"/>
                          <a:cs typeface="Times New Roman" panose="02020603050405020304"/>
                        </a:rPr>
                        <a:t>/TIM1_CH1/MCO</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900" kern="100">
                        <a:latin typeface="Times New Roman" panose="020206030504050203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7186">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10</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101</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PA9</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a:latin typeface="Times New Roman" panose="02020603050405020304"/>
                          <a:ea typeface="宋体" panose="02010600030101010101" pitchFamily="2" charset="-122"/>
                          <a:cs typeface="Times New Roman" panose="02020603050405020304"/>
                        </a:rPr>
                        <a:t>PA9</a:t>
                      </a:r>
                      <a:endParaRPr lang="zh-CN" sz="1100" kern="10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900" kern="100" dirty="0">
                          <a:latin typeface="Times New Roman" panose="02020603050405020304"/>
                          <a:ea typeface="宋体" panose="02010600030101010101" pitchFamily="2" charset="-122"/>
                          <a:cs typeface="Times New Roman" panose="02020603050405020304"/>
                        </a:rPr>
                        <a:t>USART1_TX/TIM1_CH2</a:t>
                      </a:r>
                      <a:endParaRPr lang="zh-CN" sz="1100" kern="100" dirty="0">
                        <a:latin typeface="Calibri" panose="020F05020202040302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900" kern="100" dirty="0">
                        <a:latin typeface="Times New Roman" panose="02020603050405020304"/>
                        <a:ea typeface="宋体" panose="02010600030101010101" pitchFamily="2" charset="-122"/>
                        <a:cs typeface="Times New Roman" panose="02020603050405020304"/>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
                                          </p:val>
                                        </p:tav>
                                        <p:tav tm="100000">
                                          <p:val>
                                            <p:strVal val="#ppt_x"/>
                                          </p:val>
                                        </p:tav>
                                      </p:tavLst>
                                    </p:anim>
                                    <p:anim calcmode="lin" valueType="num">
                                      <p:cBhvr>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500"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表格 1"/>
          <p:cNvGraphicFramePr>
            <a:graphicFrameLocks noGrp="1"/>
          </p:cNvGraphicFramePr>
          <p:nvPr/>
        </p:nvGraphicFramePr>
        <p:xfrm>
          <a:off x="2044700" y="277813"/>
          <a:ext cx="6034088" cy="4800600"/>
        </p:xfrm>
        <a:graphic>
          <a:graphicData uri="http://schemas.openxmlformats.org/drawingml/2006/table">
            <a:tbl>
              <a:tblPr/>
              <a:tblGrid>
                <a:gridCol w="478815"/>
                <a:gridCol w="501041"/>
                <a:gridCol w="1096703"/>
                <a:gridCol w="1010973"/>
                <a:gridCol w="1813021"/>
                <a:gridCol w="1133535"/>
              </a:tblGrid>
              <a:tr h="129557">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11</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102</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PA10</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PA10</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USART1_RX/TIM1_CH3</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974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12</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103</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PA11</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PA11</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USART1_CTS/USBDM</a:t>
                      </a:r>
                      <a:endParaRPr lang="zh-CN" sz="800" kern="100">
                        <a:latin typeface="Calibri" panose="020F0502020204030204"/>
                        <a:ea typeface="宋体" panose="02010600030101010101" pitchFamily="2" charset="-122"/>
                        <a:cs typeface="Times New Roman" panose="02020603050405020304"/>
                      </a:endParaRPr>
                    </a:p>
                    <a:p>
                      <a:pPr algn="ctr">
                        <a:spcAft>
                          <a:spcPts val="0"/>
                        </a:spcAft>
                      </a:pPr>
                      <a:r>
                        <a:rPr lang="en-US" sz="700" kern="100">
                          <a:latin typeface="Times New Roman" panose="02020603050405020304"/>
                          <a:ea typeface="宋体" panose="02010600030101010101" pitchFamily="2" charset="-122"/>
                          <a:cs typeface="Times New Roman" panose="02020603050405020304"/>
                        </a:rPr>
                        <a:t>/CAN_RX/TIM1_CH4</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974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13</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104</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PA12</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PA12</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USART1_RTS/USBDP</a:t>
                      </a:r>
                      <a:endParaRPr lang="zh-CN" sz="800" kern="100">
                        <a:latin typeface="Calibri" panose="020F0502020204030204"/>
                        <a:ea typeface="宋体" panose="02010600030101010101" pitchFamily="2" charset="-122"/>
                        <a:cs typeface="Times New Roman" panose="02020603050405020304"/>
                      </a:endParaRPr>
                    </a:p>
                    <a:p>
                      <a:pPr algn="ctr">
                        <a:spcAft>
                          <a:spcPts val="0"/>
                        </a:spcAft>
                      </a:pPr>
                      <a:r>
                        <a:rPr lang="en-US" sz="700" kern="100">
                          <a:latin typeface="Times New Roman" panose="02020603050405020304"/>
                          <a:ea typeface="宋体" panose="02010600030101010101" pitchFamily="2" charset="-122"/>
                          <a:cs typeface="Times New Roman" panose="02020603050405020304"/>
                        </a:rPr>
                        <a:t>/CAN_TX/TIM1_ETR</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9557">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14</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105</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PA13</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JTMS-SWDIO</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PA13</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9557">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15</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109</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PA14</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JTCK-SWCLK</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PA14</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9114">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16</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110</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PA15</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JTDI</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SPI3_NSS/I2S3_WS</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TIM2_CH1_ETR</a:t>
                      </a:r>
                      <a:endParaRPr lang="zh-CN" sz="800" kern="100">
                        <a:latin typeface="Calibri" panose="020F0502020204030204"/>
                        <a:ea typeface="宋体" panose="02010600030101010101" pitchFamily="2" charset="-122"/>
                        <a:cs typeface="Times New Roman" panose="02020603050405020304"/>
                      </a:endParaRPr>
                    </a:p>
                    <a:p>
                      <a:pPr algn="ctr">
                        <a:spcAft>
                          <a:spcPts val="0"/>
                        </a:spcAft>
                      </a:pPr>
                      <a:r>
                        <a:rPr lang="en-US" sz="700" kern="100">
                          <a:latin typeface="Times New Roman" panose="02020603050405020304"/>
                          <a:ea typeface="宋体" panose="02010600030101010101" pitchFamily="2" charset="-122"/>
                          <a:cs typeface="Times New Roman" panose="02020603050405020304"/>
                        </a:rPr>
                        <a:t>/PA15/SPI1_NSS</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0192">
                <a:tc gridSpan="6">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a:t>
                      </a:r>
                      <a:r>
                        <a:rPr lang="zh-CN" sz="700" kern="100">
                          <a:latin typeface="Times New Roman" panose="02020603050405020304"/>
                          <a:ea typeface="宋体" panose="02010600030101010101" pitchFamily="2" charset="-122"/>
                          <a:cs typeface="Times New Roman" panose="02020603050405020304"/>
                        </a:rPr>
                        <a:t>口</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r>
              <a:tr h="25974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17</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46</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PB0</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PB0</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ADC12_IN8/TIM3_CH3</a:t>
                      </a:r>
                      <a:endParaRPr lang="zh-CN" sz="800" kern="100">
                        <a:latin typeface="Calibri" panose="020F0502020204030204"/>
                        <a:ea typeface="宋体" panose="02010600030101010101" pitchFamily="2" charset="-122"/>
                        <a:cs typeface="Times New Roman" panose="02020603050405020304"/>
                      </a:endParaRPr>
                    </a:p>
                    <a:p>
                      <a:pPr algn="ctr">
                        <a:spcAft>
                          <a:spcPts val="0"/>
                        </a:spcAft>
                      </a:pPr>
                      <a:r>
                        <a:rPr lang="en-US" sz="700" kern="100">
                          <a:latin typeface="Times New Roman" panose="02020603050405020304"/>
                          <a:ea typeface="宋体" panose="02010600030101010101" pitchFamily="2" charset="-122"/>
                          <a:cs typeface="Times New Roman" panose="02020603050405020304"/>
                        </a:rPr>
                        <a:t>/TIM8_CH2N</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TIM1_CH2N</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9114">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18</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47</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PB1</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PB1</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ADC12_IN9/TIM3_CH4</a:t>
                      </a:r>
                      <a:endParaRPr lang="zh-CN" sz="800" kern="100">
                        <a:latin typeface="Calibri" panose="020F0502020204030204"/>
                        <a:ea typeface="宋体" panose="02010600030101010101" pitchFamily="2" charset="-122"/>
                        <a:cs typeface="Times New Roman" panose="02020603050405020304"/>
                      </a:endParaRPr>
                    </a:p>
                    <a:p>
                      <a:pPr algn="ctr">
                        <a:spcAft>
                          <a:spcPts val="0"/>
                        </a:spcAft>
                      </a:pPr>
                      <a:r>
                        <a:rPr lang="en-US" sz="700" kern="100">
                          <a:latin typeface="Times New Roman" panose="02020603050405020304"/>
                          <a:ea typeface="宋体" panose="02010600030101010101" pitchFamily="2" charset="-122"/>
                          <a:cs typeface="Times New Roman" panose="02020603050405020304"/>
                        </a:rPr>
                        <a:t>/TIM8_CH3N</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TIM1_CH3N</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0192">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19</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48</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PB2</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PB2/BOOT1</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823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20</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133</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PB3</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JTDO</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SPI3_SCK/I2S3_CK</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PB3</a:t>
                      </a:r>
                      <a:endParaRPr lang="zh-CN" sz="800" kern="100">
                        <a:latin typeface="Calibri" panose="020F0502020204030204"/>
                        <a:ea typeface="宋体" panose="02010600030101010101" pitchFamily="2" charset="-122"/>
                        <a:cs typeface="Times New Roman" panose="02020603050405020304"/>
                      </a:endParaRPr>
                    </a:p>
                    <a:p>
                      <a:pPr algn="ctr">
                        <a:spcAft>
                          <a:spcPts val="0"/>
                        </a:spcAft>
                      </a:pPr>
                      <a:r>
                        <a:rPr lang="en-US" sz="700" kern="100">
                          <a:latin typeface="Times New Roman" panose="02020603050405020304"/>
                          <a:ea typeface="宋体" panose="02010600030101010101" pitchFamily="2" charset="-122"/>
                          <a:cs typeface="Times New Roman" panose="02020603050405020304"/>
                        </a:rPr>
                        <a:t>/TRACESWO</a:t>
                      </a:r>
                      <a:endParaRPr lang="zh-CN" sz="800" kern="100">
                        <a:latin typeface="Calibri" panose="020F0502020204030204"/>
                        <a:ea typeface="宋体" panose="02010600030101010101" pitchFamily="2" charset="-122"/>
                        <a:cs typeface="Times New Roman" panose="02020603050405020304"/>
                      </a:endParaRPr>
                    </a:p>
                    <a:p>
                      <a:pPr algn="ctr">
                        <a:spcAft>
                          <a:spcPts val="0"/>
                        </a:spcAft>
                      </a:pPr>
                      <a:r>
                        <a:rPr lang="en-US" sz="700" kern="100">
                          <a:latin typeface="Times New Roman" panose="02020603050405020304"/>
                          <a:ea typeface="宋体" panose="02010600030101010101" pitchFamily="2" charset="-122"/>
                          <a:cs typeface="Times New Roman" panose="02020603050405020304"/>
                        </a:rPr>
                        <a:t>/TIM2_CH2</a:t>
                      </a:r>
                      <a:endParaRPr lang="zh-CN" sz="800" kern="100">
                        <a:latin typeface="Calibri" panose="020F0502020204030204"/>
                        <a:ea typeface="宋体" panose="02010600030101010101" pitchFamily="2" charset="-122"/>
                        <a:cs typeface="Times New Roman" panose="02020603050405020304"/>
                      </a:endParaRPr>
                    </a:p>
                    <a:p>
                      <a:pPr algn="ctr">
                        <a:spcAft>
                          <a:spcPts val="0"/>
                        </a:spcAft>
                      </a:pPr>
                      <a:r>
                        <a:rPr lang="en-US" sz="700" kern="100">
                          <a:latin typeface="Times New Roman" panose="02020603050405020304"/>
                          <a:ea typeface="宋体" panose="02010600030101010101" pitchFamily="2" charset="-122"/>
                          <a:cs typeface="Times New Roman" panose="02020603050405020304"/>
                        </a:rPr>
                        <a:t>/SPI1_SCK</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974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21</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134</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PB4</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NJTRST</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SPI3_MISO</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PB4/TIM3_CH1</a:t>
                      </a:r>
                      <a:endParaRPr lang="zh-CN" sz="800" kern="100">
                        <a:latin typeface="Calibri" panose="020F0502020204030204"/>
                        <a:ea typeface="宋体" panose="02010600030101010101" pitchFamily="2" charset="-122"/>
                        <a:cs typeface="Times New Roman" panose="02020603050405020304"/>
                      </a:endParaRPr>
                    </a:p>
                    <a:p>
                      <a:pPr algn="ctr">
                        <a:spcAft>
                          <a:spcPts val="0"/>
                        </a:spcAft>
                      </a:pPr>
                      <a:r>
                        <a:rPr lang="en-US" sz="700" kern="100">
                          <a:latin typeface="Times New Roman" panose="02020603050405020304"/>
                          <a:ea typeface="宋体" panose="02010600030101010101" pitchFamily="2" charset="-122"/>
                          <a:cs typeface="Times New Roman" panose="02020603050405020304"/>
                        </a:rPr>
                        <a:t>/SPI1_MISO</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974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22</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135</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PB5</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PB5</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I2C1_SMBA</a:t>
                      </a:r>
                      <a:endParaRPr lang="zh-CN" sz="800" kern="100">
                        <a:latin typeface="Calibri" panose="020F0502020204030204"/>
                        <a:ea typeface="宋体" panose="02010600030101010101" pitchFamily="2" charset="-122"/>
                        <a:cs typeface="Times New Roman" panose="02020603050405020304"/>
                      </a:endParaRPr>
                    </a:p>
                    <a:p>
                      <a:pPr algn="ctr">
                        <a:spcAft>
                          <a:spcPts val="0"/>
                        </a:spcAft>
                      </a:pPr>
                      <a:r>
                        <a:rPr lang="en-US" sz="700" kern="100">
                          <a:latin typeface="Times New Roman" panose="02020603050405020304"/>
                          <a:ea typeface="宋体" panose="02010600030101010101" pitchFamily="2" charset="-122"/>
                          <a:cs typeface="Times New Roman" panose="02020603050405020304"/>
                        </a:rPr>
                        <a:t>/SPI3_MOSI/I2S3_SD</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TIM3_CH2</a:t>
                      </a:r>
                      <a:endParaRPr lang="zh-CN" sz="800" kern="100">
                        <a:latin typeface="Calibri" panose="020F0502020204030204"/>
                        <a:ea typeface="宋体" panose="02010600030101010101" pitchFamily="2" charset="-122"/>
                        <a:cs typeface="Times New Roman" panose="02020603050405020304"/>
                      </a:endParaRPr>
                    </a:p>
                    <a:p>
                      <a:pPr algn="ctr">
                        <a:spcAft>
                          <a:spcPts val="0"/>
                        </a:spcAft>
                      </a:pPr>
                      <a:r>
                        <a:rPr lang="en-US" sz="700" kern="100">
                          <a:latin typeface="Times New Roman" panose="02020603050405020304"/>
                          <a:ea typeface="宋体" panose="02010600030101010101" pitchFamily="2" charset="-122"/>
                          <a:cs typeface="Times New Roman" panose="02020603050405020304"/>
                        </a:rPr>
                        <a:t>/SPI1_MOSI</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9557">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23</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136</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PB6</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PB6</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I2C1_SCL/TIM4_CH1</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USART1_TX</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974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24</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137</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PB7</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PB7</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I2C1_SDA/FSMC_NADV</a:t>
                      </a:r>
                      <a:endParaRPr lang="zh-CN" sz="800" kern="100">
                        <a:latin typeface="Calibri" panose="020F0502020204030204"/>
                        <a:ea typeface="宋体" panose="02010600030101010101" pitchFamily="2" charset="-122"/>
                        <a:cs typeface="Times New Roman" panose="02020603050405020304"/>
                      </a:endParaRPr>
                    </a:p>
                    <a:p>
                      <a:pPr algn="ctr">
                        <a:spcAft>
                          <a:spcPts val="0"/>
                        </a:spcAft>
                      </a:pPr>
                      <a:r>
                        <a:rPr lang="en-US" sz="700" kern="100">
                          <a:latin typeface="Times New Roman" panose="02020603050405020304"/>
                          <a:ea typeface="宋体" panose="02010600030101010101" pitchFamily="2" charset="-122"/>
                          <a:cs typeface="Times New Roman" panose="02020603050405020304"/>
                        </a:rPr>
                        <a:t>/TIM4_CH2</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USART1_RX</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974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25</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139</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PB8</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PB8</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TIM4_CH3/SDIO_D4</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I2C1_SCL</a:t>
                      </a:r>
                      <a:endParaRPr lang="zh-CN" sz="800" kern="100">
                        <a:latin typeface="Calibri" panose="020F0502020204030204"/>
                        <a:ea typeface="宋体" panose="02010600030101010101" pitchFamily="2" charset="-122"/>
                        <a:cs typeface="Times New Roman" panose="02020603050405020304"/>
                      </a:endParaRPr>
                    </a:p>
                    <a:p>
                      <a:pPr algn="ctr">
                        <a:spcAft>
                          <a:spcPts val="0"/>
                        </a:spcAft>
                      </a:pPr>
                      <a:r>
                        <a:rPr lang="en-US" sz="700" kern="100">
                          <a:latin typeface="Times New Roman" panose="02020603050405020304"/>
                          <a:ea typeface="宋体" panose="02010600030101010101" pitchFamily="2" charset="-122"/>
                          <a:cs typeface="Times New Roman" panose="02020603050405020304"/>
                        </a:rPr>
                        <a:t>/CAN_RX</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9114">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26</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140</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PB9</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PB9</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TIM4_CH4/SDIO_D5</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I2C1_SDA</a:t>
                      </a:r>
                      <a:endParaRPr lang="zh-CN" sz="800" kern="100">
                        <a:latin typeface="Calibri" panose="020F0502020204030204"/>
                        <a:ea typeface="宋体" panose="02010600030101010101" pitchFamily="2" charset="-122"/>
                        <a:cs typeface="Times New Roman" panose="02020603050405020304"/>
                      </a:endParaRPr>
                    </a:p>
                    <a:p>
                      <a:pPr algn="ctr">
                        <a:spcAft>
                          <a:spcPts val="0"/>
                        </a:spcAft>
                      </a:pPr>
                      <a:r>
                        <a:rPr lang="en-US" sz="700" kern="100">
                          <a:latin typeface="Times New Roman" panose="02020603050405020304"/>
                          <a:ea typeface="宋体" panose="02010600030101010101" pitchFamily="2" charset="-122"/>
                          <a:cs typeface="Times New Roman" panose="02020603050405020304"/>
                        </a:rPr>
                        <a:t>/CAN_TX</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9557">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27</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69</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PB10</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PB10</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I2C2_SCL/USART3_TX</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TIM2_CH3</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9557">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28</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70</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PB11</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PB11</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I2C2_SDA/USART3_RX</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TIM2_CH4</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9306">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29</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73</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PB12</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PB12</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SPI2_NSS/I2S2_WS</a:t>
                      </a:r>
                      <a:endParaRPr lang="zh-CN" sz="800" kern="100">
                        <a:latin typeface="Calibri" panose="020F0502020204030204"/>
                        <a:ea typeface="宋体" panose="02010600030101010101" pitchFamily="2" charset="-122"/>
                        <a:cs typeface="Times New Roman" panose="02020603050405020304"/>
                      </a:endParaRPr>
                    </a:p>
                    <a:p>
                      <a:pPr algn="ctr">
                        <a:spcAft>
                          <a:spcPts val="0"/>
                        </a:spcAft>
                      </a:pPr>
                      <a:r>
                        <a:rPr lang="en-US" sz="700" kern="100">
                          <a:latin typeface="Times New Roman" panose="02020603050405020304"/>
                          <a:ea typeface="宋体" panose="02010600030101010101" pitchFamily="2" charset="-122"/>
                          <a:cs typeface="Times New Roman" panose="02020603050405020304"/>
                        </a:rPr>
                        <a:t>/I2C2_SMBA/USART3_CK</a:t>
                      </a:r>
                      <a:endParaRPr lang="zh-CN" sz="800" kern="100">
                        <a:latin typeface="Calibri" panose="020F0502020204030204"/>
                        <a:ea typeface="宋体" panose="02010600030101010101" pitchFamily="2" charset="-122"/>
                        <a:cs typeface="Times New Roman" panose="02020603050405020304"/>
                      </a:endParaRPr>
                    </a:p>
                    <a:p>
                      <a:pPr algn="ctr">
                        <a:spcAft>
                          <a:spcPts val="0"/>
                        </a:spcAft>
                      </a:pPr>
                      <a:r>
                        <a:rPr lang="en-US" sz="700" kern="100">
                          <a:latin typeface="Times New Roman" panose="02020603050405020304"/>
                          <a:ea typeface="宋体" panose="02010600030101010101" pitchFamily="2" charset="-122"/>
                          <a:cs typeface="Times New Roman" panose="02020603050405020304"/>
                        </a:rPr>
                        <a:t>/TIM1_BKIN</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974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30</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74</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PB13</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PB13</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SPI2_SCK/I2S2_CK</a:t>
                      </a:r>
                      <a:endParaRPr lang="zh-CN" sz="800" kern="100">
                        <a:latin typeface="Calibri" panose="020F0502020204030204"/>
                        <a:ea typeface="宋体" panose="02010600030101010101" pitchFamily="2" charset="-122"/>
                        <a:cs typeface="Times New Roman" panose="02020603050405020304"/>
                      </a:endParaRPr>
                    </a:p>
                    <a:p>
                      <a:pPr algn="ctr">
                        <a:spcAft>
                          <a:spcPts val="0"/>
                        </a:spcAft>
                      </a:pPr>
                      <a:r>
                        <a:rPr lang="en-US" sz="700" kern="100">
                          <a:latin typeface="Times New Roman" panose="02020603050405020304"/>
                          <a:ea typeface="宋体" panose="02010600030101010101" pitchFamily="2" charset="-122"/>
                          <a:cs typeface="Times New Roman" panose="02020603050405020304"/>
                        </a:rPr>
                        <a:t>/USART3_CTS/TIM1_CH1N</a:t>
                      </a:r>
                      <a:endParaRPr lang="zh-CN" sz="800" kern="100">
                        <a:latin typeface="Calibri" panose="020F05020202040302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dirty="0">
                        <a:latin typeface="Times New Roman" panose="02020603050405020304"/>
                        <a:ea typeface="宋体" panose="02010600030101010101" pitchFamily="2" charset="-122"/>
                        <a:cs typeface="Times New Roman" panose="02020603050405020304"/>
                      </a:endParaRPr>
                    </a:p>
                  </a:txBody>
                  <a:tcPr marL="54922" marR="54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9853" name="文本框 5"/>
          <p:cNvSpPr txBox="1"/>
          <p:nvPr/>
        </p:nvSpPr>
        <p:spPr>
          <a:xfrm>
            <a:off x="231775" y="3627438"/>
            <a:ext cx="1812925" cy="830262"/>
          </a:xfrm>
          <a:prstGeom prst="rect">
            <a:avLst/>
          </a:prstGeom>
          <a:noFill/>
          <a:ln w="9525">
            <a:noFill/>
          </a:ln>
        </p:spPr>
        <p:txBody>
          <a:bodyPr anchor="t" anchorCtr="0">
            <a:spAutoFit/>
          </a:bodyPr>
          <a:p>
            <a:r>
              <a:rPr lang="zh-CN" altLang="en-US" sz="1600" i="1" dirty="0">
                <a:latin typeface="Arial" panose="020B0604020202020204" pitchFamily="34" charset="0"/>
                <a:ea typeface="宋体" panose="02010600030101010101" pitchFamily="2" charset="-122"/>
                <a:sym typeface="Bodoni MT" panose="02070603080606020203" pitchFamily="18" charset="0"/>
              </a:rPr>
              <a:t>参考资料：STM32F103xCDE_DS_CH_V5</a:t>
            </a:r>
            <a:endParaRPr lang="zh-CN" altLang="en-US" sz="1600" i="1" dirty="0">
              <a:latin typeface="Arial" panose="020B0604020202020204" pitchFamily="34" charset="0"/>
              <a:ea typeface="宋体" panose="02010600030101010101" pitchFamily="2" charset="-122"/>
              <a:sym typeface="Bodoni MT" panose="020706030806060202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表格 4"/>
          <p:cNvGraphicFramePr>
            <a:graphicFrameLocks noGrp="1"/>
          </p:cNvGraphicFramePr>
          <p:nvPr/>
        </p:nvGraphicFramePr>
        <p:xfrm>
          <a:off x="1993900" y="220663"/>
          <a:ext cx="6311900" cy="4872038"/>
        </p:xfrm>
        <a:graphic>
          <a:graphicData uri="http://schemas.openxmlformats.org/drawingml/2006/table">
            <a:tbl>
              <a:tblPr/>
              <a:tblGrid>
                <a:gridCol w="499795"/>
                <a:gridCol w="525198"/>
                <a:gridCol w="1148196"/>
                <a:gridCol w="1057381"/>
                <a:gridCol w="1896301"/>
                <a:gridCol w="1185029"/>
              </a:tblGrid>
              <a:tr h="250239">
                <a:tc>
                  <a:txBody>
                    <a:bodyPr/>
                    <a:lstStyle/>
                    <a:p>
                      <a:pPr algn="ctr">
                        <a:spcAft>
                          <a:spcPts val="0"/>
                        </a:spcAft>
                      </a:pPr>
                      <a:r>
                        <a:rPr lang="en-US" sz="700" kern="100" dirty="0">
                          <a:latin typeface="Times New Roman" panose="02020603050405020304"/>
                          <a:ea typeface="宋体" panose="02010600030101010101" pitchFamily="2" charset="-122"/>
                          <a:cs typeface="Times New Roman" panose="02020603050405020304"/>
                        </a:rPr>
                        <a:t>31</a:t>
                      </a:r>
                      <a:endParaRPr lang="zh-CN" sz="800" kern="100" dirty="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75</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PB14</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PB14</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SPI2_MISO/TIM1_CH2N</a:t>
                      </a:r>
                      <a:endParaRPr lang="zh-CN" sz="800" kern="100">
                        <a:latin typeface="Calibri" panose="020F0502020204030204"/>
                        <a:ea typeface="宋体" panose="02010600030101010101" pitchFamily="2" charset="-122"/>
                        <a:cs typeface="Times New Roman" panose="02020603050405020304"/>
                      </a:endParaRPr>
                    </a:p>
                    <a:p>
                      <a:pPr algn="ctr">
                        <a:spcAft>
                          <a:spcPts val="0"/>
                        </a:spcAft>
                      </a:pPr>
                      <a:r>
                        <a:rPr lang="en-US" sz="700" kern="100">
                          <a:latin typeface="Times New Roman" panose="02020603050405020304"/>
                          <a:ea typeface="宋体" panose="02010600030101010101" pitchFamily="2" charset="-122"/>
                          <a:cs typeface="Times New Roman" panose="02020603050405020304"/>
                        </a:rPr>
                        <a:t>/USART3_RTS</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896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32</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76</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PB15</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PB15</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SPI2_MOSI/I2S2_SD</a:t>
                      </a:r>
                      <a:endParaRPr lang="zh-CN" sz="800" kern="100">
                        <a:latin typeface="Calibri" panose="020F0502020204030204"/>
                        <a:ea typeface="宋体" panose="02010600030101010101" pitchFamily="2" charset="-122"/>
                        <a:cs typeface="Times New Roman" panose="02020603050405020304"/>
                      </a:endParaRPr>
                    </a:p>
                    <a:p>
                      <a:pPr algn="ctr">
                        <a:spcAft>
                          <a:spcPts val="0"/>
                        </a:spcAft>
                      </a:pPr>
                      <a:r>
                        <a:rPr lang="en-US" sz="700" kern="100">
                          <a:latin typeface="Times New Roman" panose="02020603050405020304"/>
                          <a:ea typeface="宋体" panose="02010600030101010101" pitchFamily="2" charset="-122"/>
                          <a:cs typeface="Times New Roman" panose="02020603050405020304"/>
                        </a:rPr>
                        <a:t>/TIM1_CH3N</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119">
                <a:tc gridSpan="6">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a:t>
                      </a:r>
                      <a:r>
                        <a:rPr lang="zh-CN" sz="700" kern="100">
                          <a:latin typeface="Times New Roman" panose="02020603050405020304"/>
                          <a:ea typeface="宋体" panose="02010600030101010101" pitchFamily="2" charset="-122"/>
                          <a:cs typeface="Times New Roman" panose="02020603050405020304"/>
                        </a:rPr>
                        <a:t>口</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r>
              <a:tr h="12511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33</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26</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PC0</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PC0</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ADC123_IN10</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11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34</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27</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PC1</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PC1</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ADC123_IN11</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11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35</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28</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PC2</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PC2</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ADC123_IN12</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11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36</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29</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PC3</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PC3</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ADC123_IN13</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384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37</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44</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PC4</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PC4</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ADC12_IN14</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11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38</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45</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PC5</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PC5</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ADC12_IN15</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023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39</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96</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PC6</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PC6</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dirty="0">
                          <a:latin typeface="Times New Roman" panose="02020603050405020304"/>
                          <a:ea typeface="宋体" panose="02010600030101010101" pitchFamily="2" charset="-122"/>
                          <a:cs typeface="Times New Roman" panose="02020603050405020304"/>
                        </a:rPr>
                        <a:t>I2S2_MCK/TIM8_CH1</a:t>
                      </a:r>
                      <a:endParaRPr lang="zh-CN" sz="800" kern="100" dirty="0">
                        <a:latin typeface="Calibri" panose="020F0502020204030204"/>
                        <a:ea typeface="宋体" panose="02010600030101010101" pitchFamily="2" charset="-122"/>
                        <a:cs typeface="Times New Roman" panose="02020603050405020304"/>
                      </a:endParaRPr>
                    </a:p>
                    <a:p>
                      <a:pPr algn="ctr">
                        <a:spcAft>
                          <a:spcPts val="0"/>
                        </a:spcAft>
                      </a:pPr>
                      <a:r>
                        <a:rPr lang="en-US" sz="700" kern="100" dirty="0">
                          <a:latin typeface="Times New Roman" panose="02020603050405020304"/>
                          <a:ea typeface="宋体" panose="02010600030101010101" pitchFamily="2" charset="-122"/>
                          <a:cs typeface="Times New Roman" panose="02020603050405020304"/>
                        </a:rPr>
                        <a:t>/SDIO_D6</a:t>
                      </a:r>
                      <a:endParaRPr lang="zh-CN" sz="800" kern="100" dirty="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TIM3_CH1</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023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40</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97</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PC7</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PC7</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I2S3_MCK/TIM8_CH2</a:t>
                      </a:r>
                      <a:endParaRPr lang="zh-CN" sz="800" kern="100">
                        <a:latin typeface="Calibri" panose="020F0502020204030204"/>
                        <a:ea typeface="宋体" panose="02010600030101010101" pitchFamily="2" charset="-122"/>
                        <a:cs typeface="Times New Roman" panose="02020603050405020304"/>
                      </a:endParaRPr>
                    </a:p>
                    <a:p>
                      <a:pPr algn="ctr">
                        <a:spcAft>
                          <a:spcPts val="0"/>
                        </a:spcAft>
                      </a:pPr>
                      <a:r>
                        <a:rPr lang="en-US" sz="700" kern="100">
                          <a:latin typeface="Times New Roman" panose="02020603050405020304"/>
                          <a:ea typeface="宋体" panose="02010600030101010101" pitchFamily="2" charset="-122"/>
                          <a:cs typeface="Times New Roman" panose="02020603050405020304"/>
                        </a:rPr>
                        <a:t>/SDIO_D7</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TIM3_CH2</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11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41</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98</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PC8</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PC8</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TIM8_CH3/SDIO_D0</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TIM3_CH3</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384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42</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99</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PC9</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PC9</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TIM8_CH4/SDIO_D1</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TIM3_CH4</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11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43</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111</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PC10</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PC10</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UART4_TX/SDIO_D2</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USART3_TX</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11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44</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112</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PC11</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PC11</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UART4_RX/SDIO_D3</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USART3_RX</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11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45</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113</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PC12</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PC12</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UART5_TX/SDIO_CK</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USART3_CK</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023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46</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7</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PC13-TAMPER-RTC</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PC13</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TAMPER-RTC</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384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47</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8</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PC14-OSC32_IN</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PC14</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OSC32_IN</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023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48</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9</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PC15-OSC32_OUT</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PC15</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OSC32_OUT</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119">
                <a:tc gridSpan="6">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a:t>
                      </a:r>
                      <a:r>
                        <a:rPr lang="zh-CN" sz="700" kern="100">
                          <a:latin typeface="Times New Roman" panose="02020603050405020304"/>
                          <a:ea typeface="宋体" panose="02010600030101010101" pitchFamily="2" charset="-122"/>
                          <a:cs typeface="Times New Roman" panose="02020603050405020304"/>
                        </a:rPr>
                        <a:t>口</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r>
              <a:tr h="12511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49</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114</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PD0</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OSC_IN</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FSMC_D2</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CAN_RX</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11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50</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115</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PD1</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OSC_OUT</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FSMC_D3</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CAN_TX</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896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51</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116</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PD2</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PD2</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TIM3_ETR/UART5_RX</a:t>
                      </a:r>
                      <a:endParaRPr lang="zh-CN" sz="800" kern="100">
                        <a:latin typeface="Calibri" panose="020F0502020204030204"/>
                        <a:ea typeface="宋体" panose="02010600030101010101" pitchFamily="2" charset="-122"/>
                        <a:cs typeface="Times New Roman" panose="02020603050405020304"/>
                      </a:endParaRPr>
                    </a:p>
                    <a:p>
                      <a:pPr algn="ctr">
                        <a:spcAft>
                          <a:spcPts val="0"/>
                        </a:spcAft>
                      </a:pPr>
                      <a:r>
                        <a:rPr lang="en-US" sz="700" kern="100">
                          <a:latin typeface="Times New Roman" panose="02020603050405020304"/>
                          <a:ea typeface="宋体" panose="02010600030101010101" pitchFamily="2" charset="-122"/>
                          <a:cs typeface="Times New Roman" panose="02020603050405020304"/>
                        </a:rPr>
                        <a:t>/SDIO_CMD</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11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52</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117</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PD3</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PD3</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FSMC_CLK</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USART2_CTS</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11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53</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118</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PD4</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PD4</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FSMC_NOE</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USART2_RTS</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11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54</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119</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PD5</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PD5</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FSMC_NWE</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USART2_TX</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11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55</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122</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PD6</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PD6</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FSMC_NWAIT</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USART2_RX</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11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56</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123</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PD7</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PD7</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FSMC_NE1/FSMC_NCE2</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USART2_CK</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384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57</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77</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PD8</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PD8</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FSMC_D13</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USART3_TX</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11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58</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78</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PD9</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PD9</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FSMC_D14</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USART3_RX</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11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59</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79</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PD10</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PD10</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FSMC_D15</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USART3_CK</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119">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60</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80</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PD11</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PD11</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FSMC_A16</a:t>
                      </a:r>
                      <a:endParaRPr lang="zh-CN" sz="800" kern="10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dirty="0">
                          <a:latin typeface="Times New Roman" panose="02020603050405020304"/>
                          <a:ea typeface="宋体" panose="02010600030101010101" pitchFamily="2" charset="-122"/>
                          <a:cs typeface="Times New Roman" panose="02020603050405020304"/>
                        </a:rPr>
                        <a:t>USART3_CTS</a:t>
                      </a:r>
                      <a:endParaRPr lang="zh-CN" sz="800" kern="100" dirty="0">
                        <a:latin typeface="Calibri" panose="020F0502020204030204"/>
                        <a:ea typeface="宋体" panose="02010600030101010101" pitchFamily="2" charset="-122"/>
                        <a:cs typeface="Times New Roman" panose="02020603050405020304"/>
                      </a:endParaRPr>
                    </a:p>
                  </a:txBody>
                  <a:tcPr marL="52108" marR="521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0954" name="文本框 2"/>
          <p:cNvSpPr txBox="1"/>
          <p:nvPr/>
        </p:nvSpPr>
        <p:spPr>
          <a:xfrm>
            <a:off x="180975" y="3606800"/>
            <a:ext cx="1812925" cy="828675"/>
          </a:xfrm>
          <a:prstGeom prst="rect">
            <a:avLst/>
          </a:prstGeom>
          <a:noFill/>
          <a:ln w="9525">
            <a:noFill/>
          </a:ln>
        </p:spPr>
        <p:txBody>
          <a:bodyPr anchor="t" anchorCtr="0">
            <a:spAutoFit/>
          </a:bodyPr>
          <a:p>
            <a:r>
              <a:rPr lang="zh-CN" altLang="en-US" sz="1600" i="1" dirty="0">
                <a:latin typeface="Arial" panose="020B0604020202020204" pitchFamily="34" charset="0"/>
                <a:ea typeface="宋体" panose="02010600030101010101" pitchFamily="2" charset="-122"/>
                <a:sym typeface="Bodoni MT" panose="02070603080606020203" pitchFamily="18" charset="0"/>
              </a:rPr>
              <a:t>参考资料：STM32F103xCDE_DS_CH_V5</a:t>
            </a:r>
            <a:endParaRPr lang="zh-CN" altLang="en-US" sz="1600" i="1" dirty="0">
              <a:latin typeface="Arial" panose="020B0604020202020204" pitchFamily="34" charset="0"/>
              <a:ea typeface="宋体" panose="02010600030101010101" pitchFamily="2" charset="-122"/>
              <a:sym typeface="Bodoni MT" panose="020706030806060202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表格 3"/>
          <p:cNvGraphicFramePr>
            <a:graphicFrameLocks noGrp="1"/>
          </p:cNvGraphicFramePr>
          <p:nvPr/>
        </p:nvGraphicFramePr>
        <p:xfrm>
          <a:off x="2336800" y="238125"/>
          <a:ext cx="6302376" cy="4941888"/>
        </p:xfrm>
        <a:graphic>
          <a:graphicData uri="http://schemas.openxmlformats.org/drawingml/2006/table">
            <a:tbl>
              <a:tblPr/>
              <a:tblGrid>
                <a:gridCol w="499695"/>
                <a:gridCol w="523822"/>
                <a:gridCol w="1146060"/>
                <a:gridCol w="1054629"/>
                <a:gridCol w="1895284"/>
                <a:gridCol w="1182886"/>
              </a:tblGrid>
              <a:tr h="284266">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61</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81</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PD12</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PD12</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FSMC_A17</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TIM4_CH1</a:t>
                      </a:r>
                      <a:endParaRPr lang="zh-CN" sz="800" kern="100">
                        <a:latin typeface="Calibri" panose="020F0502020204030204"/>
                        <a:ea typeface="宋体" panose="02010600030101010101" pitchFamily="2" charset="-122"/>
                        <a:cs typeface="Times New Roman" panose="02020603050405020304"/>
                      </a:endParaRPr>
                    </a:p>
                    <a:p>
                      <a:pPr algn="ctr">
                        <a:spcAft>
                          <a:spcPts val="0"/>
                        </a:spcAft>
                      </a:pPr>
                      <a:r>
                        <a:rPr lang="en-US" sz="700" kern="100">
                          <a:latin typeface="Times New Roman" panose="02020603050405020304"/>
                          <a:ea typeface="宋体" panose="02010600030101010101" pitchFamily="2" charset="-122"/>
                          <a:cs typeface="Times New Roman" panose="02020603050405020304"/>
                        </a:rPr>
                        <a:t>/USART3_RTS</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62</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82</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PD13</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PD13</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FSMC_A18</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TIM4_CH2</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63</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85</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PD14</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PD14</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FSMC_D0</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TIM4_CH3</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64</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86</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PD15</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PD15</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FSMC_D1</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TIM4_CH4</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gridSpan="6">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a:t>
                      </a:r>
                      <a:r>
                        <a:rPr lang="zh-CN" sz="700" kern="100">
                          <a:latin typeface="Times New Roman" panose="02020603050405020304"/>
                          <a:ea typeface="宋体" panose="02010600030101010101" pitchFamily="2" charset="-122"/>
                          <a:cs typeface="Times New Roman" panose="02020603050405020304"/>
                        </a:rPr>
                        <a:t>口</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r>
              <a:tr h="283547">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65</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141</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PE0</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PE0</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TIM4_ETR</a:t>
                      </a:r>
                      <a:endParaRPr lang="zh-CN" sz="800" kern="100">
                        <a:latin typeface="Calibri" panose="020F0502020204030204"/>
                        <a:ea typeface="宋体" panose="02010600030101010101" pitchFamily="2" charset="-122"/>
                        <a:cs typeface="Times New Roman" panose="02020603050405020304"/>
                      </a:endParaRPr>
                    </a:p>
                    <a:p>
                      <a:pPr algn="ctr">
                        <a:spcAft>
                          <a:spcPts val="0"/>
                        </a:spcAft>
                      </a:pPr>
                      <a:r>
                        <a:rPr lang="en-US" sz="700" kern="100">
                          <a:latin typeface="Times New Roman" panose="02020603050405020304"/>
                          <a:ea typeface="宋体" panose="02010600030101010101" pitchFamily="2" charset="-122"/>
                          <a:cs typeface="Times New Roman" panose="02020603050405020304"/>
                        </a:rPr>
                        <a:t>/FSMC_NBL0</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66</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142</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PE1</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PE1</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FSMC_NBL1</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67</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PE2</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PE2</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TRACECK/FSMC_A23</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68</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2</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PE3</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PE3</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TRACED0/FSMC_A19</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69</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3</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PE4</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PE4</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TRACED1/FSMC_A20</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70</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4</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PE5</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PE5</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TRACED2/FSMC_A21</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71</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5</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PE6</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PE6</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TRACED3/FSMC_A22</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72</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58</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PE7</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PE7</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FSMC_D4</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TIM1_ETR</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73</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59</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PE8</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PE8</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FSMC_D5</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TIM1_CH1N</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74</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60</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PE9</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PE9</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FSMC_D6</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TIM1_CH1</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75</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63</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PE10</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PE10</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FSMC_D7</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TIM1_CH2N</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76</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64</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PE11</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PE11</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FSMC_D8</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TIM1_CH2</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77</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65</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PE12</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PE12</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FSMC_D9</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TIM1_CH3N</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78</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66</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PE13</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PE13</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FSMC_D10</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TIM1_CH3</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79</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67</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PE14</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PE14</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FSMC_D11</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TIM1_CH4</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80</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68</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PE15</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PE15</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FSMC_D12</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TIM1_BKIN</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gridSpan="6">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a:t>
                      </a:r>
                      <a:r>
                        <a:rPr lang="zh-CN" sz="700" kern="100">
                          <a:latin typeface="Times New Roman" panose="02020603050405020304"/>
                          <a:ea typeface="宋体" panose="02010600030101010101" pitchFamily="2" charset="-122"/>
                          <a:cs typeface="Times New Roman" panose="02020603050405020304"/>
                        </a:rPr>
                        <a:t>口</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81</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10</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PF0</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PF0</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FSMC_A0</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82</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11</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PF1</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PF1</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FSMC_A1</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83</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12</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PF2</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PF2</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FSMC_A2</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84</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13</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PF3</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PF3</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FSMC_A3</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85</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14</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PF4</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PF4</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FSMC_A4</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86</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15</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PF5</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PF5</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FSMC_A5</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87</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18</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PF6</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PF6</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ADC3_IN4/FSMC_NIORD</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88</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19</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PF7</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PF7</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ADC3_IN5/FSMC_NREG</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89</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20</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PF8</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PF8</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ADC3_IN6/FSMC_NIOWR</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90</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21</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PF9</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PF9</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ADC3_IN7/FSMC_CD</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91</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22</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PF10</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PF10</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ADC3_IN8/FSMC_INTR</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92</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49</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PF11</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PF11</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FSMC_NIOS16</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93</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50</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PF12</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PF12</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FSMC_A6</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94</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53</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PF13</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PF13</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FSMC_A7</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95</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54</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PF14</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PF14</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FSMC_A8</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96</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55</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PF15</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PF15</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FSMC_A9</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gridSpan="6">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a:t>
                      </a:r>
                      <a:r>
                        <a:rPr lang="zh-CN" sz="700" kern="100">
                          <a:latin typeface="Times New Roman" panose="02020603050405020304"/>
                          <a:ea typeface="宋体" panose="02010600030101010101" pitchFamily="2" charset="-122"/>
                          <a:cs typeface="Times New Roman" panose="02020603050405020304"/>
                        </a:rPr>
                        <a:t>口</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97</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56</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PG0</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PG0</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FSMC_A10</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98</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57</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PG1</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PG1</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FSMC_A11</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99</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87</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PG2</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PG2</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FSMC_A12</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100</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88</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PG3</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PG3</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FSMC_A13</a:t>
                      </a:r>
                      <a:endParaRPr lang="zh-CN" sz="800" kern="100">
                        <a:latin typeface="Calibri" panose="020F05020202040302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dirty="0">
                        <a:latin typeface="Times New Roman" panose="02020603050405020304"/>
                        <a:ea typeface="宋体" panose="02010600030101010101" pitchFamily="2" charset="-122"/>
                        <a:cs typeface="Times New Roman" panose="02020603050405020304"/>
                      </a:endParaRPr>
                    </a:p>
                  </a:txBody>
                  <a:tcPr marL="45151" marR="451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2055" name="文本框 2"/>
          <p:cNvSpPr txBox="1"/>
          <p:nvPr/>
        </p:nvSpPr>
        <p:spPr>
          <a:xfrm>
            <a:off x="115888" y="3627438"/>
            <a:ext cx="1812925" cy="830262"/>
          </a:xfrm>
          <a:prstGeom prst="rect">
            <a:avLst/>
          </a:prstGeom>
          <a:noFill/>
          <a:ln w="9525">
            <a:noFill/>
          </a:ln>
        </p:spPr>
        <p:txBody>
          <a:bodyPr anchor="t" anchorCtr="0">
            <a:spAutoFit/>
          </a:bodyPr>
          <a:p>
            <a:r>
              <a:rPr lang="zh-CN" altLang="en-US" sz="1600" i="1" dirty="0">
                <a:latin typeface="Arial" panose="020B0604020202020204" pitchFamily="34" charset="0"/>
                <a:ea typeface="宋体" panose="02010600030101010101" pitchFamily="2" charset="-122"/>
                <a:sym typeface="Bodoni MT" panose="02070603080606020203" pitchFamily="18" charset="0"/>
              </a:rPr>
              <a:t>参考资料：STM32F103xCDE_DS_CH_V5</a:t>
            </a:r>
            <a:endParaRPr lang="zh-CN" altLang="en-US" sz="1600" i="1" dirty="0">
              <a:latin typeface="Arial" panose="020B0604020202020204" pitchFamily="34" charset="0"/>
              <a:ea typeface="宋体" panose="02010600030101010101" pitchFamily="2" charset="-122"/>
              <a:sym typeface="Bodoni MT" panose="020706030806060202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表格 3"/>
          <p:cNvGraphicFramePr>
            <a:graphicFrameLocks noGrp="1"/>
          </p:cNvGraphicFramePr>
          <p:nvPr/>
        </p:nvGraphicFramePr>
        <p:xfrm>
          <a:off x="2566988" y="225425"/>
          <a:ext cx="6173788" cy="4800600"/>
        </p:xfrm>
        <a:graphic>
          <a:graphicData uri="http://schemas.openxmlformats.org/drawingml/2006/table">
            <a:tbl>
              <a:tblPr/>
              <a:tblGrid>
                <a:gridCol w="488925"/>
                <a:gridCol w="513689"/>
                <a:gridCol w="1123892"/>
                <a:gridCol w="1032457"/>
                <a:gridCol w="1855374"/>
                <a:gridCol w="1159450"/>
              </a:tblGrid>
              <a:tr h="0">
                <a:tc>
                  <a:txBody>
                    <a:bodyPr/>
                    <a:lstStyle/>
                    <a:p>
                      <a:pPr algn="ctr">
                        <a:spcAft>
                          <a:spcPts val="0"/>
                        </a:spcAft>
                      </a:pPr>
                      <a:r>
                        <a:rPr lang="en-US" sz="700" kern="100" dirty="0">
                          <a:latin typeface="Times New Roman" panose="02020603050405020304"/>
                          <a:ea typeface="宋体" panose="02010600030101010101" pitchFamily="2" charset="-122"/>
                          <a:cs typeface="Times New Roman" panose="02020603050405020304"/>
                        </a:rPr>
                        <a:t>101</a:t>
                      </a:r>
                      <a:endParaRPr lang="zh-CN" sz="800" kern="100" dirty="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89</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PG4</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PG4</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FSMC_A14</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102</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90</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PG5</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PG5</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FSMC_A15</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103</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91</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PG6</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PG6</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FSMC_INT2</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104</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92</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PG7</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PG7</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FSMC_INT3</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105</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93</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PG8</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PG8</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106</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124</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PG9</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PG9</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FSMC_NE2/FSMC_NCE3</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107</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125</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PG10</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PG10</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FSMC_NCE4_1/FSMC_NE3</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108</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126</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PG11</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PG11</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FSMC_NCE4_2</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109</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127</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PG12</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PG12</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FSMC_NE4</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110</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128</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PG13</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PG13</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FSMC_A24</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111</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129</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PG14</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PG14</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FSMC_A25</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112</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132</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PG15</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PG15</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gridSpan="6">
                  <a:txBody>
                    <a:bodyPr/>
                    <a:lstStyle/>
                    <a:p>
                      <a:pPr algn="ctr">
                        <a:spcAft>
                          <a:spcPts val="0"/>
                        </a:spcAft>
                      </a:pPr>
                      <a:r>
                        <a:rPr lang="zh-CN" sz="700" kern="100">
                          <a:latin typeface="Times New Roman" panose="02020603050405020304"/>
                          <a:ea typeface="宋体" panose="02010600030101010101" pitchFamily="2" charset="-122"/>
                          <a:cs typeface="Times New Roman" panose="02020603050405020304"/>
                        </a:rPr>
                        <a:t>电源、复位与时钟相关管脚</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113</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71</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VSS_1</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VSS_1</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114</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72</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VDD_1</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dirty="0">
                          <a:latin typeface="Times New Roman" panose="02020603050405020304"/>
                          <a:ea typeface="宋体" panose="02010600030101010101" pitchFamily="2" charset="-122"/>
                          <a:cs typeface="Times New Roman" panose="02020603050405020304"/>
                        </a:rPr>
                        <a:t>VDD_1</a:t>
                      </a:r>
                      <a:endParaRPr lang="zh-CN" sz="800" kern="100" dirty="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115</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107</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VSS_2</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VSS_2</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116</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108</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VDD_2</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VDD_2</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117</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143</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VSS_3</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VSS_3</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118</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144</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VDD_3</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VDD_3</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119</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38</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VSS_4</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VSS_4</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120</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39</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VDD_4</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VDD_4</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121</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16</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VSS_5</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VSS_5</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122</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17</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VDD_5</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VDD_5</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123</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51</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VSS_6</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VSS_6</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124</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52</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VDD_6</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VDD_6</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125</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61</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VSS_7</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VSS_7</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126</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62</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VDD_7</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VDD_7</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127</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83</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VSS_8</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VSS_8</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128</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84</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VDD_8</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VDD_8</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129</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94</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VSS_9</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VSS_9</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130</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95</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VDD_9</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VDD_9</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131</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120</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VSS_10</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VSS_10</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132</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121</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VDD_10</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VDD_10</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133</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130</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VSS_11</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VSS_11</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134</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131</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VDD_11</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VDD_11</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135</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6</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VBAT</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VBAT</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136</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30</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VSSA</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VSSA</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137</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33</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VDDA</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VDDA</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138</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31</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VREF-</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VREF-</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139</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32</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VREF+</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VREF+</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140</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25</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NRST</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NRST</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141</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138</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BOOT0</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BOOT0</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142</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23</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OSC_IN</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OSC_IN</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143</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24</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OSC_OUT</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OSC_OUT</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700" kern="100">
                        <a:latin typeface="Times New Roman" panose="020206030504050203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144</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700" kern="100">
                          <a:latin typeface="Times New Roman" panose="02020603050405020304"/>
                          <a:ea typeface="宋体" panose="02010600030101010101" pitchFamily="2" charset="-122"/>
                          <a:cs typeface="Times New Roman" panose="02020603050405020304"/>
                        </a:rPr>
                        <a:t>106</a:t>
                      </a:r>
                      <a:endParaRPr lang="zh-CN" sz="800" kern="10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algn="ctr">
                        <a:spcAft>
                          <a:spcPts val="0"/>
                        </a:spcAft>
                      </a:pPr>
                      <a:r>
                        <a:rPr lang="en-US" sz="700" kern="100" dirty="0">
                          <a:latin typeface="Times New Roman" panose="02020603050405020304"/>
                          <a:ea typeface="宋体" panose="02010600030101010101" pitchFamily="2" charset="-122"/>
                          <a:cs typeface="Times New Roman" panose="02020603050405020304"/>
                        </a:rPr>
                        <a:t>NC</a:t>
                      </a:r>
                      <a:r>
                        <a:rPr lang="zh-CN" sz="700" kern="100" dirty="0">
                          <a:latin typeface="Times New Roman" panose="02020603050405020304"/>
                          <a:ea typeface="宋体" panose="02010600030101010101" pitchFamily="2" charset="-122"/>
                          <a:cs typeface="Times New Roman" panose="02020603050405020304"/>
                        </a:rPr>
                        <a:t>（空管脚）</a:t>
                      </a:r>
                      <a:endParaRPr lang="zh-CN" sz="800" kern="100" dirty="0">
                        <a:latin typeface="Calibri" panose="020F0502020204030204"/>
                        <a:ea typeface="宋体" panose="02010600030101010101" pitchFamily="2" charset="-122"/>
                        <a:cs typeface="Times New Roman" panose="02020603050405020304"/>
                      </a:endParaRPr>
                    </a:p>
                  </a:txBody>
                  <a:tcPr marL="45154" marR="451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r>
            </a:tbl>
          </a:graphicData>
        </a:graphic>
      </p:graphicFrame>
      <p:sp>
        <p:nvSpPr>
          <p:cNvPr id="33090" name="文本框 2"/>
          <p:cNvSpPr txBox="1"/>
          <p:nvPr/>
        </p:nvSpPr>
        <p:spPr>
          <a:xfrm>
            <a:off x="152400" y="3606800"/>
            <a:ext cx="1812925" cy="828675"/>
          </a:xfrm>
          <a:prstGeom prst="rect">
            <a:avLst/>
          </a:prstGeom>
          <a:noFill/>
          <a:ln w="9525">
            <a:noFill/>
          </a:ln>
        </p:spPr>
        <p:txBody>
          <a:bodyPr anchor="t" anchorCtr="0">
            <a:spAutoFit/>
          </a:bodyPr>
          <a:p>
            <a:r>
              <a:rPr lang="zh-CN" altLang="en-US" sz="1600" i="1" dirty="0">
                <a:latin typeface="Arial" panose="020B0604020202020204" pitchFamily="34" charset="0"/>
                <a:ea typeface="宋体" panose="02010600030101010101" pitchFamily="2" charset="-122"/>
                <a:sym typeface="Bodoni MT" panose="02070603080606020203" pitchFamily="18" charset="0"/>
              </a:rPr>
              <a:t>参考资料：STM32F103xCDE_DS_CH_V5</a:t>
            </a:r>
            <a:endParaRPr lang="zh-CN" altLang="en-US" sz="1600" i="1" dirty="0">
              <a:latin typeface="Arial" panose="020B0604020202020204" pitchFamily="34" charset="0"/>
              <a:ea typeface="宋体" panose="02010600030101010101" pitchFamily="2" charset="-122"/>
              <a:sym typeface="Bodoni MT" panose="020706030806060202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Object 1"/>
          <p:cNvGraphicFramePr>
            <a:graphicFrameLocks noChangeAspect="1"/>
          </p:cNvGraphicFramePr>
          <p:nvPr/>
        </p:nvGraphicFramePr>
        <p:xfrm>
          <a:off x="914400" y="11113"/>
          <a:ext cx="7315200" cy="5132387"/>
        </p:xfrm>
        <a:graphic>
          <a:graphicData uri="http://schemas.openxmlformats.org/presentationml/2006/ole">
            <mc:AlternateContent xmlns:mc="http://schemas.openxmlformats.org/markup-compatibility/2006">
              <mc:Choice xmlns:v="urn:schemas-microsoft-com:vml" Requires="v">
                <p:oleObj spid="_x0000_s3076" name="" r:id="rId1" imgW="4758690" imgH="4932680" progId="Visio.Drawing.11">
                  <p:embed/>
                </p:oleObj>
              </mc:Choice>
              <mc:Fallback>
                <p:oleObj name="" r:id="rId1" imgW="4758690" imgH="4932680" progId="Visio.Drawing.11">
                  <p:embed/>
                  <p:pic>
                    <p:nvPicPr>
                      <p:cNvPr id="0" name="图片 3075"/>
                      <p:cNvPicPr/>
                      <p:nvPr/>
                    </p:nvPicPr>
                    <p:blipFill>
                      <a:blip r:embed="rId2"/>
                      <a:stretch>
                        <a:fillRect/>
                      </a:stretch>
                    </p:blipFill>
                    <p:spPr>
                      <a:xfrm>
                        <a:off x="914400" y="11113"/>
                        <a:ext cx="7315200" cy="5132387"/>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4817" name="图片 1"/>
          <p:cNvPicPr>
            <a:picLocks noChangeAspect="1"/>
          </p:cNvPicPr>
          <p:nvPr/>
        </p:nvPicPr>
        <p:blipFill>
          <a:blip r:embed="rId1"/>
          <a:stretch>
            <a:fillRect/>
          </a:stretch>
        </p:blipFill>
        <p:spPr>
          <a:xfrm>
            <a:off x="0" y="0"/>
            <a:ext cx="9144000" cy="5143500"/>
          </a:xfrm>
          <a:prstGeom prst="rect">
            <a:avLst/>
          </a:prstGeom>
          <a:noFill/>
          <a:ln w="9525">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圆角矩形 5"/>
          <p:cNvSpPr>
            <a:spLocks noChangeArrowheads="1"/>
          </p:cNvSpPr>
          <p:nvPr/>
        </p:nvSpPr>
        <p:spPr bwMode="auto">
          <a:xfrm>
            <a:off x="260350" y="439738"/>
            <a:ext cx="8623300" cy="4462463"/>
          </a:xfrm>
          <a:prstGeom prst="roundRect">
            <a:avLst>
              <a:gd name="adj" fmla="val 16667"/>
            </a:avLst>
          </a:prstGeom>
          <a:gradFill flip="none" rotWithShape="1">
            <a:gsLst>
              <a:gs pos="0">
                <a:schemeClr val="accent1">
                  <a:lumMod val="5000"/>
                  <a:lumOff val="95000"/>
                </a:schemeClr>
              </a:gs>
              <a:gs pos="67000">
                <a:srgbClr val="F4F3D2"/>
              </a:gs>
            </a:gsLst>
            <a:lin ang="2700000" scaled="1"/>
            <a:tileRect/>
          </a:gradFill>
          <a:ln w="47625">
            <a:solidFill>
              <a:srgbClr val="FC6C02"/>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useBgFill="1">
        <p:nvSpPr>
          <p:cNvPr id="10" name="矩形 9"/>
          <p:cNvSpPr/>
          <p:nvPr/>
        </p:nvSpPr>
        <p:spPr>
          <a:xfrm>
            <a:off x="717549" y="121918"/>
            <a:ext cx="2847255" cy="584771"/>
          </a:xfrm>
          <a:prstGeom prst="rect">
            <a:avLst/>
          </a:prstGeom>
          <a:blipFill dpi="0" rotWithShape="0">
            <a:blip r:embed="rId1"/>
            <a:srcRect/>
            <a:stretch>
              <a:fillRect l="-29729" t="-20892" r="-249119" b="-760499"/>
            </a:stretch>
          </a:blipFill>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存储器</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14" name="文本框 13"/>
          <p:cNvSpPr txBox="1"/>
          <p:nvPr/>
        </p:nvSpPr>
        <p:spPr>
          <a:xfrm>
            <a:off x="914400" y="998538"/>
            <a:ext cx="1828800" cy="40005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sz="2000" kern="1200" cap="none" spc="0" normalizeH="0" baseline="0" noProof="0" dirty="0">
                <a:effectLst>
                  <a:outerShdw blurRad="38100" dist="19050" dir="2700000" algn="tl" rotWithShape="0">
                    <a:schemeClr val="dk1">
                      <a:alpha val="40000"/>
                    </a:schemeClr>
                  </a:outerShdw>
                </a:effectLst>
                <a:latin typeface="+mn-ea"/>
                <a:ea typeface="+mn-ea"/>
                <a:cs typeface="+mn-cs"/>
              </a:rPr>
              <a:t>32</a:t>
            </a:r>
            <a:r>
              <a:rPr kumimoji="0" lang="zh-CN" altLang="en-US" sz="2000" kern="1200" cap="none" spc="0" normalizeH="0" baseline="0" noProof="0" dirty="0">
                <a:effectLst>
                  <a:outerShdw blurRad="38100" dist="19050" dir="2700000" algn="tl" rotWithShape="0">
                    <a:schemeClr val="dk1">
                      <a:alpha val="40000"/>
                    </a:schemeClr>
                  </a:outerShdw>
                </a:effectLst>
                <a:latin typeface="+mn-ea"/>
                <a:ea typeface="+mn-ea"/>
                <a:cs typeface="+mn-cs"/>
              </a:rPr>
              <a:t>位微控制器</a:t>
            </a:r>
            <a:endParaRPr kumimoji="0" lang="zh-CN" altLang="en-US" sz="2000" kern="1200" cap="none" spc="0" normalizeH="0" baseline="0" noProof="0" dirty="0">
              <a:effectLst>
                <a:outerShdw blurRad="38100" dist="19050" dir="2700000" algn="tl" rotWithShape="0">
                  <a:schemeClr val="dk1">
                    <a:alpha val="40000"/>
                  </a:schemeClr>
                </a:outerShdw>
              </a:effectLst>
              <a:latin typeface="+mn-ea"/>
              <a:ea typeface="+mn-ea"/>
              <a:cs typeface="+mn-cs"/>
            </a:endParaRPr>
          </a:p>
        </p:txBody>
      </p:sp>
      <p:sp>
        <p:nvSpPr>
          <p:cNvPr id="17" name="箭头: 下 16"/>
          <p:cNvSpPr/>
          <p:nvPr/>
        </p:nvSpPr>
        <p:spPr>
          <a:xfrm>
            <a:off x="1619250" y="1609725"/>
            <a:ext cx="503238" cy="649288"/>
          </a:xfrm>
          <a:prstGeom prst="downArrow">
            <a:avLst/>
          </a:prstGeom>
          <a:solidFill>
            <a:srgbClr val="F89D24"/>
          </a:solidFill>
          <a:ln>
            <a:solidFill>
              <a:srgbClr val="F89D24"/>
            </a:solidFill>
          </a:ln>
        </p:spPr>
        <p:style>
          <a:lnRef idx="2">
            <a:schemeClr val="accent2">
              <a:shade val="50000"/>
            </a:schemeClr>
          </a:lnRef>
          <a:fillRef idx="1">
            <a:schemeClr val="accent2"/>
          </a:fillRef>
          <a:effectRef idx="0">
            <a:schemeClr val="accent2"/>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w="22225">
                <a:solidFill>
                  <a:schemeClr val="accent2"/>
                </a:solidFill>
                <a:prstDash val="solid"/>
              </a:ln>
              <a:solidFill>
                <a:schemeClr val="accent2">
                  <a:lumMod val="40000"/>
                  <a:lumOff val="60000"/>
                </a:schemeClr>
              </a:solidFill>
              <a:effectLst/>
              <a:uLnTx/>
              <a:uFillTx/>
              <a:latin typeface="+mn-lt"/>
              <a:ea typeface="+mn-ea"/>
              <a:cs typeface="+mn-cs"/>
            </a:endParaRPr>
          </a:p>
        </p:txBody>
      </p:sp>
      <p:sp>
        <p:nvSpPr>
          <p:cNvPr id="19" name="矩形 18"/>
          <p:cNvSpPr/>
          <p:nvPr/>
        </p:nvSpPr>
        <p:spPr>
          <a:xfrm>
            <a:off x="428927" y="2287210"/>
            <a:ext cx="2909772" cy="923330"/>
          </a:xfrm>
          <a:prstGeom prst="rect">
            <a:avLst/>
          </a:prstGeom>
          <a:noFill/>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5400" b="1" i="0" u="none" strike="noStrike" kern="1200" cap="none" spc="0" normalizeH="0" baseline="0" noProof="0" dirty="0">
                <a:ln w="9525">
                  <a:solidFill>
                    <a:schemeClr val="bg1"/>
                  </a:solidFill>
                  <a:prstDash val="solid"/>
                </a:ln>
                <a:solidFill>
                  <a:schemeClr val="tx1"/>
                </a:solidFill>
                <a:effectLst>
                  <a:outerShdw blurRad="12700" dist="38100" dir="2700000" algn="tl" rotWithShape="0">
                    <a:schemeClr val="bg1">
                      <a:lumMod val="50000"/>
                    </a:schemeClr>
                  </a:outerShdw>
                </a:effectLst>
                <a:uLnTx/>
                <a:uFillTx/>
                <a:latin typeface="Arial" panose="020B0604020202020204" pitchFamily="34" charset="0"/>
                <a:ea typeface="宋体" panose="02010600030101010101" pitchFamily="2" charset="-122"/>
                <a:cs typeface="+mn-cs"/>
              </a:rPr>
              <a:t>2</a:t>
            </a:r>
            <a:r>
              <a:rPr kumimoji="0" lang="en-US" altLang="zh-CN" sz="5400" b="1" i="0" u="none" strike="noStrike" kern="1200" cap="none" spc="0" normalizeH="0" baseline="30000" noProof="0" dirty="0">
                <a:ln w="9525">
                  <a:solidFill>
                    <a:schemeClr val="bg1"/>
                  </a:solidFill>
                  <a:prstDash val="solid"/>
                </a:ln>
                <a:solidFill>
                  <a:schemeClr val="tx1"/>
                </a:solidFill>
                <a:effectLst>
                  <a:outerShdw blurRad="12700" dist="38100" dir="2700000" algn="tl" rotWithShape="0">
                    <a:schemeClr val="bg1">
                      <a:lumMod val="50000"/>
                    </a:schemeClr>
                  </a:outerShdw>
                </a:effectLst>
                <a:uLnTx/>
                <a:uFillTx/>
                <a:latin typeface="Arial" panose="020B0604020202020204" pitchFamily="34" charset="0"/>
                <a:ea typeface="宋体" panose="02010600030101010101" pitchFamily="2" charset="-122"/>
                <a:cs typeface="+mn-cs"/>
              </a:rPr>
              <a:t>32</a:t>
            </a:r>
            <a:r>
              <a:rPr kumimoji="0" lang="en-US" altLang="zh-CN" sz="5400" b="1" i="0" u="none" strike="noStrike" kern="1200" cap="none" spc="0" normalizeH="0" baseline="0" noProof="0" dirty="0">
                <a:ln w="9525">
                  <a:solidFill>
                    <a:schemeClr val="bg1"/>
                  </a:solidFill>
                  <a:prstDash val="solid"/>
                </a:ln>
                <a:solidFill>
                  <a:schemeClr val="tx1"/>
                </a:solidFill>
                <a:effectLst>
                  <a:outerShdw blurRad="12700" dist="38100" dir="2700000" algn="tl" rotWithShape="0">
                    <a:schemeClr val="bg1">
                      <a:lumMod val="50000"/>
                    </a:schemeClr>
                  </a:outerShdw>
                </a:effectLst>
                <a:uLnTx/>
                <a:uFillTx/>
                <a:latin typeface="Arial" panose="020B0604020202020204" pitchFamily="34" charset="0"/>
                <a:ea typeface="宋体" panose="02010600030101010101" pitchFamily="2" charset="-122"/>
                <a:cs typeface="+mn-cs"/>
              </a:rPr>
              <a:t>=4GB</a:t>
            </a:r>
            <a:endParaRPr kumimoji="0" lang="zh-CN" altLang="en-US" sz="5400" b="1" i="0" u="none" strike="noStrike" kern="1200" cap="none" spc="0" normalizeH="0" baseline="0" noProof="0" dirty="0">
              <a:ln w="9525">
                <a:solidFill>
                  <a:schemeClr val="bg1"/>
                </a:solidFill>
                <a:prstDash val="solid"/>
              </a:ln>
              <a:solidFill>
                <a:schemeClr val="tx1"/>
              </a:solidFill>
              <a:effectLst>
                <a:outerShdw blurRad="12700" dist="38100" dir="2700000" algn="tl" rotWithShape="0">
                  <a:schemeClr val="bg1">
                    <a:lumMod val="50000"/>
                  </a:schemeClr>
                </a:outerShdw>
              </a:effectLst>
              <a:uLnTx/>
              <a:uFillTx/>
              <a:latin typeface="Arial" panose="020B0604020202020204" pitchFamily="34" charset="0"/>
              <a:ea typeface="宋体" panose="02010600030101010101" pitchFamily="2" charset="-122"/>
              <a:cs typeface="+mn-cs"/>
            </a:endParaRPr>
          </a:p>
        </p:txBody>
      </p:sp>
      <p:sp>
        <p:nvSpPr>
          <p:cNvPr id="21" name="左大括号 20"/>
          <p:cNvSpPr/>
          <p:nvPr/>
        </p:nvSpPr>
        <p:spPr bwMode="auto">
          <a:xfrm>
            <a:off x="3354388" y="1039813"/>
            <a:ext cx="576263" cy="3419475"/>
          </a:xfrm>
          <a:prstGeom prst="leftBrace">
            <a:avLst/>
          </a:prstGeom>
          <a:noFill/>
          <a:ln w="38100" cap="flat" cmpd="sng" algn="ctr">
            <a:solidFill>
              <a:srgbClr val="FC6C02"/>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solidFill>
                  <a:srgbClr val="FC6C02"/>
                </a:solid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 name="矩形 21"/>
          <p:cNvSpPr/>
          <p:nvPr/>
        </p:nvSpPr>
        <p:spPr>
          <a:xfrm>
            <a:off x="3975100" y="1030288"/>
            <a:ext cx="4267200" cy="461963"/>
          </a:xfrm>
          <a:prstGeom prst="rect">
            <a:avLst/>
          </a:prstGeom>
          <a:noFill/>
        </p:spPr>
        <p:txBody>
          <a:bodyPr wrap="none">
            <a:spAutoFit/>
          </a:bodyPr>
          <a:lstStyle/>
          <a:p>
            <a:pPr marL="457200" marR="0" lvl="0" indent="-457200" algn="ctr"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w="0"/>
                <a:solidFill>
                  <a:schemeClr val="tx1"/>
                </a:solidFill>
                <a:effectLst>
                  <a:outerShdw blurRad="38100" dist="19050" dir="2700000" algn="tl" rotWithShape="0">
                    <a:schemeClr val="dk1">
                      <a:alpha val="40000"/>
                    </a:schemeClr>
                  </a:outerShdw>
                </a:effectLst>
                <a:uLnTx/>
                <a:uFillTx/>
                <a:latin typeface="+mn-ea"/>
                <a:ea typeface="+mn-ea"/>
                <a:cs typeface="+mn-cs"/>
              </a:rPr>
              <a:t>寻址范围</a:t>
            </a:r>
            <a:r>
              <a:rPr kumimoji="0" lang="en-US" altLang="zh-CN" sz="2400" b="0" i="0" u="none" strike="noStrike" kern="1200" cap="none" spc="0" normalizeH="0" baseline="0" noProof="0" dirty="0">
                <a:ln w="0"/>
                <a:solidFill>
                  <a:schemeClr val="tx1"/>
                </a:solidFill>
                <a:effectLst>
                  <a:outerShdw blurRad="38100" dist="19050" dir="2700000" algn="tl" rotWithShape="0">
                    <a:schemeClr val="dk1">
                      <a:alpha val="40000"/>
                    </a:schemeClr>
                  </a:outerShdw>
                </a:effectLst>
                <a:uLnTx/>
                <a:uFillTx/>
                <a:latin typeface="+mn-ea"/>
                <a:ea typeface="+mn-ea"/>
                <a:cs typeface="+mn-cs"/>
              </a:rPr>
              <a:t>0x0~0xFFFFFFFF</a:t>
            </a:r>
            <a:endParaRPr kumimoji="0" lang="zh-CN" altLang="en-US" sz="2400" b="0" i="0" u="none" strike="noStrike" kern="1200" cap="none" spc="0" normalizeH="0" baseline="0" noProof="0" dirty="0">
              <a:ln w="0"/>
              <a:solidFill>
                <a:schemeClr val="tx1"/>
              </a:solidFill>
              <a:effectLst>
                <a:outerShdw blurRad="38100" dist="19050" dir="2700000" algn="tl" rotWithShape="0">
                  <a:schemeClr val="dk1">
                    <a:alpha val="40000"/>
                  </a:schemeClr>
                </a:outerShdw>
              </a:effectLst>
              <a:uLnTx/>
              <a:uFillTx/>
              <a:latin typeface="+mn-ea"/>
              <a:ea typeface="+mn-ea"/>
              <a:cs typeface="+mn-cs"/>
            </a:endParaRPr>
          </a:p>
        </p:txBody>
      </p:sp>
      <p:sp>
        <p:nvSpPr>
          <p:cNvPr id="23" name="矩形 22"/>
          <p:cNvSpPr/>
          <p:nvPr/>
        </p:nvSpPr>
        <p:spPr>
          <a:xfrm>
            <a:off x="4098925" y="2500313"/>
            <a:ext cx="4019550" cy="461963"/>
          </a:xfrm>
          <a:prstGeom prst="rect">
            <a:avLst/>
          </a:prstGeom>
          <a:noFill/>
        </p:spPr>
        <p:txBody>
          <a:bodyPr wrap="none">
            <a:spAutoFit/>
          </a:bodyPr>
          <a:lstStyle/>
          <a:p>
            <a:pPr marL="457200" marR="0" lvl="0" indent="-457200" algn="ctr"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en-US" altLang="zh-CN" sz="2400" b="0" i="0" u="none" strike="noStrike" kern="1200" cap="none" spc="0" normalizeH="0" baseline="0" noProof="0" dirty="0">
                <a:ln w="0"/>
                <a:solidFill>
                  <a:schemeClr val="tx1"/>
                </a:solidFill>
                <a:effectLst>
                  <a:outerShdw blurRad="38100" dist="19050" dir="2700000" algn="tl" rotWithShape="0">
                    <a:schemeClr val="dk1">
                      <a:alpha val="40000"/>
                    </a:schemeClr>
                  </a:outerShdw>
                </a:effectLst>
                <a:uLnTx/>
                <a:uFillTx/>
                <a:latin typeface="+mn-ea"/>
                <a:ea typeface="+mn-ea"/>
                <a:cs typeface="+mn-cs"/>
              </a:rPr>
              <a:t>8</a:t>
            </a:r>
            <a:r>
              <a:rPr kumimoji="0" lang="zh-CN" altLang="en-US" sz="2400" b="0" i="0" u="none" strike="noStrike" kern="1200" cap="none" spc="0" normalizeH="0" baseline="0" noProof="0" dirty="0">
                <a:ln w="0"/>
                <a:solidFill>
                  <a:schemeClr val="tx1"/>
                </a:solidFill>
                <a:effectLst>
                  <a:outerShdw blurRad="38100" dist="19050" dir="2700000" algn="tl" rotWithShape="0">
                    <a:schemeClr val="dk1">
                      <a:alpha val="40000"/>
                    </a:schemeClr>
                  </a:outerShdw>
                </a:effectLst>
                <a:uLnTx/>
                <a:uFillTx/>
                <a:latin typeface="+mn-ea"/>
                <a:ea typeface="+mn-ea"/>
                <a:cs typeface="+mn-cs"/>
              </a:rPr>
              <a:t>个存储块，每块</a:t>
            </a:r>
            <a:r>
              <a:rPr kumimoji="0" lang="en-US" altLang="zh-CN" sz="2400" b="0" i="0" u="none" strike="noStrike" kern="1200" cap="none" spc="0" normalizeH="0" baseline="0" noProof="0" dirty="0">
                <a:ln w="0"/>
                <a:solidFill>
                  <a:schemeClr val="tx1"/>
                </a:solidFill>
                <a:effectLst>
                  <a:outerShdw blurRad="38100" dist="19050" dir="2700000" algn="tl" rotWithShape="0">
                    <a:schemeClr val="dk1">
                      <a:alpha val="40000"/>
                    </a:schemeClr>
                  </a:outerShdw>
                </a:effectLst>
                <a:uLnTx/>
                <a:uFillTx/>
                <a:latin typeface="+mn-ea"/>
                <a:ea typeface="+mn-ea"/>
                <a:cs typeface="+mn-cs"/>
              </a:rPr>
              <a:t>512MB</a:t>
            </a:r>
            <a:endParaRPr kumimoji="0" lang="zh-CN" altLang="en-US" sz="2400" b="0" i="0" u="none" strike="noStrike" kern="1200" cap="none" spc="0" normalizeH="0" baseline="0" noProof="0" dirty="0">
              <a:ln w="0"/>
              <a:solidFill>
                <a:schemeClr val="tx1"/>
              </a:solidFill>
              <a:effectLst>
                <a:outerShdw blurRad="38100" dist="19050" dir="2700000" algn="tl" rotWithShape="0">
                  <a:schemeClr val="dk1">
                    <a:alpha val="40000"/>
                  </a:schemeClr>
                </a:outerShdw>
              </a:effectLst>
              <a:uLnTx/>
              <a:uFillTx/>
              <a:latin typeface="+mn-ea"/>
              <a:ea typeface="+mn-ea"/>
              <a:cs typeface="+mn-cs"/>
            </a:endParaRPr>
          </a:p>
        </p:txBody>
      </p:sp>
      <p:sp>
        <p:nvSpPr>
          <p:cNvPr id="24" name="矩形 23"/>
          <p:cNvSpPr/>
          <p:nvPr/>
        </p:nvSpPr>
        <p:spPr>
          <a:xfrm>
            <a:off x="3938588" y="3970338"/>
            <a:ext cx="4340225" cy="460375"/>
          </a:xfrm>
          <a:prstGeom prst="rect">
            <a:avLst/>
          </a:prstGeom>
          <a:noFill/>
        </p:spPr>
        <p:txBody>
          <a:bodyPr wrap="none">
            <a:spAutoFit/>
          </a:bodyPr>
          <a:lstStyle/>
          <a:p>
            <a:pPr marL="457200" marR="0" lvl="0" indent="-457200" algn="ctr"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w="0"/>
                <a:solidFill>
                  <a:schemeClr val="tx1"/>
                </a:solidFill>
                <a:effectLst>
                  <a:outerShdw blurRad="38100" dist="19050" dir="2700000" algn="tl" rotWithShape="0">
                    <a:schemeClr val="dk1">
                      <a:alpha val="40000"/>
                    </a:schemeClr>
                  </a:outerShdw>
                </a:effectLst>
                <a:uLnTx/>
                <a:uFillTx/>
                <a:latin typeface="+mn-ea"/>
                <a:ea typeface="+mn-ea"/>
                <a:cs typeface="+mn-cs"/>
              </a:rPr>
              <a:t>只有部分地址可以有效访问</a:t>
            </a:r>
            <a:endParaRPr kumimoji="0" lang="zh-CN" altLang="en-US" sz="2400" b="0" i="0" u="none" strike="noStrike" kern="1200" cap="none" spc="0" normalizeH="0" baseline="0" noProof="0" dirty="0">
              <a:ln w="0"/>
              <a:solidFill>
                <a:schemeClr val="tx1"/>
              </a:solidFill>
              <a:effectLst>
                <a:outerShdw blurRad="38100" dist="19050" dir="2700000" algn="tl" rotWithShape="0">
                  <a:schemeClr val="dk1">
                    <a:alpha val="40000"/>
                  </a:schemeClr>
                </a:outerShdw>
              </a:effectLst>
              <a:uLnTx/>
              <a:uFillTx/>
              <a:latin typeface="+mn-ea"/>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7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750"/>
                                        <p:tgtEl>
                                          <p:spTgt spid="9"/>
                                        </p:tgtEl>
                                      </p:cBhvr>
                                    </p:animEffect>
                                  </p:childTnLst>
                                </p:cTn>
                              </p:par>
                              <p:par>
                                <p:cTn id="11" presetID="47" presetClass="entr" presetSubtype="0" fill="hold" grpId="0" nodeType="withEffect">
                                  <p:stCondLst>
                                    <p:cond delay="100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anim calcmode="lin" valueType="num">
                                      <p:cBhvr>
                                        <p:cTn id="14" dur="500" fill="hold"/>
                                        <p:tgtEl>
                                          <p:spTgt spid="14"/>
                                        </p:tgtEl>
                                        <p:attrNameLst>
                                          <p:attrName>ppt_x</p:attrName>
                                        </p:attrNameLst>
                                      </p:cBhvr>
                                      <p:tavLst>
                                        <p:tav tm="0">
                                          <p:val>
                                            <p:strVal val="#ppt_x"/>
                                          </p:val>
                                        </p:tav>
                                        <p:tav tm="100000">
                                          <p:val>
                                            <p:strVal val="#ppt_x"/>
                                          </p:val>
                                        </p:tav>
                                      </p:tavLst>
                                    </p:anim>
                                    <p:anim calcmode="lin" valueType="num">
                                      <p:cBhvr>
                                        <p:cTn id="15"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circle(in)">
                                      <p:cBhvr>
                                        <p:cTn id="20" dur="500"/>
                                        <p:tgtEl>
                                          <p:spTgt spid="17"/>
                                        </p:tgtEl>
                                      </p:cBhvr>
                                    </p:animEffect>
                                  </p:childTnLst>
                                </p:cTn>
                              </p:par>
                            </p:childTnLst>
                          </p:cTn>
                        </p:par>
                        <p:par>
                          <p:cTn id="21" fill="hold">
                            <p:stCondLst>
                              <p:cond delay="500"/>
                            </p:stCondLst>
                            <p:childTnLst>
                              <p:par>
                                <p:cTn id="22" presetID="2" presetClass="entr" presetSubtype="8" fill="hold" nodeType="afterEffect">
                                  <p:stCondLst>
                                    <p:cond delay="0"/>
                                  </p:stCondLst>
                                  <p:childTnLst>
                                    <p:set>
                                      <p:cBhvr>
                                        <p:cTn id="23" dur="1" fill="hold">
                                          <p:stCondLst>
                                            <p:cond delay="0"/>
                                          </p:stCondLst>
                                        </p:cTn>
                                        <p:tgtEl>
                                          <p:spTgt spid="19"/>
                                        </p:tgtEl>
                                        <p:attrNameLst>
                                          <p:attrName>style.visibility</p:attrName>
                                        </p:attrNameLst>
                                      </p:cBhvr>
                                      <p:to>
                                        <p:strVal val="visible"/>
                                      </p:to>
                                    </p:set>
                                    <p:anim calcmode="lin" valueType="num">
                                      <p:cBhvr additive="base">
                                        <p:cTn id="24" dur="500" fill="hold"/>
                                        <p:tgtEl>
                                          <p:spTgt spid="19"/>
                                        </p:tgtEl>
                                        <p:attrNameLst>
                                          <p:attrName>ppt_x</p:attrName>
                                        </p:attrNameLst>
                                      </p:cBhvr>
                                      <p:tavLst>
                                        <p:tav tm="0">
                                          <p:val>
                                            <p:strVal val="0-#ppt_w/2"/>
                                          </p:val>
                                        </p:tav>
                                        <p:tav tm="100000">
                                          <p:val>
                                            <p:strVal val="#ppt_x"/>
                                          </p:val>
                                        </p:tav>
                                      </p:tavLst>
                                    </p:anim>
                                    <p:anim calcmode="lin" valueType="num">
                                      <p:cBhvr additive="base">
                                        <p:cTn id="25"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up)">
                                      <p:cBhvr>
                                        <p:cTn id="30" dur="500"/>
                                        <p:tgtEl>
                                          <p:spTgt spid="21"/>
                                        </p:tgtEl>
                                      </p:cBhvr>
                                    </p:animEffect>
                                  </p:childTnLst>
                                </p:cTn>
                              </p:par>
                            </p:childTnLst>
                          </p:cTn>
                        </p:par>
                        <p:par>
                          <p:cTn id="31" fill="hold">
                            <p:stCondLst>
                              <p:cond delay="500"/>
                            </p:stCondLst>
                            <p:childTnLst>
                              <p:par>
                                <p:cTn id="32" presetID="10" presetClass="entr" presetSubtype="0" fill="hold" grpId="0" nodeType="afterEffect">
                                  <p:stCondLst>
                                    <p:cond delay="100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childTnLst>
                          </p:cTn>
                        </p:par>
                        <p:par>
                          <p:cTn id="35" fill="hold">
                            <p:stCondLst>
                              <p:cond delay="2000"/>
                            </p:stCondLst>
                            <p:childTnLst>
                              <p:par>
                                <p:cTn id="36" presetID="10" presetClass="entr" presetSubtype="0" fill="hold" grpId="0" nodeType="afterEffect">
                                  <p:stCondLst>
                                    <p:cond delay="100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childTnLst>
                          </p:cTn>
                        </p:par>
                        <p:par>
                          <p:cTn id="39" fill="hold">
                            <p:stCondLst>
                              <p:cond delay="3500"/>
                            </p:stCondLst>
                            <p:childTnLst>
                              <p:par>
                                <p:cTn id="40" presetID="10" presetClass="entr" presetSubtype="0" fill="hold" grpId="0" nodeType="afterEffect">
                                  <p:stCondLst>
                                    <p:cond delay="100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50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grpId="1" nodeType="clickEffect">
                                  <p:stCondLst>
                                    <p:cond delay="0"/>
                                  </p:stCondLst>
                                  <p:childTnLst>
                                    <p:animEffect transition="out" filter="fade">
                                      <p:cBhvr>
                                        <p:cTn id="46" dur="500"/>
                                        <p:tgtEl>
                                          <p:spTgt spid="21"/>
                                        </p:tgtEl>
                                      </p:cBhvr>
                                    </p:animEffect>
                                    <p:set>
                                      <p:cBhvr>
                                        <p:cTn id="47" dur="1" fill="hold">
                                          <p:stCondLst>
                                            <p:cond delay="499"/>
                                          </p:stCondLst>
                                        </p:cTn>
                                        <p:tgtEl>
                                          <p:spTgt spid="21"/>
                                        </p:tgtEl>
                                        <p:attrNameLst>
                                          <p:attrName>style.visibility</p:attrName>
                                        </p:attrNameLst>
                                      </p:cBhvr>
                                      <p:to>
                                        <p:strVal val="hidden"/>
                                      </p:to>
                                    </p:set>
                                  </p:childTnLst>
                                </p:cTn>
                              </p:par>
                              <p:par>
                                <p:cTn id="48" presetID="10" presetClass="exit" presetSubtype="0" fill="hold" grpId="1" nodeType="withEffect">
                                  <p:stCondLst>
                                    <p:cond delay="0"/>
                                  </p:stCondLst>
                                  <p:childTnLst>
                                    <p:animEffect transition="out" filter="fade">
                                      <p:cBhvr>
                                        <p:cTn id="49" dur="500"/>
                                        <p:tgtEl>
                                          <p:spTgt spid="22"/>
                                        </p:tgtEl>
                                      </p:cBhvr>
                                    </p:animEffect>
                                    <p:set>
                                      <p:cBhvr>
                                        <p:cTn id="50" dur="1" fill="hold">
                                          <p:stCondLst>
                                            <p:cond delay="499"/>
                                          </p:stCondLst>
                                        </p:cTn>
                                        <p:tgtEl>
                                          <p:spTgt spid="22"/>
                                        </p:tgtEl>
                                        <p:attrNameLst>
                                          <p:attrName>style.visibility</p:attrName>
                                        </p:attrNameLst>
                                      </p:cBhvr>
                                      <p:to>
                                        <p:strVal val="hidden"/>
                                      </p:to>
                                    </p:set>
                                  </p:childTnLst>
                                </p:cTn>
                              </p:par>
                              <p:par>
                                <p:cTn id="51" presetID="10" presetClass="exit" presetSubtype="0" fill="hold" grpId="1" nodeType="withEffect">
                                  <p:stCondLst>
                                    <p:cond delay="0"/>
                                  </p:stCondLst>
                                  <p:childTnLst>
                                    <p:animEffect transition="out" filter="fade">
                                      <p:cBhvr>
                                        <p:cTn id="52" dur="500"/>
                                        <p:tgtEl>
                                          <p:spTgt spid="23"/>
                                        </p:tgtEl>
                                      </p:cBhvr>
                                    </p:animEffect>
                                    <p:set>
                                      <p:cBhvr>
                                        <p:cTn id="53" dur="1" fill="hold">
                                          <p:stCondLst>
                                            <p:cond delay="499"/>
                                          </p:stCondLst>
                                        </p:cTn>
                                        <p:tgtEl>
                                          <p:spTgt spid="23"/>
                                        </p:tgtEl>
                                        <p:attrNameLst>
                                          <p:attrName>style.visibility</p:attrName>
                                        </p:attrNameLst>
                                      </p:cBhvr>
                                      <p:to>
                                        <p:strVal val="hidden"/>
                                      </p:to>
                                    </p:set>
                                  </p:childTnLst>
                                </p:cTn>
                              </p:par>
                              <p:par>
                                <p:cTn id="54" presetID="10" presetClass="exit" presetSubtype="0" fill="hold" grpId="1" nodeType="withEffect">
                                  <p:stCondLst>
                                    <p:cond delay="0"/>
                                  </p:stCondLst>
                                  <p:childTnLst>
                                    <p:animEffect transition="out" filter="fade">
                                      <p:cBhvr>
                                        <p:cTn id="55" dur="500"/>
                                        <p:tgtEl>
                                          <p:spTgt spid="24"/>
                                        </p:tgtEl>
                                      </p:cBhvr>
                                    </p:animEffect>
                                    <p:set>
                                      <p:cBhvr>
                                        <p:cTn id="56" dur="1" fill="hold">
                                          <p:stCondLst>
                                            <p:cond delay="4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p:bldP spid="17" grpId="0" animBg="1"/>
      <p:bldP spid="21" grpId="0" animBg="1"/>
      <p:bldP spid="21" grpId="1" animBg="1"/>
      <p:bldP spid="22" grpId="0"/>
      <p:bldP spid="22" grpId="1"/>
      <p:bldP spid="23" grpId="0"/>
      <p:bldP spid="23" grpId="1"/>
      <p:bldP spid="24" grpId="0"/>
      <p:bldP spid="24" grpId="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圆角矩形 5"/>
          <p:cNvSpPr>
            <a:spLocks noChangeArrowheads="1"/>
          </p:cNvSpPr>
          <p:nvPr/>
        </p:nvSpPr>
        <p:spPr bwMode="auto">
          <a:xfrm>
            <a:off x="260350" y="439738"/>
            <a:ext cx="8623300" cy="4462463"/>
          </a:xfrm>
          <a:prstGeom prst="roundRect">
            <a:avLst>
              <a:gd name="adj" fmla="val 16667"/>
            </a:avLst>
          </a:prstGeom>
          <a:gradFill flip="none" rotWithShape="1">
            <a:gsLst>
              <a:gs pos="0">
                <a:schemeClr val="accent1">
                  <a:lumMod val="5000"/>
                  <a:lumOff val="95000"/>
                </a:schemeClr>
              </a:gs>
              <a:gs pos="67000">
                <a:srgbClr val="F4F3D2"/>
              </a:gs>
            </a:gsLst>
            <a:lin ang="2700000" scaled="1"/>
            <a:tileRect/>
          </a:gradFill>
          <a:ln w="47625">
            <a:solidFill>
              <a:srgbClr val="FC6C02"/>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useBgFill="1">
        <p:nvSpPr>
          <p:cNvPr id="10" name="矩形 9"/>
          <p:cNvSpPr/>
          <p:nvPr/>
        </p:nvSpPr>
        <p:spPr>
          <a:xfrm>
            <a:off x="717549" y="121918"/>
            <a:ext cx="2847255" cy="584771"/>
          </a:xfrm>
          <a:prstGeom prst="rect">
            <a:avLst/>
          </a:prstGeom>
          <a:blipFill dpi="0" rotWithShape="0">
            <a:blip r:embed="rId1"/>
            <a:srcRect/>
            <a:stretch>
              <a:fillRect l="-29729" t="-20892" r="-249119" b="-760499"/>
            </a:stretch>
          </a:blipFill>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存储器</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14" name="文本框 13"/>
          <p:cNvSpPr txBox="1"/>
          <p:nvPr/>
        </p:nvSpPr>
        <p:spPr>
          <a:xfrm>
            <a:off x="914400" y="998538"/>
            <a:ext cx="1828800" cy="400050"/>
          </a:xfrm>
          <a:prstGeom prst="rect">
            <a:avLst/>
          </a:prstGeom>
          <a:noFill/>
        </p:spPr>
        <p:txBody>
          <a:bodyPr>
            <a:spAutoFit/>
          </a:bodyPr>
          <a:lstStyle/>
          <a:p>
            <a:pPr marR="0" defTabSz="914400">
              <a:buClrTx/>
              <a:buSzTx/>
              <a:buFont typeface="Arial" panose="020B0604020202020204" pitchFamily="34" charset="0"/>
              <a:buNone/>
              <a:defRPr/>
            </a:pPr>
            <a:r>
              <a:rPr kumimoji="0" lang="en-US" altLang="zh-CN" sz="2000" kern="1200" cap="none" spc="0" normalizeH="0" baseline="0" noProof="0" dirty="0">
                <a:effectLst>
                  <a:outerShdw blurRad="38100" dist="19050" dir="2700000" algn="tl" rotWithShape="0">
                    <a:schemeClr val="dk1">
                      <a:alpha val="40000"/>
                    </a:schemeClr>
                  </a:outerShdw>
                </a:effectLst>
                <a:latin typeface="+mn-ea"/>
                <a:ea typeface="+mn-ea"/>
                <a:cs typeface="+mn-cs"/>
              </a:rPr>
              <a:t>32</a:t>
            </a:r>
            <a:r>
              <a:rPr kumimoji="0" lang="zh-CN" altLang="en-US" sz="2000" kern="1200" cap="none" spc="0" normalizeH="0" baseline="0" noProof="0" dirty="0">
                <a:effectLst>
                  <a:outerShdw blurRad="38100" dist="19050" dir="2700000" algn="tl" rotWithShape="0">
                    <a:schemeClr val="dk1">
                      <a:alpha val="40000"/>
                    </a:schemeClr>
                  </a:outerShdw>
                </a:effectLst>
                <a:latin typeface="+mn-ea"/>
                <a:ea typeface="+mn-ea"/>
                <a:cs typeface="+mn-cs"/>
              </a:rPr>
              <a:t>位微控制器</a:t>
            </a:r>
            <a:endParaRPr kumimoji="0" lang="zh-CN" altLang="en-US" sz="2000" kern="1200" cap="none" spc="0" normalizeH="0" baseline="0" noProof="0" dirty="0">
              <a:effectLst>
                <a:outerShdw blurRad="38100" dist="19050" dir="2700000" algn="tl" rotWithShape="0">
                  <a:schemeClr val="dk1">
                    <a:alpha val="40000"/>
                  </a:schemeClr>
                </a:outerShdw>
              </a:effectLst>
              <a:latin typeface="+mn-ea"/>
              <a:ea typeface="+mn-ea"/>
              <a:cs typeface="+mn-cs"/>
            </a:endParaRPr>
          </a:p>
        </p:txBody>
      </p:sp>
      <p:sp>
        <p:nvSpPr>
          <p:cNvPr id="17" name="箭头: 下 16"/>
          <p:cNvSpPr/>
          <p:nvPr/>
        </p:nvSpPr>
        <p:spPr>
          <a:xfrm>
            <a:off x="1619250" y="1609725"/>
            <a:ext cx="503238" cy="649288"/>
          </a:xfrm>
          <a:prstGeom prst="downArrow">
            <a:avLst/>
          </a:prstGeom>
          <a:solidFill>
            <a:srgbClr val="F89D24"/>
          </a:solidFill>
          <a:ln>
            <a:solidFill>
              <a:srgbClr val="F89D2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9" name="矩形 18"/>
          <p:cNvSpPr/>
          <p:nvPr/>
        </p:nvSpPr>
        <p:spPr>
          <a:xfrm>
            <a:off x="428927" y="2287210"/>
            <a:ext cx="2909772" cy="923330"/>
          </a:xfrm>
          <a:prstGeom prst="rect">
            <a:avLst/>
          </a:prstGeom>
          <a:noFill/>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5400" b="1" i="0" u="none" strike="noStrike" kern="1200" cap="none" spc="0" normalizeH="0" baseline="0" noProof="0" dirty="0">
                <a:ln w="9525">
                  <a:solidFill>
                    <a:schemeClr val="bg1"/>
                  </a:solidFill>
                  <a:prstDash val="solid"/>
                </a:ln>
                <a:solidFill>
                  <a:schemeClr val="tx1"/>
                </a:solidFill>
                <a:effectLst>
                  <a:outerShdw blurRad="12700" dist="38100" dir="2700000" algn="tl" rotWithShape="0">
                    <a:schemeClr val="bg1">
                      <a:lumMod val="50000"/>
                    </a:schemeClr>
                  </a:outerShdw>
                </a:effectLst>
                <a:uLnTx/>
                <a:uFillTx/>
                <a:latin typeface="Arial" panose="020B0604020202020204" pitchFamily="34" charset="0"/>
                <a:ea typeface="宋体" panose="02010600030101010101" pitchFamily="2" charset="-122"/>
                <a:cs typeface="+mn-cs"/>
              </a:rPr>
              <a:t>2</a:t>
            </a:r>
            <a:r>
              <a:rPr kumimoji="0" lang="en-US" altLang="zh-CN" sz="5400" b="1" i="0" u="none" strike="noStrike" kern="1200" cap="none" spc="0" normalizeH="0" baseline="30000" noProof="0" dirty="0">
                <a:ln w="9525">
                  <a:solidFill>
                    <a:schemeClr val="bg1"/>
                  </a:solidFill>
                  <a:prstDash val="solid"/>
                </a:ln>
                <a:solidFill>
                  <a:schemeClr val="tx1"/>
                </a:solidFill>
                <a:effectLst>
                  <a:outerShdw blurRad="12700" dist="38100" dir="2700000" algn="tl" rotWithShape="0">
                    <a:schemeClr val="bg1">
                      <a:lumMod val="50000"/>
                    </a:schemeClr>
                  </a:outerShdw>
                </a:effectLst>
                <a:uLnTx/>
                <a:uFillTx/>
                <a:latin typeface="Arial" panose="020B0604020202020204" pitchFamily="34" charset="0"/>
                <a:ea typeface="宋体" panose="02010600030101010101" pitchFamily="2" charset="-122"/>
                <a:cs typeface="+mn-cs"/>
              </a:rPr>
              <a:t>32</a:t>
            </a:r>
            <a:r>
              <a:rPr kumimoji="0" lang="en-US" altLang="zh-CN" sz="5400" b="1" i="0" u="none" strike="noStrike" kern="1200" cap="none" spc="0" normalizeH="0" baseline="0" noProof="0" dirty="0">
                <a:ln w="9525">
                  <a:solidFill>
                    <a:schemeClr val="bg1"/>
                  </a:solidFill>
                  <a:prstDash val="solid"/>
                </a:ln>
                <a:solidFill>
                  <a:schemeClr val="tx1"/>
                </a:solidFill>
                <a:effectLst>
                  <a:outerShdw blurRad="12700" dist="38100" dir="2700000" algn="tl" rotWithShape="0">
                    <a:schemeClr val="bg1">
                      <a:lumMod val="50000"/>
                    </a:schemeClr>
                  </a:outerShdw>
                </a:effectLst>
                <a:uLnTx/>
                <a:uFillTx/>
                <a:latin typeface="Arial" panose="020B0604020202020204" pitchFamily="34" charset="0"/>
                <a:ea typeface="宋体" panose="02010600030101010101" pitchFamily="2" charset="-122"/>
                <a:cs typeface="+mn-cs"/>
              </a:rPr>
              <a:t>=4GB</a:t>
            </a:r>
            <a:endParaRPr kumimoji="0" lang="zh-CN" altLang="en-US" sz="5400" b="1" i="0" u="none" strike="noStrike" kern="1200" cap="none" spc="0" normalizeH="0" baseline="0" noProof="0" dirty="0">
              <a:ln w="9525">
                <a:solidFill>
                  <a:schemeClr val="bg1"/>
                </a:solidFill>
                <a:prstDash val="solid"/>
              </a:ln>
              <a:solidFill>
                <a:schemeClr val="tx1"/>
              </a:solidFill>
              <a:effectLst>
                <a:outerShdw blurRad="12700" dist="38100" dir="2700000" algn="tl" rotWithShape="0">
                  <a:schemeClr val="bg1">
                    <a:lumMod val="50000"/>
                  </a:schemeClr>
                </a:outerShdw>
              </a:effectLst>
              <a:uLnTx/>
              <a:uFillTx/>
              <a:latin typeface="Arial" panose="020B0604020202020204" pitchFamily="34" charset="0"/>
              <a:ea typeface="宋体" panose="02010600030101010101" pitchFamily="2" charset="-122"/>
              <a:cs typeface="+mn-cs"/>
            </a:endParaRPr>
          </a:p>
        </p:txBody>
      </p:sp>
      <p:graphicFrame>
        <p:nvGraphicFramePr>
          <p:cNvPr id="36870" name="表格 36869"/>
          <p:cNvGraphicFramePr/>
          <p:nvPr/>
        </p:nvGraphicFramePr>
        <p:xfrm>
          <a:off x="4572000" y="842963"/>
          <a:ext cx="3657600" cy="3656013"/>
        </p:xfrm>
        <a:graphic>
          <a:graphicData uri="http://schemas.openxmlformats.org/drawingml/2006/table">
            <a:tbl>
              <a:tblPr/>
              <a:tblGrid>
                <a:gridCol w="3657600"/>
              </a:tblGrid>
              <a:tr h="457200">
                <a:tc>
                  <a:txBody>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buNone/>
                      </a:pPr>
                      <a:r>
                        <a:rPr lang="en-US" altLang="zh-CN" sz="1800" dirty="0">
                          <a:solidFill>
                            <a:srgbClr val="000000"/>
                          </a:solidFill>
                          <a:latin typeface="微软雅黑" panose="020B0503020204020204" pitchFamily="34" charset="-122"/>
                          <a:ea typeface="微软雅黑" panose="020B0503020204020204" pitchFamily="34" charset="-122"/>
                        </a:rPr>
                        <a:t>512MB Block 0   Code</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L="91459" marR="91459" marT="45710" marB="45710" anchor="ctr" anchorCtr="0">
                    <a:lnL cap="flat">
                      <a:noFill/>
                    </a:lnL>
                    <a:lnR cap="flat">
                      <a:noFill/>
                    </a:lnR>
                    <a:lnT cap="flat">
                      <a:noFill/>
                    </a:lnT>
                    <a:lnB cap="flat">
                      <a:noFill/>
                    </a:lnB>
                    <a:lnTlToBr>
                      <a:noFill/>
                    </a:lnTlToBr>
                    <a:lnBlToTr>
                      <a:noFill/>
                    </a:lnBlToTr>
                    <a:pattFill prst="pct90">
                      <a:fgClr>
                        <a:srgbClr val="F89D24"/>
                      </a:fgClr>
                      <a:bgClr>
                        <a:schemeClr val="bg1"/>
                      </a:bgClr>
                    </a:pattFill>
                  </a:tcPr>
                </a:tc>
              </a:tr>
              <a:tr h="457200">
                <a:tc>
                  <a:txBody>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buSzTx/>
                        <a:buNone/>
                      </a:pPr>
                      <a:r>
                        <a:rPr lang="en-US" altLang="zh-CN" sz="1800" dirty="0">
                          <a:solidFill>
                            <a:srgbClr val="000000"/>
                          </a:solidFill>
                          <a:latin typeface="微软雅黑" panose="020B0503020204020204" pitchFamily="34" charset="-122"/>
                          <a:ea typeface="微软雅黑" panose="020B0503020204020204" pitchFamily="34" charset="-122"/>
                        </a:rPr>
                        <a:t>512MB Block 1   SRAM</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L="91459" marR="91459" marT="45710" marB="45710" anchor="ctr" anchorCtr="0">
                    <a:lnL cap="flat">
                      <a:noFill/>
                    </a:lnL>
                    <a:lnR cap="flat">
                      <a:noFill/>
                    </a:lnR>
                    <a:lnT cap="flat">
                      <a:noFill/>
                    </a:lnT>
                    <a:lnB cap="flat">
                      <a:noFill/>
                    </a:lnB>
                    <a:lnTlToBr>
                      <a:noFill/>
                    </a:lnTlToBr>
                    <a:lnBlToTr>
                      <a:noFill/>
                    </a:lnBlToTr>
                    <a:pattFill prst="ltVert">
                      <a:fgClr>
                        <a:srgbClr val="F5ECA4"/>
                      </a:fgClr>
                      <a:bgClr>
                        <a:schemeClr val="bg1"/>
                      </a:bgClr>
                    </a:pattFill>
                  </a:tcPr>
                </a:tc>
              </a:tr>
              <a:tr h="457200">
                <a:tc>
                  <a:txBody>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buNone/>
                      </a:pPr>
                      <a:r>
                        <a:rPr lang="en-US" altLang="zh-CN" sz="1800" dirty="0">
                          <a:solidFill>
                            <a:srgbClr val="000000"/>
                          </a:solidFill>
                          <a:latin typeface="微软雅黑" panose="020B0503020204020204" pitchFamily="34" charset="-122"/>
                          <a:ea typeface="微软雅黑" panose="020B0503020204020204" pitchFamily="34" charset="-122"/>
                        </a:rPr>
                        <a:t>512MB Block 2   Peripherals</a:t>
                      </a:r>
                      <a:endParaRPr lang="zh-CN" altLang="en-US" sz="1800" b="1" dirty="0">
                        <a:solidFill>
                          <a:srgbClr val="000000"/>
                        </a:solidFill>
                        <a:latin typeface="微软雅黑" panose="020B0503020204020204" pitchFamily="34" charset="-122"/>
                        <a:ea typeface="微软雅黑" panose="020B0503020204020204" pitchFamily="34" charset="-122"/>
                      </a:endParaRPr>
                    </a:p>
                  </a:txBody>
                  <a:tcPr marL="91459" marR="91459" marT="45710" marB="45710" anchor="ctr" anchorCtr="0">
                    <a:lnL cap="flat">
                      <a:noFill/>
                    </a:lnL>
                    <a:lnR cap="flat">
                      <a:noFill/>
                    </a:lnR>
                    <a:lnT cap="flat">
                      <a:noFill/>
                    </a:lnT>
                    <a:lnB cap="flat">
                      <a:noFill/>
                    </a:lnB>
                    <a:lnTlToBr>
                      <a:noFill/>
                    </a:lnTlToBr>
                    <a:lnBlToTr>
                      <a:noFill/>
                    </a:lnBlToTr>
                    <a:pattFill prst="pct90">
                      <a:fgClr>
                        <a:srgbClr val="F89D24"/>
                      </a:fgClr>
                      <a:bgClr>
                        <a:schemeClr val="bg1"/>
                      </a:bgClr>
                    </a:pattFill>
                  </a:tcPr>
                </a:tc>
              </a:tr>
              <a:tr h="457200">
                <a:tc>
                  <a:txBody>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buNone/>
                      </a:pPr>
                      <a:r>
                        <a:rPr lang="en-US" altLang="zh-CN" sz="1800" dirty="0">
                          <a:solidFill>
                            <a:srgbClr val="000000"/>
                          </a:solidFill>
                          <a:latin typeface="微软雅黑" panose="020B0503020204020204" pitchFamily="34" charset="-122"/>
                          <a:ea typeface="微软雅黑" panose="020B0503020204020204" pitchFamily="34" charset="-122"/>
                        </a:rPr>
                        <a:t>512MB Block 3   FSMC Bank1,2</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L="91459" marR="91459" marT="45710" marB="45710" anchor="ctr" anchorCtr="0">
                    <a:lnL cap="flat">
                      <a:noFill/>
                    </a:lnL>
                    <a:lnR cap="flat">
                      <a:noFill/>
                    </a:lnR>
                    <a:lnT cap="flat">
                      <a:noFill/>
                    </a:lnT>
                    <a:lnB cap="flat">
                      <a:noFill/>
                    </a:lnB>
                    <a:lnTlToBr>
                      <a:noFill/>
                    </a:lnTlToBr>
                    <a:lnBlToTr>
                      <a:noFill/>
                    </a:lnBlToTr>
                    <a:pattFill prst="ltVert">
                      <a:fgClr>
                        <a:srgbClr val="F5ECA4"/>
                      </a:fgClr>
                      <a:bgClr>
                        <a:schemeClr val="bg1"/>
                      </a:bgClr>
                    </a:pattFill>
                  </a:tcPr>
                </a:tc>
              </a:tr>
              <a:tr h="455613">
                <a:tc>
                  <a:txBody>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buNone/>
                      </a:pPr>
                      <a:r>
                        <a:rPr lang="en-US" altLang="zh-CN" sz="1800" dirty="0">
                          <a:solidFill>
                            <a:srgbClr val="000000"/>
                          </a:solidFill>
                          <a:latin typeface="微软雅黑" panose="020B0503020204020204" pitchFamily="34" charset="-122"/>
                          <a:ea typeface="微软雅黑" panose="020B0503020204020204" pitchFamily="34" charset="-122"/>
                        </a:rPr>
                        <a:t>512MB Block 4   FSMC Bank3,4</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L="91459" marR="91459" marT="45710" marB="45710" anchor="ctr" anchorCtr="0">
                    <a:lnL cap="flat">
                      <a:noFill/>
                    </a:lnL>
                    <a:lnR cap="flat">
                      <a:noFill/>
                    </a:lnR>
                    <a:lnT cap="flat">
                      <a:noFill/>
                    </a:lnT>
                    <a:lnB cap="flat">
                      <a:noFill/>
                    </a:lnB>
                    <a:lnTlToBr>
                      <a:noFill/>
                    </a:lnTlToBr>
                    <a:lnBlToTr>
                      <a:noFill/>
                    </a:lnBlToTr>
                    <a:pattFill prst="pct90">
                      <a:fgClr>
                        <a:srgbClr val="F89D24"/>
                      </a:fgClr>
                      <a:bgClr>
                        <a:schemeClr val="bg1"/>
                      </a:bgClr>
                    </a:pattFill>
                  </a:tcPr>
                </a:tc>
              </a:tr>
              <a:tr h="457200">
                <a:tc>
                  <a:txBody>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buNone/>
                      </a:pPr>
                      <a:r>
                        <a:rPr lang="en-US" altLang="zh-CN" sz="1800" dirty="0">
                          <a:solidFill>
                            <a:srgbClr val="000000"/>
                          </a:solidFill>
                          <a:latin typeface="微软雅黑" panose="020B0503020204020204" pitchFamily="34" charset="-122"/>
                          <a:ea typeface="微软雅黑" panose="020B0503020204020204" pitchFamily="34" charset="-122"/>
                        </a:rPr>
                        <a:t>512MB Block 5   FSMC Register</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L="91459" marR="91459" marT="45710" marB="45710" anchor="ctr" anchorCtr="0">
                    <a:lnL cap="flat">
                      <a:noFill/>
                    </a:lnL>
                    <a:lnR cap="flat">
                      <a:noFill/>
                    </a:lnR>
                    <a:lnT cap="flat">
                      <a:noFill/>
                    </a:lnT>
                    <a:lnB cap="flat">
                      <a:noFill/>
                    </a:lnB>
                    <a:lnTlToBr>
                      <a:noFill/>
                    </a:lnTlToBr>
                    <a:lnBlToTr>
                      <a:noFill/>
                    </a:lnBlToTr>
                    <a:pattFill prst="ltVert">
                      <a:fgClr>
                        <a:srgbClr val="F4F3D2"/>
                      </a:fgClr>
                      <a:bgClr>
                        <a:schemeClr val="bg1"/>
                      </a:bgClr>
                    </a:pattFill>
                  </a:tcPr>
                </a:tc>
              </a:tr>
              <a:tr h="457200">
                <a:tc>
                  <a:txBody>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buNone/>
                      </a:pPr>
                      <a:r>
                        <a:rPr lang="en-US" altLang="zh-CN" sz="1800" dirty="0">
                          <a:solidFill>
                            <a:srgbClr val="000000"/>
                          </a:solidFill>
                          <a:latin typeface="微软雅黑" panose="020B0503020204020204" pitchFamily="34" charset="-122"/>
                          <a:ea typeface="微软雅黑" panose="020B0503020204020204" pitchFamily="34" charset="-122"/>
                        </a:rPr>
                        <a:t>512MB Block 6   Not Used</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L="91459" marR="91459" marT="45710" marB="45710" anchor="ctr" anchorCtr="0">
                    <a:lnL cap="flat">
                      <a:noFill/>
                    </a:lnL>
                    <a:lnR cap="flat">
                      <a:noFill/>
                    </a:lnR>
                    <a:lnT cap="flat">
                      <a:noFill/>
                    </a:lnT>
                    <a:lnB cap="flat">
                      <a:noFill/>
                    </a:lnB>
                    <a:lnTlToBr>
                      <a:noFill/>
                    </a:lnTlToBr>
                    <a:lnBlToTr>
                      <a:noFill/>
                    </a:lnBlToTr>
                    <a:pattFill prst="pct90">
                      <a:fgClr>
                        <a:srgbClr val="F89D24"/>
                      </a:fgClr>
                      <a:bgClr>
                        <a:schemeClr val="bg1"/>
                      </a:bgClr>
                    </a:pattFill>
                  </a:tcPr>
                </a:tc>
              </a:tr>
              <a:tr h="457200">
                <a:tc>
                  <a:txBody>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buNone/>
                      </a:pPr>
                      <a:r>
                        <a:rPr lang="en-US" altLang="zh-CN" sz="1800" dirty="0">
                          <a:solidFill>
                            <a:srgbClr val="000000"/>
                          </a:solidFill>
                          <a:latin typeface="微软雅黑" panose="020B0503020204020204" pitchFamily="34" charset="-122"/>
                          <a:ea typeface="微软雅黑" panose="020B0503020204020204" pitchFamily="34" charset="-122"/>
                        </a:rPr>
                        <a:t>512MB Block 7   </a:t>
                      </a:r>
                      <a:r>
                        <a:rPr lang="en-US" altLang="zh-CN" sz="1800" dirty="0" err="1">
                          <a:solidFill>
                            <a:srgbClr val="000000"/>
                          </a:solidFill>
                          <a:latin typeface="微软雅黑" panose="020B0503020204020204" pitchFamily="34" charset="-122"/>
                          <a:ea typeface="微软雅黑" panose="020B0503020204020204" pitchFamily="34" charset="-122"/>
                        </a:rPr>
                        <a:t>Interal</a:t>
                      </a:r>
                      <a:r>
                        <a:rPr lang="en-US" altLang="zh-CN" sz="1800" dirty="0">
                          <a:solidFill>
                            <a:srgbClr val="000000"/>
                          </a:solidFill>
                          <a:latin typeface="微软雅黑" panose="020B0503020204020204" pitchFamily="34" charset="-122"/>
                          <a:ea typeface="微软雅黑" panose="020B0503020204020204" pitchFamily="34" charset="-122"/>
                        </a:rPr>
                        <a:t> </a:t>
                      </a:r>
                      <a:r>
                        <a:rPr lang="en-US" altLang="zh-CN" sz="1800" dirty="0" err="1">
                          <a:solidFill>
                            <a:srgbClr val="000000"/>
                          </a:solidFill>
                          <a:latin typeface="微软雅黑" panose="020B0503020204020204" pitchFamily="34" charset="-122"/>
                          <a:ea typeface="微软雅黑" panose="020B0503020204020204" pitchFamily="34" charset="-122"/>
                        </a:rPr>
                        <a:t>Periph</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L="91459" marR="91459" marT="45710" marB="45710" anchor="ctr" anchorCtr="0">
                    <a:lnL cap="flat">
                      <a:noFill/>
                    </a:lnL>
                    <a:lnR cap="flat">
                      <a:noFill/>
                    </a:lnR>
                    <a:lnT cap="flat">
                      <a:noFill/>
                    </a:lnT>
                    <a:lnB cap="flat">
                      <a:noFill/>
                    </a:lnB>
                    <a:lnTlToBr>
                      <a:noFill/>
                    </a:lnTlToBr>
                    <a:lnBlToTr>
                      <a:noFill/>
                    </a:lnBlToTr>
                    <a:pattFill prst="ltVert">
                      <a:fgClr>
                        <a:srgbClr val="F4F3D2"/>
                      </a:fgClr>
                      <a:bgClr>
                        <a:schemeClr val="bg1"/>
                      </a:bgClr>
                    </a:pattFill>
                  </a:tcPr>
                </a:tc>
              </a:tr>
            </a:tbl>
          </a:graphicData>
        </a:graphic>
      </p:graphicFrame>
      <p:sp>
        <p:nvSpPr>
          <p:cNvPr id="2" name="箭头: 右 1"/>
          <p:cNvSpPr/>
          <p:nvPr/>
        </p:nvSpPr>
        <p:spPr>
          <a:xfrm>
            <a:off x="3413125" y="2414588"/>
            <a:ext cx="1008063" cy="638175"/>
          </a:xfrm>
          <a:prstGeom prst="rightArrow">
            <a:avLst>
              <a:gd name="adj1" fmla="val 50000"/>
              <a:gd name="adj2" fmla="val 50057"/>
            </a:avLst>
          </a:prstGeom>
          <a:solidFill>
            <a:srgbClr val="F89D24"/>
          </a:solidFill>
          <a:ln w="9525" cap="flat" cmpd="sng">
            <a:solidFill>
              <a:srgbClr val="F89D24"/>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sym typeface="Bodoni MT" panose="020706030806060202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6" presetClass="entr" presetSubtype="16" fill="hold" nodeType="afterEffect">
                                  <p:stCondLst>
                                    <p:cond delay="500"/>
                                  </p:stCondLst>
                                  <p:childTnLst>
                                    <p:set>
                                      <p:cBhvr>
                                        <p:cTn id="10" dur="1" fill="hold">
                                          <p:stCondLst>
                                            <p:cond delay="0"/>
                                          </p:stCondLst>
                                        </p:cTn>
                                        <p:tgtEl>
                                          <p:spTgt spid="36870"/>
                                        </p:tgtEl>
                                        <p:attrNameLst>
                                          <p:attrName>style.visibility</p:attrName>
                                        </p:attrNameLst>
                                      </p:cBhvr>
                                      <p:to>
                                        <p:strVal val="visible"/>
                                      </p:to>
                                    </p:set>
                                    <p:animEffect transition="in" filter="circle(in)">
                                      <p:cBhvr>
                                        <p:cTn id="11" dur="500"/>
                                        <p:tgtEl>
                                          <p:spTgt spid="368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圆角矩形 5"/>
          <p:cNvSpPr>
            <a:spLocks noChangeArrowheads="1"/>
          </p:cNvSpPr>
          <p:nvPr/>
        </p:nvSpPr>
        <p:spPr bwMode="auto">
          <a:xfrm>
            <a:off x="260350" y="439738"/>
            <a:ext cx="8623300" cy="4462463"/>
          </a:xfrm>
          <a:prstGeom prst="roundRect">
            <a:avLst>
              <a:gd name="adj" fmla="val 16667"/>
            </a:avLst>
          </a:prstGeom>
          <a:gradFill>
            <a:gsLst>
              <a:gs pos="0">
                <a:schemeClr val="accent1">
                  <a:lumMod val="5000"/>
                  <a:lumOff val="95000"/>
                </a:schemeClr>
              </a:gs>
              <a:gs pos="90000">
                <a:srgbClr val="F4F3D2"/>
              </a:gs>
            </a:gsLst>
            <a:lin ang="2700000" scaled="1"/>
          </a:gradFill>
          <a:ln w="47625">
            <a:solidFill>
              <a:srgbClr val="FC6C02"/>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useBgFill="1">
        <p:nvSpPr>
          <p:cNvPr id="12" name="矩形 11"/>
          <p:cNvSpPr/>
          <p:nvPr/>
        </p:nvSpPr>
        <p:spPr>
          <a:xfrm>
            <a:off x="717549" y="121918"/>
            <a:ext cx="2847255" cy="584771"/>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存储器</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20" name="左大括号 19"/>
          <p:cNvSpPr/>
          <p:nvPr/>
        </p:nvSpPr>
        <p:spPr bwMode="auto">
          <a:xfrm>
            <a:off x="3192463" y="962025"/>
            <a:ext cx="576263" cy="3417888"/>
          </a:xfrm>
          <a:prstGeom prst="leftBrace">
            <a:avLst/>
          </a:prstGeom>
          <a:noFill/>
          <a:ln w="38100" cap="flat" cmpd="sng" algn="ctr">
            <a:solidFill>
              <a:srgbClr val="FC6C02"/>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solidFill>
                  <a:srgbClr val="FC6C02"/>
                </a:solid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1" name="流程图: 可选过程 20"/>
          <p:cNvSpPr/>
          <p:nvPr/>
        </p:nvSpPr>
        <p:spPr bwMode="auto">
          <a:xfrm>
            <a:off x="915166" y="1947904"/>
            <a:ext cx="1910234" cy="1342840"/>
          </a:xfrm>
          <a:prstGeom prst="flowChartAlternateProcess">
            <a:avLst/>
          </a:prstGeom>
          <a:solidFill>
            <a:srgbClr val="FC6C02"/>
          </a:solidFill>
          <a:ln w="9525" cap="flat" cmpd="sng" algn="ctr">
            <a:solidFill>
              <a:srgbClr val="FC6C02"/>
            </a:solidFill>
            <a:prstDash val="solid"/>
            <a:round/>
            <a:headEnd type="none" w="med" len="med"/>
            <a:tailEnd type="none" w="med" len="med"/>
          </a:ln>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solidFill>
                    <a:schemeClr val="bg1"/>
                  </a:solidFill>
                </a:ln>
                <a:solidFill>
                  <a:schemeClr val="bg1"/>
                </a:solidFill>
                <a:effectLst/>
                <a:uLnTx/>
                <a:uFillTx/>
                <a:latin typeface="+mn-ea"/>
                <a:ea typeface="+mn-ea"/>
                <a:cs typeface="+mn-cs"/>
              </a:rPr>
              <a:t>512MB Block 0</a:t>
            </a:r>
            <a:endParaRPr kumimoji="0" lang="en-US" altLang="zh-CN" sz="2400" b="1" i="0" u="none" strike="noStrike" kern="1200" cap="none" spc="0" normalizeH="0" baseline="0" noProof="0" dirty="0">
              <a:ln>
                <a:solidFill>
                  <a:schemeClr val="bg1"/>
                </a:solidFill>
              </a:ln>
              <a:solidFill>
                <a:schemeClr val="bg1"/>
              </a:solidFill>
              <a:effectLst/>
              <a:uLnTx/>
              <a:uFillTx/>
              <a:latin typeface="+mn-ea"/>
              <a:ea typeface="+mn-ea"/>
              <a:cs typeface="+mn-cs"/>
            </a:endParaRP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solidFill>
                    <a:schemeClr val="bg1"/>
                  </a:solidFill>
                </a:ln>
                <a:solidFill>
                  <a:schemeClr val="bg1"/>
                </a:solidFill>
                <a:effectLst/>
                <a:uLnTx/>
                <a:uFillTx/>
                <a:latin typeface="+mn-ea"/>
                <a:ea typeface="+mn-ea"/>
                <a:cs typeface="+mn-cs"/>
              </a:rPr>
              <a:t>Code</a:t>
            </a:r>
            <a:endParaRPr kumimoji="0" lang="zh-CN" altLang="en-US" sz="2400" b="1" i="0" u="none" strike="noStrike" kern="1200" cap="none" spc="0" normalizeH="0" baseline="0" noProof="0" dirty="0">
              <a:ln>
                <a:solidFill>
                  <a:schemeClr val="bg1"/>
                </a:solidFill>
              </a:ln>
              <a:solidFill>
                <a:schemeClr val="bg1"/>
              </a:solidFill>
              <a:effectLst/>
              <a:uLnTx/>
              <a:uFillTx/>
              <a:latin typeface="+mn-ea"/>
              <a:ea typeface="+mn-ea"/>
              <a:cs typeface="+mn-cs"/>
            </a:endParaRPr>
          </a:p>
        </p:txBody>
      </p:sp>
      <p:sp>
        <p:nvSpPr>
          <p:cNvPr id="24" name="流程图: 可选过程 23"/>
          <p:cNvSpPr/>
          <p:nvPr/>
        </p:nvSpPr>
        <p:spPr>
          <a:xfrm>
            <a:off x="4572000" y="743332"/>
            <a:ext cx="2592288" cy="576064"/>
          </a:xfrm>
          <a:prstGeom prst="flowChartAlternateProcess">
            <a:avLst/>
          </a:prstGeom>
          <a:gradFill flip="none" rotWithShape="1">
            <a:gsLst>
              <a:gs pos="0">
                <a:srgbClr val="FF0000"/>
              </a:gs>
              <a:gs pos="64000">
                <a:srgbClr val="F89D24"/>
              </a:gs>
            </a:gsLst>
            <a:path path="circle">
              <a:fillToRect l="100000" b="100000"/>
            </a:path>
            <a:tileRect t="-100000" r="-100000"/>
          </a:gradFill>
          <a:ln>
            <a:solidFill>
              <a:srgbClr val="FC6C0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dirty="0">
                <a:ln>
                  <a:noFill/>
                </a:ln>
                <a:solidFill>
                  <a:schemeClr val="lt1"/>
                </a:solidFill>
                <a:effectLst/>
                <a:uLnTx/>
                <a:uFillTx/>
                <a:latin typeface="+mn-lt"/>
                <a:ea typeface="+mn-ea"/>
                <a:cs typeface="+mn-cs"/>
              </a:rPr>
              <a:t>用户选项字节</a:t>
            </a:r>
            <a:r>
              <a:rPr kumimoji="0" lang="en-US" altLang="zh-CN" sz="2400" b="1" i="0" u="none" strike="noStrike" kern="1200" cap="none" spc="0" normalizeH="0" baseline="0" noProof="0" dirty="0">
                <a:ln>
                  <a:noFill/>
                </a:ln>
                <a:solidFill>
                  <a:schemeClr val="lt1"/>
                </a:solidFill>
                <a:effectLst/>
                <a:uLnTx/>
                <a:uFillTx/>
                <a:latin typeface="+mn-lt"/>
                <a:ea typeface="+mn-ea"/>
                <a:cs typeface="+mn-cs"/>
              </a:rPr>
              <a:t>16B</a:t>
            </a:r>
            <a:endParaRPr kumimoji="0" lang="zh-CN" altLang="en-US" sz="2400" b="1" i="0" u="none" strike="noStrike" kern="1200" cap="none" spc="0" normalizeH="0" baseline="0" noProof="0" dirty="0">
              <a:ln>
                <a:noFill/>
              </a:ln>
              <a:solidFill>
                <a:schemeClr val="lt1"/>
              </a:solidFill>
              <a:effectLst/>
              <a:uLnTx/>
              <a:uFillTx/>
              <a:latin typeface="+mn-lt"/>
              <a:ea typeface="+mn-ea"/>
              <a:cs typeface="+mn-cs"/>
            </a:endParaRPr>
          </a:p>
        </p:txBody>
      </p:sp>
      <p:sp>
        <p:nvSpPr>
          <p:cNvPr id="26" name="流程图: 可选过程 25"/>
          <p:cNvSpPr/>
          <p:nvPr/>
        </p:nvSpPr>
        <p:spPr>
          <a:xfrm>
            <a:off x="4572000" y="1371841"/>
            <a:ext cx="2592288" cy="576064"/>
          </a:xfrm>
          <a:prstGeom prst="flowChartAlternateProcess">
            <a:avLst/>
          </a:prstGeom>
          <a:gradFill flip="none" rotWithShape="1">
            <a:gsLst>
              <a:gs pos="0">
                <a:srgbClr val="FF0000"/>
              </a:gs>
              <a:gs pos="64000">
                <a:srgbClr val="F89D24"/>
              </a:gs>
            </a:gsLst>
            <a:path path="circle">
              <a:fillToRect l="100000" b="100000"/>
            </a:path>
            <a:tileRect t="-100000" r="-100000"/>
          </a:gradFill>
          <a:ln>
            <a:solidFill>
              <a:srgbClr val="FC6C0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dirty="0">
                <a:ln>
                  <a:noFill/>
                </a:ln>
                <a:solidFill>
                  <a:schemeClr val="lt1"/>
                </a:solidFill>
                <a:effectLst/>
                <a:uLnTx/>
                <a:uFillTx/>
                <a:latin typeface="+mn-lt"/>
                <a:ea typeface="+mn-ea"/>
                <a:cs typeface="+mn-cs"/>
              </a:rPr>
              <a:t>系统存储器 </a:t>
            </a:r>
            <a:r>
              <a:rPr kumimoji="0" lang="en-US" altLang="zh-CN" sz="2400" b="1" i="0" u="none" strike="noStrike" kern="1200" cap="none" spc="0" normalizeH="0" baseline="0" noProof="0" dirty="0">
                <a:ln>
                  <a:noFill/>
                </a:ln>
                <a:solidFill>
                  <a:schemeClr val="lt1"/>
                </a:solidFill>
                <a:effectLst/>
                <a:uLnTx/>
                <a:uFillTx/>
                <a:latin typeface="+mn-lt"/>
                <a:ea typeface="+mn-ea"/>
                <a:cs typeface="+mn-cs"/>
              </a:rPr>
              <a:t>2KB</a:t>
            </a:r>
            <a:endParaRPr kumimoji="0" lang="zh-CN" altLang="en-US" sz="2400" b="1" i="0" u="none" strike="noStrike" kern="1200" cap="none" spc="0" normalizeH="0" baseline="0" noProof="0" dirty="0">
              <a:ln>
                <a:noFill/>
              </a:ln>
              <a:solidFill>
                <a:schemeClr val="lt1"/>
              </a:solidFill>
              <a:effectLst/>
              <a:uLnTx/>
              <a:uFillTx/>
              <a:latin typeface="+mn-lt"/>
              <a:ea typeface="+mn-ea"/>
              <a:cs typeface="+mn-cs"/>
            </a:endParaRPr>
          </a:p>
        </p:txBody>
      </p:sp>
      <p:sp>
        <p:nvSpPr>
          <p:cNvPr id="27" name="流程图: 可选过程 26"/>
          <p:cNvSpPr/>
          <p:nvPr/>
        </p:nvSpPr>
        <p:spPr>
          <a:xfrm>
            <a:off x="4572000" y="2004969"/>
            <a:ext cx="2592288" cy="576064"/>
          </a:xfrm>
          <a:prstGeom prst="flowChartAlternateProcess">
            <a:avLst/>
          </a:prstGeom>
          <a:gradFill flip="none" rotWithShape="1">
            <a:gsLst>
              <a:gs pos="0">
                <a:srgbClr val="FF0000"/>
              </a:gs>
              <a:gs pos="64000">
                <a:srgbClr val="F89D24"/>
              </a:gs>
            </a:gsLst>
            <a:path path="circle">
              <a:fillToRect l="100000" b="100000"/>
            </a:path>
            <a:tileRect t="-100000" r="-100000"/>
          </a:gradFill>
          <a:ln>
            <a:solidFill>
              <a:srgbClr val="FC6C0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dirty="0">
                <a:ln>
                  <a:noFill/>
                </a:ln>
                <a:solidFill>
                  <a:schemeClr val="lt1"/>
                </a:solidFill>
                <a:effectLst/>
                <a:uLnTx/>
                <a:uFillTx/>
                <a:latin typeface="+mn-lt"/>
                <a:ea typeface="+mn-ea"/>
                <a:cs typeface="+mn-cs"/>
              </a:rPr>
              <a:t>保留区</a:t>
            </a:r>
            <a:endParaRPr kumimoji="0" lang="zh-CN" altLang="en-US" sz="2400" b="1" i="0" u="none" strike="noStrike" kern="1200" cap="none" spc="0" normalizeH="0" baseline="0" noProof="0" dirty="0">
              <a:ln>
                <a:noFill/>
              </a:ln>
              <a:solidFill>
                <a:schemeClr val="lt1"/>
              </a:solidFill>
              <a:effectLst/>
              <a:uLnTx/>
              <a:uFillTx/>
              <a:latin typeface="+mn-lt"/>
              <a:ea typeface="+mn-ea"/>
              <a:cs typeface="+mn-cs"/>
            </a:endParaRPr>
          </a:p>
        </p:txBody>
      </p:sp>
      <p:sp>
        <p:nvSpPr>
          <p:cNvPr id="28" name="流程图: 可选过程 27"/>
          <p:cNvSpPr/>
          <p:nvPr/>
        </p:nvSpPr>
        <p:spPr>
          <a:xfrm>
            <a:off x="4572000" y="2638096"/>
            <a:ext cx="2592288" cy="576064"/>
          </a:xfrm>
          <a:prstGeom prst="flowChartAlternateProcess">
            <a:avLst/>
          </a:prstGeom>
          <a:gradFill flip="none" rotWithShape="1">
            <a:gsLst>
              <a:gs pos="0">
                <a:srgbClr val="FF0000"/>
              </a:gs>
              <a:gs pos="64000">
                <a:srgbClr val="F89D24"/>
              </a:gs>
            </a:gsLst>
            <a:path path="circle">
              <a:fillToRect l="100000" b="100000"/>
            </a:path>
            <a:tileRect t="-100000" r="-100000"/>
          </a:gradFill>
          <a:ln>
            <a:solidFill>
              <a:srgbClr val="FC6C0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lt1"/>
                </a:solidFill>
                <a:effectLst/>
                <a:uLnTx/>
                <a:uFillTx/>
                <a:latin typeface="+mn-lt"/>
                <a:ea typeface="+mn-ea"/>
                <a:cs typeface="+mn-cs"/>
              </a:rPr>
              <a:t>Flash 512KB</a:t>
            </a:r>
            <a:endParaRPr kumimoji="0" lang="zh-CN" altLang="en-US" sz="2400" b="1" i="0" u="none" strike="noStrike" kern="1200" cap="none" spc="0" normalizeH="0" baseline="0" noProof="0" dirty="0">
              <a:ln>
                <a:noFill/>
              </a:ln>
              <a:solidFill>
                <a:schemeClr val="lt1"/>
              </a:solidFill>
              <a:effectLst/>
              <a:uLnTx/>
              <a:uFillTx/>
              <a:latin typeface="+mn-lt"/>
              <a:ea typeface="+mn-ea"/>
              <a:cs typeface="+mn-cs"/>
            </a:endParaRPr>
          </a:p>
        </p:txBody>
      </p:sp>
      <p:sp>
        <p:nvSpPr>
          <p:cNvPr id="29" name="流程图: 可选过程 28"/>
          <p:cNvSpPr/>
          <p:nvPr/>
        </p:nvSpPr>
        <p:spPr>
          <a:xfrm>
            <a:off x="4572000" y="3295365"/>
            <a:ext cx="2592288" cy="576064"/>
          </a:xfrm>
          <a:prstGeom prst="flowChartAlternateProcess">
            <a:avLst/>
          </a:prstGeom>
          <a:gradFill flip="none" rotWithShape="1">
            <a:gsLst>
              <a:gs pos="0">
                <a:srgbClr val="FF0000"/>
              </a:gs>
              <a:gs pos="64000">
                <a:srgbClr val="F89D24"/>
              </a:gs>
            </a:gsLst>
            <a:path path="circle">
              <a:fillToRect l="100000" b="100000"/>
            </a:path>
            <a:tileRect t="-100000" r="-100000"/>
          </a:gradFill>
          <a:ln>
            <a:solidFill>
              <a:srgbClr val="FC6C0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dirty="0">
                <a:ln>
                  <a:noFill/>
                </a:ln>
                <a:solidFill>
                  <a:schemeClr val="lt1"/>
                </a:solidFill>
                <a:effectLst/>
                <a:uLnTx/>
                <a:uFillTx/>
                <a:latin typeface="+mn-lt"/>
                <a:ea typeface="+mn-ea"/>
                <a:cs typeface="+mn-cs"/>
              </a:rPr>
              <a:t>保留区</a:t>
            </a:r>
            <a:endParaRPr kumimoji="0" lang="zh-CN" altLang="en-US" sz="2400" b="1" i="0" u="none" strike="noStrike" kern="1200" cap="none" spc="0" normalizeH="0" baseline="0" noProof="0" dirty="0">
              <a:ln>
                <a:noFill/>
              </a:ln>
              <a:solidFill>
                <a:schemeClr val="lt1"/>
              </a:solidFill>
              <a:effectLst/>
              <a:uLnTx/>
              <a:uFillTx/>
              <a:latin typeface="+mn-lt"/>
              <a:ea typeface="+mn-ea"/>
              <a:cs typeface="+mn-cs"/>
            </a:endParaRPr>
          </a:p>
        </p:txBody>
      </p:sp>
      <p:sp>
        <p:nvSpPr>
          <p:cNvPr id="30" name="流程图: 可选过程 29"/>
          <p:cNvSpPr/>
          <p:nvPr/>
        </p:nvSpPr>
        <p:spPr>
          <a:xfrm>
            <a:off x="4572000" y="3957253"/>
            <a:ext cx="2592288" cy="576064"/>
          </a:xfrm>
          <a:prstGeom prst="flowChartAlternateProcess">
            <a:avLst/>
          </a:prstGeom>
          <a:gradFill flip="none" rotWithShape="1">
            <a:gsLst>
              <a:gs pos="0">
                <a:srgbClr val="FF0000"/>
              </a:gs>
              <a:gs pos="64000">
                <a:srgbClr val="F89D24"/>
              </a:gs>
            </a:gsLst>
            <a:path path="circle">
              <a:fillToRect l="100000" b="100000"/>
            </a:path>
            <a:tileRect t="-100000" r="-100000"/>
          </a:gradFill>
          <a:ln>
            <a:solidFill>
              <a:srgbClr val="FC6C0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0" dirty="0">
                <a:ln>
                  <a:noFill/>
                </a:ln>
                <a:solidFill>
                  <a:schemeClr val="lt1"/>
                </a:solidFill>
                <a:effectLst/>
                <a:uLnTx/>
                <a:uFillTx/>
                <a:latin typeface="+mn-lt"/>
                <a:ea typeface="+mn-ea"/>
                <a:cs typeface="+mn-cs"/>
              </a:rPr>
              <a:t>Flash</a:t>
            </a:r>
            <a:r>
              <a:rPr kumimoji="0" lang="zh-CN" altLang="en-US" sz="1800" b="1" i="0" u="none" strike="noStrike" kern="1200" cap="none" spc="0" normalizeH="0" baseline="0" noProof="0" dirty="0">
                <a:ln>
                  <a:noFill/>
                </a:ln>
                <a:solidFill>
                  <a:schemeClr val="lt1"/>
                </a:solidFill>
                <a:effectLst/>
                <a:uLnTx/>
                <a:uFillTx/>
                <a:latin typeface="+mn-lt"/>
                <a:ea typeface="+mn-ea"/>
                <a:cs typeface="+mn-cs"/>
              </a:rPr>
              <a:t>或系统存储器映射取决于</a:t>
            </a:r>
            <a:r>
              <a:rPr kumimoji="0" lang="en-US" altLang="zh-CN" sz="1800" b="1" i="0" u="none" strike="noStrike" kern="1200" cap="none" spc="0" normalizeH="0" baseline="0" noProof="0" dirty="0">
                <a:ln>
                  <a:noFill/>
                </a:ln>
                <a:solidFill>
                  <a:schemeClr val="lt1"/>
                </a:solidFill>
                <a:effectLst/>
                <a:uLnTx/>
                <a:uFillTx/>
                <a:latin typeface="+mn-lt"/>
                <a:ea typeface="+mn-ea"/>
                <a:cs typeface="+mn-cs"/>
              </a:rPr>
              <a:t>BOOT</a:t>
            </a:r>
            <a:r>
              <a:rPr kumimoji="0" lang="zh-CN" altLang="en-US" sz="1800" b="1" i="0" u="none" strike="noStrike" kern="1200" cap="none" spc="0" normalizeH="0" baseline="0" noProof="0" dirty="0">
                <a:ln>
                  <a:noFill/>
                </a:ln>
                <a:solidFill>
                  <a:schemeClr val="lt1"/>
                </a:solidFill>
                <a:effectLst/>
                <a:uLnTx/>
                <a:uFillTx/>
                <a:latin typeface="+mn-lt"/>
                <a:ea typeface="+mn-ea"/>
                <a:cs typeface="+mn-cs"/>
              </a:rPr>
              <a:t>引脚置</a:t>
            </a:r>
            <a:endParaRPr kumimoji="0" lang="zh-CN" altLang="en-US" sz="1800" b="1" i="0" u="none" strike="noStrike" kern="1200" cap="none" spc="0" normalizeH="0" baseline="0" noProof="0" dirty="0">
              <a:ln>
                <a:noFill/>
              </a:ln>
              <a:solidFill>
                <a:schemeClr val="lt1"/>
              </a:solidFill>
              <a:effectLst/>
              <a:uLnTx/>
              <a:uFillTx/>
              <a:latin typeface="+mn-lt"/>
              <a:ea typeface="+mn-ea"/>
              <a:cs typeface="+mn-cs"/>
            </a:endParaRPr>
          </a:p>
        </p:txBody>
      </p:sp>
      <p:sp>
        <p:nvSpPr>
          <p:cNvPr id="23" name="文本框 22"/>
          <p:cNvSpPr txBox="1"/>
          <p:nvPr/>
        </p:nvSpPr>
        <p:spPr>
          <a:xfrm>
            <a:off x="7150100" y="2886075"/>
            <a:ext cx="1728788" cy="338138"/>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0x0800 0000</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32" name="文本框 31"/>
          <p:cNvSpPr txBox="1"/>
          <p:nvPr/>
        </p:nvSpPr>
        <p:spPr>
          <a:xfrm>
            <a:off x="7154863" y="3919538"/>
            <a:ext cx="1728787" cy="338137"/>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0x0007 FFFF</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33" name="文本框 32"/>
          <p:cNvSpPr txBox="1"/>
          <p:nvPr/>
        </p:nvSpPr>
        <p:spPr>
          <a:xfrm>
            <a:off x="7164388" y="3570288"/>
            <a:ext cx="1728787" cy="338137"/>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0x0008 0000</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34" name="文本框 33"/>
          <p:cNvSpPr txBox="1"/>
          <p:nvPr/>
        </p:nvSpPr>
        <p:spPr>
          <a:xfrm>
            <a:off x="7164388" y="3230563"/>
            <a:ext cx="1728787" cy="338137"/>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0x07FF FFFF</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35" name="文本框 34"/>
          <p:cNvSpPr txBox="1"/>
          <p:nvPr/>
        </p:nvSpPr>
        <p:spPr>
          <a:xfrm>
            <a:off x="7142163" y="2595563"/>
            <a:ext cx="1727200" cy="338137"/>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0x0807 FFFF</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36" name="文本框 35"/>
          <p:cNvSpPr txBox="1"/>
          <p:nvPr/>
        </p:nvSpPr>
        <p:spPr>
          <a:xfrm>
            <a:off x="7159625" y="4241800"/>
            <a:ext cx="1728788" cy="338138"/>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0x0000 0000</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37" name="文本框 36"/>
          <p:cNvSpPr txBox="1"/>
          <p:nvPr/>
        </p:nvSpPr>
        <p:spPr>
          <a:xfrm>
            <a:off x="7154863" y="2297113"/>
            <a:ext cx="1728787" cy="339725"/>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0x0808 0000</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38" name="文本框 37"/>
          <p:cNvSpPr txBox="1"/>
          <p:nvPr/>
        </p:nvSpPr>
        <p:spPr>
          <a:xfrm>
            <a:off x="7142163" y="1944688"/>
            <a:ext cx="1727200" cy="339725"/>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0x1FFF EFFF</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39" name="文本框 38"/>
          <p:cNvSpPr txBox="1"/>
          <p:nvPr/>
        </p:nvSpPr>
        <p:spPr>
          <a:xfrm>
            <a:off x="7142163" y="1616075"/>
            <a:ext cx="1727200" cy="339725"/>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0x1FFF F000</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40" name="文本框 39"/>
          <p:cNvSpPr txBox="1"/>
          <p:nvPr/>
        </p:nvSpPr>
        <p:spPr>
          <a:xfrm>
            <a:off x="7142163" y="1330325"/>
            <a:ext cx="1727200" cy="338138"/>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0x1FFF F7FF</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41" name="文本框 40"/>
          <p:cNvSpPr txBox="1"/>
          <p:nvPr/>
        </p:nvSpPr>
        <p:spPr>
          <a:xfrm>
            <a:off x="7127875" y="1020763"/>
            <a:ext cx="1728788" cy="338137"/>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0x1FFF F800</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42" name="文本框 41"/>
          <p:cNvSpPr txBox="1"/>
          <p:nvPr/>
        </p:nvSpPr>
        <p:spPr>
          <a:xfrm>
            <a:off x="7127875" y="677863"/>
            <a:ext cx="1728788" cy="339725"/>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0x1FFF F80F</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pic>
        <p:nvPicPr>
          <p:cNvPr id="100" name="图片 99"/>
          <p:cNvPicPr/>
          <p:nvPr>
            <p:custDataLst>
              <p:tags r:id="rId1"/>
            </p:custDataLst>
          </p:nvPr>
        </p:nvPicPr>
        <p:blipFill>
          <a:blip r:embed="rId2"/>
          <a:stretch>
            <a:fillRect/>
          </a:stretch>
        </p:blipFill>
        <p:spPr>
          <a:xfrm>
            <a:off x="74930" y="80010"/>
            <a:ext cx="2668270" cy="4822190"/>
          </a:xfrm>
          <a:prstGeom prst="rect">
            <a:avLst/>
          </a:prstGeom>
          <a:noFill/>
          <a:ln w="9525">
            <a:noFill/>
          </a:ln>
        </p:spPr>
      </p:pic>
      <p:pic>
        <p:nvPicPr>
          <p:cNvPr id="4" name="图片 4" descr="IMG_256"/>
          <p:cNvPicPr>
            <a:picLocks noChangeAspect="1"/>
          </p:cNvPicPr>
          <p:nvPr/>
        </p:nvPicPr>
        <p:blipFill>
          <a:blip r:embed="rId3"/>
          <a:stretch>
            <a:fillRect/>
          </a:stretch>
        </p:blipFill>
        <p:spPr>
          <a:xfrm>
            <a:off x="2743835" y="107315"/>
            <a:ext cx="6365240" cy="1275080"/>
          </a:xfrm>
          <a:prstGeom prst="rect">
            <a:avLst/>
          </a:prstGeom>
          <a:noFill/>
          <a:ln w="9525">
            <a:noFill/>
          </a:ln>
        </p:spPr>
      </p:pic>
      <p:pic>
        <p:nvPicPr>
          <p:cNvPr id="5" name="图片 5"/>
          <p:cNvPicPr>
            <a:picLocks noChangeAspect="1"/>
          </p:cNvPicPr>
          <p:nvPr/>
        </p:nvPicPr>
        <p:blipFill>
          <a:blip r:embed="rId4"/>
          <a:stretch>
            <a:fillRect/>
          </a:stretch>
        </p:blipFill>
        <p:spPr>
          <a:xfrm>
            <a:off x="2769235" y="1370330"/>
            <a:ext cx="6374765" cy="98615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wipe(up)">
                                      <p:cBhvr>
                                        <p:cTn id="13" dur="500"/>
                                        <p:tgtEl>
                                          <p:spTgt spid="20"/>
                                        </p:tgtEl>
                                      </p:cBhvr>
                                    </p:animEffect>
                                  </p:childTnLst>
                                </p:cTn>
                              </p:par>
                            </p:childTnLst>
                          </p:cTn>
                        </p:par>
                      </p:childTnLst>
                    </p:cTn>
                  </p:par>
                  <p:par>
                    <p:cTn id="14" fill="hold">
                      <p:stCondLst>
                        <p:cond delay="indefinite"/>
                      </p:stCondLst>
                      <p:childTnLst>
                        <p:par>
                          <p:cTn id="15" fill="hold">
                            <p:stCondLst>
                              <p:cond delay="0"/>
                            </p:stCondLst>
                            <p:childTnLst>
                              <p:par>
                                <p:cTn id="16" presetID="47" presetClass="entr" presetSubtype="0"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500"/>
                                        <p:tgtEl>
                                          <p:spTgt spid="24"/>
                                        </p:tgtEl>
                                      </p:cBhvr>
                                    </p:animEffect>
                                    <p:anim calcmode="lin" valueType="num">
                                      <p:cBhvr>
                                        <p:cTn id="19" dur="500" fill="hold"/>
                                        <p:tgtEl>
                                          <p:spTgt spid="24"/>
                                        </p:tgtEl>
                                        <p:attrNameLst>
                                          <p:attrName>ppt_x</p:attrName>
                                        </p:attrNameLst>
                                      </p:cBhvr>
                                      <p:tavLst>
                                        <p:tav tm="0">
                                          <p:val>
                                            <p:strVal val="#ppt_x"/>
                                          </p:val>
                                        </p:tav>
                                        <p:tav tm="100000">
                                          <p:val>
                                            <p:strVal val="#ppt_x"/>
                                          </p:val>
                                        </p:tav>
                                      </p:tavLst>
                                    </p:anim>
                                    <p:anim calcmode="lin" valueType="num">
                                      <p:cBhvr>
                                        <p:cTn id="20" dur="500" fill="hold"/>
                                        <p:tgtEl>
                                          <p:spTgt spid="24"/>
                                        </p:tgtEl>
                                        <p:attrNameLst>
                                          <p:attrName>ppt_y</p:attrName>
                                        </p:attrNameLst>
                                      </p:cBhvr>
                                      <p:tavLst>
                                        <p:tav tm="0">
                                          <p:val>
                                            <p:strVal val="#ppt_y-.1"/>
                                          </p:val>
                                        </p:tav>
                                        <p:tav tm="100000">
                                          <p:val>
                                            <p:strVal val="#ppt_y"/>
                                          </p:val>
                                        </p:tav>
                                      </p:tavLst>
                                    </p:anim>
                                  </p:childTnLst>
                                </p:cTn>
                              </p:par>
                              <p:par>
                                <p:cTn id="21" presetID="47"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anim calcmode="lin" valueType="num">
                                      <p:cBhvr>
                                        <p:cTn id="24" dur="500" fill="hold"/>
                                        <p:tgtEl>
                                          <p:spTgt spid="26"/>
                                        </p:tgtEl>
                                        <p:attrNameLst>
                                          <p:attrName>ppt_x</p:attrName>
                                        </p:attrNameLst>
                                      </p:cBhvr>
                                      <p:tavLst>
                                        <p:tav tm="0">
                                          <p:val>
                                            <p:strVal val="#ppt_x"/>
                                          </p:val>
                                        </p:tav>
                                        <p:tav tm="100000">
                                          <p:val>
                                            <p:strVal val="#ppt_x"/>
                                          </p:val>
                                        </p:tav>
                                      </p:tavLst>
                                    </p:anim>
                                    <p:anim calcmode="lin" valueType="num">
                                      <p:cBhvr>
                                        <p:cTn id="25" dur="500" fill="hold"/>
                                        <p:tgtEl>
                                          <p:spTgt spid="26"/>
                                        </p:tgtEl>
                                        <p:attrNameLst>
                                          <p:attrName>ppt_y</p:attrName>
                                        </p:attrNameLst>
                                      </p:cBhvr>
                                      <p:tavLst>
                                        <p:tav tm="0">
                                          <p:val>
                                            <p:strVal val="#ppt_y-.1"/>
                                          </p:val>
                                        </p:tav>
                                        <p:tav tm="100000">
                                          <p:val>
                                            <p:strVal val="#ppt_y"/>
                                          </p:val>
                                        </p:tav>
                                      </p:tavLst>
                                    </p:anim>
                                  </p:childTnLst>
                                </p:cTn>
                              </p:par>
                              <p:par>
                                <p:cTn id="26" presetID="47"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anim calcmode="lin" valueType="num">
                                      <p:cBhvr>
                                        <p:cTn id="29" dur="500" fill="hold"/>
                                        <p:tgtEl>
                                          <p:spTgt spid="27"/>
                                        </p:tgtEl>
                                        <p:attrNameLst>
                                          <p:attrName>ppt_x</p:attrName>
                                        </p:attrNameLst>
                                      </p:cBhvr>
                                      <p:tavLst>
                                        <p:tav tm="0">
                                          <p:val>
                                            <p:strVal val="#ppt_x"/>
                                          </p:val>
                                        </p:tav>
                                        <p:tav tm="100000">
                                          <p:val>
                                            <p:strVal val="#ppt_x"/>
                                          </p:val>
                                        </p:tav>
                                      </p:tavLst>
                                    </p:anim>
                                    <p:anim calcmode="lin" valueType="num">
                                      <p:cBhvr>
                                        <p:cTn id="30" dur="500" fill="hold"/>
                                        <p:tgtEl>
                                          <p:spTgt spid="27"/>
                                        </p:tgtEl>
                                        <p:attrNameLst>
                                          <p:attrName>ppt_y</p:attrName>
                                        </p:attrNameLst>
                                      </p:cBhvr>
                                      <p:tavLst>
                                        <p:tav tm="0">
                                          <p:val>
                                            <p:strVal val="#ppt_y-.1"/>
                                          </p:val>
                                        </p:tav>
                                        <p:tav tm="100000">
                                          <p:val>
                                            <p:strVal val="#ppt_y"/>
                                          </p:val>
                                        </p:tav>
                                      </p:tavLst>
                                    </p:anim>
                                  </p:childTnLst>
                                </p:cTn>
                              </p:par>
                              <p:par>
                                <p:cTn id="31" presetID="47" presetClass="entr" presetSubtype="0" fill="hold" nodeType="with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fade">
                                      <p:cBhvr>
                                        <p:cTn id="33" dur="500"/>
                                        <p:tgtEl>
                                          <p:spTgt spid="28"/>
                                        </p:tgtEl>
                                      </p:cBhvr>
                                    </p:animEffect>
                                    <p:anim calcmode="lin" valueType="num">
                                      <p:cBhvr>
                                        <p:cTn id="34" dur="500" fill="hold"/>
                                        <p:tgtEl>
                                          <p:spTgt spid="28"/>
                                        </p:tgtEl>
                                        <p:attrNameLst>
                                          <p:attrName>ppt_x</p:attrName>
                                        </p:attrNameLst>
                                      </p:cBhvr>
                                      <p:tavLst>
                                        <p:tav tm="0">
                                          <p:val>
                                            <p:strVal val="#ppt_x"/>
                                          </p:val>
                                        </p:tav>
                                        <p:tav tm="100000">
                                          <p:val>
                                            <p:strVal val="#ppt_x"/>
                                          </p:val>
                                        </p:tav>
                                      </p:tavLst>
                                    </p:anim>
                                    <p:anim calcmode="lin" valueType="num">
                                      <p:cBhvr>
                                        <p:cTn id="35" dur="500" fill="hold"/>
                                        <p:tgtEl>
                                          <p:spTgt spid="28"/>
                                        </p:tgtEl>
                                        <p:attrNameLst>
                                          <p:attrName>ppt_y</p:attrName>
                                        </p:attrNameLst>
                                      </p:cBhvr>
                                      <p:tavLst>
                                        <p:tav tm="0">
                                          <p:val>
                                            <p:strVal val="#ppt_y-.1"/>
                                          </p:val>
                                        </p:tav>
                                        <p:tav tm="100000">
                                          <p:val>
                                            <p:strVal val="#ppt_y"/>
                                          </p:val>
                                        </p:tav>
                                      </p:tavLst>
                                    </p:anim>
                                  </p:childTnLst>
                                </p:cTn>
                              </p:par>
                              <p:par>
                                <p:cTn id="36" presetID="47" presetClass="entr" presetSubtype="0" fill="hold" nodeType="with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500"/>
                                        <p:tgtEl>
                                          <p:spTgt spid="29"/>
                                        </p:tgtEl>
                                      </p:cBhvr>
                                    </p:animEffect>
                                    <p:anim calcmode="lin" valueType="num">
                                      <p:cBhvr>
                                        <p:cTn id="39" dur="500" fill="hold"/>
                                        <p:tgtEl>
                                          <p:spTgt spid="29"/>
                                        </p:tgtEl>
                                        <p:attrNameLst>
                                          <p:attrName>ppt_x</p:attrName>
                                        </p:attrNameLst>
                                      </p:cBhvr>
                                      <p:tavLst>
                                        <p:tav tm="0">
                                          <p:val>
                                            <p:strVal val="#ppt_x"/>
                                          </p:val>
                                        </p:tav>
                                        <p:tav tm="100000">
                                          <p:val>
                                            <p:strVal val="#ppt_x"/>
                                          </p:val>
                                        </p:tav>
                                      </p:tavLst>
                                    </p:anim>
                                    <p:anim calcmode="lin" valueType="num">
                                      <p:cBhvr>
                                        <p:cTn id="40" dur="500" fill="hold"/>
                                        <p:tgtEl>
                                          <p:spTgt spid="29"/>
                                        </p:tgtEl>
                                        <p:attrNameLst>
                                          <p:attrName>ppt_y</p:attrName>
                                        </p:attrNameLst>
                                      </p:cBhvr>
                                      <p:tavLst>
                                        <p:tav tm="0">
                                          <p:val>
                                            <p:strVal val="#ppt_y-.1"/>
                                          </p:val>
                                        </p:tav>
                                        <p:tav tm="100000">
                                          <p:val>
                                            <p:strVal val="#ppt_y"/>
                                          </p:val>
                                        </p:tav>
                                      </p:tavLst>
                                    </p:anim>
                                  </p:childTnLst>
                                </p:cTn>
                              </p:par>
                              <p:par>
                                <p:cTn id="41" presetID="47" presetClass="entr" presetSubtype="0"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fade">
                                      <p:cBhvr>
                                        <p:cTn id="43" dur="500"/>
                                        <p:tgtEl>
                                          <p:spTgt spid="30"/>
                                        </p:tgtEl>
                                      </p:cBhvr>
                                    </p:animEffect>
                                    <p:anim calcmode="lin" valueType="num">
                                      <p:cBhvr>
                                        <p:cTn id="44" dur="500" fill="hold"/>
                                        <p:tgtEl>
                                          <p:spTgt spid="30"/>
                                        </p:tgtEl>
                                        <p:attrNameLst>
                                          <p:attrName>ppt_x</p:attrName>
                                        </p:attrNameLst>
                                      </p:cBhvr>
                                      <p:tavLst>
                                        <p:tav tm="0">
                                          <p:val>
                                            <p:strVal val="#ppt_x"/>
                                          </p:val>
                                        </p:tav>
                                        <p:tav tm="100000">
                                          <p:val>
                                            <p:strVal val="#ppt_x"/>
                                          </p:val>
                                        </p:tav>
                                      </p:tavLst>
                                    </p:anim>
                                    <p:anim calcmode="lin" valueType="num">
                                      <p:cBhvr>
                                        <p:cTn id="45" dur="500" fill="hold"/>
                                        <p:tgtEl>
                                          <p:spTgt spid="30"/>
                                        </p:tgtEl>
                                        <p:attrNameLst>
                                          <p:attrName>ppt_y</p:attrName>
                                        </p:attrNameLst>
                                      </p:cBhvr>
                                      <p:tavLst>
                                        <p:tav tm="0">
                                          <p:val>
                                            <p:strVal val="#ppt_y-.1"/>
                                          </p:val>
                                        </p:tav>
                                        <p:tav tm="100000">
                                          <p:val>
                                            <p:strVal val="#ppt_y"/>
                                          </p:val>
                                        </p:tav>
                                      </p:tavLst>
                                    </p:anim>
                                  </p:childTnLst>
                                </p:cTn>
                              </p:par>
                              <p:par>
                                <p:cTn id="46" presetID="47" presetClass="entr" presetSubtype="0"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anim calcmode="lin" valueType="num">
                                      <p:cBhvr>
                                        <p:cTn id="49" dur="500" fill="hold"/>
                                        <p:tgtEl>
                                          <p:spTgt spid="23"/>
                                        </p:tgtEl>
                                        <p:attrNameLst>
                                          <p:attrName>ppt_x</p:attrName>
                                        </p:attrNameLst>
                                      </p:cBhvr>
                                      <p:tavLst>
                                        <p:tav tm="0">
                                          <p:val>
                                            <p:strVal val="#ppt_x"/>
                                          </p:val>
                                        </p:tav>
                                        <p:tav tm="100000">
                                          <p:val>
                                            <p:strVal val="#ppt_x"/>
                                          </p:val>
                                        </p:tav>
                                      </p:tavLst>
                                    </p:anim>
                                    <p:anim calcmode="lin" valueType="num">
                                      <p:cBhvr>
                                        <p:cTn id="50" dur="500" fill="hold"/>
                                        <p:tgtEl>
                                          <p:spTgt spid="23"/>
                                        </p:tgtEl>
                                        <p:attrNameLst>
                                          <p:attrName>ppt_y</p:attrName>
                                        </p:attrNameLst>
                                      </p:cBhvr>
                                      <p:tavLst>
                                        <p:tav tm="0">
                                          <p:val>
                                            <p:strVal val="#ppt_y-.1"/>
                                          </p:val>
                                        </p:tav>
                                        <p:tav tm="100000">
                                          <p:val>
                                            <p:strVal val="#ppt_y"/>
                                          </p:val>
                                        </p:tav>
                                      </p:tavLst>
                                    </p:anim>
                                  </p:childTnLst>
                                </p:cTn>
                              </p:par>
                              <p:par>
                                <p:cTn id="51" presetID="47" presetClass="entr" presetSubtype="0" fill="hold" grpId="0" nodeType="with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00"/>
                                        <p:tgtEl>
                                          <p:spTgt spid="32"/>
                                        </p:tgtEl>
                                      </p:cBhvr>
                                    </p:animEffect>
                                    <p:anim calcmode="lin" valueType="num">
                                      <p:cBhvr>
                                        <p:cTn id="54" dur="500" fill="hold"/>
                                        <p:tgtEl>
                                          <p:spTgt spid="32"/>
                                        </p:tgtEl>
                                        <p:attrNameLst>
                                          <p:attrName>ppt_x</p:attrName>
                                        </p:attrNameLst>
                                      </p:cBhvr>
                                      <p:tavLst>
                                        <p:tav tm="0">
                                          <p:val>
                                            <p:strVal val="#ppt_x"/>
                                          </p:val>
                                        </p:tav>
                                        <p:tav tm="100000">
                                          <p:val>
                                            <p:strVal val="#ppt_x"/>
                                          </p:val>
                                        </p:tav>
                                      </p:tavLst>
                                    </p:anim>
                                    <p:anim calcmode="lin" valueType="num">
                                      <p:cBhvr>
                                        <p:cTn id="55" dur="500" fill="hold"/>
                                        <p:tgtEl>
                                          <p:spTgt spid="32"/>
                                        </p:tgtEl>
                                        <p:attrNameLst>
                                          <p:attrName>ppt_y</p:attrName>
                                        </p:attrNameLst>
                                      </p:cBhvr>
                                      <p:tavLst>
                                        <p:tav tm="0">
                                          <p:val>
                                            <p:strVal val="#ppt_y-.1"/>
                                          </p:val>
                                        </p:tav>
                                        <p:tav tm="100000">
                                          <p:val>
                                            <p:strVal val="#ppt_y"/>
                                          </p:val>
                                        </p:tav>
                                      </p:tavLst>
                                    </p:anim>
                                  </p:childTnLst>
                                </p:cTn>
                              </p:par>
                              <p:par>
                                <p:cTn id="56" presetID="47"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500"/>
                                        <p:tgtEl>
                                          <p:spTgt spid="33"/>
                                        </p:tgtEl>
                                      </p:cBhvr>
                                    </p:animEffect>
                                    <p:anim calcmode="lin" valueType="num">
                                      <p:cBhvr>
                                        <p:cTn id="59" dur="500" fill="hold"/>
                                        <p:tgtEl>
                                          <p:spTgt spid="33"/>
                                        </p:tgtEl>
                                        <p:attrNameLst>
                                          <p:attrName>ppt_x</p:attrName>
                                        </p:attrNameLst>
                                      </p:cBhvr>
                                      <p:tavLst>
                                        <p:tav tm="0">
                                          <p:val>
                                            <p:strVal val="#ppt_x"/>
                                          </p:val>
                                        </p:tav>
                                        <p:tav tm="100000">
                                          <p:val>
                                            <p:strVal val="#ppt_x"/>
                                          </p:val>
                                        </p:tav>
                                      </p:tavLst>
                                    </p:anim>
                                    <p:anim calcmode="lin" valueType="num">
                                      <p:cBhvr>
                                        <p:cTn id="60" dur="500" fill="hold"/>
                                        <p:tgtEl>
                                          <p:spTgt spid="33"/>
                                        </p:tgtEl>
                                        <p:attrNameLst>
                                          <p:attrName>ppt_y</p:attrName>
                                        </p:attrNameLst>
                                      </p:cBhvr>
                                      <p:tavLst>
                                        <p:tav tm="0">
                                          <p:val>
                                            <p:strVal val="#ppt_y-.1"/>
                                          </p:val>
                                        </p:tav>
                                        <p:tav tm="100000">
                                          <p:val>
                                            <p:strVal val="#ppt_y"/>
                                          </p:val>
                                        </p:tav>
                                      </p:tavLst>
                                    </p:anim>
                                  </p:childTnLst>
                                </p:cTn>
                              </p:par>
                              <p:par>
                                <p:cTn id="61" presetID="47" presetClass="entr" presetSubtype="0"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fade">
                                      <p:cBhvr>
                                        <p:cTn id="63" dur="500"/>
                                        <p:tgtEl>
                                          <p:spTgt spid="34"/>
                                        </p:tgtEl>
                                      </p:cBhvr>
                                    </p:animEffect>
                                    <p:anim calcmode="lin" valueType="num">
                                      <p:cBhvr>
                                        <p:cTn id="64" dur="500" fill="hold"/>
                                        <p:tgtEl>
                                          <p:spTgt spid="34"/>
                                        </p:tgtEl>
                                        <p:attrNameLst>
                                          <p:attrName>ppt_x</p:attrName>
                                        </p:attrNameLst>
                                      </p:cBhvr>
                                      <p:tavLst>
                                        <p:tav tm="0">
                                          <p:val>
                                            <p:strVal val="#ppt_x"/>
                                          </p:val>
                                        </p:tav>
                                        <p:tav tm="100000">
                                          <p:val>
                                            <p:strVal val="#ppt_x"/>
                                          </p:val>
                                        </p:tav>
                                      </p:tavLst>
                                    </p:anim>
                                    <p:anim calcmode="lin" valueType="num">
                                      <p:cBhvr>
                                        <p:cTn id="65" dur="500" fill="hold"/>
                                        <p:tgtEl>
                                          <p:spTgt spid="34"/>
                                        </p:tgtEl>
                                        <p:attrNameLst>
                                          <p:attrName>ppt_y</p:attrName>
                                        </p:attrNameLst>
                                      </p:cBhvr>
                                      <p:tavLst>
                                        <p:tav tm="0">
                                          <p:val>
                                            <p:strVal val="#ppt_y-.1"/>
                                          </p:val>
                                        </p:tav>
                                        <p:tav tm="100000">
                                          <p:val>
                                            <p:strVal val="#ppt_y"/>
                                          </p:val>
                                        </p:tav>
                                      </p:tavLst>
                                    </p:anim>
                                  </p:childTnLst>
                                </p:cTn>
                              </p:par>
                              <p:par>
                                <p:cTn id="66" presetID="47" presetClass="entr" presetSubtype="0" fill="hold" grpId="0" nodeType="withEffect">
                                  <p:stCondLst>
                                    <p:cond delay="0"/>
                                  </p:stCondLst>
                                  <p:childTnLst>
                                    <p:set>
                                      <p:cBhvr>
                                        <p:cTn id="67" dur="1" fill="hold">
                                          <p:stCondLst>
                                            <p:cond delay="0"/>
                                          </p:stCondLst>
                                        </p:cTn>
                                        <p:tgtEl>
                                          <p:spTgt spid="35"/>
                                        </p:tgtEl>
                                        <p:attrNameLst>
                                          <p:attrName>style.visibility</p:attrName>
                                        </p:attrNameLst>
                                      </p:cBhvr>
                                      <p:to>
                                        <p:strVal val="visible"/>
                                      </p:to>
                                    </p:set>
                                    <p:animEffect transition="in" filter="fade">
                                      <p:cBhvr>
                                        <p:cTn id="68" dur="500"/>
                                        <p:tgtEl>
                                          <p:spTgt spid="35"/>
                                        </p:tgtEl>
                                      </p:cBhvr>
                                    </p:animEffect>
                                    <p:anim calcmode="lin" valueType="num">
                                      <p:cBhvr>
                                        <p:cTn id="69" dur="500" fill="hold"/>
                                        <p:tgtEl>
                                          <p:spTgt spid="35"/>
                                        </p:tgtEl>
                                        <p:attrNameLst>
                                          <p:attrName>ppt_x</p:attrName>
                                        </p:attrNameLst>
                                      </p:cBhvr>
                                      <p:tavLst>
                                        <p:tav tm="0">
                                          <p:val>
                                            <p:strVal val="#ppt_x"/>
                                          </p:val>
                                        </p:tav>
                                        <p:tav tm="100000">
                                          <p:val>
                                            <p:strVal val="#ppt_x"/>
                                          </p:val>
                                        </p:tav>
                                      </p:tavLst>
                                    </p:anim>
                                    <p:anim calcmode="lin" valueType="num">
                                      <p:cBhvr>
                                        <p:cTn id="70" dur="500" fill="hold"/>
                                        <p:tgtEl>
                                          <p:spTgt spid="35"/>
                                        </p:tgtEl>
                                        <p:attrNameLst>
                                          <p:attrName>ppt_y</p:attrName>
                                        </p:attrNameLst>
                                      </p:cBhvr>
                                      <p:tavLst>
                                        <p:tav tm="0">
                                          <p:val>
                                            <p:strVal val="#ppt_y-.1"/>
                                          </p:val>
                                        </p:tav>
                                        <p:tav tm="100000">
                                          <p:val>
                                            <p:strVal val="#ppt_y"/>
                                          </p:val>
                                        </p:tav>
                                      </p:tavLst>
                                    </p:anim>
                                  </p:childTnLst>
                                </p:cTn>
                              </p:par>
                              <p:par>
                                <p:cTn id="71" presetID="47" presetClass="entr" presetSubtype="0" fill="hold" grpId="0" nodeType="withEffect">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fade">
                                      <p:cBhvr>
                                        <p:cTn id="73" dur="500"/>
                                        <p:tgtEl>
                                          <p:spTgt spid="36"/>
                                        </p:tgtEl>
                                      </p:cBhvr>
                                    </p:animEffect>
                                    <p:anim calcmode="lin" valueType="num">
                                      <p:cBhvr>
                                        <p:cTn id="74" dur="500" fill="hold"/>
                                        <p:tgtEl>
                                          <p:spTgt spid="36"/>
                                        </p:tgtEl>
                                        <p:attrNameLst>
                                          <p:attrName>ppt_x</p:attrName>
                                        </p:attrNameLst>
                                      </p:cBhvr>
                                      <p:tavLst>
                                        <p:tav tm="0">
                                          <p:val>
                                            <p:strVal val="#ppt_x"/>
                                          </p:val>
                                        </p:tav>
                                        <p:tav tm="100000">
                                          <p:val>
                                            <p:strVal val="#ppt_x"/>
                                          </p:val>
                                        </p:tav>
                                      </p:tavLst>
                                    </p:anim>
                                    <p:anim calcmode="lin" valueType="num">
                                      <p:cBhvr>
                                        <p:cTn id="75" dur="500" fill="hold"/>
                                        <p:tgtEl>
                                          <p:spTgt spid="36"/>
                                        </p:tgtEl>
                                        <p:attrNameLst>
                                          <p:attrName>ppt_y</p:attrName>
                                        </p:attrNameLst>
                                      </p:cBhvr>
                                      <p:tavLst>
                                        <p:tav tm="0">
                                          <p:val>
                                            <p:strVal val="#ppt_y-.1"/>
                                          </p:val>
                                        </p:tav>
                                        <p:tav tm="100000">
                                          <p:val>
                                            <p:strVal val="#ppt_y"/>
                                          </p:val>
                                        </p:tav>
                                      </p:tavLst>
                                    </p:anim>
                                  </p:childTnLst>
                                </p:cTn>
                              </p:par>
                              <p:par>
                                <p:cTn id="76" presetID="47" presetClass="entr" presetSubtype="0" fill="hold" grpId="0" nodeType="with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8" dur="500"/>
                                        <p:tgtEl>
                                          <p:spTgt spid="37"/>
                                        </p:tgtEl>
                                      </p:cBhvr>
                                    </p:animEffect>
                                    <p:anim calcmode="lin" valueType="num">
                                      <p:cBhvr>
                                        <p:cTn id="79" dur="500" fill="hold"/>
                                        <p:tgtEl>
                                          <p:spTgt spid="37"/>
                                        </p:tgtEl>
                                        <p:attrNameLst>
                                          <p:attrName>ppt_x</p:attrName>
                                        </p:attrNameLst>
                                      </p:cBhvr>
                                      <p:tavLst>
                                        <p:tav tm="0">
                                          <p:val>
                                            <p:strVal val="#ppt_x"/>
                                          </p:val>
                                        </p:tav>
                                        <p:tav tm="100000">
                                          <p:val>
                                            <p:strVal val="#ppt_x"/>
                                          </p:val>
                                        </p:tav>
                                      </p:tavLst>
                                    </p:anim>
                                    <p:anim calcmode="lin" valueType="num">
                                      <p:cBhvr>
                                        <p:cTn id="80" dur="500" fill="hold"/>
                                        <p:tgtEl>
                                          <p:spTgt spid="37"/>
                                        </p:tgtEl>
                                        <p:attrNameLst>
                                          <p:attrName>ppt_y</p:attrName>
                                        </p:attrNameLst>
                                      </p:cBhvr>
                                      <p:tavLst>
                                        <p:tav tm="0">
                                          <p:val>
                                            <p:strVal val="#ppt_y-.1"/>
                                          </p:val>
                                        </p:tav>
                                        <p:tav tm="100000">
                                          <p:val>
                                            <p:strVal val="#ppt_y"/>
                                          </p:val>
                                        </p:tav>
                                      </p:tavLst>
                                    </p:anim>
                                  </p:childTnLst>
                                </p:cTn>
                              </p:par>
                              <p:par>
                                <p:cTn id="81" presetID="47" presetClass="entr" presetSubtype="0" fill="hold" grpId="0" nodeType="withEffect">
                                  <p:stCondLst>
                                    <p:cond delay="0"/>
                                  </p:stCondLst>
                                  <p:childTnLst>
                                    <p:set>
                                      <p:cBhvr>
                                        <p:cTn id="82" dur="1" fill="hold">
                                          <p:stCondLst>
                                            <p:cond delay="0"/>
                                          </p:stCondLst>
                                        </p:cTn>
                                        <p:tgtEl>
                                          <p:spTgt spid="38"/>
                                        </p:tgtEl>
                                        <p:attrNameLst>
                                          <p:attrName>style.visibility</p:attrName>
                                        </p:attrNameLst>
                                      </p:cBhvr>
                                      <p:to>
                                        <p:strVal val="visible"/>
                                      </p:to>
                                    </p:set>
                                    <p:animEffect transition="in" filter="fade">
                                      <p:cBhvr>
                                        <p:cTn id="83" dur="500"/>
                                        <p:tgtEl>
                                          <p:spTgt spid="38"/>
                                        </p:tgtEl>
                                      </p:cBhvr>
                                    </p:animEffect>
                                    <p:anim calcmode="lin" valueType="num">
                                      <p:cBhvr>
                                        <p:cTn id="84" dur="500" fill="hold"/>
                                        <p:tgtEl>
                                          <p:spTgt spid="38"/>
                                        </p:tgtEl>
                                        <p:attrNameLst>
                                          <p:attrName>ppt_x</p:attrName>
                                        </p:attrNameLst>
                                      </p:cBhvr>
                                      <p:tavLst>
                                        <p:tav tm="0">
                                          <p:val>
                                            <p:strVal val="#ppt_x"/>
                                          </p:val>
                                        </p:tav>
                                        <p:tav tm="100000">
                                          <p:val>
                                            <p:strVal val="#ppt_x"/>
                                          </p:val>
                                        </p:tav>
                                      </p:tavLst>
                                    </p:anim>
                                    <p:anim calcmode="lin" valueType="num">
                                      <p:cBhvr>
                                        <p:cTn id="85" dur="500" fill="hold"/>
                                        <p:tgtEl>
                                          <p:spTgt spid="38"/>
                                        </p:tgtEl>
                                        <p:attrNameLst>
                                          <p:attrName>ppt_y</p:attrName>
                                        </p:attrNameLst>
                                      </p:cBhvr>
                                      <p:tavLst>
                                        <p:tav tm="0">
                                          <p:val>
                                            <p:strVal val="#ppt_y-.1"/>
                                          </p:val>
                                        </p:tav>
                                        <p:tav tm="100000">
                                          <p:val>
                                            <p:strVal val="#ppt_y"/>
                                          </p:val>
                                        </p:tav>
                                      </p:tavLst>
                                    </p:anim>
                                  </p:childTnLst>
                                </p:cTn>
                              </p:par>
                              <p:par>
                                <p:cTn id="86" presetID="47" presetClass="entr" presetSubtype="0" fill="hold" grpId="0" nodeType="withEffect">
                                  <p:stCondLst>
                                    <p:cond delay="0"/>
                                  </p:stCondLst>
                                  <p:childTnLst>
                                    <p:set>
                                      <p:cBhvr>
                                        <p:cTn id="87" dur="1" fill="hold">
                                          <p:stCondLst>
                                            <p:cond delay="0"/>
                                          </p:stCondLst>
                                        </p:cTn>
                                        <p:tgtEl>
                                          <p:spTgt spid="39"/>
                                        </p:tgtEl>
                                        <p:attrNameLst>
                                          <p:attrName>style.visibility</p:attrName>
                                        </p:attrNameLst>
                                      </p:cBhvr>
                                      <p:to>
                                        <p:strVal val="visible"/>
                                      </p:to>
                                    </p:set>
                                    <p:animEffect transition="in" filter="fade">
                                      <p:cBhvr>
                                        <p:cTn id="88" dur="500"/>
                                        <p:tgtEl>
                                          <p:spTgt spid="39"/>
                                        </p:tgtEl>
                                      </p:cBhvr>
                                    </p:animEffect>
                                    <p:anim calcmode="lin" valueType="num">
                                      <p:cBhvr>
                                        <p:cTn id="89" dur="500" fill="hold"/>
                                        <p:tgtEl>
                                          <p:spTgt spid="39"/>
                                        </p:tgtEl>
                                        <p:attrNameLst>
                                          <p:attrName>ppt_x</p:attrName>
                                        </p:attrNameLst>
                                      </p:cBhvr>
                                      <p:tavLst>
                                        <p:tav tm="0">
                                          <p:val>
                                            <p:strVal val="#ppt_x"/>
                                          </p:val>
                                        </p:tav>
                                        <p:tav tm="100000">
                                          <p:val>
                                            <p:strVal val="#ppt_x"/>
                                          </p:val>
                                        </p:tav>
                                      </p:tavLst>
                                    </p:anim>
                                    <p:anim calcmode="lin" valueType="num">
                                      <p:cBhvr>
                                        <p:cTn id="90" dur="500" fill="hold"/>
                                        <p:tgtEl>
                                          <p:spTgt spid="39"/>
                                        </p:tgtEl>
                                        <p:attrNameLst>
                                          <p:attrName>ppt_y</p:attrName>
                                        </p:attrNameLst>
                                      </p:cBhvr>
                                      <p:tavLst>
                                        <p:tav tm="0">
                                          <p:val>
                                            <p:strVal val="#ppt_y-.1"/>
                                          </p:val>
                                        </p:tav>
                                        <p:tav tm="100000">
                                          <p:val>
                                            <p:strVal val="#ppt_y"/>
                                          </p:val>
                                        </p:tav>
                                      </p:tavLst>
                                    </p:anim>
                                  </p:childTnLst>
                                </p:cTn>
                              </p:par>
                              <p:par>
                                <p:cTn id="91" presetID="47" presetClass="entr" presetSubtype="0" fill="hold" grpId="0" nodeType="withEffect">
                                  <p:stCondLst>
                                    <p:cond delay="0"/>
                                  </p:stCondLst>
                                  <p:childTnLst>
                                    <p:set>
                                      <p:cBhvr>
                                        <p:cTn id="92" dur="1" fill="hold">
                                          <p:stCondLst>
                                            <p:cond delay="0"/>
                                          </p:stCondLst>
                                        </p:cTn>
                                        <p:tgtEl>
                                          <p:spTgt spid="40"/>
                                        </p:tgtEl>
                                        <p:attrNameLst>
                                          <p:attrName>style.visibility</p:attrName>
                                        </p:attrNameLst>
                                      </p:cBhvr>
                                      <p:to>
                                        <p:strVal val="visible"/>
                                      </p:to>
                                    </p:set>
                                    <p:animEffect transition="in" filter="fade">
                                      <p:cBhvr>
                                        <p:cTn id="93" dur="500"/>
                                        <p:tgtEl>
                                          <p:spTgt spid="40"/>
                                        </p:tgtEl>
                                      </p:cBhvr>
                                    </p:animEffect>
                                    <p:anim calcmode="lin" valueType="num">
                                      <p:cBhvr>
                                        <p:cTn id="94" dur="500" fill="hold"/>
                                        <p:tgtEl>
                                          <p:spTgt spid="40"/>
                                        </p:tgtEl>
                                        <p:attrNameLst>
                                          <p:attrName>ppt_x</p:attrName>
                                        </p:attrNameLst>
                                      </p:cBhvr>
                                      <p:tavLst>
                                        <p:tav tm="0">
                                          <p:val>
                                            <p:strVal val="#ppt_x"/>
                                          </p:val>
                                        </p:tav>
                                        <p:tav tm="100000">
                                          <p:val>
                                            <p:strVal val="#ppt_x"/>
                                          </p:val>
                                        </p:tav>
                                      </p:tavLst>
                                    </p:anim>
                                    <p:anim calcmode="lin" valueType="num">
                                      <p:cBhvr>
                                        <p:cTn id="95" dur="500" fill="hold"/>
                                        <p:tgtEl>
                                          <p:spTgt spid="40"/>
                                        </p:tgtEl>
                                        <p:attrNameLst>
                                          <p:attrName>ppt_y</p:attrName>
                                        </p:attrNameLst>
                                      </p:cBhvr>
                                      <p:tavLst>
                                        <p:tav tm="0">
                                          <p:val>
                                            <p:strVal val="#ppt_y-.1"/>
                                          </p:val>
                                        </p:tav>
                                        <p:tav tm="100000">
                                          <p:val>
                                            <p:strVal val="#ppt_y"/>
                                          </p:val>
                                        </p:tav>
                                      </p:tavLst>
                                    </p:anim>
                                  </p:childTnLst>
                                </p:cTn>
                              </p:par>
                              <p:par>
                                <p:cTn id="96" presetID="47" presetClass="entr" presetSubtype="0" fill="hold" grpId="0" nodeType="withEffect">
                                  <p:stCondLst>
                                    <p:cond delay="0"/>
                                  </p:stCondLst>
                                  <p:childTnLst>
                                    <p:set>
                                      <p:cBhvr>
                                        <p:cTn id="97" dur="1" fill="hold">
                                          <p:stCondLst>
                                            <p:cond delay="0"/>
                                          </p:stCondLst>
                                        </p:cTn>
                                        <p:tgtEl>
                                          <p:spTgt spid="41"/>
                                        </p:tgtEl>
                                        <p:attrNameLst>
                                          <p:attrName>style.visibility</p:attrName>
                                        </p:attrNameLst>
                                      </p:cBhvr>
                                      <p:to>
                                        <p:strVal val="visible"/>
                                      </p:to>
                                    </p:set>
                                    <p:animEffect transition="in" filter="fade">
                                      <p:cBhvr>
                                        <p:cTn id="98" dur="500"/>
                                        <p:tgtEl>
                                          <p:spTgt spid="41"/>
                                        </p:tgtEl>
                                      </p:cBhvr>
                                    </p:animEffect>
                                    <p:anim calcmode="lin" valueType="num">
                                      <p:cBhvr>
                                        <p:cTn id="99" dur="500" fill="hold"/>
                                        <p:tgtEl>
                                          <p:spTgt spid="41"/>
                                        </p:tgtEl>
                                        <p:attrNameLst>
                                          <p:attrName>ppt_x</p:attrName>
                                        </p:attrNameLst>
                                      </p:cBhvr>
                                      <p:tavLst>
                                        <p:tav tm="0">
                                          <p:val>
                                            <p:strVal val="#ppt_x"/>
                                          </p:val>
                                        </p:tav>
                                        <p:tav tm="100000">
                                          <p:val>
                                            <p:strVal val="#ppt_x"/>
                                          </p:val>
                                        </p:tav>
                                      </p:tavLst>
                                    </p:anim>
                                    <p:anim calcmode="lin" valueType="num">
                                      <p:cBhvr>
                                        <p:cTn id="100" dur="500" fill="hold"/>
                                        <p:tgtEl>
                                          <p:spTgt spid="41"/>
                                        </p:tgtEl>
                                        <p:attrNameLst>
                                          <p:attrName>ppt_y</p:attrName>
                                        </p:attrNameLst>
                                      </p:cBhvr>
                                      <p:tavLst>
                                        <p:tav tm="0">
                                          <p:val>
                                            <p:strVal val="#ppt_y-.1"/>
                                          </p:val>
                                        </p:tav>
                                        <p:tav tm="100000">
                                          <p:val>
                                            <p:strVal val="#ppt_y"/>
                                          </p:val>
                                        </p:tav>
                                      </p:tavLst>
                                    </p:anim>
                                  </p:childTnLst>
                                </p:cTn>
                              </p:par>
                              <p:par>
                                <p:cTn id="101" presetID="47" presetClass="entr" presetSubtype="0" fill="hold" grpId="0" nodeType="withEffect">
                                  <p:stCondLst>
                                    <p:cond delay="0"/>
                                  </p:stCondLst>
                                  <p:childTnLst>
                                    <p:set>
                                      <p:cBhvr>
                                        <p:cTn id="102" dur="1" fill="hold">
                                          <p:stCondLst>
                                            <p:cond delay="0"/>
                                          </p:stCondLst>
                                        </p:cTn>
                                        <p:tgtEl>
                                          <p:spTgt spid="42"/>
                                        </p:tgtEl>
                                        <p:attrNameLst>
                                          <p:attrName>style.visibility</p:attrName>
                                        </p:attrNameLst>
                                      </p:cBhvr>
                                      <p:to>
                                        <p:strVal val="visible"/>
                                      </p:to>
                                    </p:set>
                                    <p:animEffect transition="in" filter="fade">
                                      <p:cBhvr>
                                        <p:cTn id="103" dur="500"/>
                                        <p:tgtEl>
                                          <p:spTgt spid="42"/>
                                        </p:tgtEl>
                                      </p:cBhvr>
                                    </p:animEffect>
                                    <p:anim calcmode="lin" valueType="num">
                                      <p:cBhvr>
                                        <p:cTn id="104" dur="500" fill="hold"/>
                                        <p:tgtEl>
                                          <p:spTgt spid="42"/>
                                        </p:tgtEl>
                                        <p:attrNameLst>
                                          <p:attrName>ppt_x</p:attrName>
                                        </p:attrNameLst>
                                      </p:cBhvr>
                                      <p:tavLst>
                                        <p:tav tm="0">
                                          <p:val>
                                            <p:strVal val="#ppt_x"/>
                                          </p:val>
                                        </p:tav>
                                        <p:tav tm="100000">
                                          <p:val>
                                            <p:strVal val="#ppt_x"/>
                                          </p:val>
                                        </p:tav>
                                      </p:tavLst>
                                    </p:anim>
                                    <p:anim calcmode="lin" valueType="num">
                                      <p:cBhvr>
                                        <p:cTn id="105" dur="5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8" presetID="10" presetClass="exit" presetSubtype="0" fill="hold" grpId="1" nodeType="clickEffect">
                                  <p:stCondLst>
                                    <p:cond delay="0"/>
                                  </p:stCondLst>
                                  <p:childTnLst>
                                    <p:animEffect transition="out" filter="fade">
                                      <p:cBhvr>
                                        <p:cTn id="109" dur="500"/>
                                        <p:tgtEl>
                                          <p:spTgt spid="20"/>
                                        </p:tgtEl>
                                      </p:cBhvr>
                                    </p:animEffect>
                                    <p:set>
                                      <p:cBhvr>
                                        <p:cTn id="110" dur="1" fill="hold">
                                          <p:stCondLst>
                                            <p:cond delay="499"/>
                                          </p:stCondLst>
                                        </p:cTn>
                                        <p:tgtEl>
                                          <p:spTgt spid="20"/>
                                        </p:tgtEl>
                                        <p:attrNameLst>
                                          <p:attrName>style.visibility</p:attrName>
                                        </p:attrNameLst>
                                      </p:cBhvr>
                                      <p:to>
                                        <p:strVal val="hidden"/>
                                      </p:to>
                                    </p:set>
                                  </p:childTnLst>
                                </p:cTn>
                              </p:par>
                              <p:par>
                                <p:cTn id="111" presetID="10" presetClass="exit" presetSubtype="0" fill="hold" nodeType="withEffect">
                                  <p:stCondLst>
                                    <p:cond delay="0"/>
                                  </p:stCondLst>
                                  <p:childTnLst>
                                    <p:animEffect transition="out" filter="fade">
                                      <p:cBhvr>
                                        <p:cTn id="112" dur="500"/>
                                        <p:tgtEl>
                                          <p:spTgt spid="24"/>
                                        </p:tgtEl>
                                      </p:cBhvr>
                                    </p:animEffect>
                                    <p:set>
                                      <p:cBhvr>
                                        <p:cTn id="113" dur="1" fill="hold">
                                          <p:stCondLst>
                                            <p:cond delay="499"/>
                                          </p:stCondLst>
                                        </p:cTn>
                                        <p:tgtEl>
                                          <p:spTgt spid="24"/>
                                        </p:tgtEl>
                                        <p:attrNameLst>
                                          <p:attrName>style.visibility</p:attrName>
                                        </p:attrNameLst>
                                      </p:cBhvr>
                                      <p:to>
                                        <p:strVal val="hidden"/>
                                      </p:to>
                                    </p:set>
                                  </p:childTnLst>
                                </p:cTn>
                              </p:par>
                              <p:par>
                                <p:cTn id="114" presetID="10" presetClass="exit" presetSubtype="0" fill="hold" nodeType="withEffect">
                                  <p:stCondLst>
                                    <p:cond delay="0"/>
                                  </p:stCondLst>
                                  <p:childTnLst>
                                    <p:animEffect transition="out" filter="fade">
                                      <p:cBhvr>
                                        <p:cTn id="115" dur="500"/>
                                        <p:tgtEl>
                                          <p:spTgt spid="26"/>
                                        </p:tgtEl>
                                      </p:cBhvr>
                                    </p:animEffect>
                                    <p:set>
                                      <p:cBhvr>
                                        <p:cTn id="116" dur="1" fill="hold">
                                          <p:stCondLst>
                                            <p:cond delay="499"/>
                                          </p:stCondLst>
                                        </p:cTn>
                                        <p:tgtEl>
                                          <p:spTgt spid="26"/>
                                        </p:tgtEl>
                                        <p:attrNameLst>
                                          <p:attrName>style.visibility</p:attrName>
                                        </p:attrNameLst>
                                      </p:cBhvr>
                                      <p:to>
                                        <p:strVal val="hidden"/>
                                      </p:to>
                                    </p:set>
                                  </p:childTnLst>
                                </p:cTn>
                              </p:par>
                              <p:par>
                                <p:cTn id="117" presetID="10" presetClass="exit" presetSubtype="0" fill="hold" nodeType="withEffect">
                                  <p:stCondLst>
                                    <p:cond delay="0"/>
                                  </p:stCondLst>
                                  <p:childTnLst>
                                    <p:animEffect transition="out" filter="fade">
                                      <p:cBhvr>
                                        <p:cTn id="118" dur="500"/>
                                        <p:tgtEl>
                                          <p:spTgt spid="27"/>
                                        </p:tgtEl>
                                      </p:cBhvr>
                                    </p:animEffect>
                                    <p:set>
                                      <p:cBhvr>
                                        <p:cTn id="119" dur="1" fill="hold">
                                          <p:stCondLst>
                                            <p:cond delay="499"/>
                                          </p:stCondLst>
                                        </p:cTn>
                                        <p:tgtEl>
                                          <p:spTgt spid="27"/>
                                        </p:tgtEl>
                                        <p:attrNameLst>
                                          <p:attrName>style.visibility</p:attrName>
                                        </p:attrNameLst>
                                      </p:cBhvr>
                                      <p:to>
                                        <p:strVal val="hidden"/>
                                      </p:to>
                                    </p:set>
                                  </p:childTnLst>
                                </p:cTn>
                              </p:par>
                              <p:par>
                                <p:cTn id="120" presetID="10" presetClass="exit" presetSubtype="0" fill="hold" nodeType="withEffect">
                                  <p:stCondLst>
                                    <p:cond delay="0"/>
                                  </p:stCondLst>
                                  <p:childTnLst>
                                    <p:animEffect transition="out" filter="fade">
                                      <p:cBhvr>
                                        <p:cTn id="121" dur="500"/>
                                        <p:tgtEl>
                                          <p:spTgt spid="28"/>
                                        </p:tgtEl>
                                      </p:cBhvr>
                                    </p:animEffect>
                                    <p:set>
                                      <p:cBhvr>
                                        <p:cTn id="122" dur="1" fill="hold">
                                          <p:stCondLst>
                                            <p:cond delay="499"/>
                                          </p:stCondLst>
                                        </p:cTn>
                                        <p:tgtEl>
                                          <p:spTgt spid="28"/>
                                        </p:tgtEl>
                                        <p:attrNameLst>
                                          <p:attrName>style.visibility</p:attrName>
                                        </p:attrNameLst>
                                      </p:cBhvr>
                                      <p:to>
                                        <p:strVal val="hidden"/>
                                      </p:to>
                                    </p:set>
                                  </p:childTnLst>
                                </p:cTn>
                              </p:par>
                              <p:par>
                                <p:cTn id="123" presetID="10" presetClass="exit" presetSubtype="0" fill="hold" nodeType="withEffect">
                                  <p:stCondLst>
                                    <p:cond delay="0"/>
                                  </p:stCondLst>
                                  <p:childTnLst>
                                    <p:animEffect transition="out" filter="fade">
                                      <p:cBhvr>
                                        <p:cTn id="124" dur="500"/>
                                        <p:tgtEl>
                                          <p:spTgt spid="29"/>
                                        </p:tgtEl>
                                      </p:cBhvr>
                                    </p:animEffect>
                                    <p:set>
                                      <p:cBhvr>
                                        <p:cTn id="125" dur="1" fill="hold">
                                          <p:stCondLst>
                                            <p:cond delay="499"/>
                                          </p:stCondLst>
                                        </p:cTn>
                                        <p:tgtEl>
                                          <p:spTgt spid="29"/>
                                        </p:tgtEl>
                                        <p:attrNameLst>
                                          <p:attrName>style.visibility</p:attrName>
                                        </p:attrNameLst>
                                      </p:cBhvr>
                                      <p:to>
                                        <p:strVal val="hidden"/>
                                      </p:to>
                                    </p:set>
                                  </p:childTnLst>
                                </p:cTn>
                              </p:par>
                              <p:par>
                                <p:cTn id="126" presetID="10" presetClass="exit" presetSubtype="0" fill="hold" nodeType="withEffect">
                                  <p:stCondLst>
                                    <p:cond delay="0"/>
                                  </p:stCondLst>
                                  <p:childTnLst>
                                    <p:animEffect transition="out" filter="fade">
                                      <p:cBhvr>
                                        <p:cTn id="127" dur="500"/>
                                        <p:tgtEl>
                                          <p:spTgt spid="30"/>
                                        </p:tgtEl>
                                      </p:cBhvr>
                                    </p:animEffect>
                                    <p:set>
                                      <p:cBhvr>
                                        <p:cTn id="128" dur="1" fill="hold">
                                          <p:stCondLst>
                                            <p:cond delay="499"/>
                                          </p:stCondLst>
                                        </p:cTn>
                                        <p:tgtEl>
                                          <p:spTgt spid="30"/>
                                        </p:tgtEl>
                                        <p:attrNameLst>
                                          <p:attrName>style.visibility</p:attrName>
                                        </p:attrNameLst>
                                      </p:cBhvr>
                                      <p:to>
                                        <p:strVal val="hidden"/>
                                      </p:to>
                                    </p:set>
                                  </p:childTnLst>
                                </p:cTn>
                              </p:par>
                              <p:par>
                                <p:cTn id="129" presetID="10" presetClass="exit" presetSubtype="0" fill="hold" grpId="1" nodeType="withEffect">
                                  <p:stCondLst>
                                    <p:cond delay="0"/>
                                  </p:stCondLst>
                                  <p:childTnLst>
                                    <p:animEffect transition="out" filter="fade">
                                      <p:cBhvr>
                                        <p:cTn id="130" dur="500"/>
                                        <p:tgtEl>
                                          <p:spTgt spid="23"/>
                                        </p:tgtEl>
                                      </p:cBhvr>
                                    </p:animEffect>
                                    <p:set>
                                      <p:cBhvr>
                                        <p:cTn id="131" dur="1" fill="hold">
                                          <p:stCondLst>
                                            <p:cond delay="499"/>
                                          </p:stCondLst>
                                        </p:cTn>
                                        <p:tgtEl>
                                          <p:spTgt spid="23"/>
                                        </p:tgtEl>
                                        <p:attrNameLst>
                                          <p:attrName>style.visibility</p:attrName>
                                        </p:attrNameLst>
                                      </p:cBhvr>
                                      <p:to>
                                        <p:strVal val="hidden"/>
                                      </p:to>
                                    </p:set>
                                  </p:childTnLst>
                                </p:cTn>
                              </p:par>
                              <p:par>
                                <p:cTn id="132" presetID="10" presetClass="exit" presetSubtype="0" fill="hold" grpId="1" nodeType="withEffect">
                                  <p:stCondLst>
                                    <p:cond delay="0"/>
                                  </p:stCondLst>
                                  <p:childTnLst>
                                    <p:animEffect transition="out" filter="fade">
                                      <p:cBhvr>
                                        <p:cTn id="133" dur="500"/>
                                        <p:tgtEl>
                                          <p:spTgt spid="32"/>
                                        </p:tgtEl>
                                      </p:cBhvr>
                                    </p:animEffect>
                                    <p:set>
                                      <p:cBhvr>
                                        <p:cTn id="134" dur="1" fill="hold">
                                          <p:stCondLst>
                                            <p:cond delay="499"/>
                                          </p:stCondLst>
                                        </p:cTn>
                                        <p:tgtEl>
                                          <p:spTgt spid="32"/>
                                        </p:tgtEl>
                                        <p:attrNameLst>
                                          <p:attrName>style.visibility</p:attrName>
                                        </p:attrNameLst>
                                      </p:cBhvr>
                                      <p:to>
                                        <p:strVal val="hidden"/>
                                      </p:to>
                                    </p:set>
                                  </p:childTnLst>
                                </p:cTn>
                              </p:par>
                              <p:par>
                                <p:cTn id="135" presetID="10" presetClass="exit" presetSubtype="0" fill="hold" grpId="1" nodeType="withEffect">
                                  <p:stCondLst>
                                    <p:cond delay="0"/>
                                  </p:stCondLst>
                                  <p:childTnLst>
                                    <p:animEffect transition="out" filter="fade">
                                      <p:cBhvr>
                                        <p:cTn id="136" dur="500"/>
                                        <p:tgtEl>
                                          <p:spTgt spid="33"/>
                                        </p:tgtEl>
                                      </p:cBhvr>
                                    </p:animEffect>
                                    <p:set>
                                      <p:cBhvr>
                                        <p:cTn id="137" dur="1" fill="hold">
                                          <p:stCondLst>
                                            <p:cond delay="499"/>
                                          </p:stCondLst>
                                        </p:cTn>
                                        <p:tgtEl>
                                          <p:spTgt spid="33"/>
                                        </p:tgtEl>
                                        <p:attrNameLst>
                                          <p:attrName>style.visibility</p:attrName>
                                        </p:attrNameLst>
                                      </p:cBhvr>
                                      <p:to>
                                        <p:strVal val="hidden"/>
                                      </p:to>
                                    </p:set>
                                  </p:childTnLst>
                                </p:cTn>
                              </p:par>
                              <p:par>
                                <p:cTn id="138" presetID="10" presetClass="exit" presetSubtype="0" fill="hold" grpId="1" nodeType="withEffect">
                                  <p:stCondLst>
                                    <p:cond delay="0"/>
                                  </p:stCondLst>
                                  <p:childTnLst>
                                    <p:animEffect transition="out" filter="fade">
                                      <p:cBhvr>
                                        <p:cTn id="139" dur="500"/>
                                        <p:tgtEl>
                                          <p:spTgt spid="34"/>
                                        </p:tgtEl>
                                      </p:cBhvr>
                                    </p:animEffect>
                                    <p:set>
                                      <p:cBhvr>
                                        <p:cTn id="140" dur="1" fill="hold">
                                          <p:stCondLst>
                                            <p:cond delay="499"/>
                                          </p:stCondLst>
                                        </p:cTn>
                                        <p:tgtEl>
                                          <p:spTgt spid="34"/>
                                        </p:tgtEl>
                                        <p:attrNameLst>
                                          <p:attrName>style.visibility</p:attrName>
                                        </p:attrNameLst>
                                      </p:cBhvr>
                                      <p:to>
                                        <p:strVal val="hidden"/>
                                      </p:to>
                                    </p:set>
                                  </p:childTnLst>
                                </p:cTn>
                              </p:par>
                              <p:par>
                                <p:cTn id="141" presetID="10" presetClass="exit" presetSubtype="0" fill="hold" grpId="1" nodeType="withEffect">
                                  <p:stCondLst>
                                    <p:cond delay="0"/>
                                  </p:stCondLst>
                                  <p:childTnLst>
                                    <p:animEffect transition="out" filter="fade">
                                      <p:cBhvr>
                                        <p:cTn id="142" dur="500"/>
                                        <p:tgtEl>
                                          <p:spTgt spid="35"/>
                                        </p:tgtEl>
                                      </p:cBhvr>
                                    </p:animEffect>
                                    <p:set>
                                      <p:cBhvr>
                                        <p:cTn id="143" dur="1" fill="hold">
                                          <p:stCondLst>
                                            <p:cond delay="499"/>
                                          </p:stCondLst>
                                        </p:cTn>
                                        <p:tgtEl>
                                          <p:spTgt spid="35"/>
                                        </p:tgtEl>
                                        <p:attrNameLst>
                                          <p:attrName>style.visibility</p:attrName>
                                        </p:attrNameLst>
                                      </p:cBhvr>
                                      <p:to>
                                        <p:strVal val="hidden"/>
                                      </p:to>
                                    </p:set>
                                  </p:childTnLst>
                                </p:cTn>
                              </p:par>
                              <p:par>
                                <p:cTn id="144" presetID="10" presetClass="exit" presetSubtype="0" fill="hold" grpId="1" nodeType="withEffect">
                                  <p:stCondLst>
                                    <p:cond delay="0"/>
                                  </p:stCondLst>
                                  <p:childTnLst>
                                    <p:animEffect transition="out" filter="fade">
                                      <p:cBhvr>
                                        <p:cTn id="145" dur="500"/>
                                        <p:tgtEl>
                                          <p:spTgt spid="36"/>
                                        </p:tgtEl>
                                      </p:cBhvr>
                                    </p:animEffect>
                                    <p:set>
                                      <p:cBhvr>
                                        <p:cTn id="146" dur="1" fill="hold">
                                          <p:stCondLst>
                                            <p:cond delay="499"/>
                                          </p:stCondLst>
                                        </p:cTn>
                                        <p:tgtEl>
                                          <p:spTgt spid="36"/>
                                        </p:tgtEl>
                                        <p:attrNameLst>
                                          <p:attrName>style.visibility</p:attrName>
                                        </p:attrNameLst>
                                      </p:cBhvr>
                                      <p:to>
                                        <p:strVal val="hidden"/>
                                      </p:to>
                                    </p:set>
                                  </p:childTnLst>
                                </p:cTn>
                              </p:par>
                              <p:par>
                                <p:cTn id="147" presetID="10" presetClass="exit" presetSubtype="0" fill="hold" grpId="1" nodeType="withEffect">
                                  <p:stCondLst>
                                    <p:cond delay="0"/>
                                  </p:stCondLst>
                                  <p:childTnLst>
                                    <p:animEffect transition="out" filter="fade">
                                      <p:cBhvr>
                                        <p:cTn id="148" dur="500"/>
                                        <p:tgtEl>
                                          <p:spTgt spid="37"/>
                                        </p:tgtEl>
                                      </p:cBhvr>
                                    </p:animEffect>
                                    <p:set>
                                      <p:cBhvr>
                                        <p:cTn id="149" dur="1" fill="hold">
                                          <p:stCondLst>
                                            <p:cond delay="499"/>
                                          </p:stCondLst>
                                        </p:cTn>
                                        <p:tgtEl>
                                          <p:spTgt spid="37"/>
                                        </p:tgtEl>
                                        <p:attrNameLst>
                                          <p:attrName>style.visibility</p:attrName>
                                        </p:attrNameLst>
                                      </p:cBhvr>
                                      <p:to>
                                        <p:strVal val="hidden"/>
                                      </p:to>
                                    </p:set>
                                  </p:childTnLst>
                                </p:cTn>
                              </p:par>
                              <p:par>
                                <p:cTn id="150" presetID="10" presetClass="exit" presetSubtype="0" fill="hold" grpId="1" nodeType="withEffect">
                                  <p:stCondLst>
                                    <p:cond delay="0"/>
                                  </p:stCondLst>
                                  <p:childTnLst>
                                    <p:animEffect transition="out" filter="fade">
                                      <p:cBhvr>
                                        <p:cTn id="151" dur="500"/>
                                        <p:tgtEl>
                                          <p:spTgt spid="38"/>
                                        </p:tgtEl>
                                      </p:cBhvr>
                                    </p:animEffect>
                                    <p:set>
                                      <p:cBhvr>
                                        <p:cTn id="152" dur="1" fill="hold">
                                          <p:stCondLst>
                                            <p:cond delay="499"/>
                                          </p:stCondLst>
                                        </p:cTn>
                                        <p:tgtEl>
                                          <p:spTgt spid="38"/>
                                        </p:tgtEl>
                                        <p:attrNameLst>
                                          <p:attrName>style.visibility</p:attrName>
                                        </p:attrNameLst>
                                      </p:cBhvr>
                                      <p:to>
                                        <p:strVal val="hidden"/>
                                      </p:to>
                                    </p:set>
                                  </p:childTnLst>
                                </p:cTn>
                              </p:par>
                              <p:par>
                                <p:cTn id="153" presetID="10" presetClass="exit" presetSubtype="0" fill="hold" grpId="1" nodeType="withEffect">
                                  <p:stCondLst>
                                    <p:cond delay="0"/>
                                  </p:stCondLst>
                                  <p:childTnLst>
                                    <p:animEffect transition="out" filter="fade">
                                      <p:cBhvr>
                                        <p:cTn id="154" dur="500"/>
                                        <p:tgtEl>
                                          <p:spTgt spid="39"/>
                                        </p:tgtEl>
                                      </p:cBhvr>
                                    </p:animEffect>
                                    <p:set>
                                      <p:cBhvr>
                                        <p:cTn id="155" dur="1" fill="hold">
                                          <p:stCondLst>
                                            <p:cond delay="499"/>
                                          </p:stCondLst>
                                        </p:cTn>
                                        <p:tgtEl>
                                          <p:spTgt spid="39"/>
                                        </p:tgtEl>
                                        <p:attrNameLst>
                                          <p:attrName>style.visibility</p:attrName>
                                        </p:attrNameLst>
                                      </p:cBhvr>
                                      <p:to>
                                        <p:strVal val="hidden"/>
                                      </p:to>
                                    </p:set>
                                  </p:childTnLst>
                                </p:cTn>
                              </p:par>
                              <p:par>
                                <p:cTn id="156" presetID="10" presetClass="exit" presetSubtype="0" fill="hold" grpId="1" nodeType="withEffect">
                                  <p:stCondLst>
                                    <p:cond delay="0"/>
                                  </p:stCondLst>
                                  <p:childTnLst>
                                    <p:animEffect transition="out" filter="fade">
                                      <p:cBhvr>
                                        <p:cTn id="157" dur="500"/>
                                        <p:tgtEl>
                                          <p:spTgt spid="40"/>
                                        </p:tgtEl>
                                      </p:cBhvr>
                                    </p:animEffect>
                                    <p:set>
                                      <p:cBhvr>
                                        <p:cTn id="158" dur="1" fill="hold">
                                          <p:stCondLst>
                                            <p:cond delay="499"/>
                                          </p:stCondLst>
                                        </p:cTn>
                                        <p:tgtEl>
                                          <p:spTgt spid="40"/>
                                        </p:tgtEl>
                                        <p:attrNameLst>
                                          <p:attrName>style.visibility</p:attrName>
                                        </p:attrNameLst>
                                      </p:cBhvr>
                                      <p:to>
                                        <p:strVal val="hidden"/>
                                      </p:to>
                                    </p:set>
                                  </p:childTnLst>
                                </p:cTn>
                              </p:par>
                              <p:par>
                                <p:cTn id="159" presetID="10" presetClass="exit" presetSubtype="0" fill="hold" grpId="1" nodeType="withEffect">
                                  <p:stCondLst>
                                    <p:cond delay="0"/>
                                  </p:stCondLst>
                                  <p:childTnLst>
                                    <p:animEffect transition="out" filter="fade">
                                      <p:cBhvr>
                                        <p:cTn id="160" dur="500"/>
                                        <p:tgtEl>
                                          <p:spTgt spid="41"/>
                                        </p:tgtEl>
                                      </p:cBhvr>
                                    </p:animEffect>
                                    <p:set>
                                      <p:cBhvr>
                                        <p:cTn id="161" dur="1" fill="hold">
                                          <p:stCondLst>
                                            <p:cond delay="499"/>
                                          </p:stCondLst>
                                        </p:cTn>
                                        <p:tgtEl>
                                          <p:spTgt spid="41"/>
                                        </p:tgtEl>
                                        <p:attrNameLst>
                                          <p:attrName>style.visibility</p:attrName>
                                        </p:attrNameLst>
                                      </p:cBhvr>
                                      <p:to>
                                        <p:strVal val="hidden"/>
                                      </p:to>
                                    </p:set>
                                  </p:childTnLst>
                                </p:cTn>
                              </p:par>
                              <p:par>
                                <p:cTn id="162" presetID="10" presetClass="exit" presetSubtype="0" fill="hold" grpId="1" nodeType="withEffect">
                                  <p:stCondLst>
                                    <p:cond delay="0"/>
                                  </p:stCondLst>
                                  <p:childTnLst>
                                    <p:animEffect transition="out" filter="fade">
                                      <p:cBhvr>
                                        <p:cTn id="163" dur="500"/>
                                        <p:tgtEl>
                                          <p:spTgt spid="42"/>
                                        </p:tgtEl>
                                      </p:cBhvr>
                                    </p:animEffect>
                                    <p:set>
                                      <p:cBhvr>
                                        <p:cTn id="164" dur="1" fill="hold">
                                          <p:stCondLst>
                                            <p:cond delay="499"/>
                                          </p:stCondLst>
                                        </p:cTn>
                                        <p:tgtEl>
                                          <p:spTgt spid="42"/>
                                        </p:tgtEl>
                                        <p:attrNameLst>
                                          <p:attrName>style.visibility</p:attrName>
                                        </p:attrNameLst>
                                      </p:cBhvr>
                                      <p:to>
                                        <p:strVal val="hidden"/>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nodeType="clickEffect">
                                  <p:stCondLst>
                                    <p:cond delay="0"/>
                                  </p:stCondLst>
                                  <p:childTnLst>
                                    <p:set>
                                      <p:cBhvr>
                                        <p:cTn id="168" dur="1" fill="hold">
                                          <p:stCondLst>
                                            <p:cond delay="0"/>
                                          </p:stCondLst>
                                        </p:cTn>
                                        <p:tgtEl>
                                          <p:spTgt spid="100"/>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nodeType="clickEffect">
                                  <p:stCondLst>
                                    <p:cond delay="0"/>
                                  </p:stCondLst>
                                  <p:childTnLst>
                                    <p:set>
                                      <p:cBhvr>
                                        <p:cTn id="172" dur="1" fill="hold">
                                          <p:stCondLst>
                                            <p:cond delay="0"/>
                                          </p:stCondLst>
                                        </p:cTn>
                                        <p:tgtEl>
                                          <p:spTgt spid="4"/>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nodeType="clickEffect">
                                  <p:stCondLst>
                                    <p:cond delay="0"/>
                                  </p:stCondLst>
                                  <p:childTnLst>
                                    <p:set>
                                      <p:cBhvr>
                                        <p:cTn id="17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23" grpId="0"/>
      <p:bldP spid="23" grpId="1"/>
      <p:bldP spid="32" grpId="0"/>
      <p:bldP spid="32" grpId="1"/>
      <p:bldP spid="33" grpId="0"/>
      <p:bldP spid="33" grpId="1"/>
      <p:bldP spid="34" grpId="0"/>
      <p:bldP spid="34" grpId="1"/>
      <p:bldP spid="35" grpId="0"/>
      <p:bldP spid="35" grpId="1"/>
      <p:bldP spid="36" grpId="0"/>
      <p:bldP spid="36" grpId="1"/>
      <p:bldP spid="37" grpId="0"/>
      <p:bldP spid="37" grpId="1"/>
      <p:bldP spid="38" grpId="0"/>
      <p:bldP spid="38" grpId="1"/>
      <p:bldP spid="39" grpId="0"/>
      <p:bldP spid="39" grpId="1"/>
      <p:bldP spid="40" grpId="0"/>
      <p:bldP spid="40" grpId="1"/>
      <p:bldP spid="41" grpId="0"/>
      <p:bldP spid="41" grpId="1"/>
      <p:bldP spid="42" grpId="0"/>
      <p:bldP spid="42"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圆角矩形 5"/>
          <p:cNvSpPr>
            <a:spLocks noChangeArrowheads="1"/>
          </p:cNvSpPr>
          <p:nvPr/>
        </p:nvSpPr>
        <p:spPr bwMode="auto">
          <a:xfrm>
            <a:off x="260350" y="439738"/>
            <a:ext cx="8623300" cy="4462463"/>
          </a:xfrm>
          <a:prstGeom prst="roundRect">
            <a:avLst>
              <a:gd name="adj" fmla="val 16667"/>
            </a:avLst>
          </a:prstGeom>
          <a:gradFill>
            <a:gsLst>
              <a:gs pos="0">
                <a:schemeClr val="accent1">
                  <a:lumMod val="5000"/>
                  <a:lumOff val="95000"/>
                </a:schemeClr>
              </a:gs>
              <a:gs pos="90000">
                <a:srgbClr val="F4F3D2"/>
              </a:gs>
            </a:gsLst>
            <a:lin ang="2700000" scaled="1"/>
          </a:gradFill>
          <a:ln w="47625">
            <a:solidFill>
              <a:srgbClr val="FC6C02"/>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useBgFill="1">
        <p:nvSpPr>
          <p:cNvPr id="12" name="矩形 11"/>
          <p:cNvSpPr/>
          <p:nvPr/>
        </p:nvSpPr>
        <p:spPr>
          <a:xfrm>
            <a:off x="717549" y="121918"/>
            <a:ext cx="2847255" cy="584771"/>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存储器</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20" name="左大括号 19"/>
          <p:cNvSpPr/>
          <p:nvPr/>
        </p:nvSpPr>
        <p:spPr bwMode="auto">
          <a:xfrm>
            <a:off x="3192463" y="962025"/>
            <a:ext cx="576263" cy="3417888"/>
          </a:xfrm>
          <a:prstGeom prst="leftBrace">
            <a:avLst/>
          </a:prstGeom>
          <a:noFill/>
          <a:ln w="38100" cap="flat" cmpd="sng" algn="ctr">
            <a:solidFill>
              <a:srgbClr val="FC6C02"/>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solidFill>
                  <a:srgbClr val="FC6C02"/>
                </a:solid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1" name="流程图: 可选过程 20"/>
          <p:cNvSpPr/>
          <p:nvPr/>
        </p:nvSpPr>
        <p:spPr bwMode="auto">
          <a:xfrm>
            <a:off x="915166" y="1947904"/>
            <a:ext cx="1910234" cy="1342840"/>
          </a:xfrm>
          <a:prstGeom prst="flowChartAlternateProcess">
            <a:avLst/>
          </a:prstGeom>
          <a:solidFill>
            <a:srgbClr val="FC6C02"/>
          </a:solidFill>
          <a:ln w="9525" cap="flat" cmpd="sng" algn="ctr">
            <a:solidFill>
              <a:srgbClr val="FC6C02"/>
            </a:solidFill>
            <a:prstDash val="solid"/>
            <a:round/>
            <a:headEnd type="none" w="med" len="med"/>
            <a:tailEnd type="none" w="med" len="med"/>
          </a:ln>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solidFill>
                    <a:schemeClr val="bg1"/>
                  </a:solidFill>
                </a:ln>
                <a:solidFill>
                  <a:schemeClr val="bg1"/>
                </a:solidFill>
                <a:effectLst/>
                <a:uLnTx/>
                <a:uFillTx/>
                <a:latin typeface="+mn-ea"/>
                <a:ea typeface="+mn-ea"/>
                <a:cs typeface="+mn-cs"/>
              </a:rPr>
              <a:t>512MB Block 1</a:t>
            </a:r>
            <a:endParaRPr kumimoji="0" lang="en-US" altLang="zh-CN" sz="2400" b="1" i="0" u="none" strike="noStrike" kern="1200" cap="none" spc="0" normalizeH="0" baseline="0" noProof="0" dirty="0">
              <a:ln>
                <a:solidFill>
                  <a:schemeClr val="bg1"/>
                </a:solidFill>
              </a:ln>
              <a:solidFill>
                <a:schemeClr val="bg1"/>
              </a:solidFill>
              <a:effectLst/>
              <a:uLnTx/>
              <a:uFillTx/>
              <a:latin typeface="+mn-ea"/>
              <a:ea typeface="+mn-ea"/>
              <a:cs typeface="+mn-cs"/>
            </a:endParaRP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solidFill>
                    <a:schemeClr val="bg1"/>
                  </a:solidFill>
                </a:ln>
                <a:solidFill>
                  <a:schemeClr val="bg1"/>
                </a:solidFill>
                <a:effectLst/>
                <a:uLnTx/>
                <a:uFillTx/>
                <a:latin typeface="+mn-ea"/>
                <a:ea typeface="+mn-ea"/>
                <a:cs typeface="+mn-cs"/>
              </a:rPr>
              <a:t>SRAM</a:t>
            </a:r>
            <a:endParaRPr kumimoji="0" lang="zh-CN" altLang="en-US" sz="2400" b="1" i="0" u="none" strike="noStrike" kern="1200" cap="none" spc="0" normalizeH="0" baseline="0" noProof="0" dirty="0">
              <a:ln>
                <a:solidFill>
                  <a:schemeClr val="bg1"/>
                </a:solidFill>
              </a:ln>
              <a:solidFill>
                <a:schemeClr val="bg1"/>
              </a:solidFill>
              <a:effectLst/>
              <a:uLnTx/>
              <a:uFillTx/>
              <a:latin typeface="+mn-ea"/>
              <a:ea typeface="+mn-ea"/>
              <a:cs typeface="+mn-cs"/>
            </a:endParaRPr>
          </a:p>
        </p:txBody>
      </p:sp>
      <p:sp>
        <p:nvSpPr>
          <p:cNvPr id="24" name="流程图: 可选过程 23"/>
          <p:cNvSpPr/>
          <p:nvPr/>
        </p:nvSpPr>
        <p:spPr>
          <a:xfrm>
            <a:off x="4572000" y="743332"/>
            <a:ext cx="2592288" cy="576064"/>
          </a:xfrm>
          <a:prstGeom prst="flowChartAlternateProcess">
            <a:avLst/>
          </a:prstGeom>
          <a:gradFill flip="none" rotWithShape="1">
            <a:gsLst>
              <a:gs pos="0">
                <a:srgbClr val="FF0000"/>
              </a:gs>
              <a:gs pos="64000">
                <a:srgbClr val="F89D24"/>
              </a:gs>
            </a:gsLst>
            <a:path path="circle">
              <a:fillToRect l="100000" b="100000"/>
            </a:path>
            <a:tileRect t="-100000" r="-100000"/>
          </a:gradFill>
          <a:ln>
            <a:solidFill>
              <a:srgbClr val="FC6C0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dirty="0">
                <a:ln>
                  <a:noFill/>
                </a:ln>
                <a:solidFill>
                  <a:schemeClr val="lt1"/>
                </a:solidFill>
                <a:effectLst/>
                <a:uLnTx/>
                <a:uFillTx/>
                <a:latin typeface="+mn-lt"/>
                <a:ea typeface="+mn-ea"/>
                <a:cs typeface="+mn-cs"/>
              </a:rPr>
              <a:t>保留区</a:t>
            </a:r>
            <a:endParaRPr kumimoji="0" lang="zh-CN" altLang="en-US" sz="2400" b="1" i="0" u="none" strike="noStrike" kern="1200" cap="none" spc="0" normalizeH="0" baseline="0" noProof="0" dirty="0">
              <a:ln>
                <a:noFill/>
              </a:ln>
              <a:solidFill>
                <a:schemeClr val="lt1"/>
              </a:solidFill>
              <a:effectLst/>
              <a:uLnTx/>
              <a:uFillTx/>
              <a:latin typeface="+mn-lt"/>
              <a:ea typeface="+mn-ea"/>
              <a:cs typeface="+mn-cs"/>
            </a:endParaRPr>
          </a:p>
        </p:txBody>
      </p:sp>
      <p:sp>
        <p:nvSpPr>
          <p:cNvPr id="30" name="流程图: 可选过程 29"/>
          <p:cNvSpPr/>
          <p:nvPr/>
        </p:nvSpPr>
        <p:spPr>
          <a:xfrm>
            <a:off x="4572000" y="3957253"/>
            <a:ext cx="2592288" cy="576064"/>
          </a:xfrm>
          <a:prstGeom prst="flowChartAlternateProcess">
            <a:avLst/>
          </a:prstGeom>
          <a:gradFill flip="none" rotWithShape="1">
            <a:gsLst>
              <a:gs pos="0">
                <a:srgbClr val="FF0000"/>
              </a:gs>
              <a:gs pos="64000">
                <a:srgbClr val="F89D24"/>
              </a:gs>
            </a:gsLst>
            <a:path path="circle">
              <a:fillToRect l="100000" b="100000"/>
            </a:path>
            <a:tileRect t="-100000" r="-100000"/>
          </a:gradFill>
          <a:ln>
            <a:solidFill>
              <a:srgbClr val="FC6C0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lt1"/>
                </a:solidFill>
                <a:effectLst/>
                <a:uLnTx/>
                <a:uFillTx/>
                <a:latin typeface="+mn-ea"/>
                <a:ea typeface="+mn-ea"/>
                <a:cs typeface="+mn-cs"/>
              </a:rPr>
              <a:t>SRAM</a:t>
            </a:r>
            <a:r>
              <a:rPr kumimoji="0" lang="zh-CN" altLang="en-US" sz="2400" b="1" i="0" u="none" strike="noStrike" kern="1200" cap="none" spc="0" normalizeH="0" baseline="0" noProof="0" dirty="0">
                <a:ln>
                  <a:noFill/>
                </a:ln>
                <a:solidFill>
                  <a:schemeClr val="lt1"/>
                </a:solidFill>
                <a:effectLst/>
                <a:uLnTx/>
                <a:uFillTx/>
                <a:latin typeface="+mn-ea"/>
                <a:ea typeface="+mn-ea"/>
                <a:cs typeface="+mn-cs"/>
              </a:rPr>
              <a:t> </a:t>
            </a:r>
            <a:r>
              <a:rPr kumimoji="0" lang="en-US" altLang="zh-CN" sz="2400" b="1" i="0" u="none" strike="noStrike" kern="1200" cap="none" spc="0" normalizeH="0" baseline="0" noProof="0" dirty="0">
                <a:ln>
                  <a:noFill/>
                </a:ln>
                <a:solidFill>
                  <a:schemeClr val="lt1"/>
                </a:solidFill>
                <a:effectLst/>
                <a:uLnTx/>
                <a:uFillTx/>
                <a:latin typeface="+mn-ea"/>
                <a:ea typeface="+mn-ea"/>
                <a:cs typeface="+mn-cs"/>
              </a:rPr>
              <a:t>64KB</a:t>
            </a:r>
            <a:endParaRPr kumimoji="0" lang="zh-CN" altLang="en-US" sz="2400" b="1" i="0" u="none" strike="noStrike" kern="1200" cap="none" spc="0" normalizeH="0" baseline="0" noProof="0" dirty="0">
              <a:ln>
                <a:noFill/>
              </a:ln>
              <a:solidFill>
                <a:schemeClr val="lt1"/>
              </a:solidFill>
              <a:effectLst/>
              <a:uLnTx/>
              <a:uFillTx/>
              <a:latin typeface="+mn-ea"/>
              <a:ea typeface="+mn-ea"/>
              <a:cs typeface="+mn-cs"/>
            </a:endParaRPr>
          </a:p>
        </p:txBody>
      </p:sp>
      <p:sp>
        <p:nvSpPr>
          <p:cNvPr id="32" name="文本框 31"/>
          <p:cNvSpPr txBox="1"/>
          <p:nvPr/>
        </p:nvSpPr>
        <p:spPr>
          <a:xfrm>
            <a:off x="7154863" y="3919538"/>
            <a:ext cx="1728787" cy="338137"/>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0x2000 FFFF</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36" name="文本框 35"/>
          <p:cNvSpPr txBox="1"/>
          <p:nvPr/>
        </p:nvSpPr>
        <p:spPr>
          <a:xfrm>
            <a:off x="7159625" y="4241800"/>
            <a:ext cx="1728788" cy="338138"/>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0x2000 0000</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41" name="文本框 40"/>
          <p:cNvSpPr txBox="1"/>
          <p:nvPr/>
        </p:nvSpPr>
        <p:spPr>
          <a:xfrm>
            <a:off x="7127875" y="1020763"/>
            <a:ext cx="1728788" cy="338137"/>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0x2001 0000</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42" name="文本框 41"/>
          <p:cNvSpPr txBox="1"/>
          <p:nvPr/>
        </p:nvSpPr>
        <p:spPr>
          <a:xfrm>
            <a:off x="7127875" y="677863"/>
            <a:ext cx="1728788" cy="339725"/>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0x3FFF FFFF</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up)">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47"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anim calcmode="lin" valueType="num">
                                      <p:cBhvr>
                                        <p:cTn id="13" dur="500" fill="hold"/>
                                        <p:tgtEl>
                                          <p:spTgt spid="24"/>
                                        </p:tgtEl>
                                        <p:attrNameLst>
                                          <p:attrName>ppt_x</p:attrName>
                                        </p:attrNameLst>
                                      </p:cBhvr>
                                      <p:tavLst>
                                        <p:tav tm="0">
                                          <p:val>
                                            <p:strVal val="#ppt_x"/>
                                          </p:val>
                                        </p:tav>
                                        <p:tav tm="100000">
                                          <p:val>
                                            <p:strVal val="#ppt_x"/>
                                          </p:val>
                                        </p:tav>
                                      </p:tavLst>
                                    </p:anim>
                                    <p:anim calcmode="lin" valueType="num">
                                      <p:cBhvr>
                                        <p:cTn id="14" dur="500" fill="hold"/>
                                        <p:tgtEl>
                                          <p:spTgt spid="24"/>
                                        </p:tgtEl>
                                        <p:attrNameLst>
                                          <p:attrName>ppt_y</p:attrName>
                                        </p:attrNameLst>
                                      </p:cBhvr>
                                      <p:tavLst>
                                        <p:tav tm="0">
                                          <p:val>
                                            <p:strVal val="#ppt_y-.1"/>
                                          </p:val>
                                        </p:tav>
                                        <p:tav tm="100000">
                                          <p:val>
                                            <p:strVal val="#ppt_y"/>
                                          </p:val>
                                        </p:tav>
                                      </p:tavLst>
                                    </p:anim>
                                  </p:childTnLst>
                                </p:cTn>
                              </p:par>
                              <p:par>
                                <p:cTn id="15" presetID="47" presetClass="entr" presetSubtype="0" fill="hold" nodeType="with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anim calcmode="lin" valueType="num">
                                      <p:cBhvr>
                                        <p:cTn id="18" dur="500" fill="hold"/>
                                        <p:tgtEl>
                                          <p:spTgt spid="30"/>
                                        </p:tgtEl>
                                        <p:attrNameLst>
                                          <p:attrName>ppt_x</p:attrName>
                                        </p:attrNameLst>
                                      </p:cBhvr>
                                      <p:tavLst>
                                        <p:tav tm="0">
                                          <p:val>
                                            <p:strVal val="#ppt_x"/>
                                          </p:val>
                                        </p:tav>
                                        <p:tav tm="100000">
                                          <p:val>
                                            <p:strVal val="#ppt_x"/>
                                          </p:val>
                                        </p:tav>
                                      </p:tavLst>
                                    </p:anim>
                                    <p:anim calcmode="lin" valueType="num">
                                      <p:cBhvr>
                                        <p:cTn id="19" dur="500" fill="hold"/>
                                        <p:tgtEl>
                                          <p:spTgt spid="30"/>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anim calcmode="lin" valueType="num">
                                      <p:cBhvr>
                                        <p:cTn id="23" dur="500" fill="hold"/>
                                        <p:tgtEl>
                                          <p:spTgt spid="32"/>
                                        </p:tgtEl>
                                        <p:attrNameLst>
                                          <p:attrName>ppt_x</p:attrName>
                                        </p:attrNameLst>
                                      </p:cBhvr>
                                      <p:tavLst>
                                        <p:tav tm="0">
                                          <p:val>
                                            <p:strVal val="#ppt_x"/>
                                          </p:val>
                                        </p:tav>
                                        <p:tav tm="100000">
                                          <p:val>
                                            <p:strVal val="#ppt_x"/>
                                          </p:val>
                                        </p:tav>
                                      </p:tavLst>
                                    </p:anim>
                                    <p:anim calcmode="lin" valueType="num">
                                      <p:cBhvr>
                                        <p:cTn id="24" dur="500" fill="hold"/>
                                        <p:tgtEl>
                                          <p:spTgt spid="32"/>
                                        </p:tgtEl>
                                        <p:attrNameLst>
                                          <p:attrName>ppt_y</p:attrName>
                                        </p:attrNameLst>
                                      </p:cBhvr>
                                      <p:tavLst>
                                        <p:tav tm="0">
                                          <p:val>
                                            <p:strVal val="#ppt_y-.1"/>
                                          </p:val>
                                        </p:tav>
                                        <p:tav tm="100000">
                                          <p:val>
                                            <p:strVal val="#ppt_y"/>
                                          </p:val>
                                        </p:tav>
                                      </p:tavLst>
                                    </p:anim>
                                  </p:childTnLst>
                                </p:cTn>
                              </p:par>
                              <p:par>
                                <p:cTn id="25" presetID="47"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500"/>
                                        <p:tgtEl>
                                          <p:spTgt spid="36"/>
                                        </p:tgtEl>
                                      </p:cBhvr>
                                    </p:animEffect>
                                    <p:anim calcmode="lin" valueType="num">
                                      <p:cBhvr>
                                        <p:cTn id="28" dur="500" fill="hold"/>
                                        <p:tgtEl>
                                          <p:spTgt spid="36"/>
                                        </p:tgtEl>
                                        <p:attrNameLst>
                                          <p:attrName>ppt_x</p:attrName>
                                        </p:attrNameLst>
                                      </p:cBhvr>
                                      <p:tavLst>
                                        <p:tav tm="0">
                                          <p:val>
                                            <p:strVal val="#ppt_x"/>
                                          </p:val>
                                        </p:tav>
                                        <p:tav tm="100000">
                                          <p:val>
                                            <p:strVal val="#ppt_x"/>
                                          </p:val>
                                        </p:tav>
                                      </p:tavLst>
                                    </p:anim>
                                    <p:anim calcmode="lin" valueType="num">
                                      <p:cBhvr>
                                        <p:cTn id="29" dur="500" fill="hold"/>
                                        <p:tgtEl>
                                          <p:spTgt spid="36"/>
                                        </p:tgtEl>
                                        <p:attrNameLst>
                                          <p:attrName>ppt_y</p:attrName>
                                        </p:attrNameLst>
                                      </p:cBhvr>
                                      <p:tavLst>
                                        <p:tav tm="0">
                                          <p:val>
                                            <p:strVal val="#ppt_y-.1"/>
                                          </p:val>
                                        </p:tav>
                                        <p:tav tm="100000">
                                          <p:val>
                                            <p:strVal val="#ppt_y"/>
                                          </p:val>
                                        </p:tav>
                                      </p:tavLst>
                                    </p:anim>
                                  </p:childTnLst>
                                </p:cTn>
                              </p:par>
                              <p:par>
                                <p:cTn id="30" presetID="47" presetClass="entr" presetSubtype="0" fill="hold" grpId="0" nodeType="with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fade">
                                      <p:cBhvr>
                                        <p:cTn id="32" dur="500"/>
                                        <p:tgtEl>
                                          <p:spTgt spid="41"/>
                                        </p:tgtEl>
                                      </p:cBhvr>
                                    </p:animEffect>
                                    <p:anim calcmode="lin" valueType="num">
                                      <p:cBhvr>
                                        <p:cTn id="33" dur="500" fill="hold"/>
                                        <p:tgtEl>
                                          <p:spTgt spid="41"/>
                                        </p:tgtEl>
                                        <p:attrNameLst>
                                          <p:attrName>ppt_x</p:attrName>
                                        </p:attrNameLst>
                                      </p:cBhvr>
                                      <p:tavLst>
                                        <p:tav tm="0">
                                          <p:val>
                                            <p:strVal val="#ppt_x"/>
                                          </p:val>
                                        </p:tav>
                                        <p:tav tm="100000">
                                          <p:val>
                                            <p:strVal val="#ppt_x"/>
                                          </p:val>
                                        </p:tav>
                                      </p:tavLst>
                                    </p:anim>
                                    <p:anim calcmode="lin" valueType="num">
                                      <p:cBhvr>
                                        <p:cTn id="34" dur="500" fill="hold"/>
                                        <p:tgtEl>
                                          <p:spTgt spid="41"/>
                                        </p:tgtEl>
                                        <p:attrNameLst>
                                          <p:attrName>ppt_y</p:attrName>
                                        </p:attrNameLst>
                                      </p:cBhvr>
                                      <p:tavLst>
                                        <p:tav tm="0">
                                          <p:val>
                                            <p:strVal val="#ppt_y-.1"/>
                                          </p:val>
                                        </p:tav>
                                        <p:tav tm="100000">
                                          <p:val>
                                            <p:strVal val="#ppt_y"/>
                                          </p:val>
                                        </p:tav>
                                      </p:tavLst>
                                    </p:anim>
                                  </p:childTnLst>
                                </p:cTn>
                              </p:par>
                              <p:par>
                                <p:cTn id="35" presetID="47" presetClass="entr" presetSubtype="0"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animEffect transition="in" filter="fade">
                                      <p:cBhvr>
                                        <p:cTn id="37" dur="500"/>
                                        <p:tgtEl>
                                          <p:spTgt spid="42"/>
                                        </p:tgtEl>
                                      </p:cBhvr>
                                    </p:animEffect>
                                    <p:anim calcmode="lin" valueType="num">
                                      <p:cBhvr>
                                        <p:cTn id="38" dur="500" fill="hold"/>
                                        <p:tgtEl>
                                          <p:spTgt spid="42"/>
                                        </p:tgtEl>
                                        <p:attrNameLst>
                                          <p:attrName>ppt_x</p:attrName>
                                        </p:attrNameLst>
                                      </p:cBhvr>
                                      <p:tavLst>
                                        <p:tav tm="0">
                                          <p:val>
                                            <p:strVal val="#ppt_x"/>
                                          </p:val>
                                        </p:tav>
                                        <p:tav tm="100000">
                                          <p:val>
                                            <p:strVal val="#ppt_x"/>
                                          </p:val>
                                        </p:tav>
                                      </p:tavLst>
                                    </p:anim>
                                    <p:anim calcmode="lin" valueType="num">
                                      <p:cBhvr>
                                        <p:cTn id="39" dur="5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grpId="1" nodeType="clickEffect">
                                  <p:stCondLst>
                                    <p:cond delay="0"/>
                                  </p:stCondLst>
                                  <p:childTnLst>
                                    <p:animEffect transition="out" filter="fade">
                                      <p:cBhvr>
                                        <p:cTn id="43" dur="500"/>
                                        <p:tgtEl>
                                          <p:spTgt spid="20"/>
                                        </p:tgtEl>
                                      </p:cBhvr>
                                    </p:animEffect>
                                    <p:set>
                                      <p:cBhvr>
                                        <p:cTn id="44" dur="1" fill="hold">
                                          <p:stCondLst>
                                            <p:cond delay="499"/>
                                          </p:stCondLst>
                                        </p:cTn>
                                        <p:tgtEl>
                                          <p:spTgt spid="20"/>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500"/>
                                        <p:tgtEl>
                                          <p:spTgt spid="24"/>
                                        </p:tgtEl>
                                      </p:cBhvr>
                                    </p:animEffect>
                                    <p:set>
                                      <p:cBhvr>
                                        <p:cTn id="47" dur="1" fill="hold">
                                          <p:stCondLst>
                                            <p:cond delay="499"/>
                                          </p:stCondLst>
                                        </p:cTn>
                                        <p:tgtEl>
                                          <p:spTgt spid="24"/>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49" dur="500"/>
                                        <p:tgtEl>
                                          <p:spTgt spid="30"/>
                                        </p:tgtEl>
                                      </p:cBhvr>
                                    </p:animEffect>
                                    <p:set>
                                      <p:cBhvr>
                                        <p:cTn id="50" dur="1" fill="hold">
                                          <p:stCondLst>
                                            <p:cond delay="499"/>
                                          </p:stCondLst>
                                        </p:cTn>
                                        <p:tgtEl>
                                          <p:spTgt spid="30"/>
                                        </p:tgtEl>
                                        <p:attrNameLst>
                                          <p:attrName>style.visibility</p:attrName>
                                        </p:attrNameLst>
                                      </p:cBhvr>
                                      <p:to>
                                        <p:strVal val="hidden"/>
                                      </p:to>
                                    </p:set>
                                  </p:childTnLst>
                                </p:cTn>
                              </p:par>
                              <p:par>
                                <p:cTn id="51" presetID="10" presetClass="exit" presetSubtype="0" fill="hold" grpId="1" nodeType="withEffect">
                                  <p:stCondLst>
                                    <p:cond delay="0"/>
                                  </p:stCondLst>
                                  <p:childTnLst>
                                    <p:animEffect transition="out" filter="fade">
                                      <p:cBhvr>
                                        <p:cTn id="52" dur="500"/>
                                        <p:tgtEl>
                                          <p:spTgt spid="32"/>
                                        </p:tgtEl>
                                      </p:cBhvr>
                                    </p:animEffect>
                                    <p:set>
                                      <p:cBhvr>
                                        <p:cTn id="53" dur="1" fill="hold">
                                          <p:stCondLst>
                                            <p:cond delay="499"/>
                                          </p:stCondLst>
                                        </p:cTn>
                                        <p:tgtEl>
                                          <p:spTgt spid="32"/>
                                        </p:tgtEl>
                                        <p:attrNameLst>
                                          <p:attrName>style.visibility</p:attrName>
                                        </p:attrNameLst>
                                      </p:cBhvr>
                                      <p:to>
                                        <p:strVal val="hidden"/>
                                      </p:to>
                                    </p:set>
                                  </p:childTnLst>
                                </p:cTn>
                              </p:par>
                              <p:par>
                                <p:cTn id="54" presetID="10" presetClass="exit" presetSubtype="0" fill="hold" grpId="1" nodeType="withEffect">
                                  <p:stCondLst>
                                    <p:cond delay="0"/>
                                  </p:stCondLst>
                                  <p:childTnLst>
                                    <p:animEffect transition="out" filter="fade">
                                      <p:cBhvr>
                                        <p:cTn id="55" dur="500"/>
                                        <p:tgtEl>
                                          <p:spTgt spid="36"/>
                                        </p:tgtEl>
                                      </p:cBhvr>
                                    </p:animEffect>
                                    <p:set>
                                      <p:cBhvr>
                                        <p:cTn id="56" dur="1" fill="hold">
                                          <p:stCondLst>
                                            <p:cond delay="499"/>
                                          </p:stCondLst>
                                        </p:cTn>
                                        <p:tgtEl>
                                          <p:spTgt spid="36"/>
                                        </p:tgtEl>
                                        <p:attrNameLst>
                                          <p:attrName>style.visibility</p:attrName>
                                        </p:attrNameLst>
                                      </p:cBhvr>
                                      <p:to>
                                        <p:strVal val="hidden"/>
                                      </p:to>
                                    </p:set>
                                  </p:childTnLst>
                                </p:cTn>
                              </p:par>
                              <p:par>
                                <p:cTn id="57" presetID="10" presetClass="exit" presetSubtype="0" fill="hold" grpId="1" nodeType="withEffect">
                                  <p:stCondLst>
                                    <p:cond delay="0"/>
                                  </p:stCondLst>
                                  <p:childTnLst>
                                    <p:animEffect transition="out" filter="fade">
                                      <p:cBhvr>
                                        <p:cTn id="58" dur="500"/>
                                        <p:tgtEl>
                                          <p:spTgt spid="41"/>
                                        </p:tgtEl>
                                      </p:cBhvr>
                                    </p:animEffect>
                                    <p:set>
                                      <p:cBhvr>
                                        <p:cTn id="59" dur="1" fill="hold">
                                          <p:stCondLst>
                                            <p:cond delay="499"/>
                                          </p:stCondLst>
                                        </p:cTn>
                                        <p:tgtEl>
                                          <p:spTgt spid="41"/>
                                        </p:tgtEl>
                                        <p:attrNameLst>
                                          <p:attrName>style.visibility</p:attrName>
                                        </p:attrNameLst>
                                      </p:cBhvr>
                                      <p:to>
                                        <p:strVal val="hidden"/>
                                      </p:to>
                                    </p:set>
                                  </p:childTnLst>
                                </p:cTn>
                              </p:par>
                              <p:par>
                                <p:cTn id="60" presetID="10" presetClass="exit" presetSubtype="0" fill="hold" grpId="1" nodeType="withEffect">
                                  <p:stCondLst>
                                    <p:cond delay="0"/>
                                  </p:stCondLst>
                                  <p:childTnLst>
                                    <p:animEffect transition="out" filter="fade">
                                      <p:cBhvr>
                                        <p:cTn id="61" dur="500"/>
                                        <p:tgtEl>
                                          <p:spTgt spid="42"/>
                                        </p:tgtEl>
                                      </p:cBhvr>
                                    </p:animEffect>
                                    <p:set>
                                      <p:cBhvr>
                                        <p:cTn id="62" dur="1" fill="hold">
                                          <p:stCondLst>
                                            <p:cond delay="499"/>
                                          </p:stCondLst>
                                        </p:cTn>
                                        <p:tgtEl>
                                          <p:spTgt spid="4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32" grpId="0"/>
      <p:bldP spid="32" grpId="1"/>
      <p:bldP spid="36" grpId="0"/>
      <p:bldP spid="36" grpId="1"/>
      <p:bldP spid="41" grpId="0"/>
      <p:bldP spid="41" grpId="1"/>
      <p:bldP spid="42" grpId="0"/>
      <p:bldP spid="42" grpId="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圆角矩形 5"/>
          <p:cNvSpPr>
            <a:spLocks noChangeArrowheads="1"/>
          </p:cNvSpPr>
          <p:nvPr/>
        </p:nvSpPr>
        <p:spPr bwMode="auto">
          <a:xfrm>
            <a:off x="260350" y="439738"/>
            <a:ext cx="8623300" cy="4462463"/>
          </a:xfrm>
          <a:prstGeom prst="roundRect">
            <a:avLst>
              <a:gd name="adj" fmla="val 16667"/>
            </a:avLst>
          </a:prstGeom>
          <a:gradFill>
            <a:gsLst>
              <a:gs pos="0">
                <a:schemeClr val="accent1">
                  <a:lumMod val="5000"/>
                  <a:lumOff val="95000"/>
                </a:schemeClr>
              </a:gs>
              <a:gs pos="90000">
                <a:srgbClr val="F4F3D2"/>
              </a:gs>
            </a:gsLst>
            <a:lin ang="2700000" scaled="1"/>
          </a:gradFill>
          <a:ln w="47625">
            <a:solidFill>
              <a:srgbClr val="FC6C02"/>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useBgFill="1">
        <p:nvSpPr>
          <p:cNvPr id="12" name="矩形 11"/>
          <p:cNvSpPr/>
          <p:nvPr/>
        </p:nvSpPr>
        <p:spPr>
          <a:xfrm>
            <a:off x="717549" y="121918"/>
            <a:ext cx="2847255" cy="584771"/>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存储器</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20" name="左大括号 19"/>
          <p:cNvSpPr/>
          <p:nvPr/>
        </p:nvSpPr>
        <p:spPr bwMode="auto">
          <a:xfrm>
            <a:off x="3192463" y="962025"/>
            <a:ext cx="576263" cy="3417888"/>
          </a:xfrm>
          <a:prstGeom prst="leftBrace">
            <a:avLst/>
          </a:prstGeom>
          <a:noFill/>
          <a:ln w="38100" cap="flat" cmpd="sng" algn="ctr">
            <a:solidFill>
              <a:srgbClr val="FC6C02"/>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solidFill>
                  <a:srgbClr val="FC6C02"/>
                </a:solid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1" name="流程图: 可选过程 20"/>
          <p:cNvSpPr/>
          <p:nvPr/>
        </p:nvSpPr>
        <p:spPr bwMode="auto">
          <a:xfrm>
            <a:off x="915166" y="1947904"/>
            <a:ext cx="1910234" cy="1342840"/>
          </a:xfrm>
          <a:prstGeom prst="flowChartAlternateProcess">
            <a:avLst/>
          </a:prstGeom>
          <a:solidFill>
            <a:srgbClr val="FC6C02"/>
          </a:solidFill>
          <a:ln w="9525" cap="flat" cmpd="sng" algn="ctr">
            <a:solidFill>
              <a:srgbClr val="FC6C02"/>
            </a:solidFill>
            <a:prstDash val="solid"/>
            <a:round/>
            <a:headEnd type="none" w="med" len="med"/>
            <a:tailEnd type="none" w="med" len="med"/>
          </a:ln>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solidFill>
                    <a:schemeClr val="bg1"/>
                  </a:solidFill>
                </a:ln>
                <a:solidFill>
                  <a:schemeClr val="bg1"/>
                </a:solidFill>
                <a:effectLst/>
                <a:uLnTx/>
                <a:uFillTx/>
                <a:latin typeface="+mn-ea"/>
                <a:ea typeface="+mn-ea"/>
                <a:cs typeface="+mn-cs"/>
              </a:rPr>
              <a:t>512MB Block 2</a:t>
            </a:r>
            <a:endParaRPr kumimoji="0" lang="en-US" altLang="zh-CN" sz="2400" b="1" i="0" u="none" strike="noStrike" kern="1200" cap="none" spc="0" normalizeH="0" baseline="0" noProof="0" dirty="0">
              <a:ln>
                <a:solidFill>
                  <a:schemeClr val="bg1"/>
                </a:solidFill>
              </a:ln>
              <a:solidFill>
                <a:schemeClr val="bg1"/>
              </a:solidFill>
              <a:effectLst/>
              <a:uLnTx/>
              <a:uFillTx/>
              <a:latin typeface="+mn-ea"/>
              <a:ea typeface="+mn-ea"/>
              <a:cs typeface="+mn-cs"/>
            </a:endParaRP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dirty="0">
                <a:ln>
                  <a:solidFill>
                    <a:schemeClr val="bg1"/>
                  </a:solidFill>
                </a:ln>
                <a:solidFill>
                  <a:schemeClr val="bg1"/>
                </a:solidFill>
                <a:effectLst/>
                <a:uLnTx/>
                <a:uFillTx/>
                <a:latin typeface="+mn-ea"/>
                <a:ea typeface="+mn-ea"/>
                <a:cs typeface="+mn-cs"/>
              </a:rPr>
              <a:t>外设</a:t>
            </a:r>
            <a:endParaRPr kumimoji="0" lang="zh-CN" altLang="en-US" sz="2400" b="1" i="0" u="none" strike="noStrike" kern="1200" cap="none" spc="0" normalizeH="0" baseline="0" noProof="0" dirty="0">
              <a:ln>
                <a:solidFill>
                  <a:schemeClr val="bg1"/>
                </a:solidFill>
              </a:ln>
              <a:solidFill>
                <a:schemeClr val="bg1"/>
              </a:solidFill>
              <a:effectLst/>
              <a:uLnTx/>
              <a:uFillTx/>
              <a:latin typeface="+mn-ea"/>
              <a:ea typeface="+mn-ea"/>
              <a:cs typeface="+mn-cs"/>
            </a:endParaRPr>
          </a:p>
        </p:txBody>
      </p:sp>
      <p:sp>
        <p:nvSpPr>
          <p:cNvPr id="24" name="流程图: 可选过程 23"/>
          <p:cNvSpPr/>
          <p:nvPr/>
        </p:nvSpPr>
        <p:spPr>
          <a:xfrm>
            <a:off x="4050305" y="729035"/>
            <a:ext cx="2592288" cy="576064"/>
          </a:xfrm>
          <a:prstGeom prst="flowChartAlternateProcess">
            <a:avLst/>
          </a:prstGeom>
          <a:gradFill flip="none" rotWithShape="1">
            <a:gsLst>
              <a:gs pos="0">
                <a:srgbClr val="FF0000"/>
              </a:gs>
              <a:gs pos="64000">
                <a:srgbClr val="F89D24"/>
              </a:gs>
            </a:gsLst>
            <a:path path="circle">
              <a:fillToRect l="100000" b="100000"/>
            </a:path>
            <a:tileRect t="-100000" r="-100000"/>
          </a:gradFill>
          <a:ln>
            <a:solidFill>
              <a:srgbClr val="FC6C0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dirty="0">
                <a:ln>
                  <a:noFill/>
                </a:ln>
                <a:solidFill>
                  <a:schemeClr val="lt1"/>
                </a:solidFill>
                <a:effectLst/>
                <a:uLnTx/>
                <a:uFillTx/>
                <a:latin typeface="+mn-lt"/>
                <a:ea typeface="+mn-ea"/>
                <a:cs typeface="+mn-cs"/>
              </a:rPr>
              <a:t>保留区</a:t>
            </a:r>
            <a:endParaRPr kumimoji="0" lang="zh-CN" altLang="en-US" sz="2400" b="1" i="0" u="none" strike="noStrike" kern="1200" cap="none" spc="0" normalizeH="0" baseline="0" noProof="0" dirty="0">
              <a:ln>
                <a:noFill/>
              </a:ln>
              <a:solidFill>
                <a:schemeClr val="lt1"/>
              </a:solidFill>
              <a:effectLst/>
              <a:uLnTx/>
              <a:uFillTx/>
              <a:latin typeface="+mn-lt"/>
              <a:ea typeface="+mn-ea"/>
              <a:cs typeface="+mn-cs"/>
            </a:endParaRPr>
          </a:p>
        </p:txBody>
      </p:sp>
      <p:sp>
        <p:nvSpPr>
          <p:cNvPr id="30" name="流程图: 可选过程 29"/>
          <p:cNvSpPr/>
          <p:nvPr/>
        </p:nvSpPr>
        <p:spPr>
          <a:xfrm>
            <a:off x="4050305" y="2571749"/>
            <a:ext cx="2592288" cy="576064"/>
          </a:xfrm>
          <a:prstGeom prst="flowChartAlternateProcess">
            <a:avLst/>
          </a:prstGeom>
          <a:gradFill flip="none" rotWithShape="1">
            <a:gsLst>
              <a:gs pos="0">
                <a:srgbClr val="FF0000"/>
              </a:gs>
              <a:gs pos="64000">
                <a:srgbClr val="F89D24"/>
              </a:gs>
            </a:gsLst>
            <a:path path="circle">
              <a:fillToRect l="100000" b="100000"/>
            </a:path>
            <a:tileRect t="-100000" r="-100000"/>
          </a:gradFill>
          <a:ln>
            <a:solidFill>
              <a:srgbClr val="FC6C0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dirty="0">
                <a:ln>
                  <a:noFill/>
                </a:ln>
                <a:solidFill>
                  <a:schemeClr val="lt1"/>
                </a:solidFill>
                <a:effectLst/>
                <a:uLnTx/>
                <a:uFillTx/>
                <a:latin typeface="+mn-ea"/>
                <a:ea typeface="+mn-ea"/>
                <a:cs typeface="+mn-cs"/>
              </a:rPr>
              <a:t>全部</a:t>
            </a:r>
            <a:r>
              <a:rPr kumimoji="0" lang="en-US" altLang="zh-CN" sz="2400" b="1" i="0" u="none" strike="noStrike" kern="1200" cap="none" spc="0" normalizeH="0" baseline="0" noProof="0" dirty="0">
                <a:ln>
                  <a:noFill/>
                </a:ln>
                <a:solidFill>
                  <a:schemeClr val="lt1"/>
                </a:solidFill>
                <a:effectLst/>
                <a:uLnTx/>
                <a:uFillTx/>
                <a:latin typeface="+mn-ea"/>
                <a:ea typeface="+mn-ea"/>
                <a:cs typeface="+mn-cs"/>
              </a:rPr>
              <a:t>APB</a:t>
            </a:r>
            <a:r>
              <a:rPr kumimoji="0" lang="zh-CN" altLang="en-US" sz="2400" b="1" i="0" u="none" strike="noStrike" kern="1200" cap="none" spc="0" normalizeH="0" baseline="0" noProof="0" dirty="0">
                <a:ln>
                  <a:noFill/>
                </a:ln>
                <a:solidFill>
                  <a:schemeClr val="lt1"/>
                </a:solidFill>
                <a:effectLst/>
                <a:uLnTx/>
                <a:uFillTx/>
                <a:latin typeface="+mn-ea"/>
                <a:ea typeface="+mn-ea"/>
                <a:cs typeface="+mn-cs"/>
              </a:rPr>
              <a:t>外设</a:t>
            </a:r>
            <a:endParaRPr kumimoji="0" lang="zh-CN" altLang="en-US" sz="2400" b="1" i="0" u="none" strike="noStrike" kern="1200" cap="none" spc="0" normalizeH="0" baseline="0" noProof="0" dirty="0">
              <a:ln>
                <a:noFill/>
              </a:ln>
              <a:solidFill>
                <a:schemeClr val="lt1"/>
              </a:solidFill>
              <a:effectLst/>
              <a:uLnTx/>
              <a:uFillTx/>
              <a:latin typeface="+mn-ea"/>
              <a:ea typeface="+mn-ea"/>
              <a:cs typeface="+mn-cs"/>
            </a:endParaRPr>
          </a:p>
        </p:txBody>
      </p:sp>
      <p:sp>
        <p:nvSpPr>
          <p:cNvPr id="32" name="文本框 31"/>
          <p:cNvSpPr txBox="1"/>
          <p:nvPr/>
        </p:nvSpPr>
        <p:spPr>
          <a:xfrm>
            <a:off x="6702425" y="2493963"/>
            <a:ext cx="1727200" cy="338137"/>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0x4002 33FF</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36" name="文本框 35"/>
          <p:cNvSpPr txBox="1"/>
          <p:nvPr/>
        </p:nvSpPr>
        <p:spPr>
          <a:xfrm>
            <a:off x="6702425" y="2855913"/>
            <a:ext cx="1727200" cy="338137"/>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0x4000 0000</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41" name="文本框 40"/>
          <p:cNvSpPr txBox="1"/>
          <p:nvPr/>
        </p:nvSpPr>
        <p:spPr>
          <a:xfrm>
            <a:off x="6700838" y="1047750"/>
            <a:ext cx="1727200" cy="339725"/>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0x4002 4400</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42" name="文本框 41"/>
          <p:cNvSpPr txBox="1"/>
          <p:nvPr/>
        </p:nvSpPr>
        <p:spPr>
          <a:xfrm>
            <a:off x="6700838" y="706438"/>
            <a:ext cx="1727200" cy="338137"/>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0x5FFF FFFF</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2" name="文本框 1"/>
          <p:cNvSpPr txBox="1">
            <a:spLocks noChangeArrowheads="1"/>
          </p:cNvSpPr>
          <p:nvPr/>
        </p:nvSpPr>
        <p:spPr bwMode="auto">
          <a:xfrm>
            <a:off x="4173538" y="3276600"/>
            <a:ext cx="4256088"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RCC</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DMA</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ADC1~3</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Port</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A~G</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endPar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USART1~5</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TIM1~8</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I/WWDG</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等</a:t>
            </a:r>
            <a:endPar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600" b="0" i="0" u="none" strike="noStrike" kern="1200" cap="none" spc="0" normalizeH="0" baseline="0" noProof="0" dirty="0">
                <a:ln>
                  <a:noFill/>
                </a:ln>
                <a:solidFill>
                  <a:schemeClr val="tx1"/>
                </a:solidFill>
                <a:effectLst/>
                <a:uLnTx/>
                <a:uFillTx/>
                <a:latin typeface="+mn-ea"/>
                <a:ea typeface="+mn-ea"/>
                <a:cs typeface="+mn-cs"/>
              </a:rPr>
              <a:t>参考资料：</a:t>
            </a:r>
            <a:r>
              <a:rPr kumimoji="0" lang="en-US" altLang="zh-CN" sz="1600" b="0" i="0" u="none" strike="noStrike" kern="1200" cap="none" spc="0" normalizeH="0" baseline="0" noProof="0" dirty="0">
                <a:ln>
                  <a:noFill/>
                </a:ln>
                <a:solidFill>
                  <a:schemeClr val="tx1"/>
                </a:solidFill>
                <a:effectLst/>
                <a:uLnTx/>
                <a:uFillTx/>
                <a:latin typeface="+mn-ea"/>
                <a:ea typeface="+mn-ea"/>
                <a:cs typeface="+mn-cs"/>
              </a:rPr>
              <a:t>《STM32</a:t>
            </a:r>
            <a:r>
              <a:rPr kumimoji="0" lang="zh-CN" altLang="en-US" sz="1600" b="0" i="0" u="none" strike="noStrike" kern="1200" cap="none" spc="0" normalizeH="0" baseline="0" noProof="0" dirty="0">
                <a:ln>
                  <a:noFill/>
                </a:ln>
                <a:solidFill>
                  <a:schemeClr val="tx1"/>
                </a:solidFill>
                <a:effectLst/>
                <a:uLnTx/>
                <a:uFillTx/>
                <a:latin typeface="+mn-ea"/>
                <a:ea typeface="+mn-ea"/>
                <a:cs typeface="+mn-cs"/>
              </a:rPr>
              <a:t>中文参考手册</a:t>
            </a:r>
            <a:r>
              <a:rPr kumimoji="0" lang="en-US" altLang="zh-CN" sz="1600" b="0" i="0" u="none" strike="noStrike" kern="1200" cap="none" spc="0" normalizeH="0" baseline="0" noProof="0" dirty="0">
                <a:ln>
                  <a:noFill/>
                </a:ln>
                <a:solidFill>
                  <a:schemeClr val="tx1"/>
                </a:solidFill>
                <a:effectLst/>
                <a:uLnTx/>
                <a:uFillTx/>
                <a:latin typeface="+mn-ea"/>
                <a:ea typeface="+mn-ea"/>
                <a:cs typeface="+mn-cs"/>
              </a:rPr>
              <a:t>》P28</a:t>
            </a:r>
            <a:endParaRPr kumimoji="0" lang="en-US" altLang="zh-CN" sz="1600" b="0" i="0" u="none" strike="noStrike" kern="1200" cap="none" spc="0" normalizeH="0" baseline="0" noProof="0" dirty="0">
              <a:ln>
                <a:noFill/>
              </a:ln>
              <a:solidFill>
                <a:schemeClr val="tx1"/>
              </a:solidFill>
              <a:effectLst/>
              <a:uLnTx/>
              <a:uFillTx/>
              <a:latin typeface="+mn-ea"/>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up)">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47"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anim calcmode="lin" valueType="num">
                                      <p:cBhvr>
                                        <p:cTn id="13" dur="500" fill="hold"/>
                                        <p:tgtEl>
                                          <p:spTgt spid="24"/>
                                        </p:tgtEl>
                                        <p:attrNameLst>
                                          <p:attrName>ppt_x</p:attrName>
                                        </p:attrNameLst>
                                      </p:cBhvr>
                                      <p:tavLst>
                                        <p:tav tm="0">
                                          <p:val>
                                            <p:strVal val="#ppt_x"/>
                                          </p:val>
                                        </p:tav>
                                        <p:tav tm="100000">
                                          <p:val>
                                            <p:strVal val="#ppt_x"/>
                                          </p:val>
                                        </p:tav>
                                      </p:tavLst>
                                    </p:anim>
                                    <p:anim calcmode="lin" valueType="num">
                                      <p:cBhvr>
                                        <p:cTn id="14" dur="500" fill="hold"/>
                                        <p:tgtEl>
                                          <p:spTgt spid="24"/>
                                        </p:tgtEl>
                                        <p:attrNameLst>
                                          <p:attrName>ppt_y</p:attrName>
                                        </p:attrNameLst>
                                      </p:cBhvr>
                                      <p:tavLst>
                                        <p:tav tm="0">
                                          <p:val>
                                            <p:strVal val="#ppt_y-.1"/>
                                          </p:val>
                                        </p:tav>
                                        <p:tav tm="100000">
                                          <p:val>
                                            <p:strVal val="#ppt_y"/>
                                          </p:val>
                                        </p:tav>
                                      </p:tavLst>
                                    </p:anim>
                                  </p:childTnLst>
                                </p:cTn>
                              </p:par>
                              <p:par>
                                <p:cTn id="15" presetID="47" presetClass="entr" presetSubtype="0" fill="hold" nodeType="with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anim calcmode="lin" valueType="num">
                                      <p:cBhvr>
                                        <p:cTn id="18" dur="500" fill="hold"/>
                                        <p:tgtEl>
                                          <p:spTgt spid="30"/>
                                        </p:tgtEl>
                                        <p:attrNameLst>
                                          <p:attrName>ppt_x</p:attrName>
                                        </p:attrNameLst>
                                      </p:cBhvr>
                                      <p:tavLst>
                                        <p:tav tm="0">
                                          <p:val>
                                            <p:strVal val="#ppt_x"/>
                                          </p:val>
                                        </p:tav>
                                        <p:tav tm="100000">
                                          <p:val>
                                            <p:strVal val="#ppt_x"/>
                                          </p:val>
                                        </p:tav>
                                      </p:tavLst>
                                    </p:anim>
                                    <p:anim calcmode="lin" valueType="num">
                                      <p:cBhvr>
                                        <p:cTn id="19" dur="500" fill="hold"/>
                                        <p:tgtEl>
                                          <p:spTgt spid="30"/>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anim calcmode="lin" valueType="num">
                                      <p:cBhvr>
                                        <p:cTn id="23" dur="500" fill="hold"/>
                                        <p:tgtEl>
                                          <p:spTgt spid="32"/>
                                        </p:tgtEl>
                                        <p:attrNameLst>
                                          <p:attrName>ppt_x</p:attrName>
                                        </p:attrNameLst>
                                      </p:cBhvr>
                                      <p:tavLst>
                                        <p:tav tm="0">
                                          <p:val>
                                            <p:strVal val="#ppt_x"/>
                                          </p:val>
                                        </p:tav>
                                        <p:tav tm="100000">
                                          <p:val>
                                            <p:strVal val="#ppt_x"/>
                                          </p:val>
                                        </p:tav>
                                      </p:tavLst>
                                    </p:anim>
                                    <p:anim calcmode="lin" valueType="num">
                                      <p:cBhvr>
                                        <p:cTn id="24" dur="500" fill="hold"/>
                                        <p:tgtEl>
                                          <p:spTgt spid="32"/>
                                        </p:tgtEl>
                                        <p:attrNameLst>
                                          <p:attrName>ppt_y</p:attrName>
                                        </p:attrNameLst>
                                      </p:cBhvr>
                                      <p:tavLst>
                                        <p:tav tm="0">
                                          <p:val>
                                            <p:strVal val="#ppt_y-.1"/>
                                          </p:val>
                                        </p:tav>
                                        <p:tav tm="100000">
                                          <p:val>
                                            <p:strVal val="#ppt_y"/>
                                          </p:val>
                                        </p:tav>
                                      </p:tavLst>
                                    </p:anim>
                                  </p:childTnLst>
                                </p:cTn>
                              </p:par>
                              <p:par>
                                <p:cTn id="25" presetID="47"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500"/>
                                        <p:tgtEl>
                                          <p:spTgt spid="36"/>
                                        </p:tgtEl>
                                      </p:cBhvr>
                                    </p:animEffect>
                                    <p:anim calcmode="lin" valueType="num">
                                      <p:cBhvr>
                                        <p:cTn id="28" dur="500" fill="hold"/>
                                        <p:tgtEl>
                                          <p:spTgt spid="36"/>
                                        </p:tgtEl>
                                        <p:attrNameLst>
                                          <p:attrName>ppt_x</p:attrName>
                                        </p:attrNameLst>
                                      </p:cBhvr>
                                      <p:tavLst>
                                        <p:tav tm="0">
                                          <p:val>
                                            <p:strVal val="#ppt_x"/>
                                          </p:val>
                                        </p:tav>
                                        <p:tav tm="100000">
                                          <p:val>
                                            <p:strVal val="#ppt_x"/>
                                          </p:val>
                                        </p:tav>
                                      </p:tavLst>
                                    </p:anim>
                                    <p:anim calcmode="lin" valueType="num">
                                      <p:cBhvr>
                                        <p:cTn id="29" dur="500" fill="hold"/>
                                        <p:tgtEl>
                                          <p:spTgt spid="36"/>
                                        </p:tgtEl>
                                        <p:attrNameLst>
                                          <p:attrName>ppt_y</p:attrName>
                                        </p:attrNameLst>
                                      </p:cBhvr>
                                      <p:tavLst>
                                        <p:tav tm="0">
                                          <p:val>
                                            <p:strVal val="#ppt_y-.1"/>
                                          </p:val>
                                        </p:tav>
                                        <p:tav tm="100000">
                                          <p:val>
                                            <p:strVal val="#ppt_y"/>
                                          </p:val>
                                        </p:tav>
                                      </p:tavLst>
                                    </p:anim>
                                  </p:childTnLst>
                                </p:cTn>
                              </p:par>
                              <p:par>
                                <p:cTn id="30" presetID="47" presetClass="entr" presetSubtype="0" fill="hold" grpId="0" nodeType="with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fade">
                                      <p:cBhvr>
                                        <p:cTn id="32" dur="500"/>
                                        <p:tgtEl>
                                          <p:spTgt spid="41"/>
                                        </p:tgtEl>
                                      </p:cBhvr>
                                    </p:animEffect>
                                    <p:anim calcmode="lin" valueType="num">
                                      <p:cBhvr>
                                        <p:cTn id="33" dur="500" fill="hold"/>
                                        <p:tgtEl>
                                          <p:spTgt spid="41"/>
                                        </p:tgtEl>
                                        <p:attrNameLst>
                                          <p:attrName>ppt_x</p:attrName>
                                        </p:attrNameLst>
                                      </p:cBhvr>
                                      <p:tavLst>
                                        <p:tav tm="0">
                                          <p:val>
                                            <p:strVal val="#ppt_x"/>
                                          </p:val>
                                        </p:tav>
                                        <p:tav tm="100000">
                                          <p:val>
                                            <p:strVal val="#ppt_x"/>
                                          </p:val>
                                        </p:tav>
                                      </p:tavLst>
                                    </p:anim>
                                    <p:anim calcmode="lin" valueType="num">
                                      <p:cBhvr>
                                        <p:cTn id="34" dur="500" fill="hold"/>
                                        <p:tgtEl>
                                          <p:spTgt spid="41"/>
                                        </p:tgtEl>
                                        <p:attrNameLst>
                                          <p:attrName>ppt_y</p:attrName>
                                        </p:attrNameLst>
                                      </p:cBhvr>
                                      <p:tavLst>
                                        <p:tav tm="0">
                                          <p:val>
                                            <p:strVal val="#ppt_y-.1"/>
                                          </p:val>
                                        </p:tav>
                                        <p:tav tm="100000">
                                          <p:val>
                                            <p:strVal val="#ppt_y"/>
                                          </p:val>
                                        </p:tav>
                                      </p:tavLst>
                                    </p:anim>
                                  </p:childTnLst>
                                </p:cTn>
                              </p:par>
                              <p:par>
                                <p:cTn id="35" presetID="47" presetClass="entr" presetSubtype="0"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animEffect transition="in" filter="fade">
                                      <p:cBhvr>
                                        <p:cTn id="37" dur="500"/>
                                        <p:tgtEl>
                                          <p:spTgt spid="42"/>
                                        </p:tgtEl>
                                      </p:cBhvr>
                                    </p:animEffect>
                                    <p:anim calcmode="lin" valueType="num">
                                      <p:cBhvr>
                                        <p:cTn id="38" dur="500" fill="hold"/>
                                        <p:tgtEl>
                                          <p:spTgt spid="42"/>
                                        </p:tgtEl>
                                        <p:attrNameLst>
                                          <p:attrName>ppt_x</p:attrName>
                                        </p:attrNameLst>
                                      </p:cBhvr>
                                      <p:tavLst>
                                        <p:tav tm="0">
                                          <p:val>
                                            <p:strVal val="#ppt_x"/>
                                          </p:val>
                                        </p:tav>
                                        <p:tav tm="100000">
                                          <p:val>
                                            <p:strVal val="#ppt_x"/>
                                          </p:val>
                                        </p:tav>
                                      </p:tavLst>
                                    </p:anim>
                                    <p:anim calcmode="lin" valueType="num">
                                      <p:cBhvr>
                                        <p:cTn id="39" dur="500" fill="hold"/>
                                        <p:tgtEl>
                                          <p:spTgt spid="42"/>
                                        </p:tgtEl>
                                        <p:attrNameLst>
                                          <p:attrName>ppt_y</p:attrName>
                                        </p:attrNameLst>
                                      </p:cBhvr>
                                      <p:tavLst>
                                        <p:tav tm="0">
                                          <p:val>
                                            <p:strVal val="#ppt_y-.1"/>
                                          </p:val>
                                        </p:tav>
                                        <p:tav tm="100000">
                                          <p:val>
                                            <p:strVal val="#ppt_y"/>
                                          </p:val>
                                        </p:tav>
                                      </p:tavLst>
                                    </p:anim>
                                  </p:childTnLst>
                                </p:cTn>
                              </p:par>
                              <p:par>
                                <p:cTn id="40" presetID="47" presetClass="entr" presetSubtype="0" fill="hold" grpId="0" nodeType="with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fade">
                                      <p:cBhvr>
                                        <p:cTn id="42" dur="500"/>
                                        <p:tgtEl>
                                          <p:spTgt spid="2"/>
                                        </p:tgtEl>
                                      </p:cBhvr>
                                    </p:animEffect>
                                    <p:anim calcmode="lin" valueType="num">
                                      <p:cBhvr>
                                        <p:cTn id="43" dur="500" fill="hold"/>
                                        <p:tgtEl>
                                          <p:spTgt spid="2"/>
                                        </p:tgtEl>
                                        <p:attrNameLst>
                                          <p:attrName>ppt_x</p:attrName>
                                        </p:attrNameLst>
                                      </p:cBhvr>
                                      <p:tavLst>
                                        <p:tav tm="0">
                                          <p:val>
                                            <p:strVal val="#ppt_x"/>
                                          </p:val>
                                        </p:tav>
                                        <p:tav tm="100000">
                                          <p:val>
                                            <p:strVal val="#ppt_x"/>
                                          </p:val>
                                        </p:tav>
                                      </p:tavLst>
                                    </p:anim>
                                    <p:anim calcmode="lin" valueType="num">
                                      <p:cBhvr>
                                        <p:cTn id="44"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grpId="1" nodeType="clickEffect">
                                  <p:stCondLst>
                                    <p:cond delay="0"/>
                                  </p:stCondLst>
                                  <p:childTnLst>
                                    <p:animEffect transition="out" filter="fade">
                                      <p:cBhvr>
                                        <p:cTn id="48" dur="500"/>
                                        <p:tgtEl>
                                          <p:spTgt spid="20"/>
                                        </p:tgtEl>
                                      </p:cBhvr>
                                    </p:animEffect>
                                    <p:set>
                                      <p:cBhvr>
                                        <p:cTn id="49" dur="1" fill="hold">
                                          <p:stCondLst>
                                            <p:cond delay="499"/>
                                          </p:stCondLst>
                                        </p:cTn>
                                        <p:tgtEl>
                                          <p:spTgt spid="20"/>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500"/>
                                        <p:tgtEl>
                                          <p:spTgt spid="24"/>
                                        </p:tgtEl>
                                      </p:cBhvr>
                                    </p:animEffect>
                                    <p:set>
                                      <p:cBhvr>
                                        <p:cTn id="52" dur="1" fill="hold">
                                          <p:stCondLst>
                                            <p:cond delay="499"/>
                                          </p:stCondLst>
                                        </p:cTn>
                                        <p:tgtEl>
                                          <p:spTgt spid="24"/>
                                        </p:tgtEl>
                                        <p:attrNameLst>
                                          <p:attrName>style.visibility</p:attrName>
                                        </p:attrNameLst>
                                      </p:cBhvr>
                                      <p:to>
                                        <p:strVal val="hidden"/>
                                      </p:to>
                                    </p:set>
                                  </p:childTnLst>
                                </p:cTn>
                              </p:par>
                              <p:par>
                                <p:cTn id="53" presetID="10" presetClass="exit" presetSubtype="0" fill="hold" nodeType="withEffect">
                                  <p:stCondLst>
                                    <p:cond delay="0"/>
                                  </p:stCondLst>
                                  <p:childTnLst>
                                    <p:animEffect transition="out" filter="fade">
                                      <p:cBhvr>
                                        <p:cTn id="54" dur="500"/>
                                        <p:tgtEl>
                                          <p:spTgt spid="30"/>
                                        </p:tgtEl>
                                      </p:cBhvr>
                                    </p:animEffect>
                                    <p:set>
                                      <p:cBhvr>
                                        <p:cTn id="55" dur="1" fill="hold">
                                          <p:stCondLst>
                                            <p:cond delay="499"/>
                                          </p:stCondLst>
                                        </p:cTn>
                                        <p:tgtEl>
                                          <p:spTgt spid="30"/>
                                        </p:tgtEl>
                                        <p:attrNameLst>
                                          <p:attrName>style.visibility</p:attrName>
                                        </p:attrNameLst>
                                      </p:cBhvr>
                                      <p:to>
                                        <p:strVal val="hidden"/>
                                      </p:to>
                                    </p:set>
                                  </p:childTnLst>
                                </p:cTn>
                              </p:par>
                              <p:par>
                                <p:cTn id="56" presetID="10" presetClass="exit" presetSubtype="0" fill="hold" grpId="1" nodeType="withEffect">
                                  <p:stCondLst>
                                    <p:cond delay="0"/>
                                  </p:stCondLst>
                                  <p:childTnLst>
                                    <p:animEffect transition="out" filter="fade">
                                      <p:cBhvr>
                                        <p:cTn id="57" dur="500"/>
                                        <p:tgtEl>
                                          <p:spTgt spid="32"/>
                                        </p:tgtEl>
                                      </p:cBhvr>
                                    </p:animEffect>
                                    <p:set>
                                      <p:cBhvr>
                                        <p:cTn id="58" dur="1" fill="hold">
                                          <p:stCondLst>
                                            <p:cond delay="499"/>
                                          </p:stCondLst>
                                        </p:cTn>
                                        <p:tgtEl>
                                          <p:spTgt spid="32"/>
                                        </p:tgtEl>
                                        <p:attrNameLst>
                                          <p:attrName>style.visibility</p:attrName>
                                        </p:attrNameLst>
                                      </p:cBhvr>
                                      <p:to>
                                        <p:strVal val="hidden"/>
                                      </p:to>
                                    </p:set>
                                  </p:childTnLst>
                                </p:cTn>
                              </p:par>
                              <p:par>
                                <p:cTn id="59" presetID="10" presetClass="exit" presetSubtype="0" fill="hold" grpId="1" nodeType="withEffect">
                                  <p:stCondLst>
                                    <p:cond delay="0"/>
                                  </p:stCondLst>
                                  <p:childTnLst>
                                    <p:animEffect transition="out" filter="fade">
                                      <p:cBhvr>
                                        <p:cTn id="60" dur="500"/>
                                        <p:tgtEl>
                                          <p:spTgt spid="36"/>
                                        </p:tgtEl>
                                      </p:cBhvr>
                                    </p:animEffect>
                                    <p:set>
                                      <p:cBhvr>
                                        <p:cTn id="61" dur="1" fill="hold">
                                          <p:stCondLst>
                                            <p:cond delay="499"/>
                                          </p:stCondLst>
                                        </p:cTn>
                                        <p:tgtEl>
                                          <p:spTgt spid="36"/>
                                        </p:tgtEl>
                                        <p:attrNameLst>
                                          <p:attrName>style.visibility</p:attrName>
                                        </p:attrNameLst>
                                      </p:cBhvr>
                                      <p:to>
                                        <p:strVal val="hidden"/>
                                      </p:to>
                                    </p:set>
                                  </p:childTnLst>
                                </p:cTn>
                              </p:par>
                              <p:par>
                                <p:cTn id="62" presetID="10" presetClass="exit" presetSubtype="0" fill="hold" grpId="1" nodeType="withEffect">
                                  <p:stCondLst>
                                    <p:cond delay="0"/>
                                  </p:stCondLst>
                                  <p:childTnLst>
                                    <p:animEffect transition="out" filter="fade">
                                      <p:cBhvr>
                                        <p:cTn id="63" dur="500"/>
                                        <p:tgtEl>
                                          <p:spTgt spid="41"/>
                                        </p:tgtEl>
                                      </p:cBhvr>
                                    </p:animEffect>
                                    <p:set>
                                      <p:cBhvr>
                                        <p:cTn id="64" dur="1" fill="hold">
                                          <p:stCondLst>
                                            <p:cond delay="499"/>
                                          </p:stCondLst>
                                        </p:cTn>
                                        <p:tgtEl>
                                          <p:spTgt spid="41"/>
                                        </p:tgtEl>
                                        <p:attrNameLst>
                                          <p:attrName>style.visibility</p:attrName>
                                        </p:attrNameLst>
                                      </p:cBhvr>
                                      <p:to>
                                        <p:strVal val="hidden"/>
                                      </p:to>
                                    </p:set>
                                  </p:childTnLst>
                                </p:cTn>
                              </p:par>
                              <p:par>
                                <p:cTn id="65" presetID="10" presetClass="exit" presetSubtype="0" fill="hold" grpId="1" nodeType="withEffect">
                                  <p:stCondLst>
                                    <p:cond delay="0"/>
                                  </p:stCondLst>
                                  <p:childTnLst>
                                    <p:animEffect transition="out" filter="fade">
                                      <p:cBhvr>
                                        <p:cTn id="66" dur="500"/>
                                        <p:tgtEl>
                                          <p:spTgt spid="42"/>
                                        </p:tgtEl>
                                      </p:cBhvr>
                                    </p:animEffect>
                                    <p:set>
                                      <p:cBhvr>
                                        <p:cTn id="67" dur="1" fill="hold">
                                          <p:stCondLst>
                                            <p:cond delay="499"/>
                                          </p:stCondLst>
                                        </p:cTn>
                                        <p:tgtEl>
                                          <p:spTgt spid="42"/>
                                        </p:tgtEl>
                                        <p:attrNameLst>
                                          <p:attrName>style.visibility</p:attrName>
                                        </p:attrNameLst>
                                      </p:cBhvr>
                                      <p:to>
                                        <p:strVal val="hidden"/>
                                      </p:to>
                                    </p:set>
                                  </p:childTnLst>
                                </p:cTn>
                              </p:par>
                              <p:par>
                                <p:cTn id="68" presetID="10" presetClass="exit" presetSubtype="0" fill="hold" grpId="1" nodeType="withEffect">
                                  <p:stCondLst>
                                    <p:cond delay="0"/>
                                  </p:stCondLst>
                                  <p:childTnLst>
                                    <p:animEffect transition="out" filter="fade">
                                      <p:cBhvr>
                                        <p:cTn id="69" dur="500"/>
                                        <p:tgtEl>
                                          <p:spTgt spid="2"/>
                                        </p:tgtEl>
                                      </p:cBhvr>
                                    </p:animEffect>
                                    <p:set>
                                      <p:cBhvr>
                                        <p:cTn id="70"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32" grpId="0"/>
      <p:bldP spid="32" grpId="1"/>
      <p:bldP spid="36" grpId="0"/>
      <p:bldP spid="36" grpId="1"/>
      <p:bldP spid="41" grpId="0"/>
      <p:bldP spid="41" grpId="1"/>
      <p:bldP spid="42" grpId="0"/>
      <p:bldP spid="42" grpId="1"/>
      <p:bldP spid="2" grpId="0"/>
      <p:bldP spid="2" grpId="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圆角矩形 5"/>
          <p:cNvSpPr>
            <a:spLocks noChangeArrowheads="1"/>
          </p:cNvSpPr>
          <p:nvPr/>
        </p:nvSpPr>
        <p:spPr bwMode="auto">
          <a:xfrm>
            <a:off x="260350" y="439738"/>
            <a:ext cx="8623300" cy="4462463"/>
          </a:xfrm>
          <a:prstGeom prst="roundRect">
            <a:avLst>
              <a:gd name="adj" fmla="val 16667"/>
            </a:avLst>
          </a:prstGeom>
          <a:gradFill>
            <a:gsLst>
              <a:gs pos="0">
                <a:schemeClr val="accent1">
                  <a:lumMod val="5000"/>
                  <a:lumOff val="95000"/>
                </a:schemeClr>
              </a:gs>
              <a:gs pos="90000">
                <a:srgbClr val="F4F3D2"/>
              </a:gs>
            </a:gsLst>
            <a:lin ang="2700000" scaled="1"/>
          </a:gradFill>
          <a:ln w="47625">
            <a:solidFill>
              <a:srgbClr val="FC6C02"/>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useBgFill="1">
        <p:nvSpPr>
          <p:cNvPr id="12" name="矩形 11"/>
          <p:cNvSpPr/>
          <p:nvPr/>
        </p:nvSpPr>
        <p:spPr>
          <a:xfrm>
            <a:off x="717549" y="121918"/>
            <a:ext cx="2847255" cy="584771"/>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存储器</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20" name="左大括号 19"/>
          <p:cNvSpPr/>
          <p:nvPr/>
        </p:nvSpPr>
        <p:spPr bwMode="auto">
          <a:xfrm>
            <a:off x="3192463" y="962025"/>
            <a:ext cx="576263" cy="3417888"/>
          </a:xfrm>
          <a:prstGeom prst="leftBrace">
            <a:avLst/>
          </a:prstGeom>
          <a:noFill/>
          <a:ln w="38100" cap="flat" cmpd="sng" algn="ctr">
            <a:solidFill>
              <a:srgbClr val="FC6C02"/>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solidFill>
                  <a:srgbClr val="FC6C02"/>
                </a:solid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1" name="流程图: 可选过程 20"/>
          <p:cNvSpPr/>
          <p:nvPr/>
        </p:nvSpPr>
        <p:spPr bwMode="auto">
          <a:xfrm>
            <a:off x="915166" y="1947904"/>
            <a:ext cx="1910234" cy="1342840"/>
          </a:xfrm>
          <a:prstGeom prst="flowChartAlternateProcess">
            <a:avLst/>
          </a:prstGeom>
          <a:solidFill>
            <a:srgbClr val="FC6C02"/>
          </a:solidFill>
          <a:ln w="9525" cap="flat" cmpd="sng" algn="ctr">
            <a:solidFill>
              <a:srgbClr val="FC6C02"/>
            </a:solidFill>
            <a:prstDash val="solid"/>
            <a:round/>
            <a:headEnd type="none" w="med" len="med"/>
            <a:tailEnd type="none" w="med" len="med"/>
          </a:ln>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solidFill>
                    <a:schemeClr val="bg1"/>
                  </a:solidFill>
                </a:ln>
                <a:solidFill>
                  <a:schemeClr val="bg1"/>
                </a:solidFill>
                <a:effectLst/>
                <a:uLnTx/>
                <a:uFillTx/>
                <a:latin typeface="+mn-ea"/>
                <a:ea typeface="+mn-ea"/>
                <a:cs typeface="+mn-cs"/>
              </a:rPr>
              <a:t>512MB Block 3 </a:t>
            </a:r>
            <a:endParaRPr kumimoji="0" lang="en-US" altLang="zh-CN" sz="2400" b="1" i="0" u="none" strike="noStrike" kern="1200" cap="none" spc="0" normalizeH="0" baseline="0" noProof="0" dirty="0">
              <a:ln>
                <a:solidFill>
                  <a:schemeClr val="bg1"/>
                </a:solidFill>
              </a:ln>
              <a:solidFill>
                <a:schemeClr val="bg1"/>
              </a:solidFill>
              <a:effectLst/>
              <a:uLnTx/>
              <a:uFillTx/>
              <a:latin typeface="+mn-ea"/>
              <a:ea typeface="+mn-ea"/>
              <a:cs typeface="+mn-cs"/>
            </a:endParaRP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solidFill>
                    <a:schemeClr val="bg1"/>
                  </a:solidFill>
                </a:ln>
                <a:solidFill>
                  <a:schemeClr val="bg1"/>
                </a:solidFill>
                <a:effectLst/>
                <a:uLnTx/>
                <a:uFillTx/>
                <a:latin typeface="+mn-ea"/>
                <a:ea typeface="+mn-ea"/>
                <a:cs typeface="+mn-cs"/>
              </a:rPr>
              <a:t>FSMC</a:t>
            </a:r>
            <a:endParaRPr kumimoji="0" lang="en-US" altLang="zh-CN" sz="2400" b="1" i="0" u="none" strike="noStrike" kern="1200" cap="none" spc="0" normalizeH="0" baseline="0" noProof="0" dirty="0">
              <a:ln>
                <a:solidFill>
                  <a:schemeClr val="bg1"/>
                </a:solidFill>
              </a:ln>
              <a:solidFill>
                <a:schemeClr val="bg1"/>
              </a:solidFill>
              <a:effectLst/>
              <a:uLnTx/>
              <a:uFillTx/>
              <a:latin typeface="+mn-ea"/>
              <a:ea typeface="+mn-ea"/>
              <a:cs typeface="+mn-cs"/>
            </a:endParaRPr>
          </a:p>
        </p:txBody>
      </p:sp>
      <p:sp>
        <p:nvSpPr>
          <p:cNvPr id="24" name="流程图: 可选过程 23"/>
          <p:cNvSpPr/>
          <p:nvPr/>
        </p:nvSpPr>
        <p:spPr>
          <a:xfrm>
            <a:off x="3765463" y="1437195"/>
            <a:ext cx="2313699" cy="576064"/>
          </a:xfrm>
          <a:prstGeom prst="flowChartAlternateProcess">
            <a:avLst/>
          </a:prstGeom>
          <a:gradFill flip="none" rotWithShape="1">
            <a:gsLst>
              <a:gs pos="0">
                <a:srgbClr val="FF0000"/>
              </a:gs>
              <a:gs pos="64000">
                <a:srgbClr val="F89D24"/>
              </a:gs>
            </a:gsLst>
            <a:path path="circle">
              <a:fillToRect l="100000" b="100000"/>
            </a:path>
            <a:tileRect t="-100000" r="-100000"/>
          </a:gradFill>
          <a:ln>
            <a:solidFill>
              <a:srgbClr val="FC6C0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lt1"/>
                </a:solidFill>
                <a:effectLst/>
                <a:uLnTx/>
                <a:uFillTx/>
                <a:latin typeface="+mn-ea"/>
                <a:ea typeface="+mn-ea"/>
                <a:cs typeface="+mn-cs"/>
              </a:rPr>
              <a:t>NOR Flash/ PSRAM 256MB</a:t>
            </a:r>
            <a:endParaRPr kumimoji="0" lang="zh-CN" altLang="en-US" sz="2000" b="1" i="0" u="none" strike="noStrike" kern="1200" cap="none" spc="0" normalizeH="0" baseline="0" noProof="0" dirty="0">
              <a:ln>
                <a:noFill/>
              </a:ln>
              <a:solidFill>
                <a:schemeClr val="lt1"/>
              </a:solidFill>
              <a:effectLst/>
              <a:uLnTx/>
              <a:uFillTx/>
              <a:latin typeface="+mn-ea"/>
              <a:ea typeface="+mn-ea"/>
              <a:cs typeface="+mn-cs"/>
            </a:endParaRPr>
          </a:p>
        </p:txBody>
      </p:sp>
      <p:sp>
        <p:nvSpPr>
          <p:cNvPr id="30" name="流程图: 可选过程 29"/>
          <p:cNvSpPr/>
          <p:nvPr/>
        </p:nvSpPr>
        <p:spPr>
          <a:xfrm>
            <a:off x="3765463" y="3002713"/>
            <a:ext cx="2634954" cy="576064"/>
          </a:xfrm>
          <a:prstGeom prst="flowChartAlternateProcess">
            <a:avLst/>
          </a:prstGeom>
          <a:gradFill flip="none" rotWithShape="1">
            <a:gsLst>
              <a:gs pos="0">
                <a:srgbClr val="FF0000"/>
              </a:gs>
              <a:gs pos="64000">
                <a:srgbClr val="F89D24"/>
              </a:gs>
            </a:gsLst>
            <a:path path="circle">
              <a:fillToRect l="100000" b="100000"/>
            </a:path>
            <a:tileRect t="-100000" r="-100000"/>
          </a:gradFill>
          <a:ln>
            <a:solidFill>
              <a:srgbClr val="FC6C0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lt1"/>
                </a:solidFill>
                <a:effectLst/>
                <a:uLnTx/>
                <a:uFillTx/>
                <a:latin typeface="+mn-ea"/>
                <a:ea typeface="+mn-ea"/>
                <a:cs typeface="+mn-cs"/>
              </a:rPr>
              <a:t>NAND FLASH1</a:t>
            </a:r>
            <a:endParaRPr kumimoji="0" lang="en-US" altLang="zh-CN" sz="2000" b="1" i="0" u="none" strike="noStrike" kern="1200" cap="none" spc="0" normalizeH="0" baseline="0" noProof="0" dirty="0">
              <a:ln>
                <a:noFill/>
              </a:ln>
              <a:solidFill>
                <a:schemeClr val="lt1"/>
              </a:solidFill>
              <a:effectLst/>
              <a:uLnTx/>
              <a:uFillTx/>
              <a:latin typeface="+mn-ea"/>
              <a:ea typeface="+mn-ea"/>
              <a:cs typeface="+mn-cs"/>
            </a:endParaRP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lt1"/>
                </a:solidFill>
                <a:effectLst/>
                <a:uLnTx/>
                <a:uFillTx/>
                <a:latin typeface="+mn-ea"/>
                <a:ea typeface="+mn-ea"/>
                <a:cs typeface="+mn-cs"/>
              </a:rPr>
              <a:t>256MB</a:t>
            </a:r>
            <a:endParaRPr kumimoji="0" lang="zh-CN" altLang="en-US" sz="2000" b="1" i="0" u="none" strike="noStrike" kern="1200" cap="none" spc="0" normalizeH="0" baseline="0" noProof="0" dirty="0">
              <a:ln>
                <a:noFill/>
              </a:ln>
              <a:solidFill>
                <a:schemeClr val="lt1"/>
              </a:solidFill>
              <a:effectLst/>
              <a:uLnTx/>
              <a:uFillTx/>
              <a:latin typeface="+mn-ea"/>
              <a:ea typeface="+mn-ea"/>
              <a:cs typeface="+mn-cs"/>
            </a:endParaRPr>
          </a:p>
        </p:txBody>
      </p:sp>
      <p:sp>
        <p:nvSpPr>
          <p:cNvPr id="32" name="文本框 31"/>
          <p:cNvSpPr txBox="1"/>
          <p:nvPr/>
        </p:nvSpPr>
        <p:spPr>
          <a:xfrm>
            <a:off x="4149725" y="2036763"/>
            <a:ext cx="1728788" cy="338137"/>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0x6FFF FFFF</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36" name="文本框 35"/>
          <p:cNvSpPr txBox="1"/>
          <p:nvPr/>
        </p:nvSpPr>
        <p:spPr>
          <a:xfrm>
            <a:off x="4154488" y="2359025"/>
            <a:ext cx="1728787" cy="338138"/>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0x6000 0000</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14" name="左大括号 13"/>
          <p:cNvSpPr/>
          <p:nvPr/>
        </p:nvSpPr>
        <p:spPr bwMode="auto">
          <a:xfrm>
            <a:off x="6183313" y="706438"/>
            <a:ext cx="285750" cy="2039938"/>
          </a:xfrm>
          <a:prstGeom prst="leftBrace">
            <a:avLst/>
          </a:prstGeom>
          <a:noFill/>
          <a:ln w="38100" cap="flat" cmpd="sng" algn="ctr">
            <a:solidFill>
              <a:srgbClr val="FC6C02"/>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solidFill>
                  <a:srgbClr val="FC6C02"/>
                </a:solid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5" name="文本框 14"/>
          <p:cNvSpPr txBox="1"/>
          <p:nvPr/>
        </p:nvSpPr>
        <p:spPr>
          <a:xfrm>
            <a:off x="6573838" y="623888"/>
            <a:ext cx="1728787" cy="338137"/>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PSRAM1 64KB</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16" name="文本框 15"/>
          <p:cNvSpPr txBox="1"/>
          <p:nvPr/>
        </p:nvSpPr>
        <p:spPr>
          <a:xfrm>
            <a:off x="6573838" y="1187450"/>
            <a:ext cx="1728787" cy="338138"/>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PSRAM2 64KB</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17" name="文本框 16"/>
          <p:cNvSpPr txBox="1"/>
          <p:nvPr/>
        </p:nvSpPr>
        <p:spPr>
          <a:xfrm>
            <a:off x="6600825" y="1776413"/>
            <a:ext cx="1728788" cy="338137"/>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PSRAM3 64KB</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18" name="文本框 17"/>
          <p:cNvSpPr txBox="1"/>
          <p:nvPr/>
        </p:nvSpPr>
        <p:spPr>
          <a:xfrm>
            <a:off x="6600825" y="2363788"/>
            <a:ext cx="1728788" cy="338137"/>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PSRAM4 64KB</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19" name="文本框 18"/>
          <p:cNvSpPr txBox="1"/>
          <p:nvPr/>
        </p:nvSpPr>
        <p:spPr>
          <a:xfrm>
            <a:off x="4149725" y="3587750"/>
            <a:ext cx="1728788" cy="338138"/>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0x7FFF FFFF</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22" name="文本框 21"/>
          <p:cNvSpPr txBox="1"/>
          <p:nvPr/>
        </p:nvSpPr>
        <p:spPr>
          <a:xfrm>
            <a:off x="4154488" y="3910013"/>
            <a:ext cx="1728787" cy="338137"/>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0x7000 0000</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up)">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47"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anim calcmode="lin" valueType="num">
                                      <p:cBhvr>
                                        <p:cTn id="13" dur="500" fill="hold"/>
                                        <p:tgtEl>
                                          <p:spTgt spid="24"/>
                                        </p:tgtEl>
                                        <p:attrNameLst>
                                          <p:attrName>ppt_x</p:attrName>
                                        </p:attrNameLst>
                                      </p:cBhvr>
                                      <p:tavLst>
                                        <p:tav tm="0">
                                          <p:val>
                                            <p:strVal val="#ppt_x"/>
                                          </p:val>
                                        </p:tav>
                                        <p:tav tm="100000">
                                          <p:val>
                                            <p:strVal val="#ppt_x"/>
                                          </p:val>
                                        </p:tav>
                                      </p:tavLst>
                                    </p:anim>
                                    <p:anim calcmode="lin" valueType="num">
                                      <p:cBhvr>
                                        <p:cTn id="14" dur="500" fill="hold"/>
                                        <p:tgtEl>
                                          <p:spTgt spid="24"/>
                                        </p:tgtEl>
                                        <p:attrNameLst>
                                          <p:attrName>ppt_y</p:attrName>
                                        </p:attrNameLst>
                                      </p:cBhvr>
                                      <p:tavLst>
                                        <p:tav tm="0">
                                          <p:val>
                                            <p:strVal val="#ppt_y-.1"/>
                                          </p:val>
                                        </p:tav>
                                        <p:tav tm="100000">
                                          <p:val>
                                            <p:strVal val="#ppt_y"/>
                                          </p:val>
                                        </p:tav>
                                      </p:tavLst>
                                    </p:anim>
                                  </p:childTnLst>
                                </p:cTn>
                              </p:par>
                              <p:par>
                                <p:cTn id="15" presetID="47" presetClass="entr" presetSubtype="0" fill="hold" nodeType="with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anim calcmode="lin" valueType="num">
                                      <p:cBhvr>
                                        <p:cTn id="18" dur="500" fill="hold"/>
                                        <p:tgtEl>
                                          <p:spTgt spid="30"/>
                                        </p:tgtEl>
                                        <p:attrNameLst>
                                          <p:attrName>ppt_x</p:attrName>
                                        </p:attrNameLst>
                                      </p:cBhvr>
                                      <p:tavLst>
                                        <p:tav tm="0">
                                          <p:val>
                                            <p:strVal val="#ppt_x"/>
                                          </p:val>
                                        </p:tav>
                                        <p:tav tm="100000">
                                          <p:val>
                                            <p:strVal val="#ppt_x"/>
                                          </p:val>
                                        </p:tav>
                                      </p:tavLst>
                                    </p:anim>
                                    <p:anim calcmode="lin" valueType="num">
                                      <p:cBhvr>
                                        <p:cTn id="19" dur="500" fill="hold"/>
                                        <p:tgtEl>
                                          <p:spTgt spid="30"/>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anim calcmode="lin" valueType="num">
                                      <p:cBhvr>
                                        <p:cTn id="23" dur="500" fill="hold"/>
                                        <p:tgtEl>
                                          <p:spTgt spid="32"/>
                                        </p:tgtEl>
                                        <p:attrNameLst>
                                          <p:attrName>ppt_x</p:attrName>
                                        </p:attrNameLst>
                                      </p:cBhvr>
                                      <p:tavLst>
                                        <p:tav tm="0">
                                          <p:val>
                                            <p:strVal val="#ppt_x"/>
                                          </p:val>
                                        </p:tav>
                                        <p:tav tm="100000">
                                          <p:val>
                                            <p:strVal val="#ppt_x"/>
                                          </p:val>
                                        </p:tav>
                                      </p:tavLst>
                                    </p:anim>
                                    <p:anim calcmode="lin" valueType="num">
                                      <p:cBhvr>
                                        <p:cTn id="24" dur="500" fill="hold"/>
                                        <p:tgtEl>
                                          <p:spTgt spid="32"/>
                                        </p:tgtEl>
                                        <p:attrNameLst>
                                          <p:attrName>ppt_y</p:attrName>
                                        </p:attrNameLst>
                                      </p:cBhvr>
                                      <p:tavLst>
                                        <p:tav tm="0">
                                          <p:val>
                                            <p:strVal val="#ppt_y-.1"/>
                                          </p:val>
                                        </p:tav>
                                        <p:tav tm="100000">
                                          <p:val>
                                            <p:strVal val="#ppt_y"/>
                                          </p:val>
                                        </p:tav>
                                      </p:tavLst>
                                    </p:anim>
                                  </p:childTnLst>
                                </p:cTn>
                              </p:par>
                              <p:par>
                                <p:cTn id="25" presetID="47"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500"/>
                                        <p:tgtEl>
                                          <p:spTgt spid="36"/>
                                        </p:tgtEl>
                                      </p:cBhvr>
                                    </p:animEffect>
                                    <p:anim calcmode="lin" valueType="num">
                                      <p:cBhvr>
                                        <p:cTn id="28" dur="500" fill="hold"/>
                                        <p:tgtEl>
                                          <p:spTgt spid="36"/>
                                        </p:tgtEl>
                                        <p:attrNameLst>
                                          <p:attrName>ppt_x</p:attrName>
                                        </p:attrNameLst>
                                      </p:cBhvr>
                                      <p:tavLst>
                                        <p:tav tm="0">
                                          <p:val>
                                            <p:strVal val="#ppt_x"/>
                                          </p:val>
                                        </p:tav>
                                        <p:tav tm="100000">
                                          <p:val>
                                            <p:strVal val="#ppt_x"/>
                                          </p:val>
                                        </p:tav>
                                      </p:tavLst>
                                    </p:anim>
                                    <p:anim calcmode="lin" valueType="num">
                                      <p:cBhvr>
                                        <p:cTn id="29" dur="500" fill="hold"/>
                                        <p:tgtEl>
                                          <p:spTgt spid="36"/>
                                        </p:tgtEl>
                                        <p:attrNameLst>
                                          <p:attrName>ppt_y</p:attrName>
                                        </p:attrNameLst>
                                      </p:cBhvr>
                                      <p:tavLst>
                                        <p:tav tm="0">
                                          <p:val>
                                            <p:strVal val="#ppt_y-.1"/>
                                          </p:val>
                                        </p:tav>
                                        <p:tav tm="100000">
                                          <p:val>
                                            <p:strVal val="#ppt_y"/>
                                          </p:val>
                                        </p:tav>
                                      </p:tavLst>
                                    </p:anim>
                                  </p:childTnLst>
                                </p:cTn>
                              </p:par>
                              <p:par>
                                <p:cTn id="30" presetID="47"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anim calcmode="lin" valueType="num">
                                      <p:cBhvr>
                                        <p:cTn id="33" dur="500" fill="hold"/>
                                        <p:tgtEl>
                                          <p:spTgt spid="19"/>
                                        </p:tgtEl>
                                        <p:attrNameLst>
                                          <p:attrName>ppt_x</p:attrName>
                                        </p:attrNameLst>
                                      </p:cBhvr>
                                      <p:tavLst>
                                        <p:tav tm="0">
                                          <p:val>
                                            <p:strVal val="#ppt_x"/>
                                          </p:val>
                                        </p:tav>
                                        <p:tav tm="100000">
                                          <p:val>
                                            <p:strVal val="#ppt_x"/>
                                          </p:val>
                                        </p:tav>
                                      </p:tavLst>
                                    </p:anim>
                                    <p:anim calcmode="lin" valueType="num">
                                      <p:cBhvr>
                                        <p:cTn id="34" dur="500" fill="hold"/>
                                        <p:tgtEl>
                                          <p:spTgt spid="19"/>
                                        </p:tgtEl>
                                        <p:attrNameLst>
                                          <p:attrName>ppt_y</p:attrName>
                                        </p:attrNameLst>
                                      </p:cBhvr>
                                      <p:tavLst>
                                        <p:tav tm="0">
                                          <p:val>
                                            <p:strVal val="#ppt_y-.1"/>
                                          </p:val>
                                        </p:tav>
                                        <p:tav tm="100000">
                                          <p:val>
                                            <p:strVal val="#ppt_y"/>
                                          </p:val>
                                        </p:tav>
                                      </p:tavLst>
                                    </p:anim>
                                  </p:childTnLst>
                                </p:cTn>
                              </p:par>
                              <p:par>
                                <p:cTn id="35" presetID="47"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anim calcmode="lin" valueType="num">
                                      <p:cBhvr>
                                        <p:cTn id="38" dur="500" fill="hold"/>
                                        <p:tgtEl>
                                          <p:spTgt spid="22"/>
                                        </p:tgtEl>
                                        <p:attrNameLst>
                                          <p:attrName>ppt_x</p:attrName>
                                        </p:attrNameLst>
                                      </p:cBhvr>
                                      <p:tavLst>
                                        <p:tav tm="0">
                                          <p:val>
                                            <p:strVal val="#ppt_x"/>
                                          </p:val>
                                        </p:tav>
                                        <p:tav tm="100000">
                                          <p:val>
                                            <p:strVal val="#ppt_x"/>
                                          </p:val>
                                        </p:tav>
                                      </p:tavLst>
                                    </p:anim>
                                    <p:anim calcmode="lin" valueType="num">
                                      <p:cBhvr>
                                        <p:cTn id="39" dur="5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wipe(up)">
                                      <p:cBhvr>
                                        <p:cTn id="44" dur="500"/>
                                        <p:tgtEl>
                                          <p:spTgt spid="14"/>
                                        </p:tgtEl>
                                      </p:cBhvr>
                                    </p:animEffect>
                                  </p:childTnLst>
                                </p:cTn>
                              </p:par>
                            </p:childTnLst>
                          </p:cTn>
                        </p:par>
                        <p:par>
                          <p:cTn id="45" fill="hold">
                            <p:stCondLst>
                              <p:cond delay="500"/>
                            </p:stCondLst>
                            <p:childTnLst>
                              <p:par>
                                <p:cTn id="46" presetID="47" presetClass="entr" presetSubtype="0" fill="hold" grpId="0" nodeType="after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anim calcmode="lin" valueType="num">
                                      <p:cBhvr>
                                        <p:cTn id="49" dur="500" fill="hold"/>
                                        <p:tgtEl>
                                          <p:spTgt spid="15"/>
                                        </p:tgtEl>
                                        <p:attrNameLst>
                                          <p:attrName>ppt_x</p:attrName>
                                        </p:attrNameLst>
                                      </p:cBhvr>
                                      <p:tavLst>
                                        <p:tav tm="0">
                                          <p:val>
                                            <p:strVal val="#ppt_x"/>
                                          </p:val>
                                        </p:tav>
                                        <p:tav tm="100000">
                                          <p:val>
                                            <p:strVal val="#ppt_x"/>
                                          </p:val>
                                        </p:tav>
                                      </p:tavLst>
                                    </p:anim>
                                    <p:anim calcmode="lin" valueType="num">
                                      <p:cBhvr>
                                        <p:cTn id="50" dur="500" fill="hold"/>
                                        <p:tgtEl>
                                          <p:spTgt spid="15"/>
                                        </p:tgtEl>
                                        <p:attrNameLst>
                                          <p:attrName>ppt_y</p:attrName>
                                        </p:attrNameLst>
                                      </p:cBhvr>
                                      <p:tavLst>
                                        <p:tav tm="0">
                                          <p:val>
                                            <p:strVal val="#ppt_y-.1"/>
                                          </p:val>
                                        </p:tav>
                                        <p:tav tm="100000">
                                          <p:val>
                                            <p:strVal val="#ppt_y"/>
                                          </p:val>
                                        </p:tav>
                                      </p:tavLst>
                                    </p:anim>
                                  </p:childTnLst>
                                </p:cTn>
                              </p:par>
                              <p:par>
                                <p:cTn id="51" presetID="47" presetClass="entr" presetSubtype="0"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anim calcmode="lin" valueType="num">
                                      <p:cBhvr>
                                        <p:cTn id="54" dur="500" fill="hold"/>
                                        <p:tgtEl>
                                          <p:spTgt spid="16"/>
                                        </p:tgtEl>
                                        <p:attrNameLst>
                                          <p:attrName>ppt_x</p:attrName>
                                        </p:attrNameLst>
                                      </p:cBhvr>
                                      <p:tavLst>
                                        <p:tav tm="0">
                                          <p:val>
                                            <p:strVal val="#ppt_x"/>
                                          </p:val>
                                        </p:tav>
                                        <p:tav tm="100000">
                                          <p:val>
                                            <p:strVal val="#ppt_x"/>
                                          </p:val>
                                        </p:tav>
                                      </p:tavLst>
                                    </p:anim>
                                    <p:anim calcmode="lin" valueType="num">
                                      <p:cBhvr>
                                        <p:cTn id="55" dur="500" fill="hold"/>
                                        <p:tgtEl>
                                          <p:spTgt spid="16"/>
                                        </p:tgtEl>
                                        <p:attrNameLst>
                                          <p:attrName>ppt_y</p:attrName>
                                        </p:attrNameLst>
                                      </p:cBhvr>
                                      <p:tavLst>
                                        <p:tav tm="0">
                                          <p:val>
                                            <p:strVal val="#ppt_y-.1"/>
                                          </p:val>
                                        </p:tav>
                                        <p:tav tm="100000">
                                          <p:val>
                                            <p:strVal val="#ppt_y"/>
                                          </p:val>
                                        </p:tav>
                                      </p:tavLst>
                                    </p:anim>
                                  </p:childTnLst>
                                </p:cTn>
                              </p:par>
                              <p:par>
                                <p:cTn id="56" presetID="47" presetClass="entr" presetSubtype="0" fill="hold" grpId="0"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00"/>
                                        <p:tgtEl>
                                          <p:spTgt spid="17"/>
                                        </p:tgtEl>
                                      </p:cBhvr>
                                    </p:animEffect>
                                    <p:anim calcmode="lin" valueType="num">
                                      <p:cBhvr>
                                        <p:cTn id="59" dur="500" fill="hold"/>
                                        <p:tgtEl>
                                          <p:spTgt spid="17"/>
                                        </p:tgtEl>
                                        <p:attrNameLst>
                                          <p:attrName>ppt_x</p:attrName>
                                        </p:attrNameLst>
                                      </p:cBhvr>
                                      <p:tavLst>
                                        <p:tav tm="0">
                                          <p:val>
                                            <p:strVal val="#ppt_x"/>
                                          </p:val>
                                        </p:tav>
                                        <p:tav tm="100000">
                                          <p:val>
                                            <p:strVal val="#ppt_x"/>
                                          </p:val>
                                        </p:tav>
                                      </p:tavLst>
                                    </p:anim>
                                    <p:anim calcmode="lin" valueType="num">
                                      <p:cBhvr>
                                        <p:cTn id="60" dur="500" fill="hold"/>
                                        <p:tgtEl>
                                          <p:spTgt spid="17"/>
                                        </p:tgtEl>
                                        <p:attrNameLst>
                                          <p:attrName>ppt_y</p:attrName>
                                        </p:attrNameLst>
                                      </p:cBhvr>
                                      <p:tavLst>
                                        <p:tav tm="0">
                                          <p:val>
                                            <p:strVal val="#ppt_y-.1"/>
                                          </p:val>
                                        </p:tav>
                                        <p:tav tm="100000">
                                          <p:val>
                                            <p:strVal val="#ppt_y"/>
                                          </p:val>
                                        </p:tav>
                                      </p:tavLst>
                                    </p:anim>
                                  </p:childTnLst>
                                </p:cTn>
                              </p:par>
                              <p:par>
                                <p:cTn id="61" presetID="47" presetClass="entr" presetSubtype="0"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500"/>
                                        <p:tgtEl>
                                          <p:spTgt spid="18"/>
                                        </p:tgtEl>
                                      </p:cBhvr>
                                    </p:animEffect>
                                    <p:anim calcmode="lin" valueType="num">
                                      <p:cBhvr>
                                        <p:cTn id="64" dur="500" fill="hold"/>
                                        <p:tgtEl>
                                          <p:spTgt spid="18"/>
                                        </p:tgtEl>
                                        <p:attrNameLst>
                                          <p:attrName>ppt_x</p:attrName>
                                        </p:attrNameLst>
                                      </p:cBhvr>
                                      <p:tavLst>
                                        <p:tav tm="0">
                                          <p:val>
                                            <p:strVal val="#ppt_x"/>
                                          </p:val>
                                        </p:tav>
                                        <p:tav tm="100000">
                                          <p:val>
                                            <p:strVal val="#ppt_x"/>
                                          </p:val>
                                        </p:tav>
                                      </p:tavLst>
                                    </p:anim>
                                    <p:anim calcmode="lin" valueType="num">
                                      <p:cBhvr>
                                        <p:cTn id="65"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xit" presetSubtype="0" fill="hold" grpId="1" nodeType="clickEffect">
                                  <p:stCondLst>
                                    <p:cond delay="0"/>
                                  </p:stCondLst>
                                  <p:childTnLst>
                                    <p:animEffect transition="out" filter="fade">
                                      <p:cBhvr>
                                        <p:cTn id="69" dur="500"/>
                                        <p:tgtEl>
                                          <p:spTgt spid="20"/>
                                        </p:tgtEl>
                                      </p:cBhvr>
                                    </p:animEffect>
                                    <p:set>
                                      <p:cBhvr>
                                        <p:cTn id="70" dur="1" fill="hold">
                                          <p:stCondLst>
                                            <p:cond delay="499"/>
                                          </p:stCondLst>
                                        </p:cTn>
                                        <p:tgtEl>
                                          <p:spTgt spid="20"/>
                                        </p:tgtEl>
                                        <p:attrNameLst>
                                          <p:attrName>style.visibility</p:attrName>
                                        </p:attrNameLst>
                                      </p:cBhvr>
                                      <p:to>
                                        <p:strVal val="hidden"/>
                                      </p:to>
                                    </p:set>
                                  </p:childTnLst>
                                </p:cTn>
                              </p:par>
                              <p:par>
                                <p:cTn id="71" presetID="10" presetClass="exit" presetSubtype="0" fill="hold" nodeType="withEffect">
                                  <p:stCondLst>
                                    <p:cond delay="0"/>
                                  </p:stCondLst>
                                  <p:childTnLst>
                                    <p:animEffect transition="out" filter="fade">
                                      <p:cBhvr>
                                        <p:cTn id="72" dur="500"/>
                                        <p:tgtEl>
                                          <p:spTgt spid="24"/>
                                        </p:tgtEl>
                                      </p:cBhvr>
                                    </p:animEffect>
                                    <p:set>
                                      <p:cBhvr>
                                        <p:cTn id="73" dur="1" fill="hold">
                                          <p:stCondLst>
                                            <p:cond delay="499"/>
                                          </p:stCondLst>
                                        </p:cTn>
                                        <p:tgtEl>
                                          <p:spTgt spid="24"/>
                                        </p:tgtEl>
                                        <p:attrNameLst>
                                          <p:attrName>style.visibility</p:attrName>
                                        </p:attrNameLst>
                                      </p:cBhvr>
                                      <p:to>
                                        <p:strVal val="hidden"/>
                                      </p:to>
                                    </p:set>
                                  </p:childTnLst>
                                </p:cTn>
                              </p:par>
                              <p:par>
                                <p:cTn id="74" presetID="10" presetClass="exit" presetSubtype="0" fill="hold" nodeType="withEffect">
                                  <p:stCondLst>
                                    <p:cond delay="0"/>
                                  </p:stCondLst>
                                  <p:childTnLst>
                                    <p:animEffect transition="out" filter="fade">
                                      <p:cBhvr>
                                        <p:cTn id="75" dur="500"/>
                                        <p:tgtEl>
                                          <p:spTgt spid="30"/>
                                        </p:tgtEl>
                                      </p:cBhvr>
                                    </p:animEffect>
                                    <p:set>
                                      <p:cBhvr>
                                        <p:cTn id="76" dur="1" fill="hold">
                                          <p:stCondLst>
                                            <p:cond delay="499"/>
                                          </p:stCondLst>
                                        </p:cTn>
                                        <p:tgtEl>
                                          <p:spTgt spid="30"/>
                                        </p:tgtEl>
                                        <p:attrNameLst>
                                          <p:attrName>style.visibility</p:attrName>
                                        </p:attrNameLst>
                                      </p:cBhvr>
                                      <p:to>
                                        <p:strVal val="hidden"/>
                                      </p:to>
                                    </p:set>
                                  </p:childTnLst>
                                </p:cTn>
                              </p:par>
                              <p:par>
                                <p:cTn id="77" presetID="10" presetClass="exit" presetSubtype="0" fill="hold" grpId="1" nodeType="withEffect">
                                  <p:stCondLst>
                                    <p:cond delay="0"/>
                                  </p:stCondLst>
                                  <p:childTnLst>
                                    <p:animEffect transition="out" filter="fade">
                                      <p:cBhvr>
                                        <p:cTn id="78" dur="500"/>
                                        <p:tgtEl>
                                          <p:spTgt spid="32"/>
                                        </p:tgtEl>
                                      </p:cBhvr>
                                    </p:animEffect>
                                    <p:set>
                                      <p:cBhvr>
                                        <p:cTn id="79" dur="1" fill="hold">
                                          <p:stCondLst>
                                            <p:cond delay="499"/>
                                          </p:stCondLst>
                                        </p:cTn>
                                        <p:tgtEl>
                                          <p:spTgt spid="32"/>
                                        </p:tgtEl>
                                        <p:attrNameLst>
                                          <p:attrName>style.visibility</p:attrName>
                                        </p:attrNameLst>
                                      </p:cBhvr>
                                      <p:to>
                                        <p:strVal val="hidden"/>
                                      </p:to>
                                    </p:set>
                                  </p:childTnLst>
                                </p:cTn>
                              </p:par>
                              <p:par>
                                <p:cTn id="80" presetID="10" presetClass="exit" presetSubtype="0" fill="hold" grpId="1" nodeType="withEffect">
                                  <p:stCondLst>
                                    <p:cond delay="0"/>
                                  </p:stCondLst>
                                  <p:childTnLst>
                                    <p:animEffect transition="out" filter="fade">
                                      <p:cBhvr>
                                        <p:cTn id="81" dur="500"/>
                                        <p:tgtEl>
                                          <p:spTgt spid="36"/>
                                        </p:tgtEl>
                                      </p:cBhvr>
                                    </p:animEffect>
                                    <p:set>
                                      <p:cBhvr>
                                        <p:cTn id="82" dur="1" fill="hold">
                                          <p:stCondLst>
                                            <p:cond delay="499"/>
                                          </p:stCondLst>
                                        </p:cTn>
                                        <p:tgtEl>
                                          <p:spTgt spid="36"/>
                                        </p:tgtEl>
                                        <p:attrNameLst>
                                          <p:attrName>style.visibility</p:attrName>
                                        </p:attrNameLst>
                                      </p:cBhvr>
                                      <p:to>
                                        <p:strVal val="hidden"/>
                                      </p:to>
                                    </p:set>
                                  </p:childTnLst>
                                </p:cTn>
                              </p:par>
                              <p:par>
                                <p:cTn id="83" presetID="10" presetClass="exit" presetSubtype="0" fill="hold" grpId="1" nodeType="withEffect">
                                  <p:stCondLst>
                                    <p:cond delay="0"/>
                                  </p:stCondLst>
                                  <p:childTnLst>
                                    <p:animEffect transition="out" filter="fade">
                                      <p:cBhvr>
                                        <p:cTn id="84" dur="500"/>
                                        <p:tgtEl>
                                          <p:spTgt spid="18"/>
                                        </p:tgtEl>
                                      </p:cBhvr>
                                    </p:animEffect>
                                    <p:set>
                                      <p:cBhvr>
                                        <p:cTn id="85" dur="1" fill="hold">
                                          <p:stCondLst>
                                            <p:cond delay="499"/>
                                          </p:stCondLst>
                                        </p:cTn>
                                        <p:tgtEl>
                                          <p:spTgt spid="18"/>
                                        </p:tgtEl>
                                        <p:attrNameLst>
                                          <p:attrName>style.visibility</p:attrName>
                                        </p:attrNameLst>
                                      </p:cBhvr>
                                      <p:to>
                                        <p:strVal val="hidden"/>
                                      </p:to>
                                    </p:set>
                                  </p:childTnLst>
                                </p:cTn>
                              </p:par>
                              <p:par>
                                <p:cTn id="86" presetID="10" presetClass="exit" presetSubtype="0" fill="hold" grpId="1" nodeType="withEffect">
                                  <p:stCondLst>
                                    <p:cond delay="0"/>
                                  </p:stCondLst>
                                  <p:childTnLst>
                                    <p:animEffect transition="out" filter="fade">
                                      <p:cBhvr>
                                        <p:cTn id="87" dur="500"/>
                                        <p:tgtEl>
                                          <p:spTgt spid="19"/>
                                        </p:tgtEl>
                                      </p:cBhvr>
                                    </p:animEffect>
                                    <p:set>
                                      <p:cBhvr>
                                        <p:cTn id="88" dur="1" fill="hold">
                                          <p:stCondLst>
                                            <p:cond delay="499"/>
                                          </p:stCondLst>
                                        </p:cTn>
                                        <p:tgtEl>
                                          <p:spTgt spid="19"/>
                                        </p:tgtEl>
                                        <p:attrNameLst>
                                          <p:attrName>style.visibility</p:attrName>
                                        </p:attrNameLst>
                                      </p:cBhvr>
                                      <p:to>
                                        <p:strVal val="hidden"/>
                                      </p:to>
                                    </p:set>
                                  </p:childTnLst>
                                </p:cTn>
                              </p:par>
                              <p:par>
                                <p:cTn id="89" presetID="10" presetClass="exit" presetSubtype="0" fill="hold" grpId="1" nodeType="withEffect">
                                  <p:stCondLst>
                                    <p:cond delay="0"/>
                                  </p:stCondLst>
                                  <p:childTnLst>
                                    <p:animEffect transition="out" filter="fade">
                                      <p:cBhvr>
                                        <p:cTn id="90" dur="500"/>
                                        <p:tgtEl>
                                          <p:spTgt spid="22"/>
                                        </p:tgtEl>
                                      </p:cBhvr>
                                    </p:animEffect>
                                    <p:set>
                                      <p:cBhvr>
                                        <p:cTn id="91" dur="1" fill="hold">
                                          <p:stCondLst>
                                            <p:cond delay="499"/>
                                          </p:stCondLst>
                                        </p:cTn>
                                        <p:tgtEl>
                                          <p:spTgt spid="22"/>
                                        </p:tgtEl>
                                        <p:attrNameLst>
                                          <p:attrName>style.visibility</p:attrName>
                                        </p:attrNameLst>
                                      </p:cBhvr>
                                      <p:to>
                                        <p:strVal val="hidden"/>
                                      </p:to>
                                    </p:set>
                                  </p:childTnLst>
                                </p:cTn>
                              </p:par>
                              <p:par>
                                <p:cTn id="92" presetID="10" presetClass="exit" presetSubtype="0" fill="hold" grpId="1" nodeType="withEffect">
                                  <p:stCondLst>
                                    <p:cond delay="0"/>
                                  </p:stCondLst>
                                  <p:childTnLst>
                                    <p:animEffect transition="out" filter="fade">
                                      <p:cBhvr>
                                        <p:cTn id="93" dur="500"/>
                                        <p:tgtEl>
                                          <p:spTgt spid="14"/>
                                        </p:tgtEl>
                                      </p:cBhvr>
                                    </p:animEffect>
                                    <p:set>
                                      <p:cBhvr>
                                        <p:cTn id="94" dur="1" fill="hold">
                                          <p:stCondLst>
                                            <p:cond delay="499"/>
                                          </p:stCondLst>
                                        </p:cTn>
                                        <p:tgtEl>
                                          <p:spTgt spid="14"/>
                                        </p:tgtEl>
                                        <p:attrNameLst>
                                          <p:attrName>style.visibility</p:attrName>
                                        </p:attrNameLst>
                                      </p:cBhvr>
                                      <p:to>
                                        <p:strVal val="hidden"/>
                                      </p:to>
                                    </p:set>
                                  </p:childTnLst>
                                </p:cTn>
                              </p:par>
                              <p:par>
                                <p:cTn id="95" presetID="10" presetClass="exit" presetSubtype="0" fill="hold" grpId="1" nodeType="withEffect">
                                  <p:stCondLst>
                                    <p:cond delay="0"/>
                                  </p:stCondLst>
                                  <p:childTnLst>
                                    <p:animEffect transition="out" filter="fade">
                                      <p:cBhvr>
                                        <p:cTn id="96" dur="500"/>
                                        <p:tgtEl>
                                          <p:spTgt spid="15"/>
                                        </p:tgtEl>
                                      </p:cBhvr>
                                    </p:animEffect>
                                    <p:set>
                                      <p:cBhvr>
                                        <p:cTn id="97" dur="1" fill="hold">
                                          <p:stCondLst>
                                            <p:cond delay="499"/>
                                          </p:stCondLst>
                                        </p:cTn>
                                        <p:tgtEl>
                                          <p:spTgt spid="15"/>
                                        </p:tgtEl>
                                        <p:attrNameLst>
                                          <p:attrName>style.visibility</p:attrName>
                                        </p:attrNameLst>
                                      </p:cBhvr>
                                      <p:to>
                                        <p:strVal val="hidden"/>
                                      </p:to>
                                    </p:set>
                                  </p:childTnLst>
                                </p:cTn>
                              </p:par>
                              <p:par>
                                <p:cTn id="98" presetID="10" presetClass="exit" presetSubtype="0" fill="hold" grpId="1" nodeType="withEffect">
                                  <p:stCondLst>
                                    <p:cond delay="0"/>
                                  </p:stCondLst>
                                  <p:childTnLst>
                                    <p:animEffect transition="out" filter="fade">
                                      <p:cBhvr>
                                        <p:cTn id="99" dur="500"/>
                                        <p:tgtEl>
                                          <p:spTgt spid="16"/>
                                        </p:tgtEl>
                                      </p:cBhvr>
                                    </p:animEffect>
                                    <p:set>
                                      <p:cBhvr>
                                        <p:cTn id="100" dur="1" fill="hold">
                                          <p:stCondLst>
                                            <p:cond delay="499"/>
                                          </p:stCondLst>
                                        </p:cTn>
                                        <p:tgtEl>
                                          <p:spTgt spid="16"/>
                                        </p:tgtEl>
                                        <p:attrNameLst>
                                          <p:attrName>style.visibility</p:attrName>
                                        </p:attrNameLst>
                                      </p:cBhvr>
                                      <p:to>
                                        <p:strVal val="hidden"/>
                                      </p:to>
                                    </p:set>
                                  </p:childTnLst>
                                </p:cTn>
                              </p:par>
                              <p:par>
                                <p:cTn id="101" presetID="10" presetClass="exit" presetSubtype="0" fill="hold" grpId="1" nodeType="withEffect">
                                  <p:stCondLst>
                                    <p:cond delay="0"/>
                                  </p:stCondLst>
                                  <p:childTnLst>
                                    <p:animEffect transition="out" filter="fade">
                                      <p:cBhvr>
                                        <p:cTn id="102" dur="500"/>
                                        <p:tgtEl>
                                          <p:spTgt spid="17"/>
                                        </p:tgtEl>
                                      </p:cBhvr>
                                    </p:animEffect>
                                    <p:set>
                                      <p:cBhvr>
                                        <p:cTn id="103" dur="1" fill="hold">
                                          <p:stCondLst>
                                            <p:cond delay="4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32" grpId="0"/>
      <p:bldP spid="32" grpId="1"/>
      <p:bldP spid="36" grpId="0"/>
      <p:bldP spid="36" grpId="1"/>
      <p:bldP spid="14" grpId="0" animBg="1"/>
      <p:bldP spid="14" grpId="1" animBg="1"/>
      <p:bldP spid="15" grpId="0"/>
      <p:bldP spid="15" grpId="1"/>
      <p:bldP spid="16" grpId="0"/>
      <p:bldP spid="16" grpId="1"/>
      <p:bldP spid="17" grpId="0"/>
      <p:bldP spid="17" grpId="1"/>
      <p:bldP spid="18" grpId="0"/>
      <p:bldP spid="18" grpId="1"/>
      <p:bldP spid="19" grpId="0"/>
      <p:bldP spid="19" grpId="1"/>
      <p:bldP spid="22" grpId="0"/>
      <p:bldP spid="22"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圆角矩形 5"/>
          <p:cNvSpPr>
            <a:spLocks noChangeArrowheads="1"/>
          </p:cNvSpPr>
          <p:nvPr/>
        </p:nvSpPr>
        <p:spPr bwMode="auto">
          <a:xfrm>
            <a:off x="260350" y="439738"/>
            <a:ext cx="8623300" cy="4462463"/>
          </a:xfrm>
          <a:prstGeom prst="roundRect">
            <a:avLst>
              <a:gd name="adj" fmla="val 16667"/>
            </a:avLst>
          </a:prstGeom>
          <a:gradFill>
            <a:gsLst>
              <a:gs pos="0">
                <a:schemeClr val="accent1">
                  <a:lumMod val="5000"/>
                  <a:lumOff val="95000"/>
                </a:schemeClr>
              </a:gs>
              <a:gs pos="90000">
                <a:srgbClr val="F4F3D2"/>
              </a:gs>
            </a:gsLst>
            <a:lin ang="2700000" scaled="1"/>
          </a:gradFill>
          <a:ln w="47625">
            <a:solidFill>
              <a:srgbClr val="FC6C02"/>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useBgFill="1">
        <p:nvSpPr>
          <p:cNvPr id="12" name="矩形 11"/>
          <p:cNvSpPr/>
          <p:nvPr/>
        </p:nvSpPr>
        <p:spPr>
          <a:xfrm>
            <a:off x="717549" y="121918"/>
            <a:ext cx="2847255" cy="584771"/>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存储器</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20" name="左大括号 19"/>
          <p:cNvSpPr/>
          <p:nvPr/>
        </p:nvSpPr>
        <p:spPr bwMode="auto">
          <a:xfrm>
            <a:off x="3192463" y="962025"/>
            <a:ext cx="576263" cy="3417888"/>
          </a:xfrm>
          <a:prstGeom prst="leftBrace">
            <a:avLst/>
          </a:prstGeom>
          <a:noFill/>
          <a:ln w="38100" cap="flat" cmpd="sng" algn="ctr">
            <a:solidFill>
              <a:srgbClr val="FC6C02"/>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solidFill>
                  <a:srgbClr val="FC6C02"/>
                </a:solid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1" name="流程图: 可选过程 20"/>
          <p:cNvSpPr/>
          <p:nvPr/>
        </p:nvSpPr>
        <p:spPr bwMode="auto">
          <a:xfrm>
            <a:off x="915166" y="1947904"/>
            <a:ext cx="1910234" cy="1342840"/>
          </a:xfrm>
          <a:prstGeom prst="flowChartAlternateProcess">
            <a:avLst/>
          </a:prstGeom>
          <a:solidFill>
            <a:srgbClr val="FC6C02"/>
          </a:solidFill>
          <a:ln w="9525" cap="flat" cmpd="sng" algn="ctr">
            <a:solidFill>
              <a:srgbClr val="FC6C02"/>
            </a:solidFill>
            <a:prstDash val="solid"/>
            <a:round/>
            <a:headEnd type="none" w="med" len="med"/>
            <a:tailEnd type="none" w="med" len="med"/>
          </a:ln>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solidFill>
                    <a:schemeClr val="bg1"/>
                  </a:solidFill>
                </a:ln>
                <a:solidFill>
                  <a:schemeClr val="bg1"/>
                </a:solidFill>
                <a:effectLst/>
                <a:uLnTx/>
                <a:uFillTx/>
                <a:latin typeface="+mn-ea"/>
                <a:ea typeface="+mn-ea"/>
                <a:cs typeface="+mn-cs"/>
              </a:rPr>
              <a:t>512MB Block 4 SRAM</a:t>
            </a:r>
            <a:endParaRPr kumimoji="0" lang="zh-CN" altLang="en-US" sz="2400" b="1" i="0" u="none" strike="noStrike" kern="1200" cap="none" spc="0" normalizeH="0" baseline="0" noProof="0" dirty="0">
              <a:ln>
                <a:solidFill>
                  <a:schemeClr val="bg1"/>
                </a:solidFill>
              </a:ln>
              <a:solidFill>
                <a:schemeClr val="bg1"/>
              </a:solidFill>
              <a:effectLst/>
              <a:uLnTx/>
              <a:uFillTx/>
              <a:latin typeface="+mn-ea"/>
              <a:ea typeface="+mn-ea"/>
              <a:cs typeface="+mn-cs"/>
            </a:endParaRPr>
          </a:p>
        </p:txBody>
      </p:sp>
      <p:sp>
        <p:nvSpPr>
          <p:cNvPr id="30" name="流程图: 可选过程 29"/>
          <p:cNvSpPr/>
          <p:nvPr/>
        </p:nvSpPr>
        <p:spPr>
          <a:xfrm>
            <a:off x="3958210" y="3018401"/>
            <a:ext cx="2634954" cy="576064"/>
          </a:xfrm>
          <a:prstGeom prst="flowChartAlternateProcess">
            <a:avLst/>
          </a:prstGeom>
          <a:gradFill flip="none" rotWithShape="1">
            <a:gsLst>
              <a:gs pos="0">
                <a:srgbClr val="FF0000"/>
              </a:gs>
              <a:gs pos="64000">
                <a:srgbClr val="F89D24"/>
              </a:gs>
            </a:gsLst>
            <a:path path="circle">
              <a:fillToRect l="100000" b="100000"/>
            </a:path>
            <a:tileRect t="-100000" r="-100000"/>
          </a:gradFill>
          <a:ln>
            <a:solidFill>
              <a:srgbClr val="FC6C0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lt1"/>
                </a:solidFill>
                <a:effectLst/>
                <a:uLnTx/>
                <a:uFillTx/>
                <a:latin typeface="+mn-ea"/>
                <a:ea typeface="+mn-ea"/>
                <a:cs typeface="+mn-cs"/>
              </a:rPr>
              <a:t>PCCARD</a:t>
            </a:r>
            <a:endParaRPr kumimoji="0" lang="en-US" altLang="zh-CN" sz="2000" b="1" i="0" u="none" strike="noStrike" kern="1200" cap="none" spc="0" normalizeH="0" baseline="0" noProof="0" dirty="0">
              <a:ln>
                <a:noFill/>
              </a:ln>
              <a:solidFill>
                <a:schemeClr val="lt1"/>
              </a:solidFill>
              <a:effectLst/>
              <a:uLnTx/>
              <a:uFillTx/>
              <a:latin typeface="+mn-ea"/>
              <a:ea typeface="+mn-ea"/>
              <a:cs typeface="+mn-cs"/>
            </a:endParaRP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lt1"/>
                </a:solidFill>
                <a:effectLst/>
                <a:uLnTx/>
                <a:uFillTx/>
                <a:latin typeface="+mn-ea"/>
                <a:ea typeface="+mn-ea"/>
                <a:cs typeface="+mn-cs"/>
              </a:rPr>
              <a:t>256MB</a:t>
            </a:r>
            <a:endParaRPr kumimoji="0" lang="zh-CN" altLang="en-US" sz="2000" b="1" i="0" u="none" strike="noStrike" kern="1200" cap="none" spc="0" normalizeH="0" baseline="0" noProof="0" dirty="0">
              <a:ln>
                <a:noFill/>
              </a:ln>
              <a:solidFill>
                <a:schemeClr val="lt1"/>
              </a:solidFill>
              <a:effectLst/>
              <a:uLnTx/>
              <a:uFillTx/>
              <a:latin typeface="+mn-ea"/>
              <a:ea typeface="+mn-ea"/>
              <a:cs typeface="+mn-cs"/>
            </a:endParaRPr>
          </a:p>
        </p:txBody>
      </p:sp>
      <p:sp>
        <p:nvSpPr>
          <p:cNvPr id="32" name="文本框 31"/>
          <p:cNvSpPr txBox="1"/>
          <p:nvPr/>
        </p:nvSpPr>
        <p:spPr>
          <a:xfrm>
            <a:off x="4572000" y="1717675"/>
            <a:ext cx="1728788" cy="338138"/>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0x8FFF FFFF</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36" name="文本框 35"/>
          <p:cNvSpPr txBox="1"/>
          <p:nvPr/>
        </p:nvSpPr>
        <p:spPr>
          <a:xfrm>
            <a:off x="4576763" y="2039938"/>
            <a:ext cx="1728787" cy="338137"/>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0x8000 0000</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19" name="文本框 18"/>
          <p:cNvSpPr txBox="1"/>
          <p:nvPr/>
        </p:nvSpPr>
        <p:spPr>
          <a:xfrm>
            <a:off x="4572000" y="3617913"/>
            <a:ext cx="1728788" cy="338137"/>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0x9FFF FFFF</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22" name="文本框 21"/>
          <p:cNvSpPr txBox="1"/>
          <p:nvPr/>
        </p:nvSpPr>
        <p:spPr>
          <a:xfrm>
            <a:off x="4576763" y="3940175"/>
            <a:ext cx="1728787" cy="338138"/>
          </a:xfrm>
          <a:prstGeom prst="rect">
            <a:avLst/>
          </a:prstGeom>
          <a:noFill/>
          <a:ln w="9525">
            <a:noFill/>
          </a:ln>
        </p:spPr>
        <p:txBody>
          <a:bodyPr anchor="t" anchorCtr="0">
            <a:spAutoFit/>
          </a:bodyPr>
          <a:p>
            <a:r>
              <a:rPr lang="en-US" altLang="zh-CN" sz="1600" dirty="0">
                <a:latin typeface="Arial" panose="020B0604020202020204" pitchFamily="34" charset="0"/>
                <a:ea typeface="宋体" panose="02010600030101010101" pitchFamily="2" charset="-122"/>
                <a:sym typeface="Bodoni MT" panose="02070603080606020203" pitchFamily="18" charset="0"/>
              </a:rPr>
              <a:t>0x9000 0000</a:t>
            </a:r>
            <a:endParaRPr lang="zh-CN" altLang="en-US" sz="1600" dirty="0">
              <a:latin typeface="Arial" panose="020B0604020202020204" pitchFamily="34" charset="0"/>
              <a:ea typeface="宋体" panose="02010600030101010101" pitchFamily="2" charset="-122"/>
              <a:sym typeface="Bodoni MT" panose="02070603080606020203" pitchFamily="18" charset="0"/>
            </a:endParaRPr>
          </a:p>
        </p:txBody>
      </p:sp>
      <p:sp>
        <p:nvSpPr>
          <p:cNvPr id="23" name="流程图: 可选过程 22"/>
          <p:cNvSpPr/>
          <p:nvPr/>
        </p:nvSpPr>
        <p:spPr>
          <a:xfrm>
            <a:off x="3958210" y="1094322"/>
            <a:ext cx="2634954" cy="576064"/>
          </a:xfrm>
          <a:prstGeom prst="flowChartAlternateProcess">
            <a:avLst/>
          </a:prstGeom>
          <a:gradFill flip="none" rotWithShape="1">
            <a:gsLst>
              <a:gs pos="0">
                <a:srgbClr val="FF0000"/>
              </a:gs>
              <a:gs pos="64000">
                <a:srgbClr val="F89D24"/>
              </a:gs>
            </a:gsLst>
            <a:path path="circle">
              <a:fillToRect l="100000" b="100000"/>
            </a:path>
            <a:tileRect t="-100000" r="-100000"/>
          </a:gradFill>
          <a:ln>
            <a:solidFill>
              <a:srgbClr val="FC6C0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lt1"/>
                </a:solidFill>
                <a:effectLst/>
                <a:uLnTx/>
                <a:uFillTx/>
                <a:latin typeface="+mn-ea"/>
                <a:ea typeface="+mn-ea"/>
                <a:cs typeface="+mn-cs"/>
              </a:rPr>
              <a:t>NAND FLASH2</a:t>
            </a:r>
            <a:endParaRPr kumimoji="0" lang="en-US" altLang="zh-CN" sz="2000" b="1" i="0" u="none" strike="noStrike" kern="1200" cap="none" spc="0" normalizeH="0" baseline="0" noProof="0" dirty="0">
              <a:ln>
                <a:noFill/>
              </a:ln>
              <a:solidFill>
                <a:schemeClr val="lt1"/>
              </a:solidFill>
              <a:effectLst/>
              <a:uLnTx/>
              <a:uFillTx/>
              <a:latin typeface="+mn-ea"/>
              <a:ea typeface="+mn-ea"/>
              <a:cs typeface="+mn-cs"/>
            </a:endParaRP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lt1"/>
                </a:solidFill>
                <a:effectLst/>
                <a:uLnTx/>
                <a:uFillTx/>
                <a:latin typeface="+mn-ea"/>
                <a:ea typeface="+mn-ea"/>
                <a:cs typeface="+mn-cs"/>
              </a:rPr>
              <a:t>256MB</a:t>
            </a:r>
            <a:endParaRPr kumimoji="0" lang="zh-CN" altLang="en-US" sz="2000" b="1" i="0" u="none" strike="noStrike" kern="1200" cap="none" spc="0" normalizeH="0" baseline="0" noProof="0" dirty="0">
              <a:ln>
                <a:noFill/>
              </a:ln>
              <a:solidFill>
                <a:schemeClr val="lt1"/>
              </a:solidFill>
              <a:effectLst/>
              <a:uLnTx/>
              <a:uFillTx/>
              <a:latin typeface="+mn-ea"/>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up)">
                                      <p:cBhvr>
                                        <p:cTn id="7" dur="500"/>
                                        <p:tgtEl>
                                          <p:spTgt spid="20"/>
                                        </p:tgtEl>
                                      </p:cBhvr>
                                    </p:animEffect>
                                  </p:childTnLst>
                                </p:cTn>
                              </p:par>
                              <p:par>
                                <p:cTn id="8" presetID="47" presetClass="entr" presetSubtype="0" fill="hold"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anim calcmode="lin" valueType="num">
                                      <p:cBhvr>
                                        <p:cTn id="11" dur="500" fill="hold"/>
                                        <p:tgtEl>
                                          <p:spTgt spid="30"/>
                                        </p:tgtEl>
                                        <p:attrNameLst>
                                          <p:attrName>ppt_x</p:attrName>
                                        </p:attrNameLst>
                                      </p:cBhvr>
                                      <p:tavLst>
                                        <p:tav tm="0">
                                          <p:val>
                                            <p:strVal val="#ppt_x"/>
                                          </p:val>
                                        </p:tav>
                                        <p:tav tm="100000">
                                          <p:val>
                                            <p:strVal val="#ppt_x"/>
                                          </p:val>
                                        </p:tav>
                                      </p:tavLst>
                                    </p:anim>
                                    <p:anim calcmode="lin" valueType="num">
                                      <p:cBhvr>
                                        <p:cTn id="12" dur="500" fill="hold"/>
                                        <p:tgtEl>
                                          <p:spTgt spid="30"/>
                                        </p:tgtEl>
                                        <p:attrNameLst>
                                          <p:attrName>ppt_y</p:attrName>
                                        </p:attrNameLst>
                                      </p:cBhvr>
                                      <p:tavLst>
                                        <p:tav tm="0">
                                          <p:val>
                                            <p:strVal val="#ppt_y-.1"/>
                                          </p:val>
                                        </p:tav>
                                        <p:tav tm="100000">
                                          <p:val>
                                            <p:strVal val="#ppt_y"/>
                                          </p:val>
                                        </p:tav>
                                      </p:tavLst>
                                    </p:anim>
                                  </p:childTnLst>
                                </p:cTn>
                              </p:par>
                              <p:par>
                                <p:cTn id="13" presetID="47"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500"/>
                                        <p:tgtEl>
                                          <p:spTgt spid="32"/>
                                        </p:tgtEl>
                                      </p:cBhvr>
                                    </p:animEffect>
                                    <p:anim calcmode="lin" valueType="num">
                                      <p:cBhvr>
                                        <p:cTn id="16" dur="500" fill="hold"/>
                                        <p:tgtEl>
                                          <p:spTgt spid="32"/>
                                        </p:tgtEl>
                                        <p:attrNameLst>
                                          <p:attrName>ppt_x</p:attrName>
                                        </p:attrNameLst>
                                      </p:cBhvr>
                                      <p:tavLst>
                                        <p:tav tm="0">
                                          <p:val>
                                            <p:strVal val="#ppt_x"/>
                                          </p:val>
                                        </p:tav>
                                        <p:tav tm="100000">
                                          <p:val>
                                            <p:strVal val="#ppt_x"/>
                                          </p:val>
                                        </p:tav>
                                      </p:tavLst>
                                    </p:anim>
                                    <p:anim calcmode="lin" valueType="num">
                                      <p:cBhvr>
                                        <p:cTn id="17" dur="500" fill="hold"/>
                                        <p:tgtEl>
                                          <p:spTgt spid="32"/>
                                        </p:tgtEl>
                                        <p:attrNameLst>
                                          <p:attrName>ppt_y</p:attrName>
                                        </p:attrNameLst>
                                      </p:cBhvr>
                                      <p:tavLst>
                                        <p:tav tm="0">
                                          <p:val>
                                            <p:strVal val="#ppt_y-.1"/>
                                          </p:val>
                                        </p:tav>
                                        <p:tav tm="100000">
                                          <p:val>
                                            <p:strVal val="#ppt_y"/>
                                          </p:val>
                                        </p:tav>
                                      </p:tavLst>
                                    </p:anim>
                                  </p:childTnLst>
                                </p:cTn>
                              </p:par>
                              <p:par>
                                <p:cTn id="18" presetID="47" presetClass="entr" presetSubtype="0" fill="hold" grpId="0" nodeType="withEffect">
                                  <p:stCondLst>
                                    <p:cond delay="0"/>
                                  </p:stCondLst>
                                  <p:childTnLst>
                                    <p:set>
                                      <p:cBhvr>
                                        <p:cTn id="19" dur="1" fill="hold">
                                          <p:stCondLst>
                                            <p:cond delay="0"/>
                                          </p:stCondLst>
                                        </p:cTn>
                                        <p:tgtEl>
                                          <p:spTgt spid="36"/>
                                        </p:tgtEl>
                                        <p:attrNameLst>
                                          <p:attrName>style.visibility</p:attrName>
                                        </p:attrNameLst>
                                      </p:cBhvr>
                                      <p:to>
                                        <p:strVal val="visible"/>
                                      </p:to>
                                    </p:set>
                                    <p:animEffect transition="in" filter="fade">
                                      <p:cBhvr>
                                        <p:cTn id="20" dur="500"/>
                                        <p:tgtEl>
                                          <p:spTgt spid="36"/>
                                        </p:tgtEl>
                                      </p:cBhvr>
                                    </p:animEffect>
                                    <p:anim calcmode="lin" valueType="num">
                                      <p:cBhvr>
                                        <p:cTn id="21" dur="500" fill="hold"/>
                                        <p:tgtEl>
                                          <p:spTgt spid="36"/>
                                        </p:tgtEl>
                                        <p:attrNameLst>
                                          <p:attrName>ppt_x</p:attrName>
                                        </p:attrNameLst>
                                      </p:cBhvr>
                                      <p:tavLst>
                                        <p:tav tm="0">
                                          <p:val>
                                            <p:strVal val="#ppt_x"/>
                                          </p:val>
                                        </p:tav>
                                        <p:tav tm="100000">
                                          <p:val>
                                            <p:strVal val="#ppt_x"/>
                                          </p:val>
                                        </p:tav>
                                      </p:tavLst>
                                    </p:anim>
                                    <p:anim calcmode="lin" valueType="num">
                                      <p:cBhvr>
                                        <p:cTn id="22" dur="500" fill="hold"/>
                                        <p:tgtEl>
                                          <p:spTgt spid="36"/>
                                        </p:tgtEl>
                                        <p:attrNameLst>
                                          <p:attrName>ppt_y</p:attrName>
                                        </p:attrNameLst>
                                      </p:cBhvr>
                                      <p:tavLst>
                                        <p:tav tm="0">
                                          <p:val>
                                            <p:strVal val="#ppt_y-.1"/>
                                          </p:val>
                                        </p:tav>
                                        <p:tav tm="100000">
                                          <p:val>
                                            <p:strVal val="#ppt_y"/>
                                          </p:val>
                                        </p:tav>
                                      </p:tavLst>
                                    </p:anim>
                                  </p:childTnLst>
                                </p:cTn>
                              </p:par>
                              <p:par>
                                <p:cTn id="23" presetID="47"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anim calcmode="lin" valueType="num">
                                      <p:cBhvr>
                                        <p:cTn id="26" dur="500" fill="hold"/>
                                        <p:tgtEl>
                                          <p:spTgt spid="19"/>
                                        </p:tgtEl>
                                        <p:attrNameLst>
                                          <p:attrName>ppt_x</p:attrName>
                                        </p:attrNameLst>
                                      </p:cBhvr>
                                      <p:tavLst>
                                        <p:tav tm="0">
                                          <p:val>
                                            <p:strVal val="#ppt_x"/>
                                          </p:val>
                                        </p:tav>
                                        <p:tav tm="100000">
                                          <p:val>
                                            <p:strVal val="#ppt_x"/>
                                          </p:val>
                                        </p:tav>
                                      </p:tavLst>
                                    </p:anim>
                                    <p:anim calcmode="lin" valueType="num">
                                      <p:cBhvr>
                                        <p:cTn id="27" dur="500" fill="hold"/>
                                        <p:tgtEl>
                                          <p:spTgt spid="19"/>
                                        </p:tgtEl>
                                        <p:attrNameLst>
                                          <p:attrName>ppt_y</p:attrName>
                                        </p:attrNameLst>
                                      </p:cBhvr>
                                      <p:tavLst>
                                        <p:tav tm="0">
                                          <p:val>
                                            <p:strVal val="#ppt_y-.1"/>
                                          </p:val>
                                        </p:tav>
                                        <p:tav tm="100000">
                                          <p:val>
                                            <p:strVal val="#ppt_y"/>
                                          </p:val>
                                        </p:tav>
                                      </p:tavLst>
                                    </p:anim>
                                  </p:childTnLst>
                                </p:cTn>
                              </p:par>
                              <p:par>
                                <p:cTn id="28" presetID="47" presetClass="entr" presetSubtype="0" fill="hold" grpId="0"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anim calcmode="lin" valueType="num">
                                      <p:cBhvr>
                                        <p:cTn id="31" dur="500" fill="hold"/>
                                        <p:tgtEl>
                                          <p:spTgt spid="22"/>
                                        </p:tgtEl>
                                        <p:attrNameLst>
                                          <p:attrName>ppt_x</p:attrName>
                                        </p:attrNameLst>
                                      </p:cBhvr>
                                      <p:tavLst>
                                        <p:tav tm="0">
                                          <p:val>
                                            <p:strVal val="#ppt_x"/>
                                          </p:val>
                                        </p:tav>
                                        <p:tav tm="100000">
                                          <p:val>
                                            <p:strVal val="#ppt_x"/>
                                          </p:val>
                                        </p:tav>
                                      </p:tavLst>
                                    </p:anim>
                                    <p:anim calcmode="lin" valueType="num">
                                      <p:cBhvr>
                                        <p:cTn id="32" dur="500" fill="hold"/>
                                        <p:tgtEl>
                                          <p:spTgt spid="22"/>
                                        </p:tgtEl>
                                        <p:attrNameLst>
                                          <p:attrName>ppt_y</p:attrName>
                                        </p:attrNameLst>
                                      </p:cBhvr>
                                      <p:tavLst>
                                        <p:tav tm="0">
                                          <p:val>
                                            <p:strVal val="#ppt_y-.1"/>
                                          </p:val>
                                        </p:tav>
                                        <p:tav tm="100000">
                                          <p:val>
                                            <p:strVal val="#ppt_y"/>
                                          </p:val>
                                        </p:tav>
                                      </p:tavLst>
                                    </p:anim>
                                  </p:childTnLst>
                                </p:cTn>
                              </p:par>
                              <p:par>
                                <p:cTn id="33" presetID="47" presetClass="entr" presetSubtype="0" fill="hold"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500"/>
                                        <p:tgtEl>
                                          <p:spTgt spid="23"/>
                                        </p:tgtEl>
                                      </p:cBhvr>
                                    </p:animEffect>
                                    <p:anim calcmode="lin" valueType="num">
                                      <p:cBhvr>
                                        <p:cTn id="36" dur="500" fill="hold"/>
                                        <p:tgtEl>
                                          <p:spTgt spid="23"/>
                                        </p:tgtEl>
                                        <p:attrNameLst>
                                          <p:attrName>ppt_x</p:attrName>
                                        </p:attrNameLst>
                                      </p:cBhvr>
                                      <p:tavLst>
                                        <p:tav tm="0">
                                          <p:val>
                                            <p:strVal val="#ppt_x"/>
                                          </p:val>
                                        </p:tav>
                                        <p:tav tm="100000">
                                          <p:val>
                                            <p:strVal val="#ppt_x"/>
                                          </p:val>
                                        </p:tav>
                                      </p:tavLst>
                                    </p:anim>
                                    <p:anim calcmode="lin" valueType="num">
                                      <p:cBhvr>
                                        <p:cTn id="37" dur="5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1" nodeType="clickEffect">
                                  <p:stCondLst>
                                    <p:cond delay="0"/>
                                  </p:stCondLst>
                                  <p:childTnLst>
                                    <p:animEffect transition="out" filter="fade">
                                      <p:cBhvr>
                                        <p:cTn id="41" dur="500"/>
                                        <p:tgtEl>
                                          <p:spTgt spid="20"/>
                                        </p:tgtEl>
                                      </p:cBhvr>
                                    </p:animEffect>
                                    <p:set>
                                      <p:cBhvr>
                                        <p:cTn id="42" dur="1" fill="hold">
                                          <p:stCondLst>
                                            <p:cond delay="499"/>
                                          </p:stCondLst>
                                        </p:cTn>
                                        <p:tgtEl>
                                          <p:spTgt spid="20"/>
                                        </p:tgtEl>
                                        <p:attrNameLst>
                                          <p:attrName>style.visibility</p:attrName>
                                        </p:attrNameLst>
                                      </p:cBhvr>
                                      <p:to>
                                        <p:strVal val="hidden"/>
                                      </p:to>
                                    </p:set>
                                  </p:childTnLst>
                                </p:cTn>
                              </p:par>
                              <p:par>
                                <p:cTn id="43" presetID="10" presetClass="exit" presetSubtype="0" fill="hold" nodeType="withEffect">
                                  <p:stCondLst>
                                    <p:cond delay="0"/>
                                  </p:stCondLst>
                                  <p:childTnLst>
                                    <p:animEffect transition="out" filter="fade">
                                      <p:cBhvr>
                                        <p:cTn id="44" dur="500"/>
                                        <p:tgtEl>
                                          <p:spTgt spid="30"/>
                                        </p:tgtEl>
                                      </p:cBhvr>
                                    </p:animEffect>
                                    <p:set>
                                      <p:cBhvr>
                                        <p:cTn id="45" dur="1" fill="hold">
                                          <p:stCondLst>
                                            <p:cond delay="499"/>
                                          </p:stCondLst>
                                        </p:cTn>
                                        <p:tgtEl>
                                          <p:spTgt spid="30"/>
                                        </p:tgtEl>
                                        <p:attrNameLst>
                                          <p:attrName>style.visibility</p:attrName>
                                        </p:attrNameLst>
                                      </p:cBhvr>
                                      <p:to>
                                        <p:strVal val="hidden"/>
                                      </p:to>
                                    </p:set>
                                  </p:childTnLst>
                                </p:cTn>
                              </p:par>
                              <p:par>
                                <p:cTn id="46" presetID="10" presetClass="exit" presetSubtype="0" fill="hold" grpId="1" nodeType="withEffect">
                                  <p:stCondLst>
                                    <p:cond delay="0"/>
                                  </p:stCondLst>
                                  <p:childTnLst>
                                    <p:animEffect transition="out" filter="fade">
                                      <p:cBhvr>
                                        <p:cTn id="47" dur="500"/>
                                        <p:tgtEl>
                                          <p:spTgt spid="32"/>
                                        </p:tgtEl>
                                      </p:cBhvr>
                                    </p:animEffect>
                                    <p:set>
                                      <p:cBhvr>
                                        <p:cTn id="48" dur="1" fill="hold">
                                          <p:stCondLst>
                                            <p:cond delay="499"/>
                                          </p:stCondLst>
                                        </p:cTn>
                                        <p:tgtEl>
                                          <p:spTgt spid="32"/>
                                        </p:tgtEl>
                                        <p:attrNameLst>
                                          <p:attrName>style.visibility</p:attrName>
                                        </p:attrNameLst>
                                      </p:cBhvr>
                                      <p:to>
                                        <p:strVal val="hidden"/>
                                      </p:to>
                                    </p:set>
                                  </p:childTnLst>
                                </p:cTn>
                              </p:par>
                              <p:par>
                                <p:cTn id="49" presetID="10" presetClass="exit" presetSubtype="0" fill="hold" grpId="1" nodeType="withEffect">
                                  <p:stCondLst>
                                    <p:cond delay="0"/>
                                  </p:stCondLst>
                                  <p:childTnLst>
                                    <p:animEffect transition="out" filter="fade">
                                      <p:cBhvr>
                                        <p:cTn id="50" dur="500"/>
                                        <p:tgtEl>
                                          <p:spTgt spid="36"/>
                                        </p:tgtEl>
                                      </p:cBhvr>
                                    </p:animEffect>
                                    <p:set>
                                      <p:cBhvr>
                                        <p:cTn id="51" dur="1" fill="hold">
                                          <p:stCondLst>
                                            <p:cond delay="499"/>
                                          </p:stCondLst>
                                        </p:cTn>
                                        <p:tgtEl>
                                          <p:spTgt spid="36"/>
                                        </p:tgtEl>
                                        <p:attrNameLst>
                                          <p:attrName>style.visibility</p:attrName>
                                        </p:attrNameLst>
                                      </p:cBhvr>
                                      <p:to>
                                        <p:strVal val="hidden"/>
                                      </p:to>
                                    </p:set>
                                  </p:childTnLst>
                                </p:cTn>
                              </p:par>
                              <p:par>
                                <p:cTn id="52" presetID="10" presetClass="exit" presetSubtype="0" fill="hold" grpId="1" nodeType="withEffect">
                                  <p:stCondLst>
                                    <p:cond delay="0"/>
                                  </p:stCondLst>
                                  <p:childTnLst>
                                    <p:animEffect transition="out" filter="fade">
                                      <p:cBhvr>
                                        <p:cTn id="53" dur="500"/>
                                        <p:tgtEl>
                                          <p:spTgt spid="19"/>
                                        </p:tgtEl>
                                      </p:cBhvr>
                                    </p:animEffect>
                                    <p:set>
                                      <p:cBhvr>
                                        <p:cTn id="54" dur="1" fill="hold">
                                          <p:stCondLst>
                                            <p:cond delay="499"/>
                                          </p:stCondLst>
                                        </p:cTn>
                                        <p:tgtEl>
                                          <p:spTgt spid="19"/>
                                        </p:tgtEl>
                                        <p:attrNameLst>
                                          <p:attrName>style.visibility</p:attrName>
                                        </p:attrNameLst>
                                      </p:cBhvr>
                                      <p:to>
                                        <p:strVal val="hidden"/>
                                      </p:to>
                                    </p:set>
                                  </p:childTnLst>
                                </p:cTn>
                              </p:par>
                              <p:par>
                                <p:cTn id="55" presetID="10" presetClass="exit" presetSubtype="0" fill="hold" grpId="1" nodeType="withEffect">
                                  <p:stCondLst>
                                    <p:cond delay="0"/>
                                  </p:stCondLst>
                                  <p:childTnLst>
                                    <p:animEffect transition="out" filter="fade">
                                      <p:cBhvr>
                                        <p:cTn id="56" dur="500"/>
                                        <p:tgtEl>
                                          <p:spTgt spid="22"/>
                                        </p:tgtEl>
                                      </p:cBhvr>
                                    </p:animEffect>
                                    <p:set>
                                      <p:cBhvr>
                                        <p:cTn id="57" dur="1" fill="hold">
                                          <p:stCondLst>
                                            <p:cond delay="499"/>
                                          </p:stCondLst>
                                        </p:cTn>
                                        <p:tgtEl>
                                          <p:spTgt spid="22"/>
                                        </p:tgtEl>
                                        <p:attrNameLst>
                                          <p:attrName>style.visibility</p:attrName>
                                        </p:attrNameLst>
                                      </p:cBhvr>
                                      <p:to>
                                        <p:strVal val="hidden"/>
                                      </p:to>
                                    </p:set>
                                  </p:childTnLst>
                                </p:cTn>
                              </p:par>
                              <p:par>
                                <p:cTn id="58" presetID="10" presetClass="exit" presetSubtype="0" fill="hold" nodeType="withEffect">
                                  <p:stCondLst>
                                    <p:cond delay="0"/>
                                  </p:stCondLst>
                                  <p:childTnLst>
                                    <p:animEffect transition="out" filter="fade">
                                      <p:cBhvr>
                                        <p:cTn id="59" dur="500"/>
                                        <p:tgtEl>
                                          <p:spTgt spid="23"/>
                                        </p:tgtEl>
                                      </p:cBhvr>
                                    </p:animEffect>
                                    <p:set>
                                      <p:cBhvr>
                                        <p:cTn id="60" dur="1" fill="hold">
                                          <p:stCondLst>
                                            <p:cond delay="499"/>
                                          </p:stCondLst>
                                        </p:cTn>
                                        <p:tgtEl>
                                          <p:spTgt spid="23"/>
                                        </p:tgtEl>
                                        <p:attrNameLst>
                                          <p:attrName>style.visibility</p:attrName>
                                        </p:attrNameLst>
                                      </p:cBhvr>
                                      <p:to>
                                        <p:strVal val="hidden"/>
                                      </p:to>
                                    </p:set>
                                  </p:childTnLst>
                                </p:cTn>
                              </p:par>
                            </p:childTnLst>
                          </p:cTn>
                        </p:par>
                        <p:par>
                          <p:cTn id="61" fill="hold">
                            <p:stCondLst>
                              <p:cond delay="500"/>
                            </p:stCondLst>
                            <p:childTnLst>
                              <p:par>
                                <p:cTn id="62" presetID="10" presetClass="exit" presetSubtype="0" fill="hold" nodeType="afterEffect">
                                  <p:stCondLst>
                                    <p:cond delay="0"/>
                                  </p:stCondLst>
                                  <p:childTnLst>
                                    <p:animEffect transition="out" filter="fade">
                                      <p:cBhvr>
                                        <p:cTn id="63" dur="500"/>
                                        <p:tgtEl>
                                          <p:spTgt spid="21"/>
                                        </p:tgtEl>
                                      </p:cBhvr>
                                    </p:animEffect>
                                    <p:set>
                                      <p:cBhvr>
                                        <p:cTn id="64"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32" grpId="0"/>
      <p:bldP spid="32" grpId="1"/>
      <p:bldP spid="36" grpId="0"/>
      <p:bldP spid="36" grpId="1"/>
      <p:bldP spid="19" grpId="0"/>
      <p:bldP spid="19" grpId="1"/>
      <p:bldP spid="22" grpId="0"/>
      <p:bldP spid="22"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圆角矩形 5"/>
          <p:cNvSpPr>
            <a:spLocks noChangeArrowheads="1"/>
          </p:cNvSpPr>
          <p:nvPr/>
        </p:nvSpPr>
        <p:spPr bwMode="auto">
          <a:xfrm>
            <a:off x="260350" y="439738"/>
            <a:ext cx="8623300" cy="4462463"/>
          </a:xfrm>
          <a:prstGeom prst="roundRect">
            <a:avLst>
              <a:gd name="adj" fmla="val 16667"/>
            </a:avLst>
          </a:prstGeom>
          <a:gradFill>
            <a:gsLst>
              <a:gs pos="0">
                <a:schemeClr val="accent1">
                  <a:lumMod val="5000"/>
                  <a:lumOff val="95000"/>
                </a:schemeClr>
              </a:gs>
              <a:gs pos="90000">
                <a:srgbClr val="F4F3D2"/>
              </a:gs>
            </a:gsLst>
            <a:lin ang="2700000" scaled="1"/>
          </a:gradFill>
          <a:ln w="47625">
            <a:solidFill>
              <a:srgbClr val="FC6C02"/>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useBgFill="1">
        <p:nvSpPr>
          <p:cNvPr id="12" name="矩形 11"/>
          <p:cNvSpPr/>
          <p:nvPr/>
        </p:nvSpPr>
        <p:spPr>
          <a:xfrm>
            <a:off x="717549" y="121918"/>
            <a:ext cx="2847255" cy="584771"/>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存储器</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21" name="流程图: 可选过程 20"/>
          <p:cNvSpPr/>
          <p:nvPr/>
        </p:nvSpPr>
        <p:spPr bwMode="auto">
          <a:xfrm>
            <a:off x="915166" y="1947904"/>
            <a:ext cx="1910234" cy="1342840"/>
          </a:xfrm>
          <a:prstGeom prst="flowChartAlternateProcess">
            <a:avLst/>
          </a:prstGeom>
          <a:solidFill>
            <a:srgbClr val="FC6C02"/>
          </a:solidFill>
          <a:ln w="9525" cap="flat" cmpd="sng" algn="ctr">
            <a:solidFill>
              <a:srgbClr val="FC6C02"/>
            </a:solidFill>
            <a:prstDash val="solid"/>
            <a:round/>
            <a:headEnd type="none" w="med" len="med"/>
            <a:tailEnd type="none" w="med" len="med"/>
          </a:ln>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solidFill>
                    <a:schemeClr val="bg1"/>
                  </a:solidFill>
                </a:ln>
                <a:solidFill>
                  <a:schemeClr val="bg1"/>
                </a:solidFill>
                <a:effectLst/>
                <a:uLnTx/>
                <a:uFillTx/>
                <a:latin typeface="+mn-ea"/>
                <a:ea typeface="+mn-ea"/>
                <a:cs typeface="+mn-cs"/>
              </a:rPr>
              <a:t>512MB Block 5 </a:t>
            </a:r>
            <a:r>
              <a:rPr kumimoji="0" lang="en-US" altLang="zh-CN" sz="2000" b="1" i="0" u="none" strike="noStrike" kern="1200" cap="none" spc="0" normalizeH="0" baseline="0" noProof="0" dirty="0">
                <a:ln>
                  <a:solidFill>
                    <a:schemeClr val="bg1"/>
                  </a:solidFill>
                </a:ln>
                <a:solidFill>
                  <a:schemeClr val="bg1"/>
                </a:solidFill>
                <a:effectLst/>
                <a:uLnTx/>
                <a:uFillTx/>
                <a:latin typeface="+mn-ea"/>
                <a:ea typeface="+mn-ea"/>
                <a:cs typeface="+mn-cs"/>
              </a:rPr>
              <a:t>FSMC</a:t>
            </a:r>
            <a:r>
              <a:rPr kumimoji="0" lang="zh-CN" altLang="en-US" sz="2000" b="1" i="0" u="none" strike="noStrike" kern="1200" cap="none" spc="0" normalizeH="0" baseline="0" noProof="0" dirty="0">
                <a:ln>
                  <a:solidFill>
                    <a:schemeClr val="bg1"/>
                  </a:solidFill>
                </a:ln>
                <a:solidFill>
                  <a:schemeClr val="bg1"/>
                </a:solidFill>
                <a:effectLst/>
                <a:uLnTx/>
                <a:uFillTx/>
                <a:latin typeface="+mn-ea"/>
                <a:ea typeface="+mn-ea"/>
                <a:cs typeface="+mn-cs"/>
              </a:rPr>
              <a:t>寄存器</a:t>
            </a:r>
            <a:endParaRPr kumimoji="0" lang="zh-CN" altLang="en-US" sz="2400" b="1" i="0" u="none" strike="noStrike" kern="1200" cap="none" spc="0" normalizeH="0" baseline="0" noProof="0" dirty="0">
              <a:ln>
                <a:solidFill>
                  <a:schemeClr val="bg1"/>
                </a:solidFill>
              </a:ln>
              <a:solidFill>
                <a:schemeClr val="bg1"/>
              </a:solidFill>
              <a:effectLst/>
              <a:uLnTx/>
              <a:uFillTx/>
              <a:latin typeface="+mn-ea"/>
              <a:ea typeface="+mn-ea"/>
              <a:cs typeface="+mn-cs"/>
            </a:endParaRPr>
          </a:p>
        </p:txBody>
      </p:sp>
      <p:sp>
        <p:nvSpPr>
          <p:cNvPr id="13" name="流程图: 可选过程 12"/>
          <p:cNvSpPr/>
          <p:nvPr/>
        </p:nvSpPr>
        <p:spPr bwMode="auto">
          <a:xfrm>
            <a:off x="3564804" y="1947904"/>
            <a:ext cx="1910234" cy="1342840"/>
          </a:xfrm>
          <a:prstGeom prst="flowChartAlternateProcess">
            <a:avLst/>
          </a:prstGeom>
          <a:solidFill>
            <a:srgbClr val="FC6C02"/>
          </a:solidFill>
          <a:ln w="9525" cap="flat" cmpd="sng" algn="ctr">
            <a:solidFill>
              <a:srgbClr val="FC6C02"/>
            </a:solidFill>
            <a:prstDash val="solid"/>
            <a:round/>
            <a:headEnd type="none" w="med" len="med"/>
            <a:tailEnd type="none" w="med" len="med"/>
          </a:ln>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solidFill>
                    <a:schemeClr val="bg1"/>
                  </a:solidFill>
                </a:ln>
                <a:solidFill>
                  <a:schemeClr val="bg1"/>
                </a:solidFill>
                <a:effectLst/>
                <a:uLnTx/>
                <a:uFillTx/>
                <a:latin typeface="+mn-ea"/>
                <a:ea typeface="+mn-ea"/>
                <a:cs typeface="+mn-cs"/>
              </a:rPr>
              <a:t>512MB Block 6 </a:t>
            </a:r>
            <a:endParaRPr kumimoji="0" lang="en-US" altLang="zh-CN" sz="2400" b="1" i="0" u="none" strike="noStrike" kern="1200" cap="none" spc="0" normalizeH="0" baseline="0" noProof="0" dirty="0">
              <a:ln>
                <a:solidFill>
                  <a:schemeClr val="bg1"/>
                </a:solidFill>
              </a:ln>
              <a:solidFill>
                <a:schemeClr val="bg1"/>
              </a:solidFill>
              <a:effectLst/>
              <a:uLnTx/>
              <a:uFillTx/>
              <a:latin typeface="+mn-ea"/>
              <a:ea typeface="+mn-ea"/>
              <a:cs typeface="+mn-cs"/>
            </a:endParaRP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dirty="0">
                <a:ln>
                  <a:solidFill>
                    <a:schemeClr val="bg1"/>
                  </a:solidFill>
                </a:ln>
                <a:solidFill>
                  <a:schemeClr val="bg1"/>
                </a:solidFill>
                <a:effectLst/>
                <a:uLnTx/>
                <a:uFillTx/>
                <a:latin typeface="+mn-ea"/>
                <a:ea typeface="+mn-ea"/>
                <a:cs typeface="+mn-cs"/>
              </a:rPr>
              <a:t>未使用</a:t>
            </a:r>
            <a:endParaRPr kumimoji="0" lang="zh-CN" altLang="en-US" sz="2400" b="1" i="0" u="none" strike="noStrike" kern="1200" cap="none" spc="0" normalizeH="0" baseline="0" noProof="0" dirty="0">
              <a:ln>
                <a:solidFill>
                  <a:schemeClr val="bg1"/>
                </a:solidFill>
              </a:ln>
              <a:solidFill>
                <a:schemeClr val="bg1"/>
              </a:solidFill>
              <a:effectLst/>
              <a:uLnTx/>
              <a:uFillTx/>
              <a:latin typeface="+mn-ea"/>
              <a:ea typeface="+mn-ea"/>
              <a:cs typeface="+mn-cs"/>
            </a:endParaRPr>
          </a:p>
        </p:txBody>
      </p:sp>
      <p:sp>
        <p:nvSpPr>
          <p:cNvPr id="14" name="流程图: 可选过程 13"/>
          <p:cNvSpPr/>
          <p:nvPr/>
        </p:nvSpPr>
        <p:spPr bwMode="auto">
          <a:xfrm>
            <a:off x="6400417" y="1947904"/>
            <a:ext cx="1910234" cy="1342840"/>
          </a:xfrm>
          <a:prstGeom prst="flowChartAlternateProcess">
            <a:avLst/>
          </a:prstGeom>
          <a:solidFill>
            <a:srgbClr val="FC6C02"/>
          </a:solidFill>
          <a:ln w="9525" cap="flat" cmpd="sng" algn="ctr">
            <a:solidFill>
              <a:srgbClr val="FC6C02"/>
            </a:solidFill>
            <a:prstDash val="solid"/>
            <a:round/>
            <a:headEnd type="none" w="med" len="med"/>
            <a:tailEnd type="none" w="med" len="med"/>
          </a:ln>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solidFill>
                    <a:schemeClr val="bg1"/>
                  </a:solidFill>
                </a:ln>
                <a:solidFill>
                  <a:schemeClr val="bg1"/>
                </a:solidFill>
                <a:effectLst/>
                <a:uLnTx/>
                <a:uFillTx/>
                <a:latin typeface="+mn-ea"/>
                <a:ea typeface="+mn-ea"/>
                <a:cs typeface="+mn-cs"/>
              </a:rPr>
              <a:t>512MB Block 7 </a:t>
            </a:r>
            <a:endParaRPr kumimoji="0" lang="en-US" altLang="zh-CN" sz="2400" b="1" i="0" u="none" strike="noStrike" kern="1200" cap="none" spc="0" normalizeH="0" baseline="0" noProof="0" dirty="0">
              <a:ln>
                <a:solidFill>
                  <a:schemeClr val="bg1"/>
                </a:solidFill>
              </a:ln>
              <a:solidFill>
                <a:schemeClr val="bg1"/>
              </a:solidFill>
              <a:effectLst/>
              <a:uLnTx/>
              <a:uFillTx/>
              <a:latin typeface="+mn-ea"/>
              <a:ea typeface="+mn-ea"/>
              <a:cs typeface="+mn-cs"/>
            </a:endParaRP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dirty="0">
                <a:ln>
                  <a:solidFill>
                    <a:schemeClr val="bg1"/>
                  </a:solidFill>
                </a:ln>
                <a:solidFill>
                  <a:schemeClr val="bg1"/>
                </a:solidFill>
                <a:effectLst/>
                <a:uLnTx/>
                <a:uFillTx/>
                <a:latin typeface="+mn-ea"/>
                <a:ea typeface="+mn-ea"/>
                <a:cs typeface="+mn-cs"/>
              </a:rPr>
              <a:t>内核外设</a:t>
            </a:r>
            <a:endParaRPr kumimoji="0" lang="zh-CN" altLang="en-US" sz="2400" b="1" i="0" u="none" strike="noStrike" kern="1200" cap="none" spc="0" normalizeH="0" baseline="0" noProof="0" dirty="0">
              <a:ln>
                <a:solidFill>
                  <a:schemeClr val="bg1"/>
                </a:solidFill>
              </a:ln>
              <a:solidFill>
                <a:schemeClr val="bg1"/>
              </a:solidFill>
              <a:effectLst/>
              <a:uLnTx/>
              <a:uFillTx/>
              <a:latin typeface="+mn-ea"/>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500"/>
                                        <p:tgtEl>
                                          <p:spTgt spid="14"/>
                                        </p:tgtEl>
                                      </p:cBhvr>
                                    </p:animEffect>
                                    <p:set>
                                      <p:cBhvr>
                                        <p:cTn id="20" dur="1" fill="hold">
                                          <p:stCondLst>
                                            <p:cond delay="499"/>
                                          </p:stCondLst>
                                        </p:cTn>
                                        <p:tgtEl>
                                          <p:spTgt spid="14"/>
                                        </p:tgtEl>
                                        <p:attrNameLst>
                                          <p:attrName>style.visibility</p:attrName>
                                        </p:attrNameLst>
                                      </p:cBhvr>
                                      <p:to>
                                        <p:strVal val="hidden"/>
                                      </p:to>
                                    </p:set>
                                  </p:childTnLst>
                                </p:cTn>
                              </p:par>
                            </p:childTnLst>
                          </p:cTn>
                        </p:par>
                        <p:par>
                          <p:cTn id="21" fill="hold">
                            <p:stCondLst>
                              <p:cond delay="500"/>
                            </p:stCondLst>
                            <p:childTnLst>
                              <p:par>
                                <p:cTn id="22" presetID="10" presetClass="exit" presetSubtype="0" fill="hold" nodeType="afterEffect">
                                  <p:stCondLst>
                                    <p:cond delay="0"/>
                                  </p:stCondLst>
                                  <p:childTnLst>
                                    <p:animEffect transition="out" filter="fade">
                                      <p:cBhvr>
                                        <p:cTn id="23" dur="500"/>
                                        <p:tgtEl>
                                          <p:spTgt spid="13"/>
                                        </p:tgtEl>
                                      </p:cBhvr>
                                    </p:animEffect>
                                    <p:set>
                                      <p:cBhvr>
                                        <p:cTn id="24" dur="1" fill="hold">
                                          <p:stCondLst>
                                            <p:cond delay="499"/>
                                          </p:stCondLst>
                                        </p:cTn>
                                        <p:tgtEl>
                                          <p:spTgt spid="13"/>
                                        </p:tgtEl>
                                        <p:attrNameLst>
                                          <p:attrName>style.visibility</p:attrName>
                                        </p:attrNameLst>
                                      </p:cBhvr>
                                      <p:to>
                                        <p:strVal val="hidden"/>
                                      </p:to>
                                    </p:set>
                                  </p:childTnLst>
                                </p:cTn>
                              </p:par>
                            </p:childTnLst>
                          </p:cTn>
                        </p:par>
                        <p:par>
                          <p:cTn id="25" fill="hold">
                            <p:stCondLst>
                              <p:cond delay="1000"/>
                            </p:stCondLst>
                            <p:childTnLst>
                              <p:par>
                                <p:cTn id="26" presetID="10" presetClass="exit" presetSubtype="0" fill="hold" nodeType="afterEffect">
                                  <p:stCondLst>
                                    <p:cond delay="0"/>
                                  </p:stCondLst>
                                  <p:childTnLst>
                                    <p:animEffect transition="out" filter="fade">
                                      <p:cBhvr>
                                        <p:cTn id="27" dur="500"/>
                                        <p:tgtEl>
                                          <p:spTgt spid="21"/>
                                        </p:tgtEl>
                                      </p:cBhvr>
                                    </p:animEffect>
                                    <p:set>
                                      <p:cBhvr>
                                        <p:cTn id="28"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圆角矩形 5"/>
          <p:cNvSpPr>
            <a:spLocks noChangeArrowheads="1"/>
          </p:cNvSpPr>
          <p:nvPr/>
        </p:nvSpPr>
        <p:spPr bwMode="auto">
          <a:xfrm>
            <a:off x="260350" y="439738"/>
            <a:ext cx="8623300" cy="4462463"/>
          </a:xfrm>
          <a:prstGeom prst="roundRect">
            <a:avLst>
              <a:gd name="adj" fmla="val 16667"/>
            </a:avLst>
          </a:prstGeom>
          <a:gradFill>
            <a:gsLst>
              <a:gs pos="0">
                <a:schemeClr val="accent1">
                  <a:lumMod val="5000"/>
                  <a:lumOff val="95000"/>
                </a:schemeClr>
              </a:gs>
              <a:gs pos="90000">
                <a:srgbClr val="F4F3D2"/>
              </a:gs>
            </a:gsLst>
            <a:lin ang="2700000" scaled="1"/>
          </a:gradFill>
          <a:ln w="47625">
            <a:solidFill>
              <a:srgbClr val="FC6C02"/>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useBgFill="1">
        <p:nvSpPr>
          <p:cNvPr id="12" name="矩形 11"/>
          <p:cNvSpPr/>
          <p:nvPr/>
        </p:nvSpPr>
        <p:spPr>
          <a:xfrm>
            <a:off x="717549" y="121918"/>
            <a:ext cx="2847255" cy="584771"/>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存储器</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3" name="矩形 2"/>
          <p:cNvSpPr/>
          <p:nvPr/>
        </p:nvSpPr>
        <p:spPr>
          <a:xfrm>
            <a:off x="915166" y="743333"/>
            <a:ext cx="7638630" cy="646326"/>
          </a:xfrm>
          <a:prstGeom prst="rect">
            <a:avLst/>
          </a:prstGeom>
          <a:noFill/>
        </p:spPr>
        <p:txBody>
          <a:bodyPr wrap="none" lIns="91440" tIns="45720" rIns="91440" bIns="4572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问题</a:t>
            </a:r>
            <a:r>
              <a:rPr kumimoji="0" lang="en-US" altLang="zh-CN"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1</a:t>
            </a:r>
            <a:r>
              <a:rPr kumimoji="0" lang="zh-CN" altLang="en-US"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a:t>
            </a:r>
            <a:r>
              <a:rPr kumimoji="0" lang="en-US" altLang="zh-CN"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Flash</a:t>
            </a:r>
            <a:r>
              <a:rPr kumimoji="0" lang="zh-CN" altLang="en-US"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和</a:t>
            </a:r>
            <a:r>
              <a:rPr kumimoji="0" lang="en-US" altLang="zh-CN"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SRAM</a:t>
            </a:r>
            <a:r>
              <a:rPr kumimoji="0" lang="zh-CN" altLang="en-US"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有什么区别？</a:t>
            </a:r>
            <a:endParaRPr kumimoji="0" lang="zh-CN" altLang="en-US"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endParaRPr>
          </a:p>
        </p:txBody>
      </p:sp>
      <p:sp>
        <p:nvSpPr>
          <p:cNvPr id="11" name="矩形: 圆角 10"/>
          <p:cNvSpPr/>
          <p:nvPr/>
        </p:nvSpPr>
        <p:spPr bwMode="auto">
          <a:xfrm>
            <a:off x="1095375" y="1522413"/>
            <a:ext cx="3101975" cy="2716213"/>
          </a:xfrm>
          <a:prstGeom prst="roundRect">
            <a:avLst/>
          </a:prstGeom>
          <a:gradFill flip="none" rotWithShape="1">
            <a:gsLst>
              <a:gs pos="0">
                <a:srgbClr val="85DFFF"/>
              </a:gs>
              <a:gs pos="23000">
                <a:srgbClr val="E7F9FF"/>
              </a:gs>
            </a:gsLst>
            <a:lin ang="16200000" scaled="1"/>
            <a:tileRect/>
          </a:gradFill>
          <a:ln w="38100" cap="flat" cmpd="sng" algn="ctr">
            <a:solidFill>
              <a:srgbClr val="FF6600"/>
            </a:solidFill>
            <a:prstDash val="solid"/>
            <a:round/>
            <a:headEnd type="none" w="med" len="med"/>
            <a:tailEnd type="none" w="med" len="med"/>
          </a:ln>
          <a:effectLst>
            <a:outerShdw blurRad="50800" dist="38100" dir="13500000" algn="br" rotWithShape="0">
              <a:prstClr val="black">
                <a:alpha val="40000"/>
              </a:prst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ea"/>
                <a:ea typeface="+mn-ea"/>
                <a:cs typeface="+mn-cs"/>
              </a:rPr>
              <a:t>Flash</a:t>
            </a:r>
            <a:r>
              <a:rPr kumimoji="0" lang="zh-CN" altLang="en-US" sz="2200" b="0" i="0" u="none" strike="noStrike" kern="1200" cap="none" spc="0" normalizeH="0" baseline="0" noProof="0" dirty="0">
                <a:ln>
                  <a:noFill/>
                </a:ln>
                <a:solidFill>
                  <a:schemeClr val="tx1"/>
                </a:solidFill>
                <a:effectLst/>
                <a:uLnTx/>
                <a:uFillTx/>
                <a:latin typeface="+mn-ea"/>
                <a:ea typeface="+mn-ea"/>
                <a:cs typeface="+mn-cs"/>
              </a:rPr>
              <a:t>中写入的内容不会因为电源关闭而丢失，读取速度慢，成本较低，容量较大，一般用做程序存储器或者低速数据读取的情况。</a:t>
            </a:r>
            <a:endParaRPr kumimoji="0" lang="zh-CN" altLang="en-US" sz="2200" b="0" i="0" u="none" strike="noStrike" kern="1200" cap="none" spc="0" normalizeH="0" baseline="0" noProof="0" dirty="0">
              <a:ln>
                <a:noFill/>
              </a:ln>
              <a:solidFill>
                <a:schemeClr val="tx1"/>
              </a:solidFill>
              <a:effectLst/>
              <a:uLnTx/>
              <a:uFillTx/>
              <a:latin typeface="+mn-ea"/>
              <a:ea typeface="+mn-ea"/>
              <a:cs typeface="+mn-cs"/>
            </a:endParaRPr>
          </a:p>
        </p:txBody>
      </p:sp>
      <p:sp>
        <p:nvSpPr>
          <p:cNvPr id="16" name="矩形: 圆角 15"/>
          <p:cNvSpPr/>
          <p:nvPr/>
        </p:nvSpPr>
        <p:spPr bwMode="auto">
          <a:xfrm>
            <a:off x="5200650" y="1522413"/>
            <a:ext cx="3101975" cy="2716213"/>
          </a:xfrm>
          <a:prstGeom prst="roundRect">
            <a:avLst/>
          </a:prstGeom>
          <a:gradFill flip="none" rotWithShape="1">
            <a:gsLst>
              <a:gs pos="0">
                <a:srgbClr val="92D050"/>
              </a:gs>
              <a:gs pos="23000">
                <a:srgbClr val="F2FAEA"/>
              </a:gs>
            </a:gsLst>
            <a:lin ang="16200000" scaled="1"/>
            <a:tileRect/>
          </a:gradFill>
          <a:ln w="38100" cap="flat" cmpd="sng" algn="ctr">
            <a:solidFill>
              <a:srgbClr val="FF6600"/>
            </a:solidFill>
            <a:prstDash val="solid"/>
            <a:round/>
            <a:headEnd type="none" w="med" len="med"/>
            <a:tailEnd type="none" w="med" len="med"/>
          </a:ln>
          <a:effectLst>
            <a:outerShdw blurRad="50800" dist="38100" dir="13500000" algn="br" rotWithShape="0">
              <a:prstClr val="black">
                <a:alpha val="40000"/>
              </a:prst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ea"/>
                <a:ea typeface="+mn-ea"/>
                <a:cs typeface="+mn-cs"/>
              </a:rPr>
              <a:t>SRAM</a:t>
            </a:r>
            <a:r>
              <a:rPr kumimoji="0" lang="zh-CN" altLang="en-US" sz="2200" b="0" i="0" u="none" strike="noStrike" kern="1200" cap="none" spc="0" normalizeH="0" baseline="0" noProof="0" dirty="0">
                <a:ln>
                  <a:noFill/>
                </a:ln>
                <a:solidFill>
                  <a:schemeClr val="tx1"/>
                </a:solidFill>
                <a:effectLst/>
                <a:uLnTx/>
                <a:uFillTx/>
                <a:latin typeface="+mn-ea"/>
                <a:ea typeface="+mn-ea"/>
                <a:cs typeface="+mn-cs"/>
              </a:rPr>
              <a:t>有最快的读写速度，但电源掉落后其内容也会失去，价格昂贵，容量较小，一般用作</a:t>
            </a:r>
            <a:r>
              <a:rPr kumimoji="0" lang="en-US" altLang="zh-CN" sz="2200" b="0" i="0" u="none" strike="noStrike" kern="1200" cap="none" spc="0" normalizeH="0" baseline="0" noProof="0" dirty="0">
                <a:ln>
                  <a:noFill/>
                </a:ln>
                <a:solidFill>
                  <a:schemeClr val="tx1"/>
                </a:solidFill>
                <a:effectLst/>
                <a:uLnTx/>
                <a:uFillTx/>
                <a:latin typeface="+mn-ea"/>
                <a:ea typeface="+mn-ea"/>
                <a:cs typeface="+mn-cs"/>
              </a:rPr>
              <a:t>CPU</a:t>
            </a:r>
            <a:r>
              <a:rPr kumimoji="0" lang="zh-CN" altLang="en-US" sz="2200" b="0" i="0" u="none" strike="noStrike" kern="1200" cap="none" spc="0" normalizeH="0" baseline="0" noProof="0" dirty="0">
                <a:ln>
                  <a:noFill/>
                </a:ln>
                <a:solidFill>
                  <a:schemeClr val="tx1"/>
                </a:solidFill>
                <a:effectLst/>
                <a:uLnTx/>
                <a:uFillTx/>
                <a:latin typeface="+mn-ea"/>
                <a:ea typeface="+mn-ea"/>
                <a:cs typeface="+mn-cs"/>
              </a:rPr>
              <a:t>的缓存，适合高速数据读取的场合。</a:t>
            </a:r>
            <a:endParaRPr kumimoji="0" lang="zh-CN" altLang="en-US" sz="2200" b="0" i="0" u="none" strike="noStrike" kern="1200" cap="none" spc="0" normalizeH="0" baseline="0" noProof="0" dirty="0">
              <a:ln>
                <a:noFill/>
              </a:ln>
              <a:solidFill>
                <a:schemeClr val="tx1"/>
              </a:solidFill>
              <a:effectLst/>
              <a:uLnTx/>
              <a:uFillTx/>
              <a:latin typeface="+mn-ea"/>
              <a:ea typeface="+mn-ea"/>
              <a:cs typeface="+mn-cs"/>
            </a:endParaRPr>
          </a:p>
        </p:txBody>
      </p:sp>
      <p:sp>
        <p:nvSpPr>
          <p:cNvPr id="5" name="文本框 4"/>
          <p:cNvSpPr txBox="1"/>
          <p:nvPr/>
        </p:nvSpPr>
        <p:spPr>
          <a:xfrm>
            <a:off x="2743200" y="4370388"/>
            <a:ext cx="4259263" cy="400050"/>
          </a:xfrm>
          <a:prstGeom prst="rect">
            <a:avLst/>
          </a:prstGeom>
          <a:noFill/>
          <a:ln w="9525">
            <a:noFill/>
          </a:ln>
        </p:spPr>
        <p:txBody>
          <a:bodyPr wrap="square" anchor="t" anchorCtr="0">
            <a:spAutoFit/>
          </a:bodyPr>
          <a:p>
            <a:pPr eaLnBrk="0" hangingPunct="0"/>
            <a:r>
              <a:rPr lang="en-US" altLang="zh-CN" sz="2000" b="1" dirty="0">
                <a:latin typeface="微软雅黑" panose="020B0503020204020204" pitchFamily="34" charset="-122"/>
                <a:ea typeface="微软雅黑" panose="020B0503020204020204" pitchFamily="34" charset="-122"/>
              </a:rPr>
              <a:t>Flash</a:t>
            </a:r>
            <a:r>
              <a:rPr lang="zh-CN" altLang="en-US" sz="2000" b="1" dirty="0">
                <a:latin typeface="微软雅黑" panose="020B0503020204020204" pitchFamily="34" charset="-122"/>
                <a:ea typeface="微软雅黑" panose="020B0503020204020204" pitchFamily="34" charset="-122"/>
              </a:rPr>
              <a:t>是</a:t>
            </a:r>
            <a:r>
              <a:rPr lang="en-US" altLang="zh-CN" sz="2000" b="1" dirty="0">
                <a:latin typeface="微软雅黑" panose="020B0503020204020204" pitchFamily="34" charset="-122"/>
                <a:ea typeface="微软雅黑" panose="020B0503020204020204" pitchFamily="34" charset="-122"/>
              </a:rPr>
              <a:t>ROM</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SRAM</a:t>
            </a:r>
            <a:r>
              <a:rPr lang="zh-CN" altLang="en-US" sz="2000" b="1" dirty="0">
                <a:latin typeface="微软雅黑" panose="020B0503020204020204" pitchFamily="34" charset="-122"/>
                <a:ea typeface="微软雅黑" panose="020B0503020204020204" pitchFamily="34" charset="-122"/>
              </a:rPr>
              <a:t>是</a:t>
            </a:r>
            <a:r>
              <a:rPr lang="en-US" altLang="zh-CN" sz="2000" b="1" dirty="0">
                <a:latin typeface="微软雅黑" panose="020B0503020204020204" pitchFamily="34" charset="-122"/>
                <a:ea typeface="微软雅黑" panose="020B0503020204020204" pitchFamily="34" charset="-122"/>
              </a:rPr>
              <a:t>RAM</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750"/>
                                        <p:tgtEl>
                                          <p:spTgt spid="11"/>
                                        </p:tgtEl>
                                      </p:cBhvr>
                                    </p:animEffect>
                                    <p:anim calcmode="lin" valueType="num">
                                      <p:cBhvr>
                                        <p:cTn id="13" dur="750" fill="hold"/>
                                        <p:tgtEl>
                                          <p:spTgt spid="11"/>
                                        </p:tgtEl>
                                        <p:attrNameLst>
                                          <p:attrName>ppt_x</p:attrName>
                                        </p:attrNameLst>
                                      </p:cBhvr>
                                      <p:tavLst>
                                        <p:tav tm="0">
                                          <p:val>
                                            <p:strVal val="#ppt_x"/>
                                          </p:val>
                                        </p:tav>
                                        <p:tav tm="100000">
                                          <p:val>
                                            <p:strVal val="#ppt_x"/>
                                          </p:val>
                                        </p:tav>
                                      </p:tavLst>
                                    </p:anim>
                                    <p:anim calcmode="lin" valueType="num">
                                      <p:cBhvr>
                                        <p:cTn id="14" dur="750" fill="hold"/>
                                        <p:tgtEl>
                                          <p:spTgt spid="1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750"/>
                                        <p:tgtEl>
                                          <p:spTgt spid="16"/>
                                        </p:tgtEl>
                                      </p:cBhvr>
                                    </p:animEffect>
                                    <p:anim calcmode="lin" valueType="num">
                                      <p:cBhvr>
                                        <p:cTn id="18" dur="750" fill="hold"/>
                                        <p:tgtEl>
                                          <p:spTgt spid="16"/>
                                        </p:tgtEl>
                                        <p:attrNameLst>
                                          <p:attrName>ppt_x</p:attrName>
                                        </p:attrNameLst>
                                      </p:cBhvr>
                                      <p:tavLst>
                                        <p:tav tm="0">
                                          <p:val>
                                            <p:strVal val="#ppt_x"/>
                                          </p:val>
                                        </p:tav>
                                        <p:tav tm="100000">
                                          <p:val>
                                            <p:strVal val="#ppt_x"/>
                                          </p:val>
                                        </p:tav>
                                      </p:tavLst>
                                    </p:anim>
                                    <p:anim calcmode="lin" valueType="num">
                                      <p:cBhvr>
                                        <p:cTn id="19" dur="750" fill="hold"/>
                                        <p:tgtEl>
                                          <p:spTgt spid="16"/>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42" presetClass="entr" presetSubtype="0" fill="hold" grpId="0" nodeType="afterEffect">
                                  <p:stCondLst>
                                    <p:cond delay="100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750"/>
                                        <p:tgtEl>
                                          <p:spTgt spid="5"/>
                                        </p:tgtEl>
                                      </p:cBhvr>
                                    </p:animEffect>
                                    <p:anim calcmode="lin" valueType="num">
                                      <p:cBhvr>
                                        <p:cTn id="24" dur="750" fill="hold"/>
                                        <p:tgtEl>
                                          <p:spTgt spid="5"/>
                                        </p:tgtEl>
                                        <p:attrNameLst>
                                          <p:attrName>ppt_x</p:attrName>
                                        </p:attrNameLst>
                                      </p:cBhvr>
                                      <p:tavLst>
                                        <p:tav tm="0">
                                          <p:val>
                                            <p:strVal val="#ppt_x"/>
                                          </p:val>
                                        </p:tav>
                                        <p:tav tm="100000">
                                          <p:val>
                                            <p:strVal val="#ppt_x"/>
                                          </p:val>
                                        </p:tav>
                                      </p:tavLst>
                                    </p:anim>
                                    <p:anim calcmode="lin" valueType="num">
                                      <p:cBhvr>
                                        <p:cTn id="25" dur="75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xit" presetSubtype="4" fill="hold" nodeType="clickEffect">
                                  <p:stCondLst>
                                    <p:cond delay="0"/>
                                  </p:stCondLst>
                                  <p:childTnLst>
                                    <p:animEffect transition="out" filter="wipe(down)">
                                      <p:cBhvr>
                                        <p:cTn id="29" dur="500"/>
                                        <p:tgtEl>
                                          <p:spTgt spid="3"/>
                                        </p:tgtEl>
                                      </p:cBhvr>
                                    </p:animEffect>
                                    <p:set>
                                      <p:cBhvr>
                                        <p:cTn id="30" dur="1" fill="hold">
                                          <p:stCondLst>
                                            <p:cond delay="499"/>
                                          </p:stCondLst>
                                        </p:cTn>
                                        <p:tgtEl>
                                          <p:spTgt spid="3"/>
                                        </p:tgtEl>
                                        <p:attrNameLst>
                                          <p:attrName>style.visibility</p:attrName>
                                        </p:attrNameLst>
                                      </p:cBhvr>
                                      <p:to>
                                        <p:strVal val="hidden"/>
                                      </p:to>
                                    </p:set>
                                  </p:childTnLst>
                                </p:cTn>
                              </p:par>
                              <p:par>
                                <p:cTn id="31" presetID="22" presetClass="exit" presetSubtype="4" fill="hold" grpId="1" nodeType="withEffect">
                                  <p:stCondLst>
                                    <p:cond delay="0"/>
                                  </p:stCondLst>
                                  <p:childTnLst>
                                    <p:animEffect transition="out" filter="wipe(down)">
                                      <p:cBhvr>
                                        <p:cTn id="32" dur="500"/>
                                        <p:tgtEl>
                                          <p:spTgt spid="11"/>
                                        </p:tgtEl>
                                      </p:cBhvr>
                                    </p:animEffect>
                                    <p:set>
                                      <p:cBhvr>
                                        <p:cTn id="33" dur="1" fill="hold">
                                          <p:stCondLst>
                                            <p:cond delay="499"/>
                                          </p:stCondLst>
                                        </p:cTn>
                                        <p:tgtEl>
                                          <p:spTgt spid="11"/>
                                        </p:tgtEl>
                                        <p:attrNameLst>
                                          <p:attrName>style.visibility</p:attrName>
                                        </p:attrNameLst>
                                      </p:cBhvr>
                                      <p:to>
                                        <p:strVal val="hidden"/>
                                      </p:to>
                                    </p:set>
                                  </p:childTnLst>
                                </p:cTn>
                              </p:par>
                              <p:par>
                                <p:cTn id="34" presetID="22" presetClass="exit" presetSubtype="4" fill="hold" grpId="1" nodeType="withEffect">
                                  <p:stCondLst>
                                    <p:cond delay="0"/>
                                  </p:stCondLst>
                                  <p:childTnLst>
                                    <p:animEffect transition="out" filter="wipe(down)">
                                      <p:cBhvr>
                                        <p:cTn id="35" dur="500"/>
                                        <p:tgtEl>
                                          <p:spTgt spid="16"/>
                                        </p:tgtEl>
                                      </p:cBhvr>
                                    </p:animEffect>
                                    <p:set>
                                      <p:cBhvr>
                                        <p:cTn id="36" dur="1" fill="hold">
                                          <p:stCondLst>
                                            <p:cond delay="499"/>
                                          </p:stCondLst>
                                        </p:cTn>
                                        <p:tgtEl>
                                          <p:spTgt spid="16"/>
                                        </p:tgtEl>
                                        <p:attrNameLst>
                                          <p:attrName>style.visibility</p:attrName>
                                        </p:attrNameLst>
                                      </p:cBhvr>
                                      <p:to>
                                        <p:strVal val="hidden"/>
                                      </p:to>
                                    </p:set>
                                  </p:childTnLst>
                                </p:cTn>
                              </p:par>
                              <p:par>
                                <p:cTn id="37" presetID="22" presetClass="exit" presetSubtype="4" fill="hold" grpId="1" nodeType="withEffect">
                                  <p:stCondLst>
                                    <p:cond delay="0"/>
                                  </p:stCondLst>
                                  <p:childTnLst>
                                    <p:animEffect transition="out" filter="wipe(down)">
                                      <p:cBhvr>
                                        <p:cTn id="38" dur="500"/>
                                        <p:tgtEl>
                                          <p:spTgt spid="5"/>
                                        </p:tgtEl>
                                      </p:cBhvr>
                                    </p:animEffect>
                                    <p:set>
                                      <p:cBhvr>
                                        <p:cTn id="39"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6" grpId="0" animBg="1"/>
      <p:bldP spid="16" grpId="1" animBg="1"/>
      <p:bldP spid="5" grpId="0"/>
      <p:bldP spid="5" grpId="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圆角矩形 5"/>
          <p:cNvSpPr>
            <a:spLocks noChangeArrowheads="1"/>
          </p:cNvSpPr>
          <p:nvPr/>
        </p:nvSpPr>
        <p:spPr bwMode="auto">
          <a:xfrm>
            <a:off x="260350" y="439738"/>
            <a:ext cx="8623300" cy="4462463"/>
          </a:xfrm>
          <a:prstGeom prst="roundRect">
            <a:avLst>
              <a:gd name="adj" fmla="val 16667"/>
            </a:avLst>
          </a:prstGeom>
          <a:gradFill>
            <a:gsLst>
              <a:gs pos="0">
                <a:schemeClr val="accent1">
                  <a:lumMod val="5000"/>
                  <a:lumOff val="95000"/>
                </a:schemeClr>
              </a:gs>
              <a:gs pos="90000">
                <a:srgbClr val="F4F3D2"/>
              </a:gs>
            </a:gsLst>
            <a:lin ang="2700000" scaled="1"/>
          </a:gradFill>
          <a:ln w="47625">
            <a:solidFill>
              <a:srgbClr val="FC6C02"/>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useBgFill="1">
        <p:nvSpPr>
          <p:cNvPr id="12" name="矩形 11"/>
          <p:cNvSpPr/>
          <p:nvPr/>
        </p:nvSpPr>
        <p:spPr>
          <a:xfrm>
            <a:off x="717549" y="121918"/>
            <a:ext cx="2847255" cy="584771"/>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存储器</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3" name="矩形 2"/>
          <p:cNvSpPr/>
          <p:nvPr/>
        </p:nvSpPr>
        <p:spPr>
          <a:xfrm>
            <a:off x="818186" y="743333"/>
            <a:ext cx="7832593" cy="646326"/>
          </a:xfrm>
          <a:prstGeom prst="rect">
            <a:avLst/>
          </a:prstGeom>
          <a:noFill/>
        </p:spPr>
        <p:txBody>
          <a:bodyPr wrap="none" lIns="91440" tIns="45720" rIns="91440" bIns="4572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问题</a:t>
            </a:r>
            <a:r>
              <a:rPr kumimoji="0" lang="en-US" altLang="zh-CN"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2</a:t>
            </a:r>
            <a:r>
              <a:rPr kumimoji="0" lang="zh-CN" altLang="en-US"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a:t>
            </a:r>
            <a:r>
              <a:rPr kumimoji="0" lang="en-US" altLang="zh-CN"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NOR</a:t>
            </a:r>
            <a:r>
              <a:rPr kumimoji="0" lang="zh-CN" altLang="en-US"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和</a:t>
            </a:r>
            <a:r>
              <a:rPr kumimoji="0" lang="en-US" altLang="zh-CN"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NAND Flash</a:t>
            </a:r>
            <a:r>
              <a:rPr kumimoji="0" lang="zh-CN" altLang="en-US"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的区别</a:t>
            </a:r>
            <a:r>
              <a:rPr kumimoji="0" lang="en-US" altLang="zh-CN"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a:t>
            </a:r>
            <a:endParaRPr kumimoji="0" lang="zh-CN" altLang="en-US"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endParaRPr>
          </a:p>
        </p:txBody>
      </p:sp>
      <p:sp>
        <p:nvSpPr>
          <p:cNvPr id="11" name="矩形: 圆角 10"/>
          <p:cNvSpPr/>
          <p:nvPr/>
        </p:nvSpPr>
        <p:spPr bwMode="auto">
          <a:xfrm>
            <a:off x="1095375" y="1522413"/>
            <a:ext cx="3101975" cy="2876550"/>
          </a:xfrm>
          <a:prstGeom prst="roundRect">
            <a:avLst/>
          </a:prstGeom>
          <a:gradFill flip="none" rotWithShape="1">
            <a:gsLst>
              <a:gs pos="0">
                <a:srgbClr val="85DFFF"/>
              </a:gs>
              <a:gs pos="23000">
                <a:srgbClr val="E7F9FF"/>
              </a:gs>
            </a:gsLst>
            <a:lin ang="16200000" scaled="1"/>
            <a:tileRect/>
          </a:gradFill>
          <a:ln w="38100" cap="flat" cmpd="sng" algn="ctr">
            <a:solidFill>
              <a:srgbClr val="FF6600"/>
            </a:solidFill>
            <a:prstDash val="solid"/>
            <a:round/>
            <a:headEnd type="none" w="med" len="med"/>
            <a:tailEnd type="none" w="med" len="med"/>
          </a:ln>
          <a:effectLst>
            <a:outerShdw blurRad="50800" dist="38100" dir="13500000" algn="br" rotWithShape="0">
              <a:prstClr val="black">
                <a:alpha val="40000"/>
              </a:prst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ea"/>
                <a:ea typeface="+mn-ea"/>
                <a:cs typeface="+mn-cs"/>
              </a:rPr>
              <a:t>NOR Flash</a:t>
            </a:r>
            <a:r>
              <a:rPr kumimoji="0" lang="zh-CN" altLang="en-US" sz="2200" b="0" i="0" u="none" strike="noStrike" kern="1200" cap="none" spc="0" normalizeH="0" baseline="0" noProof="0" dirty="0">
                <a:ln>
                  <a:noFill/>
                </a:ln>
                <a:solidFill>
                  <a:schemeClr val="tx1"/>
                </a:solidFill>
                <a:effectLst/>
                <a:uLnTx/>
                <a:uFillTx/>
                <a:latin typeface="+mn-ea"/>
                <a:ea typeface="+mn-ea"/>
                <a:cs typeface="+mn-cs"/>
              </a:rPr>
              <a:t>容量较小（</a:t>
            </a:r>
            <a:r>
              <a:rPr kumimoji="0" lang="en-US" altLang="zh-CN" sz="2200" b="0" i="0" u="none" strike="noStrike" kern="1200" cap="none" spc="0" normalizeH="0" baseline="0" noProof="0" dirty="0">
                <a:ln>
                  <a:noFill/>
                </a:ln>
                <a:solidFill>
                  <a:schemeClr val="tx1"/>
                </a:solidFill>
                <a:effectLst/>
                <a:uLnTx/>
                <a:uFillTx/>
                <a:latin typeface="+mn-ea"/>
                <a:ea typeface="+mn-ea"/>
                <a:cs typeface="+mn-cs"/>
              </a:rPr>
              <a:t>1~512MB</a:t>
            </a:r>
            <a:r>
              <a:rPr kumimoji="0" lang="zh-CN" altLang="en-US" sz="2200" b="0" i="0" u="none" strike="noStrike" kern="1200" cap="none" spc="0" normalizeH="0" baseline="0" noProof="0" dirty="0">
                <a:ln>
                  <a:noFill/>
                </a:ln>
                <a:solidFill>
                  <a:schemeClr val="tx1"/>
                </a:solidFill>
                <a:effectLst/>
                <a:uLnTx/>
                <a:uFillTx/>
                <a:latin typeface="+mn-ea"/>
                <a:ea typeface="+mn-ea"/>
                <a:cs typeface="+mn-cs"/>
              </a:rPr>
              <a:t>），读取速度快但写入速度慢，但用户可以直接运行里面的代码，适合存储少量代码。应用：电脑</a:t>
            </a:r>
            <a:r>
              <a:rPr kumimoji="0" lang="en-US" altLang="zh-CN" sz="2200" b="0" i="0" u="none" strike="noStrike" kern="1200" cap="none" spc="0" normalizeH="0" baseline="0" noProof="0" dirty="0">
                <a:ln>
                  <a:noFill/>
                </a:ln>
                <a:solidFill>
                  <a:schemeClr val="tx1"/>
                </a:solidFill>
                <a:effectLst/>
                <a:uLnTx/>
                <a:uFillTx/>
                <a:latin typeface="+mn-ea"/>
                <a:ea typeface="+mn-ea"/>
                <a:cs typeface="+mn-cs"/>
              </a:rPr>
              <a:t>BIOS</a:t>
            </a:r>
            <a:r>
              <a:rPr kumimoji="0" lang="zh-CN" altLang="en-US" sz="2200" b="0" i="0" u="none" strike="noStrike" kern="1200" cap="none" spc="0" normalizeH="0" baseline="0" noProof="0" dirty="0">
                <a:ln>
                  <a:noFill/>
                </a:ln>
                <a:solidFill>
                  <a:schemeClr val="tx1"/>
                </a:solidFill>
                <a:effectLst/>
                <a:uLnTx/>
                <a:uFillTx/>
                <a:latin typeface="+mn-ea"/>
                <a:ea typeface="+mn-ea"/>
                <a:cs typeface="+mn-cs"/>
              </a:rPr>
              <a:t>、车载电子，</a:t>
            </a:r>
            <a:r>
              <a:rPr kumimoji="0" lang="zh-CN" altLang="en-US" sz="2200" b="0" i="0" u="none" strike="noStrike" kern="1200" cap="none" spc="0" normalizeH="0" baseline="0" noProof="0" dirty="0">
                <a:ln>
                  <a:noFill/>
                </a:ln>
                <a:solidFill>
                  <a:schemeClr val="tx1"/>
                </a:solidFill>
                <a:effectLst/>
                <a:uLnTx/>
                <a:uFillTx/>
                <a:latin typeface="+mn-ea"/>
                <a:ea typeface="+mn-ea"/>
                <a:cs typeface="+mn-cs"/>
              </a:rPr>
              <a:t>物联网等。</a:t>
            </a:r>
            <a:endParaRPr kumimoji="0" lang="zh-CN" altLang="en-US" sz="2200" b="0" i="0" u="none" strike="noStrike" kern="1200" cap="none" spc="0" normalizeH="0" baseline="0" noProof="0" dirty="0">
              <a:ln>
                <a:noFill/>
              </a:ln>
              <a:solidFill>
                <a:schemeClr val="tx1"/>
              </a:solidFill>
              <a:effectLst/>
              <a:uLnTx/>
              <a:uFillTx/>
              <a:latin typeface="+mn-ea"/>
              <a:ea typeface="+mn-ea"/>
              <a:cs typeface="+mn-cs"/>
            </a:endParaRPr>
          </a:p>
        </p:txBody>
      </p:sp>
      <p:sp>
        <p:nvSpPr>
          <p:cNvPr id="16" name="矩形: 圆角 15"/>
          <p:cNvSpPr/>
          <p:nvPr/>
        </p:nvSpPr>
        <p:spPr bwMode="auto">
          <a:xfrm>
            <a:off x="5200650" y="1522413"/>
            <a:ext cx="3101975" cy="2897188"/>
          </a:xfrm>
          <a:prstGeom prst="roundRect">
            <a:avLst/>
          </a:prstGeom>
          <a:gradFill flip="none" rotWithShape="1">
            <a:gsLst>
              <a:gs pos="0">
                <a:srgbClr val="92D050"/>
              </a:gs>
              <a:gs pos="23000">
                <a:srgbClr val="F2FAEA"/>
              </a:gs>
            </a:gsLst>
            <a:lin ang="16200000" scaled="1"/>
            <a:tileRect/>
          </a:gradFill>
          <a:ln w="38100" cap="flat" cmpd="sng" algn="ctr">
            <a:solidFill>
              <a:srgbClr val="FF6600"/>
            </a:solidFill>
            <a:prstDash val="solid"/>
            <a:round/>
            <a:headEnd type="none" w="med" len="med"/>
            <a:tailEnd type="none" w="med" len="med"/>
          </a:ln>
          <a:effectLst>
            <a:outerShdw blurRad="50800" dist="38100" dir="13500000" algn="br" rotWithShape="0">
              <a:prstClr val="black">
                <a:alpha val="40000"/>
              </a:prst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ea"/>
                <a:ea typeface="+mn-ea"/>
                <a:cs typeface="+mn-cs"/>
              </a:rPr>
              <a:t>NAND Flash</a:t>
            </a:r>
            <a:r>
              <a:rPr kumimoji="0" lang="zh-CN" altLang="en-US" sz="2200" b="0" i="0" u="none" strike="noStrike" kern="1200" cap="none" spc="0" normalizeH="0" baseline="0" noProof="0" dirty="0">
                <a:ln>
                  <a:noFill/>
                </a:ln>
                <a:solidFill>
                  <a:schemeClr val="tx1"/>
                </a:solidFill>
                <a:effectLst/>
                <a:uLnTx/>
                <a:uFillTx/>
                <a:latin typeface="+mn-ea"/>
                <a:ea typeface="+mn-ea"/>
                <a:cs typeface="+mn-cs"/>
              </a:rPr>
              <a:t>容量较大，单位容量成本低，适用于大量数据存储，性能优于</a:t>
            </a:r>
            <a:r>
              <a:rPr kumimoji="0" lang="en-US" altLang="zh-CN" sz="2200" b="0" i="0" u="none" strike="noStrike" kern="1200" cap="none" spc="0" normalizeH="0" baseline="0" noProof="0" dirty="0">
                <a:ln>
                  <a:noFill/>
                </a:ln>
                <a:solidFill>
                  <a:schemeClr val="tx1"/>
                </a:solidFill>
                <a:effectLst/>
                <a:uLnTx/>
                <a:uFillTx/>
                <a:latin typeface="+mn-ea"/>
                <a:ea typeface="+mn-ea"/>
                <a:cs typeface="+mn-cs"/>
              </a:rPr>
              <a:t>NOR Flash,</a:t>
            </a:r>
            <a:r>
              <a:rPr kumimoji="0" lang="zh-CN" altLang="en-US" sz="2200" b="0" i="0" u="none" strike="noStrike" kern="1200" cap="none" spc="0" normalizeH="0" baseline="0" noProof="0" dirty="0">
                <a:ln>
                  <a:noFill/>
                </a:ln>
                <a:solidFill>
                  <a:schemeClr val="tx1"/>
                </a:solidFill>
                <a:effectLst/>
                <a:uLnTx/>
                <a:uFillTx/>
                <a:latin typeface="+mn-ea"/>
                <a:ea typeface="+mn-ea"/>
                <a:cs typeface="+mn-cs"/>
              </a:rPr>
              <a:t>但用户不能直接运行其中</a:t>
            </a:r>
            <a:r>
              <a:rPr kumimoji="0" lang="zh-CN" altLang="en-US" sz="2200" b="0" i="0" u="none" strike="noStrike" kern="1200" cap="none" spc="0" normalizeH="0" baseline="0" noProof="0" dirty="0">
                <a:ln>
                  <a:noFill/>
                </a:ln>
                <a:solidFill>
                  <a:schemeClr val="tx1"/>
                </a:solidFill>
                <a:effectLst/>
                <a:uLnTx/>
                <a:uFillTx/>
                <a:latin typeface="+mn-ea"/>
                <a:ea typeface="+mn-ea"/>
                <a:cs typeface="+mn-cs"/>
              </a:rPr>
              <a:t>的代码，需要</a:t>
            </a:r>
            <a:r>
              <a:rPr kumimoji="0" lang="en-US" altLang="zh-CN" sz="2200" b="0" i="0" u="none" strike="noStrike" kern="1200" cap="none" spc="0" normalizeH="0" baseline="0" noProof="0" dirty="0">
                <a:ln>
                  <a:noFill/>
                </a:ln>
                <a:solidFill>
                  <a:schemeClr val="tx1"/>
                </a:solidFill>
                <a:effectLst/>
                <a:uLnTx/>
                <a:uFillTx/>
                <a:latin typeface="+mn-ea"/>
                <a:ea typeface="+mn-ea"/>
                <a:cs typeface="+mn-cs"/>
              </a:rPr>
              <a:t>I/O</a:t>
            </a:r>
            <a:r>
              <a:rPr kumimoji="0" lang="zh-CN" altLang="en-US" sz="2200" b="0" i="0" u="none" strike="noStrike" kern="1200" cap="none" spc="0" normalizeH="0" baseline="0" noProof="0" dirty="0">
                <a:ln>
                  <a:noFill/>
                </a:ln>
                <a:solidFill>
                  <a:schemeClr val="tx1"/>
                </a:solidFill>
                <a:effectLst/>
                <a:uLnTx/>
                <a:uFillTx/>
                <a:latin typeface="+mn-ea"/>
                <a:ea typeface="+mn-ea"/>
                <a:cs typeface="+mn-cs"/>
              </a:rPr>
              <a:t>接口和</a:t>
            </a:r>
            <a:r>
              <a:rPr kumimoji="0" lang="zh-CN" altLang="en-US" sz="2200" b="0" i="0" u="none" strike="noStrike" kern="1200" cap="none" spc="0" normalizeH="0" baseline="0" noProof="0" dirty="0">
                <a:ln>
                  <a:noFill/>
                </a:ln>
                <a:solidFill>
                  <a:schemeClr val="tx1"/>
                </a:solidFill>
                <a:effectLst/>
                <a:uLnTx/>
                <a:uFillTx/>
                <a:latin typeface="+mn-ea"/>
                <a:ea typeface="+mn-ea"/>
                <a:cs typeface="+mn-cs"/>
              </a:rPr>
              <a:t>驱动程序。</a:t>
            </a:r>
            <a:endParaRPr kumimoji="0" lang="en-US" altLang="zh-CN" sz="2200" b="0"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chemeClr val="tx1"/>
                </a:solidFill>
                <a:effectLst/>
                <a:uLnTx/>
                <a:uFillTx/>
                <a:latin typeface="+mn-ea"/>
                <a:ea typeface="+mn-ea"/>
                <a:cs typeface="+mn-cs"/>
              </a:rPr>
              <a:t>应用：</a:t>
            </a:r>
            <a:r>
              <a:rPr kumimoji="0" lang="en-US" altLang="zh-CN" sz="2200" b="0" i="0" u="none" strike="noStrike" kern="1200" cap="none" spc="0" normalizeH="0" baseline="0" noProof="0" dirty="0">
                <a:ln>
                  <a:noFill/>
                </a:ln>
                <a:solidFill>
                  <a:schemeClr val="tx1"/>
                </a:solidFill>
                <a:effectLst/>
                <a:uLnTx/>
                <a:uFillTx/>
                <a:latin typeface="+mn-ea"/>
                <a:ea typeface="+mn-ea"/>
                <a:cs typeface="+mn-cs"/>
              </a:rPr>
              <a:t>U</a:t>
            </a:r>
            <a:r>
              <a:rPr kumimoji="0" lang="zh-CN" altLang="en-US" sz="2200" b="0" i="0" u="none" strike="noStrike" kern="1200" cap="none" spc="0" normalizeH="0" baseline="0" noProof="0" dirty="0">
                <a:ln>
                  <a:noFill/>
                </a:ln>
                <a:solidFill>
                  <a:schemeClr val="tx1"/>
                </a:solidFill>
                <a:effectLst/>
                <a:uLnTx/>
                <a:uFillTx/>
                <a:latin typeface="+mn-ea"/>
                <a:ea typeface="+mn-ea"/>
                <a:cs typeface="+mn-cs"/>
              </a:rPr>
              <a:t>盘、</a:t>
            </a:r>
            <a:r>
              <a:rPr kumimoji="0" lang="en-US" altLang="zh-CN" sz="2200" b="0" i="0" u="none" strike="noStrike" kern="1200" cap="none" spc="0" normalizeH="0" baseline="0" noProof="0" dirty="0">
                <a:ln>
                  <a:noFill/>
                </a:ln>
                <a:solidFill>
                  <a:schemeClr val="tx1"/>
                </a:solidFill>
                <a:effectLst/>
                <a:uLnTx/>
                <a:uFillTx/>
                <a:latin typeface="+mn-ea"/>
                <a:ea typeface="+mn-ea"/>
                <a:cs typeface="+mn-cs"/>
              </a:rPr>
              <a:t>MP3</a:t>
            </a:r>
            <a:r>
              <a:rPr kumimoji="0" lang="zh-CN" altLang="en-US" sz="2200" b="0" i="0" u="none" strike="noStrike" kern="1200" cap="none" spc="0" normalizeH="0" baseline="0" noProof="0" dirty="0">
                <a:ln>
                  <a:noFill/>
                </a:ln>
                <a:solidFill>
                  <a:schemeClr val="tx1"/>
                </a:solidFill>
                <a:effectLst/>
                <a:uLnTx/>
                <a:uFillTx/>
                <a:latin typeface="+mn-ea"/>
                <a:ea typeface="+mn-ea"/>
                <a:cs typeface="+mn-cs"/>
              </a:rPr>
              <a:t>等</a:t>
            </a:r>
            <a:endParaRPr kumimoji="0" lang="zh-CN" altLang="en-US" sz="2200" b="0" i="0" u="none" strike="noStrike" kern="1200" cap="none" spc="0" normalizeH="0" baseline="0" noProof="0" dirty="0">
              <a:ln>
                <a:noFill/>
              </a:ln>
              <a:solidFill>
                <a:schemeClr val="tx1"/>
              </a:solidFill>
              <a:effectLst/>
              <a:uLnTx/>
              <a:uFillTx/>
              <a:latin typeface="+mn-ea"/>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750"/>
                                        <p:tgtEl>
                                          <p:spTgt spid="11"/>
                                        </p:tgtEl>
                                      </p:cBhvr>
                                    </p:animEffect>
                                    <p:anim calcmode="lin" valueType="num">
                                      <p:cBhvr>
                                        <p:cTn id="13" dur="750" fill="hold"/>
                                        <p:tgtEl>
                                          <p:spTgt spid="11"/>
                                        </p:tgtEl>
                                        <p:attrNameLst>
                                          <p:attrName>ppt_x</p:attrName>
                                        </p:attrNameLst>
                                      </p:cBhvr>
                                      <p:tavLst>
                                        <p:tav tm="0">
                                          <p:val>
                                            <p:strVal val="#ppt_x"/>
                                          </p:val>
                                        </p:tav>
                                        <p:tav tm="100000">
                                          <p:val>
                                            <p:strVal val="#ppt_x"/>
                                          </p:val>
                                        </p:tav>
                                      </p:tavLst>
                                    </p:anim>
                                    <p:anim calcmode="lin" valueType="num">
                                      <p:cBhvr>
                                        <p:cTn id="14" dur="750" fill="hold"/>
                                        <p:tgtEl>
                                          <p:spTgt spid="1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750"/>
                                        <p:tgtEl>
                                          <p:spTgt spid="16"/>
                                        </p:tgtEl>
                                      </p:cBhvr>
                                    </p:animEffect>
                                    <p:anim calcmode="lin" valueType="num">
                                      <p:cBhvr>
                                        <p:cTn id="18" dur="750" fill="hold"/>
                                        <p:tgtEl>
                                          <p:spTgt spid="16"/>
                                        </p:tgtEl>
                                        <p:attrNameLst>
                                          <p:attrName>ppt_x</p:attrName>
                                        </p:attrNameLst>
                                      </p:cBhvr>
                                      <p:tavLst>
                                        <p:tav tm="0">
                                          <p:val>
                                            <p:strVal val="#ppt_x"/>
                                          </p:val>
                                        </p:tav>
                                        <p:tav tm="100000">
                                          <p:val>
                                            <p:strVal val="#ppt_x"/>
                                          </p:val>
                                        </p:tav>
                                      </p:tavLst>
                                    </p:anim>
                                    <p:anim calcmode="lin" valueType="num">
                                      <p:cBhvr>
                                        <p:cTn id="19" dur="75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xit" presetSubtype="4" fill="hold" nodeType="clickEffect">
                                  <p:stCondLst>
                                    <p:cond delay="0"/>
                                  </p:stCondLst>
                                  <p:childTnLst>
                                    <p:animEffect transition="out" filter="wipe(down)">
                                      <p:cBhvr>
                                        <p:cTn id="23" dur="500"/>
                                        <p:tgtEl>
                                          <p:spTgt spid="3"/>
                                        </p:tgtEl>
                                      </p:cBhvr>
                                    </p:animEffect>
                                    <p:set>
                                      <p:cBhvr>
                                        <p:cTn id="24" dur="1" fill="hold">
                                          <p:stCondLst>
                                            <p:cond delay="499"/>
                                          </p:stCondLst>
                                        </p:cTn>
                                        <p:tgtEl>
                                          <p:spTgt spid="3"/>
                                        </p:tgtEl>
                                        <p:attrNameLst>
                                          <p:attrName>style.visibility</p:attrName>
                                        </p:attrNameLst>
                                      </p:cBhvr>
                                      <p:to>
                                        <p:strVal val="hidden"/>
                                      </p:to>
                                    </p:set>
                                  </p:childTnLst>
                                </p:cTn>
                              </p:par>
                              <p:par>
                                <p:cTn id="25" presetID="22" presetClass="exit" presetSubtype="4" fill="hold" grpId="1" nodeType="withEffect">
                                  <p:stCondLst>
                                    <p:cond delay="0"/>
                                  </p:stCondLst>
                                  <p:childTnLst>
                                    <p:animEffect transition="out" filter="wipe(down)">
                                      <p:cBhvr>
                                        <p:cTn id="26" dur="500"/>
                                        <p:tgtEl>
                                          <p:spTgt spid="11"/>
                                        </p:tgtEl>
                                      </p:cBhvr>
                                    </p:animEffect>
                                    <p:set>
                                      <p:cBhvr>
                                        <p:cTn id="27" dur="1" fill="hold">
                                          <p:stCondLst>
                                            <p:cond delay="499"/>
                                          </p:stCondLst>
                                        </p:cTn>
                                        <p:tgtEl>
                                          <p:spTgt spid="11"/>
                                        </p:tgtEl>
                                        <p:attrNameLst>
                                          <p:attrName>style.visibility</p:attrName>
                                        </p:attrNameLst>
                                      </p:cBhvr>
                                      <p:to>
                                        <p:strVal val="hidden"/>
                                      </p:to>
                                    </p:set>
                                  </p:childTnLst>
                                </p:cTn>
                              </p:par>
                              <p:par>
                                <p:cTn id="28" presetID="22" presetClass="exit" presetSubtype="4" fill="hold" grpId="1" nodeType="withEffect">
                                  <p:stCondLst>
                                    <p:cond delay="0"/>
                                  </p:stCondLst>
                                  <p:childTnLst>
                                    <p:animEffect transition="out" filter="wipe(down)">
                                      <p:cBhvr>
                                        <p:cTn id="29" dur="500"/>
                                        <p:tgtEl>
                                          <p:spTgt spid="16"/>
                                        </p:tgtEl>
                                      </p:cBhvr>
                                    </p:animEffect>
                                    <p:set>
                                      <p:cBhvr>
                                        <p:cTn id="30"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1" grpId="1" bldLvl="0" animBg="1"/>
      <p:bldP spid="16" grpId="0" bldLvl="0" animBg="1"/>
      <p:bldP spid="16" grpId="1"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圆角矩形 5"/>
          <p:cNvSpPr>
            <a:spLocks noChangeArrowheads="1"/>
          </p:cNvSpPr>
          <p:nvPr/>
        </p:nvSpPr>
        <p:spPr bwMode="auto">
          <a:xfrm>
            <a:off x="260350" y="439738"/>
            <a:ext cx="8623300" cy="4462463"/>
          </a:xfrm>
          <a:prstGeom prst="roundRect">
            <a:avLst>
              <a:gd name="adj" fmla="val 16667"/>
            </a:avLst>
          </a:prstGeom>
          <a:gradFill>
            <a:gsLst>
              <a:gs pos="0">
                <a:schemeClr val="accent1">
                  <a:lumMod val="5000"/>
                  <a:lumOff val="95000"/>
                </a:schemeClr>
              </a:gs>
              <a:gs pos="90000">
                <a:srgbClr val="F4F3D2"/>
              </a:gs>
            </a:gsLst>
            <a:lin ang="2700000" scaled="1"/>
          </a:gradFill>
          <a:ln w="47625">
            <a:solidFill>
              <a:srgbClr val="FC6C02"/>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useBgFill="1">
        <p:nvSpPr>
          <p:cNvPr id="12" name="矩形 11"/>
          <p:cNvSpPr/>
          <p:nvPr/>
        </p:nvSpPr>
        <p:spPr>
          <a:xfrm>
            <a:off x="717549" y="121918"/>
            <a:ext cx="2847255" cy="584771"/>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存储器</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3" name="矩形 2"/>
          <p:cNvSpPr/>
          <p:nvPr/>
        </p:nvSpPr>
        <p:spPr>
          <a:xfrm>
            <a:off x="1186877" y="743333"/>
            <a:ext cx="7095212" cy="646326"/>
          </a:xfrm>
          <a:prstGeom prst="rect">
            <a:avLst/>
          </a:prstGeom>
          <a:noFill/>
        </p:spPr>
        <p:txBody>
          <a:bodyPr wrap="none" lIns="91440" tIns="45720" rIns="91440" bIns="4572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问题</a:t>
            </a:r>
            <a:r>
              <a:rPr kumimoji="0" lang="en-US" altLang="zh-CN"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3</a:t>
            </a:r>
            <a:r>
              <a:rPr kumimoji="0" lang="zh-CN" altLang="en-US"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a:t>
            </a:r>
            <a:r>
              <a:rPr kumimoji="0" lang="en-US" altLang="zh-CN"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SRAM</a:t>
            </a:r>
            <a:r>
              <a:rPr kumimoji="0" lang="zh-CN" altLang="en-US"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和</a:t>
            </a:r>
            <a:r>
              <a:rPr kumimoji="0" lang="en-US" altLang="zh-CN"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DRAM</a:t>
            </a:r>
            <a:r>
              <a:rPr kumimoji="0" lang="zh-CN" altLang="en-US"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的区别？</a:t>
            </a:r>
            <a:endParaRPr kumimoji="0" lang="zh-CN" altLang="en-US"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endParaRPr>
          </a:p>
        </p:txBody>
      </p:sp>
      <p:sp>
        <p:nvSpPr>
          <p:cNvPr id="11" name="矩形: 圆角 10"/>
          <p:cNvSpPr/>
          <p:nvPr/>
        </p:nvSpPr>
        <p:spPr bwMode="auto">
          <a:xfrm>
            <a:off x="1095375" y="1522413"/>
            <a:ext cx="3101975" cy="2716213"/>
          </a:xfrm>
          <a:prstGeom prst="roundRect">
            <a:avLst/>
          </a:prstGeom>
          <a:gradFill flip="none" rotWithShape="1">
            <a:gsLst>
              <a:gs pos="0">
                <a:srgbClr val="85DFFF"/>
              </a:gs>
              <a:gs pos="23000">
                <a:srgbClr val="E7F9FF"/>
              </a:gs>
            </a:gsLst>
            <a:lin ang="16200000" scaled="1"/>
            <a:tileRect/>
          </a:gradFill>
          <a:ln w="38100" cap="flat" cmpd="sng" algn="ctr">
            <a:solidFill>
              <a:srgbClr val="FF6600"/>
            </a:solidFill>
            <a:prstDash val="solid"/>
            <a:round/>
            <a:headEnd type="none" w="med" len="med"/>
            <a:tailEnd type="none" w="med" len="med"/>
          </a:ln>
          <a:effectLst>
            <a:outerShdw blurRad="50800" dist="38100" dir="13500000" algn="br" rotWithShape="0">
              <a:prstClr val="black">
                <a:alpha val="40000"/>
              </a:prst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ea"/>
                <a:ea typeface="+mn-ea"/>
                <a:cs typeface="+mn-cs"/>
              </a:rPr>
              <a:t>SRAM</a:t>
            </a:r>
            <a:r>
              <a:rPr kumimoji="0" lang="zh-CN" altLang="en-US" sz="2200" b="0" i="0" u="none" strike="noStrike" kern="1200" cap="none" spc="0" normalizeH="0" baseline="0" noProof="0" dirty="0">
                <a:ln>
                  <a:noFill/>
                </a:ln>
                <a:solidFill>
                  <a:schemeClr val="tx1"/>
                </a:solidFill>
                <a:effectLst/>
                <a:uLnTx/>
                <a:uFillTx/>
                <a:latin typeface="+mn-ea"/>
                <a:ea typeface="+mn-ea"/>
                <a:cs typeface="+mn-cs"/>
              </a:rPr>
              <a:t>，静态</a:t>
            </a:r>
            <a:r>
              <a:rPr kumimoji="0" lang="en-US" altLang="zh-CN" sz="2200" b="0" i="0" u="none" strike="noStrike" kern="1200" cap="none" spc="0" normalizeH="0" baseline="0" noProof="0" dirty="0">
                <a:ln>
                  <a:noFill/>
                </a:ln>
                <a:solidFill>
                  <a:schemeClr val="tx1"/>
                </a:solidFill>
                <a:effectLst/>
                <a:uLnTx/>
                <a:uFillTx/>
                <a:latin typeface="+mn-ea"/>
                <a:ea typeface="+mn-ea"/>
                <a:cs typeface="+mn-cs"/>
              </a:rPr>
              <a:t>RAM</a:t>
            </a:r>
            <a:r>
              <a:rPr kumimoji="0" lang="zh-CN" altLang="en-US" sz="2200" b="0" i="0" u="none" strike="noStrike" kern="1200" cap="none" spc="0" normalizeH="0" baseline="0" noProof="0" dirty="0">
                <a:ln>
                  <a:noFill/>
                </a:ln>
                <a:solidFill>
                  <a:schemeClr val="tx1"/>
                </a:solidFill>
                <a:effectLst/>
                <a:uLnTx/>
                <a:uFillTx/>
                <a:latin typeface="+mn-ea"/>
                <a:ea typeface="+mn-ea"/>
                <a:cs typeface="+mn-cs"/>
              </a:rPr>
              <a:t>，不需要刷新即可保证数据不丢失（晶体管储存，</a:t>
            </a:r>
            <a:r>
              <a:rPr kumimoji="0" lang="en-US" altLang="zh-CN" sz="2200" b="0" i="0" u="none" strike="noStrike" kern="1200" cap="none" spc="0" normalizeH="0" baseline="0" noProof="0" dirty="0">
                <a:ln>
                  <a:noFill/>
                </a:ln>
                <a:solidFill>
                  <a:schemeClr val="tx1"/>
                </a:solidFill>
                <a:effectLst/>
                <a:uLnTx/>
                <a:uFillTx/>
                <a:latin typeface="+mn-ea"/>
                <a:ea typeface="+mn-ea"/>
                <a:cs typeface="+mn-cs"/>
              </a:rPr>
              <a:t>6T</a:t>
            </a:r>
            <a:r>
              <a:rPr kumimoji="0" lang="zh-CN" altLang="en-US" sz="2200" b="0" i="0" u="none" strike="noStrike" kern="1200" cap="none" spc="0" normalizeH="0" baseline="0" noProof="0" dirty="0">
                <a:ln>
                  <a:noFill/>
                </a:ln>
                <a:solidFill>
                  <a:schemeClr val="tx1"/>
                </a:solidFill>
                <a:effectLst/>
                <a:uLnTx/>
                <a:uFillTx/>
                <a:latin typeface="+mn-ea"/>
                <a:ea typeface="+mn-ea"/>
                <a:cs typeface="+mn-cs"/>
              </a:rPr>
              <a:t>），速度非常快，价格昂贵，容量不大。</a:t>
            </a:r>
            <a:endParaRPr kumimoji="0" lang="en-US" altLang="zh-CN" sz="2200" b="0"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chemeClr val="tx1"/>
                </a:solidFill>
                <a:effectLst/>
                <a:uLnTx/>
                <a:uFillTx/>
                <a:latin typeface="+mn-ea"/>
                <a:ea typeface="+mn-ea"/>
                <a:cs typeface="+mn-cs"/>
              </a:rPr>
              <a:t>应用：</a:t>
            </a:r>
            <a:r>
              <a:rPr kumimoji="0" lang="en-US" altLang="zh-CN" sz="2200" b="0" i="0" u="none" strike="noStrike" kern="1200" cap="none" spc="0" normalizeH="0" baseline="0" noProof="0" dirty="0">
                <a:ln>
                  <a:noFill/>
                </a:ln>
                <a:solidFill>
                  <a:schemeClr val="tx1"/>
                </a:solidFill>
                <a:effectLst/>
                <a:uLnTx/>
                <a:uFillTx/>
                <a:latin typeface="+mn-ea"/>
                <a:ea typeface="+mn-ea"/>
                <a:cs typeface="+mn-cs"/>
              </a:rPr>
              <a:t>CPU</a:t>
            </a:r>
            <a:r>
              <a:rPr kumimoji="0" lang="zh-CN" altLang="en-US" sz="2200" b="0" i="0" u="none" strike="noStrike" kern="1200" cap="none" spc="0" normalizeH="0" baseline="0" noProof="0" dirty="0">
                <a:ln>
                  <a:noFill/>
                </a:ln>
                <a:solidFill>
                  <a:schemeClr val="tx1"/>
                </a:solidFill>
                <a:effectLst/>
                <a:uLnTx/>
                <a:uFillTx/>
                <a:latin typeface="+mn-ea"/>
                <a:ea typeface="+mn-ea"/>
                <a:cs typeface="+mn-cs"/>
              </a:rPr>
              <a:t>缓存等。</a:t>
            </a:r>
            <a:endParaRPr kumimoji="0" lang="zh-CN" altLang="en-US" sz="2200" b="0" i="0" u="none" strike="noStrike" kern="1200" cap="none" spc="0" normalizeH="0" baseline="0" noProof="0" dirty="0">
              <a:ln>
                <a:noFill/>
              </a:ln>
              <a:solidFill>
                <a:schemeClr val="tx1"/>
              </a:solidFill>
              <a:effectLst/>
              <a:uLnTx/>
              <a:uFillTx/>
              <a:latin typeface="+mn-ea"/>
              <a:ea typeface="+mn-ea"/>
              <a:cs typeface="+mn-cs"/>
            </a:endParaRPr>
          </a:p>
        </p:txBody>
      </p:sp>
      <p:sp>
        <p:nvSpPr>
          <p:cNvPr id="16" name="矩形: 圆角 15"/>
          <p:cNvSpPr/>
          <p:nvPr/>
        </p:nvSpPr>
        <p:spPr bwMode="auto">
          <a:xfrm>
            <a:off x="5200650" y="1522413"/>
            <a:ext cx="3101975" cy="2716213"/>
          </a:xfrm>
          <a:prstGeom prst="roundRect">
            <a:avLst/>
          </a:prstGeom>
          <a:gradFill flip="none" rotWithShape="1">
            <a:gsLst>
              <a:gs pos="0">
                <a:srgbClr val="92D050"/>
              </a:gs>
              <a:gs pos="23000">
                <a:srgbClr val="F2FAEA"/>
              </a:gs>
            </a:gsLst>
            <a:lin ang="16200000" scaled="1"/>
            <a:tileRect/>
          </a:gradFill>
          <a:ln w="38100" cap="flat" cmpd="sng" algn="ctr">
            <a:solidFill>
              <a:srgbClr val="FF6600"/>
            </a:solidFill>
            <a:prstDash val="solid"/>
            <a:round/>
            <a:headEnd type="none" w="med" len="med"/>
            <a:tailEnd type="none" w="med" len="med"/>
          </a:ln>
          <a:effectLst>
            <a:outerShdw blurRad="50800" dist="38100" dir="13500000" algn="br" rotWithShape="0">
              <a:prstClr val="black">
                <a:alpha val="40000"/>
              </a:prst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ea"/>
                <a:ea typeface="+mn-ea"/>
                <a:cs typeface="+mn-cs"/>
              </a:rPr>
              <a:t>DRAM</a:t>
            </a:r>
            <a:r>
              <a:rPr kumimoji="0" lang="zh-CN" altLang="en-US" sz="2200" b="0" i="0" u="none" strike="noStrike" kern="1200" cap="none" spc="0" normalizeH="0" baseline="0" noProof="0" dirty="0">
                <a:ln>
                  <a:noFill/>
                </a:ln>
                <a:solidFill>
                  <a:schemeClr val="tx1"/>
                </a:solidFill>
                <a:effectLst/>
                <a:uLnTx/>
                <a:uFillTx/>
                <a:latin typeface="+mn-ea"/>
                <a:ea typeface="+mn-ea"/>
                <a:cs typeface="+mn-cs"/>
              </a:rPr>
              <a:t>，动态</a:t>
            </a:r>
            <a:r>
              <a:rPr kumimoji="0" lang="en-US" altLang="zh-CN" sz="2200" b="0" i="0" u="none" strike="noStrike" kern="1200" cap="none" spc="0" normalizeH="0" baseline="0" noProof="0" dirty="0">
                <a:ln>
                  <a:noFill/>
                </a:ln>
                <a:solidFill>
                  <a:schemeClr val="tx1"/>
                </a:solidFill>
                <a:effectLst/>
                <a:uLnTx/>
                <a:uFillTx/>
                <a:latin typeface="+mn-ea"/>
                <a:ea typeface="+mn-ea"/>
                <a:cs typeface="+mn-cs"/>
              </a:rPr>
              <a:t>RAM</a:t>
            </a:r>
            <a:r>
              <a:rPr kumimoji="0" lang="zh-CN" altLang="en-US" sz="2200" b="0" i="0" u="none" strike="noStrike" kern="1200" cap="none" spc="0" normalizeH="0" baseline="0" noProof="0" dirty="0">
                <a:ln>
                  <a:noFill/>
                </a:ln>
                <a:solidFill>
                  <a:schemeClr val="tx1"/>
                </a:solidFill>
                <a:effectLst/>
                <a:uLnTx/>
                <a:uFillTx/>
                <a:latin typeface="+mn-ea"/>
                <a:ea typeface="+mn-ea"/>
                <a:cs typeface="+mn-cs"/>
              </a:rPr>
              <a:t>，需要时常刷新保证数据不丢失（</a:t>
            </a:r>
            <a:r>
              <a:rPr kumimoji="0" lang="en-US" altLang="zh-CN" sz="2200" b="0" i="0" u="none" strike="noStrike" kern="1200" cap="none" spc="0" normalizeH="0" baseline="0" noProof="0" dirty="0">
                <a:ln>
                  <a:noFill/>
                </a:ln>
                <a:solidFill>
                  <a:schemeClr val="tx1"/>
                </a:solidFill>
                <a:effectLst/>
                <a:uLnTx/>
                <a:uFillTx/>
                <a:latin typeface="+mn-ea"/>
                <a:ea typeface="+mn-ea"/>
                <a:cs typeface="+mn-cs"/>
              </a:rPr>
              <a:t>1T+1C</a:t>
            </a:r>
            <a:r>
              <a:rPr kumimoji="0" lang="zh-CN" altLang="en-US" sz="2200" b="0" i="0" u="none" strike="noStrike" kern="1200" cap="none" spc="0" normalizeH="0" baseline="0" noProof="0" dirty="0">
                <a:ln>
                  <a:noFill/>
                </a:ln>
                <a:solidFill>
                  <a:schemeClr val="tx1"/>
                </a:solidFill>
                <a:effectLst/>
                <a:uLnTx/>
                <a:uFillTx/>
                <a:latin typeface="+mn-ea"/>
                <a:ea typeface="+mn-ea"/>
                <a:cs typeface="+mn-cs"/>
              </a:rPr>
              <a:t>），速度较快，容量大，成本较低，集成程度优于</a:t>
            </a:r>
            <a:r>
              <a:rPr kumimoji="0" lang="en-US" altLang="zh-CN" sz="2200" b="0" i="0" u="none" strike="noStrike" kern="1200" cap="none" spc="0" normalizeH="0" baseline="0" noProof="0" dirty="0">
                <a:ln>
                  <a:noFill/>
                </a:ln>
                <a:solidFill>
                  <a:schemeClr val="tx1"/>
                </a:solidFill>
                <a:effectLst/>
                <a:uLnTx/>
                <a:uFillTx/>
                <a:latin typeface="+mn-ea"/>
                <a:ea typeface="+mn-ea"/>
                <a:cs typeface="+mn-cs"/>
              </a:rPr>
              <a:t>SRAM</a:t>
            </a:r>
            <a:r>
              <a:rPr kumimoji="0" lang="zh-CN" altLang="en-US" sz="2200" b="0" i="0" u="none" strike="noStrike" kern="1200" cap="none" spc="0" normalizeH="0" baseline="0" noProof="0" dirty="0">
                <a:ln>
                  <a:noFill/>
                </a:ln>
                <a:solidFill>
                  <a:schemeClr val="tx1"/>
                </a:solidFill>
                <a:effectLst/>
                <a:uLnTx/>
                <a:uFillTx/>
                <a:latin typeface="+mn-ea"/>
                <a:ea typeface="+mn-ea"/>
                <a:cs typeface="+mn-cs"/>
              </a:rPr>
              <a:t>。</a:t>
            </a:r>
            <a:endParaRPr kumimoji="0" lang="en-US" altLang="zh-CN" sz="2200" b="0"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chemeClr val="tx1"/>
                </a:solidFill>
                <a:effectLst/>
                <a:uLnTx/>
                <a:uFillTx/>
                <a:latin typeface="+mn-ea"/>
                <a:ea typeface="+mn-ea"/>
                <a:cs typeface="+mn-cs"/>
              </a:rPr>
              <a:t>应用：电脑内存。</a:t>
            </a:r>
            <a:endParaRPr kumimoji="0" lang="zh-CN" altLang="en-US" sz="2200" b="0" i="0" u="none" strike="noStrike" kern="1200" cap="none" spc="0" normalizeH="0" baseline="0" noProof="0" dirty="0">
              <a:ln>
                <a:noFill/>
              </a:ln>
              <a:solidFill>
                <a:schemeClr val="tx1"/>
              </a:solidFill>
              <a:effectLst/>
              <a:uLnTx/>
              <a:uFillTx/>
              <a:latin typeface="+mn-ea"/>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750"/>
                                        <p:tgtEl>
                                          <p:spTgt spid="11"/>
                                        </p:tgtEl>
                                      </p:cBhvr>
                                    </p:animEffect>
                                    <p:anim calcmode="lin" valueType="num">
                                      <p:cBhvr>
                                        <p:cTn id="13" dur="750" fill="hold"/>
                                        <p:tgtEl>
                                          <p:spTgt spid="11"/>
                                        </p:tgtEl>
                                        <p:attrNameLst>
                                          <p:attrName>ppt_x</p:attrName>
                                        </p:attrNameLst>
                                      </p:cBhvr>
                                      <p:tavLst>
                                        <p:tav tm="0">
                                          <p:val>
                                            <p:strVal val="#ppt_x"/>
                                          </p:val>
                                        </p:tav>
                                        <p:tav tm="100000">
                                          <p:val>
                                            <p:strVal val="#ppt_x"/>
                                          </p:val>
                                        </p:tav>
                                      </p:tavLst>
                                    </p:anim>
                                    <p:anim calcmode="lin" valueType="num">
                                      <p:cBhvr>
                                        <p:cTn id="14" dur="750" fill="hold"/>
                                        <p:tgtEl>
                                          <p:spTgt spid="1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750"/>
                                        <p:tgtEl>
                                          <p:spTgt spid="16"/>
                                        </p:tgtEl>
                                      </p:cBhvr>
                                    </p:animEffect>
                                    <p:anim calcmode="lin" valueType="num">
                                      <p:cBhvr>
                                        <p:cTn id="18" dur="750" fill="hold"/>
                                        <p:tgtEl>
                                          <p:spTgt spid="16"/>
                                        </p:tgtEl>
                                        <p:attrNameLst>
                                          <p:attrName>ppt_x</p:attrName>
                                        </p:attrNameLst>
                                      </p:cBhvr>
                                      <p:tavLst>
                                        <p:tav tm="0">
                                          <p:val>
                                            <p:strVal val="#ppt_x"/>
                                          </p:val>
                                        </p:tav>
                                        <p:tav tm="100000">
                                          <p:val>
                                            <p:strVal val="#ppt_x"/>
                                          </p:val>
                                        </p:tav>
                                      </p:tavLst>
                                    </p:anim>
                                    <p:anim calcmode="lin" valueType="num">
                                      <p:cBhvr>
                                        <p:cTn id="19" dur="75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xit" presetSubtype="4" fill="hold" nodeType="clickEffect">
                                  <p:stCondLst>
                                    <p:cond delay="0"/>
                                  </p:stCondLst>
                                  <p:childTnLst>
                                    <p:animEffect transition="out" filter="wipe(down)">
                                      <p:cBhvr>
                                        <p:cTn id="23" dur="500"/>
                                        <p:tgtEl>
                                          <p:spTgt spid="3"/>
                                        </p:tgtEl>
                                      </p:cBhvr>
                                    </p:animEffect>
                                    <p:set>
                                      <p:cBhvr>
                                        <p:cTn id="24" dur="1" fill="hold">
                                          <p:stCondLst>
                                            <p:cond delay="499"/>
                                          </p:stCondLst>
                                        </p:cTn>
                                        <p:tgtEl>
                                          <p:spTgt spid="3"/>
                                        </p:tgtEl>
                                        <p:attrNameLst>
                                          <p:attrName>style.visibility</p:attrName>
                                        </p:attrNameLst>
                                      </p:cBhvr>
                                      <p:to>
                                        <p:strVal val="hidden"/>
                                      </p:to>
                                    </p:set>
                                  </p:childTnLst>
                                </p:cTn>
                              </p:par>
                              <p:par>
                                <p:cTn id="25" presetID="22" presetClass="exit" presetSubtype="4" fill="hold" grpId="1" nodeType="withEffect">
                                  <p:stCondLst>
                                    <p:cond delay="0"/>
                                  </p:stCondLst>
                                  <p:childTnLst>
                                    <p:animEffect transition="out" filter="wipe(down)">
                                      <p:cBhvr>
                                        <p:cTn id="26" dur="500"/>
                                        <p:tgtEl>
                                          <p:spTgt spid="11"/>
                                        </p:tgtEl>
                                      </p:cBhvr>
                                    </p:animEffect>
                                    <p:set>
                                      <p:cBhvr>
                                        <p:cTn id="27" dur="1" fill="hold">
                                          <p:stCondLst>
                                            <p:cond delay="499"/>
                                          </p:stCondLst>
                                        </p:cTn>
                                        <p:tgtEl>
                                          <p:spTgt spid="11"/>
                                        </p:tgtEl>
                                        <p:attrNameLst>
                                          <p:attrName>style.visibility</p:attrName>
                                        </p:attrNameLst>
                                      </p:cBhvr>
                                      <p:to>
                                        <p:strVal val="hidden"/>
                                      </p:to>
                                    </p:set>
                                  </p:childTnLst>
                                </p:cTn>
                              </p:par>
                              <p:par>
                                <p:cTn id="28" presetID="22" presetClass="exit" presetSubtype="4" fill="hold" grpId="1" nodeType="withEffect">
                                  <p:stCondLst>
                                    <p:cond delay="0"/>
                                  </p:stCondLst>
                                  <p:childTnLst>
                                    <p:animEffect transition="out" filter="wipe(down)">
                                      <p:cBhvr>
                                        <p:cTn id="29" dur="500"/>
                                        <p:tgtEl>
                                          <p:spTgt spid="16"/>
                                        </p:tgtEl>
                                      </p:cBhvr>
                                    </p:animEffect>
                                    <p:set>
                                      <p:cBhvr>
                                        <p:cTn id="30"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6" grpId="0" animBg="1"/>
      <p:bldP spid="16" grpId="1"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圆角矩形 5"/>
          <p:cNvSpPr>
            <a:spLocks noChangeArrowheads="1"/>
          </p:cNvSpPr>
          <p:nvPr/>
        </p:nvSpPr>
        <p:spPr bwMode="auto">
          <a:xfrm>
            <a:off x="260350" y="439738"/>
            <a:ext cx="8623300" cy="4462463"/>
          </a:xfrm>
          <a:prstGeom prst="roundRect">
            <a:avLst>
              <a:gd name="adj" fmla="val 16667"/>
            </a:avLst>
          </a:prstGeom>
          <a:gradFill>
            <a:gsLst>
              <a:gs pos="0">
                <a:schemeClr val="accent1">
                  <a:lumMod val="5000"/>
                  <a:lumOff val="95000"/>
                </a:schemeClr>
              </a:gs>
              <a:gs pos="90000">
                <a:srgbClr val="F4F3D2"/>
              </a:gs>
            </a:gsLst>
            <a:lin ang="2700000" scaled="1"/>
          </a:gradFill>
          <a:ln w="47625">
            <a:solidFill>
              <a:srgbClr val="FC6C02"/>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useBgFill="1">
        <p:nvSpPr>
          <p:cNvPr id="12" name="矩形 11"/>
          <p:cNvSpPr/>
          <p:nvPr/>
        </p:nvSpPr>
        <p:spPr>
          <a:xfrm>
            <a:off x="717549" y="121918"/>
            <a:ext cx="2847255" cy="584772"/>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存储器</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3" name="矩形 2"/>
          <p:cNvSpPr/>
          <p:nvPr/>
        </p:nvSpPr>
        <p:spPr>
          <a:xfrm>
            <a:off x="1186877" y="743333"/>
            <a:ext cx="7095212" cy="646326"/>
          </a:xfrm>
          <a:prstGeom prst="rect">
            <a:avLst/>
          </a:prstGeom>
          <a:noFill/>
        </p:spPr>
        <p:txBody>
          <a:bodyPr wrap="none" lIns="91440" tIns="45720" rIns="91440" bIns="4572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问题</a:t>
            </a:r>
            <a:r>
              <a:rPr kumimoji="0" lang="en-US" altLang="zh-CN"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3</a:t>
            </a:r>
            <a:r>
              <a:rPr kumimoji="0" lang="zh-CN" altLang="en-US"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a:t>
            </a:r>
            <a:r>
              <a:rPr kumimoji="0" lang="en-US" altLang="zh-CN"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SRAM</a:t>
            </a:r>
            <a:r>
              <a:rPr kumimoji="0" lang="zh-CN" altLang="en-US"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和</a:t>
            </a:r>
            <a:r>
              <a:rPr kumimoji="0" lang="en-US" altLang="zh-CN"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DRAM</a:t>
            </a:r>
            <a:r>
              <a:rPr kumimoji="0" lang="zh-CN" altLang="en-US"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rPr>
              <a:t>的区别？</a:t>
            </a:r>
            <a:endParaRPr kumimoji="0" lang="zh-CN" altLang="en-US" sz="3600" b="1" i="0" u="none" strike="noStrike" kern="1200" cap="none" spc="0" normalizeH="0" baseline="0" noProof="0" dirty="0">
              <a:ln w="9525">
                <a:solidFill>
                  <a:schemeClr val="bg1"/>
                </a:solidFill>
                <a:prstDash val="solid"/>
              </a:ln>
              <a:solidFill>
                <a:srgbClr val="FF6600"/>
              </a:solidFill>
              <a:effectLst>
                <a:outerShdw blurRad="12700" dist="38100" dir="2700000" algn="tl" rotWithShape="0">
                  <a:schemeClr val="bg1">
                    <a:lumMod val="50000"/>
                  </a:schemeClr>
                </a:outerShdw>
              </a:effectLst>
              <a:uLnTx/>
              <a:uFillTx/>
              <a:latin typeface="+mn-ea"/>
              <a:ea typeface="+mn-ea"/>
              <a:cs typeface="+mn-cs"/>
            </a:endParaRPr>
          </a:p>
        </p:txBody>
      </p:sp>
      <p:pic>
        <p:nvPicPr>
          <p:cNvPr id="2" name="图片 1"/>
          <p:cNvPicPr>
            <a:picLocks noChangeAspect="1"/>
          </p:cNvPicPr>
          <p:nvPr/>
        </p:nvPicPr>
        <p:blipFill>
          <a:blip r:embed="rId1"/>
          <a:stretch>
            <a:fillRect/>
          </a:stretch>
        </p:blipFill>
        <p:spPr>
          <a:xfrm>
            <a:off x="717550" y="1401763"/>
            <a:ext cx="3654425" cy="3014662"/>
          </a:xfrm>
          <a:prstGeom prst="rect">
            <a:avLst/>
          </a:prstGeom>
          <a:noFill/>
          <a:ln w="9525">
            <a:noFill/>
          </a:ln>
        </p:spPr>
      </p:pic>
      <p:pic>
        <p:nvPicPr>
          <p:cNvPr id="4" name="图片 3"/>
          <p:cNvPicPr>
            <a:picLocks noChangeAspect="1"/>
          </p:cNvPicPr>
          <p:nvPr/>
        </p:nvPicPr>
        <p:blipFill>
          <a:blip r:embed="rId2"/>
          <a:stretch>
            <a:fillRect/>
          </a:stretch>
        </p:blipFill>
        <p:spPr>
          <a:xfrm>
            <a:off x="4811713" y="1389063"/>
            <a:ext cx="3544887" cy="3076575"/>
          </a:xfrm>
          <a:prstGeom prst="rect">
            <a:avLst/>
          </a:prstGeom>
          <a:noFill/>
          <a:ln w="9525">
            <a:noFill/>
          </a:ln>
        </p:spPr>
      </p:pic>
      <p:pic>
        <p:nvPicPr>
          <p:cNvPr id="5" name="图片 4"/>
          <p:cNvPicPr>
            <a:picLocks noChangeAspect="1"/>
          </p:cNvPicPr>
          <p:nvPr/>
        </p:nvPicPr>
        <p:blipFill>
          <a:blip r:embed="rId3"/>
          <a:stretch>
            <a:fillRect/>
          </a:stretch>
        </p:blipFill>
        <p:spPr>
          <a:xfrm>
            <a:off x="914400" y="742950"/>
            <a:ext cx="7218363" cy="39909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nodeType="clickEffect">
                                  <p:stCondLst>
                                    <p:cond delay="0"/>
                                  </p:stCondLst>
                                  <p:childTnLst>
                                    <p:animEffect transition="out" filter="wipe(down)">
                                      <p:cBhvr>
                                        <p:cTn id="11" dur="500"/>
                                        <p:tgtEl>
                                          <p:spTgt spid="3"/>
                                        </p:tgtEl>
                                      </p:cBhvr>
                                    </p:animEffect>
                                    <p:set>
                                      <p:cBhvr>
                                        <p:cTn id="12" dur="1" fill="hold">
                                          <p:stCondLst>
                                            <p:cond delay="499"/>
                                          </p:stCondLst>
                                        </p:cTn>
                                        <p:tgtEl>
                                          <p:spTgt spid="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圆角矩形 5"/>
          <p:cNvSpPr>
            <a:spLocks noChangeArrowheads="1"/>
          </p:cNvSpPr>
          <p:nvPr/>
        </p:nvSpPr>
        <p:spPr bwMode="auto">
          <a:xfrm>
            <a:off x="260350" y="439738"/>
            <a:ext cx="8623300" cy="4462463"/>
          </a:xfrm>
          <a:prstGeom prst="roundRect">
            <a:avLst>
              <a:gd name="adj" fmla="val 16667"/>
            </a:avLst>
          </a:prstGeom>
          <a:gradFill>
            <a:gsLst>
              <a:gs pos="0">
                <a:schemeClr val="accent1">
                  <a:lumMod val="5000"/>
                  <a:lumOff val="95000"/>
                </a:schemeClr>
              </a:gs>
              <a:gs pos="90000">
                <a:srgbClr val="F4F3D2"/>
              </a:gs>
            </a:gsLst>
            <a:lin ang="2700000" scaled="1"/>
          </a:gradFill>
          <a:ln w="47625">
            <a:solidFill>
              <a:srgbClr val="FC6C02"/>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useBgFill="1">
        <p:nvSpPr>
          <p:cNvPr id="12" name="矩形 11"/>
          <p:cNvSpPr/>
          <p:nvPr/>
        </p:nvSpPr>
        <p:spPr>
          <a:xfrm>
            <a:off x="717549" y="121918"/>
            <a:ext cx="2847255" cy="584772"/>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存储器</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pic>
        <p:nvPicPr>
          <p:cNvPr id="48131" name="图片 3"/>
          <p:cNvPicPr>
            <a:picLocks noChangeAspect="1"/>
          </p:cNvPicPr>
          <p:nvPr>
            <p:custDataLst>
              <p:tags r:id="rId1"/>
            </p:custDataLst>
          </p:nvPr>
        </p:nvPicPr>
        <p:blipFill>
          <a:blip r:embed="rId2"/>
          <a:stretch>
            <a:fillRect/>
          </a:stretch>
        </p:blipFill>
        <p:spPr>
          <a:xfrm>
            <a:off x="415925" y="876300"/>
            <a:ext cx="8312150" cy="3667125"/>
          </a:xfrm>
          <a:prstGeom prst="rect">
            <a:avLst/>
          </a:prstGeom>
          <a:noFill/>
          <a:ln w="9525">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圆角矩形 5"/>
          <p:cNvSpPr>
            <a:spLocks noChangeArrowheads="1"/>
          </p:cNvSpPr>
          <p:nvPr/>
        </p:nvSpPr>
        <p:spPr bwMode="auto">
          <a:xfrm>
            <a:off x="303530" y="462280"/>
            <a:ext cx="8580120" cy="4440555"/>
          </a:xfrm>
          <a:prstGeom prst="roundRect">
            <a:avLst>
              <a:gd name="adj" fmla="val 16667"/>
            </a:avLst>
          </a:prstGeom>
          <a:gradFill>
            <a:gsLst>
              <a:gs pos="0">
                <a:schemeClr val="accent1">
                  <a:lumMod val="5000"/>
                  <a:lumOff val="95000"/>
                </a:schemeClr>
              </a:gs>
              <a:gs pos="90000">
                <a:srgbClr val="F4F3D2"/>
              </a:gs>
            </a:gsLst>
            <a:lin ang="2700000" scaled="1"/>
          </a:gradFill>
          <a:ln w="47625">
            <a:solidFill>
              <a:srgbClr val="FC6C02"/>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useBgFill="1">
        <p:nvSpPr>
          <p:cNvPr id="12" name="矩形 11"/>
          <p:cNvSpPr/>
          <p:nvPr/>
        </p:nvSpPr>
        <p:spPr>
          <a:xfrm>
            <a:off x="717549" y="121918"/>
            <a:ext cx="2847255" cy="584772"/>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存储器</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pic>
        <p:nvPicPr>
          <p:cNvPr id="101" name="图片 100"/>
          <p:cNvPicPr/>
          <p:nvPr>
            <p:custDataLst>
              <p:tags r:id="rId1"/>
            </p:custDataLst>
          </p:nvPr>
        </p:nvPicPr>
        <p:blipFill>
          <a:blip r:embed="rId2"/>
          <a:stretch>
            <a:fillRect/>
          </a:stretch>
        </p:blipFill>
        <p:spPr>
          <a:xfrm>
            <a:off x="5631180" y="823595"/>
            <a:ext cx="1644015" cy="1644015"/>
          </a:xfrm>
          <a:prstGeom prst="rect">
            <a:avLst/>
          </a:prstGeom>
          <a:noFill/>
          <a:ln w="9525">
            <a:noFill/>
          </a:ln>
        </p:spPr>
      </p:pic>
      <p:pic>
        <p:nvPicPr>
          <p:cNvPr id="102" name="图片 101"/>
          <p:cNvPicPr/>
          <p:nvPr>
            <p:custDataLst>
              <p:tags r:id="rId3"/>
            </p:custDataLst>
          </p:nvPr>
        </p:nvPicPr>
        <p:blipFill>
          <a:blip r:embed="rId4"/>
          <a:stretch>
            <a:fillRect/>
          </a:stretch>
        </p:blipFill>
        <p:spPr>
          <a:xfrm>
            <a:off x="1804035" y="2831465"/>
            <a:ext cx="2623185" cy="1836420"/>
          </a:xfrm>
          <a:prstGeom prst="rect">
            <a:avLst/>
          </a:prstGeom>
          <a:noFill/>
          <a:ln w="9525">
            <a:noFill/>
          </a:ln>
        </p:spPr>
      </p:pic>
      <p:pic>
        <p:nvPicPr>
          <p:cNvPr id="2" name="图片 1"/>
          <p:cNvPicPr/>
          <p:nvPr>
            <p:custDataLst>
              <p:tags r:id="rId5"/>
            </p:custDataLst>
          </p:nvPr>
        </p:nvPicPr>
        <p:blipFill>
          <a:blip r:embed="rId6"/>
          <a:stretch>
            <a:fillRect/>
          </a:stretch>
        </p:blipFill>
        <p:spPr>
          <a:xfrm>
            <a:off x="5631180" y="2831465"/>
            <a:ext cx="2558415" cy="1711325"/>
          </a:xfrm>
          <a:prstGeom prst="rect">
            <a:avLst/>
          </a:prstGeom>
          <a:noFill/>
          <a:ln w="9525">
            <a:noFill/>
          </a:ln>
        </p:spPr>
      </p:pic>
      <p:pic>
        <p:nvPicPr>
          <p:cNvPr id="105" name="图片 104"/>
          <p:cNvPicPr/>
          <p:nvPr>
            <p:custDataLst>
              <p:tags r:id="rId7"/>
            </p:custDataLst>
          </p:nvPr>
        </p:nvPicPr>
        <p:blipFill>
          <a:blip r:embed="rId8"/>
          <a:stretch>
            <a:fillRect/>
          </a:stretch>
        </p:blipFill>
        <p:spPr>
          <a:xfrm>
            <a:off x="2310130" y="2341880"/>
            <a:ext cx="1503680" cy="541655"/>
          </a:xfrm>
          <a:prstGeom prst="rect">
            <a:avLst/>
          </a:prstGeom>
          <a:noFill/>
          <a:ln w="9525">
            <a:noFill/>
          </a:ln>
        </p:spPr>
      </p:pic>
      <p:pic>
        <p:nvPicPr>
          <p:cNvPr id="100" name="图片 99"/>
          <p:cNvPicPr/>
          <p:nvPr>
            <p:custDataLst>
              <p:tags r:id="rId9"/>
            </p:custDataLst>
          </p:nvPr>
        </p:nvPicPr>
        <p:blipFill>
          <a:blip r:embed="rId10"/>
          <a:stretch>
            <a:fillRect/>
          </a:stretch>
        </p:blipFill>
        <p:spPr>
          <a:xfrm>
            <a:off x="1884045" y="823595"/>
            <a:ext cx="2355215" cy="1644015"/>
          </a:xfrm>
          <a:prstGeom prst="rect">
            <a:avLst/>
          </a:prstGeom>
          <a:noFill/>
          <a:ln w="9525">
            <a:noFill/>
          </a:ln>
        </p:spPr>
      </p:pic>
      <p:sp>
        <p:nvSpPr>
          <p:cNvPr id="3" name="文本框 2"/>
          <p:cNvSpPr txBox="1"/>
          <p:nvPr/>
        </p:nvSpPr>
        <p:spPr>
          <a:xfrm>
            <a:off x="770255" y="1375410"/>
            <a:ext cx="1855470" cy="829945"/>
          </a:xfrm>
          <a:prstGeom prst="rect">
            <a:avLst/>
          </a:prstGeom>
          <a:noFill/>
        </p:spPr>
        <p:txBody>
          <a:bodyPr wrap="square" rtlCol="0">
            <a:spAutoFit/>
          </a:bodyPr>
          <a:p>
            <a:r>
              <a:rPr lang="zh-CN" altLang="en-US" sz="2400" b="1"/>
              <a:t>利基</a:t>
            </a:r>
            <a:endParaRPr lang="zh-CN" altLang="en-US" sz="2400" b="1"/>
          </a:p>
          <a:p>
            <a:r>
              <a:rPr lang="zh-CN" altLang="en-US" sz="2400" b="1"/>
              <a:t>存储</a:t>
            </a:r>
            <a:endParaRPr lang="zh-CN" altLang="en-US" sz="2400" b="1"/>
          </a:p>
        </p:txBody>
      </p:sp>
      <p:sp>
        <p:nvSpPr>
          <p:cNvPr id="4" name="文本框 3"/>
          <p:cNvSpPr txBox="1"/>
          <p:nvPr>
            <p:custDataLst>
              <p:tags r:id="rId11"/>
            </p:custDataLst>
          </p:nvPr>
        </p:nvSpPr>
        <p:spPr>
          <a:xfrm>
            <a:off x="770255" y="3519170"/>
            <a:ext cx="1855470" cy="460375"/>
          </a:xfrm>
          <a:prstGeom prst="rect">
            <a:avLst/>
          </a:prstGeom>
          <a:noFill/>
        </p:spPr>
        <p:txBody>
          <a:bodyPr wrap="square" rtlCol="0">
            <a:spAutoFit/>
          </a:bodyPr>
          <a:p>
            <a:r>
              <a:rPr lang="en-US" altLang="zh-CN" sz="2400" b="1"/>
              <a:t>DRAM</a:t>
            </a:r>
            <a:endParaRPr lang="en-US" altLang="zh-CN" sz="2400" b="1"/>
          </a:p>
        </p:txBody>
      </p:sp>
      <p:sp>
        <p:nvSpPr>
          <p:cNvPr id="5" name="文本框 4"/>
          <p:cNvSpPr txBox="1"/>
          <p:nvPr>
            <p:custDataLst>
              <p:tags r:id="rId12"/>
            </p:custDataLst>
          </p:nvPr>
        </p:nvSpPr>
        <p:spPr>
          <a:xfrm>
            <a:off x="4572000" y="3335020"/>
            <a:ext cx="1855470" cy="829945"/>
          </a:xfrm>
          <a:prstGeom prst="rect">
            <a:avLst/>
          </a:prstGeom>
          <a:noFill/>
        </p:spPr>
        <p:txBody>
          <a:bodyPr wrap="square" rtlCol="0">
            <a:spAutoFit/>
          </a:bodyPr>
          <a:p>
            <a:r>
              <a:rPr lang="en-US" altLang="zh-CN" sz="2400" b="1"/>
              <a:t>NADN</a:t>
            </a:r>
            <a:endParaRPr lang="en-US" altLang="zh-CN" sz="2400" b="1"/>
          </a:p>
          <a:p>
            <a:r>
              <a:rPr lang="en-US" altLang="zh-CN" sz="2400" b="1"/>
              <a:t>Flash</a:t>
            </a:r>
            <a:endParaRPr lang="en-US" altLang="zh-CN" sz="2400" b="1"/>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圆角矩形 5"/>
          <p:cNvSpPr>
            <a:spLocks noChangeArrowheads="1"/>
          </p:cNvSpPr>
          <p:nvPr/>
        </p:nvSpPr>
        <p:spPr bwMode="auto">
          <a:xfrm>
            <a:off x="260350" y="439738"/>
            <a:ext cx="8623300" cy="4462463"/>
          </a:xfrm>
          <a:prstGeom prst="roundRect">
            <a:avLst>
              <a:gd name="adj" fmla="val 16667"/>
            </a:avLst>
          </a:prstGeom>
          <a:gradFill>
            <a:gsLst>
              <a:gs pos="0">
                <a:schemeClr val="accent1">
                  <a:lumMod val="5000"/>
                  <a:lumOff val="95000"/>
                </a:schemeClr>
              </a:gs>
              <a:gs pos="90000">
                <a:srgbClr val="F4F3D2"/>
              </a:gs>
            </a:gsLst>
            <a:lin ang="2700000" scaled="1"/>
          </a:gradFill>
          <a:ln w="47625">
            <a:solidFill>
              <a:srgbClr val="FC6C02"/>
            </a:solid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useBgFill="1">
        <p:nvSpPr>
          <p:cNvPr id="5" name="矩形 4"/>
          <p:cNvSpPr/>
          <p:nvPr/>
        </p:nvSpPr>
        <p:spPr>
          <a:xfrm>
            <a:off x="717549" y="121918"/>
            <a:ext cx="3667992" cy="584771"/>
          </a:xfrm>
          <a:prstGeom prst="rect">
            <a:avLst/>
          </a:prstGeom>
        </p:spPr>
        <p:txBody>
          <a:bodyPr wrap="none">
            <a:spAutoFit/>
          </a:bodyPr>
          <a:lstStyle/>
          <a:p>
            <a:pPr marL="0" marR="0" lvl="0" indent="0" algn="l" defTabSz="95123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rPr>
              <a:t>STM32</a:t>
            </a:r>
            <a:r>
              <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rPr>
              <a:t>异常与中断</a:t>
            </a:r>
            <a:endParaRPr kumimoji="0" lang="zh-CN" altLang="en-US" sz="3200" b="1" i="0" u="none" strike="noStrike" kern="1200" cap="none" spc="0" normalizeH="0" baseline="0" noProof="0" dirty="0">
              <a:ln w="10160">
                <a:solidFill>
                  <a:schemeClr val="bg1"/>
                </a:solidFill>
                <a:prstDash val="solid"/>
              </a:ln>
              <a:solidFill>
                <a:srgbClr val="FC6C02"/>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mn-cs"/>
              <a:sym typeface="+mn-ea"/>
            </a:endParaRPr>
          </a:p>
        </p:txBody>
      </p:sp>
      <p:sp>
        <p:nvSpPr>
          <p:cNvPr id="7" name="TextBox 3"/>
          <p:cNvSpPr txBox="1"/>
          <p:nvPr/>
        </p:nvSpPr>
        <p:spPr>
          <a:xfrm>
            <a:off x="654050" y="847725"/>
            <a:ext cx="7835900" cy="4154488"/>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j-lt"/>
              </a:defRPr>
            </a:lvl2pPr>
            <a:lvl3pPr marL="1143000" indent="-228600" algn="l" rtl="0" eaLnBrk="0" fontAlgn="base" hangingPunct="0">
              <a:spcBef>
                <a:spcPct val="20000"/>
              </a:spcBef>
              <a:spcAft>
                <a:spcPct val="0"/>
              </a:spcAft>
              <a:buClr>
                <a:schemeClr val="tx1"/>
              </a:buClr>
              <a:buChar char="•"/>
              <a:defRPr sz="2400">
                <a:solidFill>
                  <a:schemeClr val="tx1"/>
                </a:solidFill>
                <a:latin typeface="+mj-lt"/>
              </a:defRPr>
            </a:lvl3pPr>
            <a:lvl4pPr marL="1600200" indent="-228600" algn="l" rtl="0" eaLnBrk="0" fontAlgn="base" hangingPunct="0">
              <a:spcBef>
                <a:spcPct val="20000"/>
              </a:spcBef>
              <a:spcAft>
                <a:spcPct val="0"/>
              </a:spcAft>
              <a:buChar char="–"/>
              <a:defRPr sz="2000">
                <a:solidFill>
                  <a:schemeClr val="tx1"/>
                </a:solidFill>
                <a:latin typeface="+mj-lt"/>
              </a:defRPr>
            </a:lvl4pPr>
            <a:lvl5pPr marL="2057400" indent="-228600" algn="l" rtl="0" eaLnBrk="0" fontAlgn="base" hangingPunct="0">
              <a:spcBef>
                <a:spcPct val="20000"/>
              </a:spcBef>
              <a:spcAft>
                <a:spcPct val="0"/>
              </a:spcAft>
              <a:buChar char="»"/>
              <a:defRPr sz="2000">
                <a:solidFill>
                  <a:schemeClr val="tx1"/>
                </a:solidFill>
                <a:latin typeface="+mj-lt"/>
              </a:defRPr>
            </a:lvl5pPr>
          </a:lstStyle>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u"/>
              <a:defRPr/>
            </a:pPr>
            <a:r>
              <a:rPr kumimoji="0" lang="en-US" altLang="zh-CN" sz="2200" b="1" i="0" u="none" strike="noStrike" kern="1200" cap="none" spc="0" normalizeH="0" baseline="0" noProof="0" dirty="0">
                <a:ln>
                  <a:noFill/>
                </a:ln>
                <a:solidFill>
                  <a:schemeClr val="tx1"/>
                </a:solidFill>
                <a:effectLst/>
                <a:uLnTx/>
                <a:uFillTx/>
                <a:latin typeface="+mn-ea"/>
                <a:ea typeface="+mn-ea"/>
                <a:cs typeface="+mn-cs"/>
              </a:rPr>
              <a:t> </a:t>
            </a:r>
            <a:r>
              <a:rPr kumimoji="0" lang="en-US" altLang="zh-CN" sz="2200" b="0" i="0" u="none" strike="noStrike" kern="1200" cap="none" spc="0" normalizeH="0" baseline="0" noProof="0" dirty="0">
                <a:ln>
                  <a:noFill/>
                </a:ln>
                <a:solidFill>
                  <a:schemeClr val="tx1"/>
                </a:solidFill>
                <a:effectLst/>
                <a:uLnTx/>
                <a:uFillTx/>
                <a:latin typeface="+mn-ea"/>
                <a:ea typeface="+mn-ea"/>
                <a:cs typeface="+mn-cs"/>
              </a:rPr>
              <a:t>CM3</a:t>
            </a:r>
            <a:r>
              <a:rPr kumimoji="0" lang="zh-CN" altLang="zh-CN" sz="2200" b="0" i="0" u="none" strike="noStrike" kern="1200" cap="none" spc="0" normalizeH="0" baseline="0" noProof="0" dirty="0">
                <a:ln>
                  <a:noFill/>
                </a:ln>
                <a:solidFill>
                  <a:schemeClr val="tx1"/>
                </a:solidFill>
                <a:effectLst/>
                <a:uLnTx/>
                <a:uFillTx/>
                <a:latin typeface="+mn-ea"/>
                <a:ea typeface="+mn-ea"/>
                <a:cs typeface="+mn-cs"/>
              </a:rPr>
              <a:t>内核支持</a:t>
            </a:r>
            <a:r>
              <a:rPr kumimoji="0" lang="en-US" altLang="zh-CN" sz="2200" b="0" i="0" u="none" strike="noStrike" kern="1200" cap="none" spc="0" normalizeH="0" baseline="0" noProof="0" dirty="0">
                <a:ln>
                  <a:noFill/>
                </a:ln>
                <a:solidFill>
                  <a:schemeClr val="tx1"/>
                </a:solidFill>
                <a:effectLst/>
                <a:uLnTx/>
                <a:uFillTx/>
                <a:latin typeface="+mn-ea"/>
                <a:ea typeface="+mn-ea"/>
                <a:cs typeface="+mn-cs"/>
              </a:rPr>
              <a:t>256</a:t>
            </a:r>
            <a:r>
              <a:rPr kumimoji="0" lang="zh-CN" altLang="zh-CN" sz="2200" b="0" i="0" u="none" strike="noStrike" kern="1200" cap="none" spc="0" normalizeH="0" baseline="0" noProof="0" dirty="0">
                <a:ln>
                  <a:noFill/>
                </a:ln>
                <a:solidFill>
                  <a:schemeClr val="tx1"/>
                </a:solidFill>
                <a:effectLst/>
                <a:uLnTx/>
                <a:uFillTx/>
                <a:latin typeface="+mn-ea"/>
                <a:ea typeface="+mn-ea"/>
                <a:cs typeface="+mn-cs"/>
              </a:rPr>
              <a:t>个中断，其中包含了</a:t>
            </a:r>
            <a:r>
              <a:rPr kumimoji="0" lang="en-US" altLang="zh-CN" sz="2200" b="0" i="0" u="none" strike="noStrike" kern="1200" cap="none" spc="0" normalizeH="0" baseline="0" noProof="0" dirty="0">
                <a:ln>
                  <a:noFill/>
                </a:ln>
                <a:solidFill>
                  <a:schemeClr val="tx1"/>
                </a:solidFill>
                <a:effectLst/>
                <a:uLnTx/>
                <a:uFillTx/>
                <a:latin typeface="+mn-ea"/>
                <a:ea typeface="+mn-ea"/>
                <a:cs typeface="+mn-cs"/>
              </a:rPr>
              <a:t>16</a:t>
            </a:r>
            <a:r>
              <a:rPr kumimoji="0" lang="zh-CN" altLang="zh-CN" sz="2200" b="0" i="0" u="none" strike="noStrike" kern="1200" cap="none" spc="0" normalizeH="0" baseline="0" noProof="0" dirty="0">
                <a:ln>
                  <a:noFill/>
                </a:ln>
                <a:solidFill>
                  <a:schemeClr val="tx1"/>
                </a:solidFill>
                <a:effectLst/>
                <a:uLnTx/>
                <a:uFillTx/>
                <a:latin typeface="+mn-ea"/>
                <a:ea typeface="+mn-ea"/>
                <a:cs typeface="+mn-cs"/>
              </a:rPr>
              <a:t>个内核中断和</a:t>
            </a:r>
            <a:r>
              <a:rPr kumimoji="0" lang="en-US" altLang="zh-CN" sz="2200" b="0" i="0" u="none" strike="noStrike" kern="1200" cap="none" spc="0" normalizeH="0" baseline="0" noProof="0" dirty="0">
                <a:ln>
                  <a:noFill/>
                </a:ln>
                <a:solidFill>
                  <a:schemeClr val="tx1"/>
                </a:solidFill>
                <a:effectLst/>
                <a:uLnTx/>
                <a:uFillTx/>
                <a:latin typeface="+mn-ea"/>
                <a:ea typeface="+mn-ea"/>
                <a:cs typeface="+mn-cs"/>
              </a:rPr>
              <a:t>240</a:t>
            </a:r>
            <a:r>
              <a:rPr kumimoji="0" lang="zh-CN" altLang="zh-CN" sz="2200" b="0" i="0" u="none" strike="noStrike" kern="1200" cap="none" spc="0" normalizeH="0" baseline="0" noProof="0" dirty="0">
                <a:ln>
                  <a:noFill/>
                </a:ln>
                <a:solidFill>
                  <a:schemeClr val="tx1"/>
                </a:solidFill>
                <a:effectLst/>
                <a:uLnTx/>
                <a:uFillTx/>
                <a:latin typeface="+mn-ea"/>
                <a:ea typeface="+mn-ea"/>
                <a:cs typeface="+mn-cs"/>
              </a:rPr>
              <a:t>个外部中断，并且具有</a:t>
            </a:r>
            <a:r>
              <a:rPr kumimoji="0" lang="en-US" altLang="zh-CN" sz="2200" b="0" i="0" u="none" strike="noStrike" kern="1200" cap="none" spc="0" normalizeH="0" baseline="0" noProof="0" dirty="0">
                <a:ln>
                  <a:noFill/>
                </a:ln>
                <a:solidFill>
                  <a:schemeClr val="tx1"/>
                </a:solidFill>
                <a:effectLst/>
                <a:uLnTx/>
                <a:uFillTx/>
                <a:latin typeface="+mn-ea"/>
                <a:ea typeface="+mn-ea"/>
                <a:cs typeface="+mn-cs"/>
              </a:rPr>
              <a:t>256</a:t>
            </a:r>
            <a:r>
              <a:rPr kumimoji="0" lang="zh-CN" altLang="zh-CN" sz="2200" b="0" i="0" u="none" strike="noStrike" kern="1200" cap="none" spc="0" normalizeH="0" baseline="0" noProof="0" dirty="0">
                <a:ln>
                  <a:noFill/>
                </a:ln>
                <a:solidFill>
                  <a:schemeClr val="tx1"/>
                </a:solidFill>
                <a:effectLst/>
                <a:uLnTx/>
                <a:uFillTx/>
                <a:latin typeface="+mn-ea"/>
                <a:ea typeface="+mn-ea"/>
                <a:cs typeface="+mn-cs"/>
              </a:rPr>
              <a:t>级的可编程中断设置。</a:t>
            </a:r>
            <a:endParaRPr kumimoji="0" lang="en-US" altLang="zh-CN" sz="2200" b="0"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u"/>
              <a:defRPr/>
            </a:pPr>
            <a:endParaRPr kumimoji="0" lang="en-US" altLang="zh-CN" sz="2200" b="0"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u"/>
              <a:defRPr/>
            </a:pPr>
            <a:r>
              <a:rPr kumimoji="0" lang="en-US" altLang="zh-CN" sz="2200" b="0" i="0" u="none" strike="noStrike" kern="1200" cap="none" spc="0" normalizeH="0" baseline="0" noProof="0" dirty="0">
                <a:ln>
                  <a:noFill/>
                </a:ln>
                <a:solidFill>
                  <a:schemeClr val="tx1"/>
                </a:solidFill>
                <a:effectLst/>
                <a:uLnTx/>
                <a:uFillTx/>
                <a:latin typeface="+mn-ea"/>
                <a:ea typeface="+mn-ea"/>
                <a:cs typeface="+mn-cs"/>
              </a:rPr>
              <a:t>STM32</a:t>
            </a:r>
            <a:r>
              <a:rPr kumimoji="0" lang="zh-CN" altLang="zh-CN" sz="2200" b="0" i="0" u="none" strike="noStrike" kern="1200" cap="none" spc="0" normalizeH="0" baseline="0" noProof="0" dirty="0">
                <a:ln>
                  <a:noFill/>
                </a:ln>
                <a:solidFill>
                  <a:schemeClr val="tx1"/>
                </a:solidFill>
                <a:effectLst/>
                <a:uLnTx/>
                <a:uFillTx/>
                <a:latin typeface="+mn-ea"/>
                <a:ea typeface="+mn-ea"/>
                <a:cs typeface="+mn-cs"/>
              </a:rPr>
              <a:t>有</a:t>
            </a:r>
            <a:r>
              <a:rPr kumimoji="0" lang="en-US" altLang="zh-CN" sz="2200" b="0" i="0" u="none" strike="noStrike" kern="1200" cap="none" spc="0" normalizeH="0" baseline="0" noProof="0" dirty="0">
                <a:ln>
                  <a:noFill/>
                </a:ln>
                <a:solidFill>
                  <a:schemeClr val="tx1"/>
                </a:solidFill>
                <a:effectLst/>
                <a:uLnTx/>
                <a:uFillTx/>
                <a:latin typeface="+mn-ea"/>
                <a:ea typeface="+mn-ea"/>
                <a:cs typeface="+mn-cs"/>
              </a:rPr>
              <a:t>84</a:t>
            </a:r>
            <a:r>
              <a:rPr kumimoji="0" lang="zh-CN" altLang="zh-CN" sz="2200" b="0" i="0" u="none" strike="noStrike" kern="1200" cap="none" spc="0" normalizeH="0" baseline="0" noProof="0" dirty="0">
                <a:ln>
                  <a:noFill/>
                </a:ln>
                <a:solidFill>
                  <a:schemeClr val="tx1"/>
                </a:solidFill>
                <a:effectLst/>
                <a:uLnTx/>
                <a:uFillTx/>
                <a:latin typeface="+mn-ea"/>
                <a:ea typeface="+mn-ea"/>
                <a:cs typeface="+mn-cs"/>
              </a:rPr>
              <a:t>个中断，包括</a:t>
            </a:r>
            <a:r>
              <a:rPr kumimoji="0" lang="en-US" altLang="zh-CN" sz="2200" b="0" i="0" u="none" strike="noStrike" kern="1200" cap="none" spc="0" normalizeH="0" baseline="0" noProof="0" dirty="0">
                <a:ln>
                  <a:noFill/>
                </a:ln>
                <a:solidFill>
                  <a:schemeClr val="tx1"/>
                </a:solidFill>
                <a:effectLst/>
                <a:uLnTx/>
                <a:uFillTx/>
                <a:latin typeface="+mn-ea"/>
                <a:ea typeface="+mn-ea"/>
                <a:cs typeface="+mn-cs"/>
              </a:rPr>
              <a:t>16</a:t>
            </a:r>
            <a:r>
              <a:rPr kumimoji="0" lang="zh-CN" altLang="zh-CN" sz="2200" b="0" i="0" u="none" strike="noStrike" kern="1200" cap="none" spc="0" normalizeH="0" baseline="0" noProof="0" dirty="0">
                <a:ln>
                  <a:noFill/>
                </a:ln>
                <a:solidFill>
                  <a:schemeClr val="tx1"/>
                </a:solidFill>
                <a:effectLst/>
                <a:uLnTx/>
                <a:uFillTx/>
                <a:latin typeface="+mn-ea"/>
                <a:ea typeface="+mn-ea"/>
                <a:cs typeface="+mn-cs"/>
              </a:rPr>
              <a:t>个内核中断和</a:t>
            </a:r>
            <a:r>
              <a:rPr kumimoji="0" lang="en-US" altLang="zh-CN" sz="2200" b="0" i="0" u="none" strike="noStrike" kern="1200" cap="none" spc="0" normalizeH="0" baseline="0" noProof="0" dirty="0">
                <a:ln>
                  <a:noFill/>
                </a:ln>
                <a:solidFill>
                  <a:schemeClr val="tx1"/>
                </a:solidFill>
                <a:effectLst/>
                <a:uLnTx/>
                <a:uFillTx/>
                <a:latin typeface="+mn-ea"/>
                <a:ea typeface="+mn-ea"/>
                <a:cs typeface="+mn-cs"/>
              </a:rPr>
              <a:t>68</a:t>
            </a:r>
            <a:r>
              <a:rPr kumimoji="0" lang="zh-CN" altLang="zh-CN" sz="2200" b="0" i="0" u="none" strike="noStrike" kern="1200" cap="none" spc="0" normalizeH="0" baseline="0" noProof="0" dirty="0">
                <a:ln>
                  <a:noFill/>
                </a:ln>
                <a:solidFill>
                  <a:schemeClr val="tx1"/>
                </a:solidFill>
                <a:effectLst/>
                <a:uLnTx/>
                <a:uFillTx/>
                <a:latin typeface="+mn-ea"/>
                <a:ea typeface="+mn-ea"/>
                <a:cs typeface="+mn-cs"/>
              </a:rPr>
              <a:t>个可屏蔽中断，具有</a:t>
            </a:r>
            <a:r>
              <a:rPr kumimoji="0" lang="en-US" altLang="zh-CN" sz="2200" b="0" i="0" u="none" strike="noStrike" kern="1200" cap="none" spc="0" normalizeH="0" baseline="0" noProof="0" dirty="0">
                <a:ln>
                  <a:noFill/>
                </a:ln>
                <a:solidFill>
                  <a:schemeClr val="tx1"/>
                </a:solidFill>
                <a:effectLst/>
                <a:uLnTx/>
                <a:uFillTx/>
                <a:latin typeface="+mn-ea"/>
                <a:ea typeface="+mn-ea"/>
                <a:cs typeface="+mn-cs"/>
              </a:rPr>
              <a:t>16</a:t>
            </a:r>
            <a:r>
              <a:rPr kumimoji="0" lang="zh-CN" altLang="zh-CN" sz="2200" b="0" i="0" u="none" strike="noStrike" kern="1200" cap="none" spc="0" normalizeH="0" baseline="0" noProof="0" dirty="0">
                <a:ln>
                  <a:noFill/>
                </a:ln>
                <a:solidFill>
                  <a:schemeClr val="tx1"/>
                </a:solidFill>
                <a:effectLst/>
                <a:uLnTx/>
                <a:uFillTx/>
                <a:latin typeface="+mn-ea"/>
                <a:ea typeface="+mn-ea"/>
                <a:cs typeface="+mn-cs"/>
              </a:rPr>
              <a:t>级可编程的中断优先级。</a:t>
            </a:r>
            <a:endParaRPr kumimoji="0" lang="en-US" altLang="zh-CN" sz="2200" b="0"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u"/>
              <a:defRPr/>
            </a:pPr>
            <a:endParaRPr kumimoji="0" lang="en-US" altLang="zh-CN" sz="2200" b="0"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u"/>
              <a:defRPr/>
            </a:pPr>
            <a:r>
              <a:rPr kumimoji="0" lang="en-US" altLang="zh-CN" sz="2200" b="0" i="0" u="none" strike="noStrike" kern="1200" cap="none" spc="0" normalizeH="0" baseline="0" noProof="0" dirty="0">
                <a:ln>
                  <a:noFill/>
                </a:ln>
                <a:solidFill>
                  <a:schemeClr val="tx1"/>
                </a:solidFill>
                <a:effectLst/>
                <a:uLnTx/>
                <a:uFillTx/>
                <a:latin typeface="+mn-ea"/>
                <a:ea typeface="+mn-ea"/>
                <a:cs typeface="+mn-cs"/>
              </a:rPr>
              <a:t>STM32F103</a:t>
            </a:r>
            <a:r>
              <a:rPr kumimoji="0" lang="zh-CN" altLang="zh-CN" sz="2200" b="0" i="0" u="none" strike="noStrike" kern="1200" cap="none" spc="0" normalizeH="0" baseline="0" noProof="0" dirty="0">
                <a:ln>
                  <a:noFill/>
                </a:ln>
                <a:solidFill>
                  <a:schemeClr val="tx1"/>
                </a:solidFill>
                <a:effectLst/>
                <a:uLnTx/>
                <a:uFillTx/>
                <a:latin typeface="+mn-ea"/>
                <a:ea typeface="+mn-ea"/>
                <a:cs typeface="+mn-cs"/>
              </a:rPr>
              <a:t>系列上面，又只有</a:t>
            </a:r>
            <a:r>
              <a:rPr kumimoji="0" lang="en-US" altLang="zh-CN" sz="2200" b="0" i="0" u="none" strike="noStrike" kern="1200" cap="none" spc="0" normalizeH="0" baseline="0" noProof="0" dirty="0">
                <a:ln>
                  <a:noFill/>
                </a:ln>
                <a:solidFill>
                  <a:schemeClr val="tx1"/>
                </a:solidFill>
                <a:effectLst/>
                <a:uLnTx/>
                <a:uFillTx/>
                <a:latin typeface="+mn-ea"/>
                <a:ea typeface="+mn-ea"/>
                <a:cs typeface="+mn-cs"/>
              </a:rPr>
              <a:t>60</a:t>
            </a:r>
            <a:r>
              <a:rPr kumimoji="0" lang="zh-CN" altLang="zh-CN" sz="2200" b="0" i="0" u="none" strike="noStrike" kern="1200" cap="none" spc="0" normalizeH="0" baseline="0" noProof="0" dirty="0">
                <a:ln>
                  <a:noFill/>
                </a:ln>
                <a:solidFill>
                  <a:schemeClr val="tx1"/>
                </a:solidFill>
                <a:effectLst/>
                <a:uLnTx/>
                <a:uFillTx/>
                <a:latin typeface="+mn-ea"/>
                <a:ea typeface="+mn-ea"/>
                <a:cs typeface="+mn-cs"/>
              </a:rPr>
              <a:t>个</a:t>
            </a:r>
            <a:r>
              <a:rPr kumimoji="0" lang="zh-CN" altLang="en-US" sz="2200" b="0" i="0" u="none" strike="noStrike" kern="1200" cap="none" spc="0" normalizeH="0" baseline="0" noProof="0" dirty="0">
                <a:ln>
                  <a:noFill/>
                </a:ln>
                <a:solidFill>
                  <a:schemeClr val="tx1"/>
                </a:solidFill>
                <a:effectLst/>
                <a:uLnTx/>
                <a:uFillTx/>
                <a:latin typeface="+mn-ea"/>
                <a:ea typeface="+mn-ea"/>
                <a:cs typeface="+mn-cs"/>
              </a:rPr>
              <a:t>可屏蔽中断。</a:t>
            </a:r>
            <a:endParaRPr kumimoji="0" lang="en-US" altLang="zh-CN" sz="2200" b="0"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914400" rtl="0" eaLnBrk="1" fontAlgn="base" latinLnBrk="0" hangingPunct="1">
              <a:lnSpc>
                <a:spcPct val="150000"/>
              </a:lnSpc>
              <a:spcBef>
                <a:spcPct val="0"/>
              </a:spcBef>
              <a:spcAft>
                <a:spcPct val="0"/>
              </a:spcAft>
              <a:buClrTx/>
              <a:buSzTx/>
              <a:buFont typeface="Wingdings" panose="05000000000000000000" pitchFamily="2" charset="2"/>
              <a:buNone/>
              <a:defRPr/>
            </a:pPr>
            <a:r>
              <a:rPr kumimoji="0" lang="zh-CN" altLang="en-US" sz="2000" b="0" i="1" u="none" strike="noStrike" kern="1200" cap="none" spc="0" normalizeH="0" baseline="0" noProof="0" dirty="0">
                <a:ln>
                  <a:noFill/>
                </a:ln>
                <a:solidFill>
                  <a:schemeClr val="tx1"/>
                </a:solidFill>
                <a:effectLst/>
                <a:uLnTx/>
                <a:uFillTx/>
                <a:latin typeface="+mn-ea"/>
                <a:ea typeface="+mn-ea"/>
                <a:cs typeface="+mn-cs"/>
              </a:rPr>
              <a:t>    参考资料：</a:t>
            </a:r>
            <a:r>
              <a:rPr kumimoji="0" lang="en-US" altLang="zh-CN" sz="2000" b="0" i="1" u="none" strike="noStrike" kern="1200" cap="none" spc="0" normalizeH="0" baseline="0" noProof="0" dirty="0">
                <a:ln>
                  <a:noFill/>
                </a:ln>
                <a:solidFill>
                  <a:schemeClr val="tx1"/>
                </a:solidFill>
                <a:effectLst/>
                <a:uLnTx/>
                <a:uFillTx/>
                <a:latin typeface="+mn-ea"/>
                <a:ea typeface="+mn-ea"/>
                <a:cs typeface="+mn-cs"/>
              </a:rPr>
              <a:t>《STM32</a:t>
            </a:r>
            <a:r>
              <a:rPr kumimoji="0" lang="zh-CN" altLang="en-US" sz="2000" b="0" i="1" u="none" strike="noStrike" kern="1200" cap="none" spc="0" normalizeH="0" baseline="0" noProof="0" dirty="0">
                <a:ln>
                  <a:noFill/>
                </a:ln>
                <a:solidFill>
                  <a:schemeClr val="tx1"/>
                </a:solidFill>
                <a:effectLst/>
                <a:uLnTx/>
                <a:uFillTx/>
                <a:latin typeface="+mn-ea"/>
                <a:ea typeface="+mn-ea"/>
                <a:cs typeface="+mn-cs"/>
              </a:rPr>
              <a:t>中文参考手册</a:t>
            </a:r>
            <a:r>
              <a:rPr kumimoji="0" lang="en-US" altLang="zh-CN" sz="2000" b="0" i="1" u="none" strike="noStrike" kern="1200" cap="none" spc="0" normalizeH="0" baseline="0" noProof="0" dirty="0">
                <a:ln>
                  <a:noFill/>
                </a:ln>
                <a:solidFill>
                  <a:schemeClr val="tx1"/>
                </a:solidFill>
                <a:effectLst/>
                <a:uLnTx/>
                <a:uFillTx/>
                <a:latin typeface="+mn-ea"/>
                <a:ea typeface="+mn-ea"/>
                <a:cs typeface="+mn-cs"/>
              </a:rPr>
              <a:t>》P131</a:t>
            </a:r>
            <a:endParaRPr kumimoji="0" lang="en-US" altLang="zh-CN" sz="2000" b="1" i="1" u="none" strike="noStrike" kern="1200" cap="none" spc="0" normalizeH="0" baseline="0" noProof="0" dirty="0">
              <a:ln>
                <a:noFill/>
              </a:ln>
              <a:solidFill>
                <a:schemeClr val="tx1"/>
              </a:solidFill>
              <a:effectLst/>
              <a:uLnTx/>
              <a:uFillTx/>
              <a:latin typeface="+mn-ea"/>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000"/>
                                        <p:tgtEl>
                                          <p:spTgt spid="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Lst>
  </p:timing>
</p:sld>
</file>

<file path=ppt/slides/slide45.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51202" name="标题 18"/>
          <p:cNvSpPr/>
          <p:nvPr/>
        </p:nvSpPr>
        <p:spPr>
          <a:xfrm>
            <a:off x="4214813" y="2143125"/>
            <a:ext cx="4500562" cy="1101725"/>
          </a:xfrm>
          <a:prstGeom prst="rect">
            <a:avLst/>
          </a:prstGeom>
          <a:noFill/>
          <a:ln w="9525">
            <a:noFill/>
          </a:ln>
        </p:spPr>
        <p:txBody>
          <a:bodyPr anchor="ctr" anchorCtr="0"/>
          <a:p>
            <a:r>
              <a:rPr lang="en-US" altLang="zh-CN" sz="4100" b="1" i="1" dirty="0">
                <a:solidFill>
                  <a:srgbClr val="39B0E6"/>
                </a:solidFill>
                <a:latin typeface="微软雅黑" panose="020B0503020204020204" pitchFamily="34" charset="-122"/>
                <a:ea typeface="微软雅黑" panose="020B0503020204020204" pitchFamily="34" charset="-122"/>
                <a:sym typeface="Bodoni MT" panose="02070603080606020203" pitchFamily="18" charset="0"/>
              </a:rPr>
              <a:t>THE END</a:t>
            </a:r>
            <a:r>
              <a:rPr lang="en-US" altLang="zh-CN" sz="3200" b="1" i="1" dirty="0">
                <a:solidFill>
                  <a:srgbClr val="E36C09"/>
                </a:solidFill>
                <a:latin typeface="微软雅黑" panose="020B0503020204020204" pitchFamily="34" charset="-122"/>
                <a:ea typeface="微软雅黑" panose="020B0503020204020204" pitchFamily="34" charset="-122"/>
                <a:sym typeface="Bodoni MT" panose="02070603080606020203" pitchFamily="18" charset="0"/>
              </a:rPr>
              <a:t>THANKS</a:t>
            </a:r>
            <a:endParaRPr lang="zh-CN" altLang="en-US" sz="3200" b="1" i="1" dirty="0">
              <a:solidFill>
                <a:srgbClr val="E36C09"/>
              </a:solidFill>
              <a:latin typeface="微软雅黑" panose="020B0503020204020204" pitchFamily="34" charset="-122"/>
              <a:ea typeface="微软雅黑" panose="020B0503020204020204" pitchFamily="34" charset="-122"/>
              <a:sym typeface="Bodoni MT" panose="02070603080606020203" pitchFamily="18" charset="0"/>
            </a:endParaRPr>
          </a:p>
        </p:txBody>
      </p:sp>
      <p:sp>
        <p:nvSpPr>
          <p:cNvPr id="5" name="矩形 4"/>
          <p:cNvSpPr/>
          <p:nvPr/>
        </p:nvSpPr>
        <p:spPr>
          <a:xfrm>
            <a:off x="5478463" y="4724400"/>
            <a:ext cx="661988" cy="230188"/>
          </a:xfrm>
          <a:prstGeom prst="rect">
            <a:avLst/>
          </a:prstGeom>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PPT</a:t>
            </a:r>
            <a:r>
              <a:rPr kumimoji="0" lang="zh-CN" altLang="en-US"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模板下载：</a:t>
            </a:r>
            <a:r>
              <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www.1ppt.com/moban/     </a:t>
            </a:r>
            <a:r>
              <a:rPr kumimoji="0" lang="zh-CN" altLang="en-US"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行业</a:t>
            </a:r>
            <a:r>
              <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PPT</a:t>
            </a:r>
            <a:r>
              <a:rPr kumimoji="0" lang="zh-CN" altLang="en-US"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模板：</a:t>
            </a:r>
            <a:r>
              <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www.1ppt.com/hangye/ </a:t>
            </a:r>
            <a:endPar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节日</a:t>
            </a:r>
            <a:r>
              <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PPT</a:t>
            </a:r>
            <a:r>
              <a:rPr kumimoji="0" lang="zh-CN" altLang="en-US"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模板：</a:t>
            </a:r>
            <a:r>
              <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www.1ppt.com/jieri/           PPT</a:t>
            </a:r>
            <a:r>
              <a:rPr kumimoji="0" lang="zh-CN" altLang="en-US"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素材下载：</a:t>
            </a:r>
            <a:r>
              <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www.1ppt.com/sucai/</a:t>
            </a:r>
            <a:endPar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PPT</a:t>
            </a:r>
            <a:r>
              <a:rPr kumimoji="0" lang="zh-CN" altLang="en-US"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背景图片：</a:t>
            </a:r>
            <a:r>
              <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www.1ppt.com/beijing/      PPT</a:t>
            </a:r>
            <a:r>
              <a:rPr kumimoji="0" lang="zh-CN" altLang="en-US"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图表下载：</a:t>
            </a:r>
            <a:r>
              <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www.1ppt.com/tubiao/      </a:t>
            </a:r>
            <a:endPar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优秀</a:t>
            </a:r>
            <a:r>
              <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PPT</a:t>
            </a:r>
            <a:r>
              <a:rPr kumimoji="0" lang="zh-CN" altLang="en-US"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下载：</a:t>
            </a:r>
            <a:r>
              <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www.1ppt.com/xiazai/        PPT</a:t>
            </a:r>
            <a:r>
              <a:rPr kumimoji="0" lang="zh-CN" altLang="en-US"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教程： </a:t>
            </a:r>
            <a:r>
              <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www.1ppt.com/powerpoint/      </a:t>
            </a:r>
            <a:endPar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Word</a:t>
            </a:r>
            <a:r>
              <a:rPr kumimoji="0" lang="zh-CN" altLang="en-US"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教程： </a:t>
            </a:r>
            <a:r>
              <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www.1ppt.com/word/              Excel</a:t>
            </a:r>
            <a:r>
              <a:rPr kumimoji="0" lang="zh-CN" altLang="en-US"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教程：</a:t>
            </a:r>
            <a:r>
              <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www.1ppt.com/excel/  </a:t>
            </a:r>
            <a:endPar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资料下载：</a:t>
            </a:r>
            <a:r>
              <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www.1ppt.com/ziliao/                PPT</a:t>
            </a:r>
            <a:r>
              <a:rPr kumimoji="0" lang="zh-CN" altLang="en-US"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课件下载：</a:t>
            </a:r>
            <a:r>
              <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www.1ppt.com/kejian/ </a:t>
            </a:r>
            <a:endPar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范文下载：</a:t>
            </a:r>
            <a:r>
              <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www.1ppt.com/fanwen/             </a:t>
            </a:r>
            <a:r>
              <a:rPr kumimoji="0" lang="zh-CN" altLang="en-US"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试卷下载：</a:t>
            </a:r>
            <a:r>
              <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www.1ppt.com/shiti/  </a:t>
            </a:r>
            <a:endPar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教案下载：</a:t>
            </a:r>
            <a:r>
              <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www.1ppt.com/jiaoan/  </a:t>
            </a:r>
            <a:endPar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rPr>
              <a:t> </a:t>
            </a:r>
            <a:endParaRPr kumimoji="0" lang="zh-CN" altLang="en-US" sz="100" b="0" i="0" u="none" strike="noStrike" kern="0" cap="none" spc="0" normalizeH="0" baseline="0" noProof="0" dirty="0">
              <a:ln>
                <a:noFill/>
              </a:ln>
              <a:solidFill>
                <a:schemeClr val="bg1">
                  <a:lumMod val="9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UNIT_PLACING_PICTURE_USER_VIEWPORT" val="{&quot;height&quot;:4380,&quot;width&quot;:9930}"/>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COMMONDATA" val="eyJoZGlkIjoiZmE5YWM0ZDk0MTE3ZWYyMTM5YmQ3MGVmYzVkZGI2Y2IifQ=="/>
</p:tagLst>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Bodoni MT"/>
        <a:ea typeface="华康俪金黑W8"/>
        <a:cs typeface="华康俪金黑W8"/>
      </a:majorFont>
      <a:minorFont>
        <a:latin typeface="Bodoni MT"/>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Bodoni MT"/>
        <a:ea typeface="华康俪金黑W8"/>
        <a:cs typeface="华康俪金黑W8"/>
      </a:majorFont>
      <a:minorFont>
        <a:latin typeface="Bodoni MT"/>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Bodoni MT"/>
        <a:ea typeface="华康俪金黑W8"/>
        <a:cs typeface="华康俪金黑W8"/>
      </a:majorFont>
      <a:minorFont>
        <a:latin typeface="Bodoni MT"/>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Bodoni MT"/>
        <a:ea typeface="华康俪金黑W8"/>
        <a:cs typeface="华康俪金黑W8"/>
      </a:majorFont>
      <a:minorFont>
        <a:latin typeface="Bodoni MT"/>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Bodoni MT"/>
        <a:ea typeface="华康俪金黑W8"/>
        <a:cs typeface="华康俪金黑W8"/>
      </a:majorFont>
      <a:minorFont>
        <a:latin typeface="Bodoni MT"/>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10853</Words>
  <Application>WPS 演示</Application>
  <PresentationFormat>全屏显示(16:9)</PresentationFormat>
  <Paragraphs>2209</Paragraphs>
  <Slides>45</Slides>
  <Notes>1</Notes>
  <HiddenSlides>0</HiddenSlides>
  <MMClips>0</MMClips>
  <ScaleCrop>false</ScaleCrop>
  <HeadingPairs>
    <vt:vector size="8" baseType="variant">
      <vt:variant>
        <vt:lpstr>已用的字体</vt:lpstr>
      </vt:variant>
      <vt:variant>
        <vt:i4>13</vt:i4>
      </vt:variant>
      <vt:variant>
        <vt:lpstr>主题</vt:lpstr>
      </vt:variant>
      <vt:variant>
        <vt:i4>5</vt:i4>
      </vt:variant>
      <vt:variant>
        <vt:lpstr>嵌入 OLE 服务器</vt:lpstr>
      </vt:variant>
      <vt:variant>
        <vt:i4>1</vt:i4>
      </vt:variant>
      <vt:variant>
        <vt:lpstr>幻灯片标题</vt:lpstr>
      </vt:variant>
      <vt:variant>
        <vt:i4>45</vt:i4>
      </vt:variant>
    </vt:vector>
  </HeadingPairs>
  <TitlesOfParts>
    <vt:vector size="64" baseType="lpstr">
      <vt:lpstr>Arial</vt:lpstr>
      <vt:lpstr>宋体</vt:lpstr>
      <vt:lpstr>Wingdings</vt:lpstr>
      <vt:lpstr>Bodoni MT</vt:lpstr>
      <vt:lpstr>华康俪金黑W8</vt:lpstr>
      <vt:lpstr>黑体</vt:lpstr>
      <vt:lpstr>微软雅黑</vt:lpstr>
      <vt:lpstr>Impact</vt:lpstr>
      <vt:lpstr>汉仪菱心体简</vt:lpstr>
      <vt:lpstr>Arial Unicode MS</vt:lpstr>
      <vt:lpstr>等线</vt:lpstr>
      <vt:lpstr>Times New Roman</vt:lpstr>
      <vt:lpstr>Calibri</vt:lpstr>
      <vt:lpstr>Office 主题</vt:lpstr>
      <vt:lpstr>1_Office 主题</vt:lpstr>
      <vt:lpstr>2_Office 主题</vt:lpstr>
      <vt:lpstr>3_Office 主题</vt:lpstr>
      <vt:lpstr>4_Office 主题</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第一PPT模板网-WWW.1PPT.COM</dc:title>
  <dc:creator>第一PPT模板网-WWW.1PPT.COM</dc:creator>
  <cp:keywords>第一PPT模板网-WWW.1PPT.COM</cp:keywords>
  <dc:description>第一PPT模板网-WWW.1PPT.COM</dc:description>
  <dc:subject>第一PPT模板网-WWW.1PPT.COM</dc:subject>
  <cp:category>第一PPT模板网-WWW.1PPT.COM</cp:category>
  <cp:lastModifiedBy>SDUST</cp:lastModifiedBy>
  <cp:revision>91</cp:revision>
  <dcterms:created xsi:type="dcterms:W3CDTF">2013-10-16T22:40:00Z</dcterms:created>
  <dcterms:modified xsi:type="dcterms:W3CDTF">2023-09-28T11:59:13Z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2052-12.1.0.15374</vt:lpwstr>
  </property>
  <property fmtid="{D5CDD505-2E9C-101B-9397-08002B2CF9AE}" pid="3" name="ICV">
    <vt:lpwstr>6BD080607FA249EB902F4D98C9624764_12</vt:lpwstr>
  </property>
</Properties>
</file>