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  <p:sldMasterId id="2147483720" r:id="rId8"/>
    <p:sldMasterId id="2147483732" r:id="rId9"/>
    <p:sldMasterId id="2147483744" r:id="rId10"/>
    <p:sldMasterId id="2147483756" r:id="rId11"/>
    <p:sldMasterId id="2147483768" r:id="rId12"/>
    <p:sldMasterId id="2147483780" r:id="rId13"/>
    <p:sldMasterId id="2147483792" r:id="rId14"/>
  </p:sldMasterIdLst>
  <p:notesMasterIdLst>
    <p:notesMasterId r:id="rId32"/>
  </p:notesMasterIdLst>
  <p:handoutMasterIdLst>
    <p:handoutMasterId r:id="rId33"/>
  </p:handoutMasterIdLst>
  <p:sldIdLst>
    <p:sldId id="446" r:id="rId15"/>
    <p:sldId id="423" r:id="rId16"/>
    <p:sldId id="443" r:id="rId17"/>
    <p:sldId id="447" r:id="rId18"/>
    <p:sldId id="424" r:id="rId19"/>
    <p:sldId id="426" r:id="rId20"/>
    <p:sldId id="427" r:id="rId21"/>
    <p:sldId id="428" r:id="rId22"/>
    <p:sldId id="429" r:id="rId23"/>
    <p:sldId id="430" r:id="rId24"/>
    <p:sldId id="436" r:id="rId25"/>
    <p:sldId id="435" r:id="rId26"/>
    <p:sldId id="431" r:id="rId27"/>
    <p:sldId id="432" r:id="rId28"/>
    <p:sldId id="433" r:id="rId29"/>
    <p:sldId id="434" r:id="rId30"/>
    <p:sldId id="437" r:id="rId31"/>
  </p:sldIdLst>
  <p:sldSz cx="12192000" cy="6858000"/>
  <p:notesSz cx="6858000" cy="9144000"/>
  <p:custDataLst>
    <p:tags r:id="rId37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0" userDrawn="1">
          <p15:clr>
            <a:srgbClr val="A4A3A4"/>
          </p15:clr>
        </p15:guide>
        <p15:guide id="2" pos="38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1"/>
    <a:srgbClr val="E6AF00"/>
    <a:srgbClr val="F4B183"/>
    <a:srgbClr val="FABE00"/>
    <a:srgbClr val="FCFCFC"/>
    <a:srgbClr val="FFC713"/>
    <a:srgbClr val="FFC000"/>
    <a:srgbClr val="F19C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88"/>
    <p:restoredTop sz="94660"/>
  </p:normalViewPr>
  <p:slideViewPr>
    <p:cSldViewPr snapToGrid="0" showGuides="1">
      <p:cViewPr varScale="1">
        <p:scale>
          <a:sx n="120" d="100"/>
          <a:sy n="120" d="100"/>
        </p:scale>
        <p:origin x="-126" y="-180"/>
      </p:cViewPr>
      <p:guideLst>
        <p:guide orient="horz" pos="2120"/>
        <p:guide pos="381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7" Type="http://schemas.openxmlformats.org/officeDocument/2006/relationships/tags" Target="tags/tag9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handoutMaster" Target="handoutMasters/handoutMaster1.xml"/><Relationship Id="rId32" Type="http://schemas.openxmlformats.org/officeDocument/2006/relationships/notesMaster" Target="notesMasters/notesMaster1.xml"/><Relationship Id="rId31" Type="http://schemas.openxmlformats.org/officeDocument/2006/relationships/slide" Target="slides/slide17.xml"/><Relationship Id="rId30" Type="http://schemas.openxmlformats.org/officeDocument/2006/relationships/slide" Target="slides/slide1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5.xml"/><Relationship Id="rId28" Type="http://schemas.openxmlformats.org/officeDocument/2006/relationships/slide" Target="slides/slide14.xml"/><Relationship Id="rId27" Type="http://schemas.openxmlformats.org/officeDocument/2006/relationships/slide" Target="slides/slide13.xml"/><Relationship Id="rId26" Type="http://schemas.openxmlformats.org/officeDocument/2006/relationships/slide" Target="slides/slide12.xml"/><Relationship Id="rId25" Type="http://schemas.openxmlformats.org/officeDocument/2006/relationships/slide" Target="slides/slide11.xml"/><Relationship Id="rId24" Type="http://schemas.openxmlformats.org/officeDocument/2006/relationships/slide" Target="slides/slide10.xml"/><Relationship Id="rId23" Type="http://schemas.openxmlformats.org/officeDocument/2006/relationships/slide" Target="slides/slide9.xml"/><Relationship Id="rId22" Type="http://schemas.openxmlformats.org/officeDocument/2006/relationships/slide" Target="slides/slide8.xml"/><Relationship Id="rId21" Type="http://schemas.openxmlformats.org/officeDocument/2006/relationships/slide" Target="slides/slide7.xml"/><Relationship Id="rId20" Type="http://schemas.openxmlformats.org/officeDocument/2006/relationships/slide" Target="slides/slide6.xml"/><Relationship Id="rId2" Type="http://schemas.openxmlformats.org/officeDocument/2006/relationships/theme" Target="theme/theme1.xml"/><Relationship Id="rId19" Type="http://schemas.openxmlformats.org/officeDocument/2006/relationships/slide" Target="slides/slide5.xml"/><Relationship Id="rId18" Type="http://schemas.openxmlformats.org/officeDocument/2006/relationships/slide" Target="slides/slide4.xml"/><Relationship Id="rId17" Type="http://schemas.openxmlformats.org/officeDocument/2006/relationships/slide" Target="slides/slide3.xml"/><Relationship Id="rId16" Type="http://schemas.openxmlformats.org/officeDocument/2006/relationships/slide" Target="slides/slide2.xml"/><Relationship Id="rId15" Type="http://schemas.openxmlformats.org/officeDocument/2006/relationships/slide" Target="slides/slide1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buFont typeface="Arial" panose="020B0604020202020204" pitchFamily="34" charset="0"/>
              <a:buNone/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buFont typeface="Arial" panose="020B0604020202020204" pitchFamily="34" charset="0"/>
              <a:buNone/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buFont typeface="Arial" panose="020B0604020202020204" pitchFamily="34" charset="0"/>
              <a:buNone/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/>
          <a:p>
            <a:pPr lvl="0" algn="r" fontAlgn="base">
              <a:buChar char="•"/>
            </a:pPr>
            <a:fld id="{9A0DB2DC-4C9A-4742-B13C-FB6460FD3503}" type="slidenum">
              <a:rPr lang="zh-CN" altLang="en-US" sz="1200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3" Type="http://schemas.openxmlformats.org/officeDocument/2006/relationships/theme" Target="../theme/theme3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3" Type="http://schemas.openxmlformats.org/officeDocument/2006/relationships/theme" Target="../theme/theme4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3" Type="http://schemas.openxmlformats.org/officeDocument/2006/relationships/theme" Target="../theme/theme5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3" Type="http://schemas.openxmlformats.org/officeDocument/2006/relationships/theme" Target="../theme/theme6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9.xml"/><Relationship Id="rId2" Type="http://schemas.openxmlformats.org/officeDocument/2006/relationships/slideLayout" Target="../slideLayouts/slideLayout68.xml"/><Relationship Id="rId13" Type="http://schemas.openxmlformats.org/officeDocument/2006/relationships/theme" Target="../theme/theme7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6.xml"/><Relationship Id="rId1" Type="http://schemas.openxmlformats.org/officeDocument/2006/relationships/slideLayout" Target="../slideLayouts/slideLayout67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6.xml"/><Relationship Id="rId8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3.xml"/><Relationship Id="rId5" Type="http://schemas.openxmlformats.org/officeDocument/2006/relationships/slideLayout" Target="../slideLayouts/slideLayout82.xml"/><Relationship Id="rId4" Type="http://schemas.openxmlformats.org/officeDocument/2006/relationships/slideLayout" Target="../slideLayouts/slideLayout81.xml"/><Relationship Id="rId3" Type="http://schemas.openxmlformats.org/officeDocument/2006/relationships/slideLayout" Target="../slideLayouts/slideLayout80.xml"/><Relationship Id="rId2" Type="http://schemas.openxmlformats.org/officeDocument/2006/relationships/slideLayout" Target="../slideLayouts/slideLayout79.xml"/><Relationship Id="rId13" Type="http://schemas.openxmlformats.org/officeDocument/2006/relationships/theme" Target="../theme/theme8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87.xml"/><Relationship Id="rId1" Type="http://schemas.openxmlformats.org/officeDocument/2006/relationships/slideLayout" Target="../slideLayouts/slideLayout78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7.xml"/><Relationship Id="rId8" Type="http://schemas.openxmlformats.org/officeDocument/2006/relationships/slideLayout" Target="../slideLayouts/slideLayout96.xml"/><Relationship Id="rId7" Type="http://schemas.openxmlformats.org/officeDocument/2006/relationships/slideLayout" Target="../slideLayouts/slideLayout95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2.xml"/><Relationship Id="rId3" Type="http://schemas.openxmlformats.org/officeDocument/2006/relationships/slideLayout" Target="../slideLayouts/slideLayout91.xml"/><Relationship Id="rId2" Type="http://schemas.openxmlformats.org/officeDocument/2006/relationships/slideLayout" Target="../slideLayouts/slideLayout90.xml"/><Relationship Id="rId13" Type="http://schemas.openxmlformats.org/officeDocument/2006/relationships/theme" Target="../theme/theme9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8.xml"/><Relationship Id="rId1" Type="http://schemas.openxmlformats.org/officeDocument/2006/relationships/slideLayout" Target="../slideLayouts/slideLayout89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1.xml"/><Relationship Id="rId13" Type="http://schemas.openxmlformats.org/officeDocument/2006/relationships/theme" Target="../theme/theme10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09.xml"/><Relationship Id="rId1" Type="http://schemas.openxmlformats.org/officeDocument/2006/relationships/slideLayout" Target="../slideLayouts/slideLayout100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9.xml"/><Relationship Id="rId8" Type="http://schemas.openxmlformats.org/officeDocument/2006/relationships/slideLayout" Target="../slideLayouts/slideLayout118.xml"/><Relationship Id="rId7" Type="http://schemas.openxmlformats.org/officeDocument/2006/relationships/slideLayout" Target="../slideLayouts/slideLayout117.xml"/><Relationship Id="rId6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14.xml"/><Relationship Id="rId3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12.xml"/><Relationship Id="rId13" Type="http://schemas.openxmlformats.org/officeDocument/2006/relationships/theme" Target="../theme/theme1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21.xml"/><Relationship Id="rId10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11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0.xml"/><Relationship Id="rId8" Type="http://schemas.openxmlformats.org/officeDocument/2006/relationships/slideLayout" Target="../slideLayouts/slideLayout129.xml"/><Relationship Id="rId7" Type="http://schemas.openxmlformats.org/officeDocument/2006/relationships/slideLayout" Target="../slideLayouts/slideLayout128.xml"/><Relationship Id="rId6" Type="http://schemas.openxmlformats.org/officeDocument/2006/relationships/slideLayout" Target="../slideLayouts/slideLayout127.xml"/><Relationship Id="rId5" Type="http://schemas.openxmlformats.org/officeDocument/2006/relationships/slideLayout" Target="../slideLayouts/slideLayout126.xml"/><Relationship Id="rId4" Type="http://schemas.openxmlformats.org/officeDocument/2006/relationships/slideLayout" Target="../slideLayouts/slideLayout125.xml"/><Relationship Id="rId3" Type="http://schemas.openxmlformats.org/officeDocument/2006/relationships/slideLayout" Target="../slideLayouts/slideLayout124.xml"/><Relationship Id="rId2" Type="http://schemas.openxmlformats.org/officeDocument/2006/relationships/slideLayout" Target="../slideLayouts/slideLayout123.xml"/><Relationship Id="rId13" Type="http://schemas.openxmlformats.org/officeDocument/2006/relationships/theme" Target="../theme/theme1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32.xml"/><Relationship Id="rId10" Type="http://schemas.openxmlformats.org/officeDocument/2006/relationships/slideLayout" Target="../slideLayouts/slideLayout131.xml"/><Relationship Id="rId1" Type="http://schemas.openxmlformats.org/officeDocument/2006/relationships/slideLayout" Target="../slideLayouts/slideLayout122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1.xml"/><Relationship Id="rId8" Type="http://schemas.openxmlformats.org/officeDocument/2006/relationships/slideLayout" Target="../slideLayouts/slideLayout140.xml"/><Relationship Id="rId7" Type="http://schemas.openxmlformats.org/officeDocument/2006/relationships/slideLayout" Target="../slideLayouts/slideLayout139.xml"/><Relationship Id="rId6" Type="http://schemas.openxmlformats.org/officeDocument/2006/relationships/slideLayout" Target="../slideLayouts/slideLayout138.xml"/><Relationship Id="rId5" Type="http://schemas.openxmlformats.org/officeDocument/2006/relationships/slideLayout" Target="../slideLayouts/slideLayout137.xml"/><Relationship Id="rId4" Type="http://schemas.openxmlformats.org/officeDocument/2006/relationships/slideLayout" Target="../slideLayouts/slideLayout136.xml"/><Relationship Id="rId3" Type="http://schemas.openxmlformats.org/officeDocument/2006/relationships/slideLayout" Target="../slideLayouts/slideLayout135.xml"/><Relationship Id="rId2" Type="http://schemas.openxmlformats.org/officeDocument/2006/relationships/slideLayout" Target="../slideLayouts/slideLayout134.xml"/><Relationship Id="rId13" Type="http://schemas.openxmlformats.org/officeDocument/2006/relationships/theme" Target="../theme/theme13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43.xml"/><Relationship Id="rId10" Type="http://schemas.openxmlformats.org/officeDocument/2006/relationships/slideLayout" Target="../slideLayouts/slideLayout142.xml"/><Relationship Id="rId1" Type="http://schemas.openxmlformats.org/officeDocument/2006/relationships/slideLayout" Target="../slideLayouts/slideLayout1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6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2">
              <a:alphaModFix amt="5000"/>
            </a:blip>
            <a:srcRect/>
            <a:stretch>
              <a:fillRect/>
            </a:stretch>
          </a:blipFill>
          <a:ln w="12700">
            <a:solidFill>
              <a:srgbClr val="41719C"/>
            </a:solidFill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矩形 6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2">
              <a:alphaModFix amt="5000"/>
            </a:blip>
            <a:srcRect/>
            <a:stretch>
              <a:fillRect/>
            </a:stretch>
          </a:blipFill>
          <a:ln w="12700">
            <a:solidFill>
              <a:srgbClr val="41719C"/>
            </a:solidFill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1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3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6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2">
              <a:alphaModFix amt="5000"/>
            </a:blip>
            <a:srcRect/>
            <a:stretch>
              <a:fillRect/>
            </a:stretch>
          </a:blipFill>
          <a:ln w="12700">
            <a:solidFill>
              <a:srgbClr val="41719C"/>
            </a:solidFill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6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2">
              <a:alphaModFix amt="5000"/>
            </a:blip>
            <a:srcRect/>
            <a:stretch>
              <a:fillRect/>
            </a:stretch>
          </a:blipFill>
          <a:ln w="12700">
            <a:solidFill>
              <a:srgbClr val="41719C"/>
            </a:solidFill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1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6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2">
              <a:alphaModFix amt="5000"/>
            </a:blip>
            <a:srcRect/>
            <a:stretch>
              <a:fillRect/>
            </a:stretch>
          </a:blipFill>
          <a:ln w="12700">
            <a:solidFill>
              <a:srgbClr val="41719C"/>
            </a:solidFill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3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4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5" name="灯片编号占位符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矩形 6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2">
              <a:alphaModFix amt="5000"/>
            </a:blip>
            <a:srcRect/>
            <a:stretch>
              <a:fillRect/>
            </a:stretch>
          </a:blipFill>
          <a:ln w="12700">
            <a:solidFill>
              <a:srgbClr val="41719C"/>
            </a:solidFill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7" name="日期占位符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8" name="页脚占位符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9" name="灯片编号占位符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6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2">
              <a:alphaModFix amt="5000"/>
            </a:blip>
            <a:srcRect/>
            <a:stretch>
              <a:fillRect/>
            </a:stretch>
          </a:blipFill>
          <a:ln w="12700">
            <a:solidFill>
              <a:srgbClr val="41719C"/>
            </a:solidFill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1" name="日期占位符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2" name="页脚占位符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3" name="灯片编号占位符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矩形 6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2">
              <a:alphaModFix amt="5000"/>
            </a:blip>
            <a:srcRect/>
            <a:stretch>
              <a:fillRect/>
            </a:stretch>
          </a:blipFill>
          <a:ln w="12700">
            <a:solidFill>
              <a:srgbClr val="41719C"/>
            </a:solidFill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5" name="日期占位符 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6" name="页脚占位符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7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矩形 6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2">
              <a:alphaModFix amt="5000"/>
            </a:blip>
            <a:srcRect/>
            <a:stretch>
              <a:fillRect/>
            </a:stretch>
          </a:blipFill>
          <a:ln w="12700">
            <a:solidFill>
              <a:srgbClr val="41719C"/>
            </a:solidFill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19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0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1" name="灯片编号占位符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矩形 6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2">
              <a:alphaModFix amt="5000"/>
            </a:blip>
            <a:srcRect/>
            <a:stretch>
              <a:fillRect/>
            </a:stretch>
          </a:blipFill>
          <a:ln w="12700">
            <a:solidFill>
              <a:srgbClr val="41719C"/>
            </a:solidFill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3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4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5" name="灯片编号占位符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矩形 6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2">
              <a:alphaModFix amt="5000"/>
            </a:blip>
            <a:srcRect/>
            <a:stretch>
              <a:fillRect/>
            </a:stretch>
          </a:blipFill>
          <a:ln w="12700">
            <a:solidFill>
              <a:srgbClr val="41719C"/>
            </a:solidFill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7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8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9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矩形 6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2">
              <a:alphaModFix amt="5000"/>
            </a:blip>
            <a:srcRect/>
            <a:stretch>
              <a:fillRect/>
            </a:stretch>
          </a:blipFill>
          <a:ln w="12700">
            <a:solidFill>
              <a:srgbClr val="41719C"/>
            </a:solidFill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1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2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3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6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2">
              <a:alphaModFix amt="5000"/>
            </a:blip>
            <a:srcRect/>
            <a:stretch>
              <a:fillRect/>
            </a:stretch>
          </a:blipFill>
          <a:ln w="12700">
            <a:solidFill>
              <a:srgbClr val="41719C"/>
            </a:solidFill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3.png"/><Relationship Id="rId2" Type="http://schemas.openxmlformats.org/officeDocument/2006/relationships/tags" Target="../tags/tag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9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9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9.xml"/><Relationship Id="rId2" Type="http://schemas.openxmlformats.org/officeDocument/2006/relationships/tags" Target="../tags/tag8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9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9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9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5"/>
          <p:cNvGrpSpPr/>
          <p:nvPr/>
        </p:nvGrpSpPr>
        <p:grpSpPr>
          <a:xfrm>
            <a:off x="0" y="0"/>
            <a:ext cx="1389063" cy="1130300"/>
            <a:chOff x="0" y="0"/>
            <a:chExt cx="1471173" cy="1657869"/>
          </a:xfrm>
        </p:grpSpPr>
        <p:sp>
          <p:nvSpPr>
            <p:cNvPr id="15363" name="矩形 10"/>
            <p:cNvSpPr/>
            <p:nvPr/>
          </p:nvSpPr>
          <p:spPr>
            <a:xfrm>
              <a:off x="1" y="658762"/>
              <a:ext cx="1470409" cy="999107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542010" y="7"/>
                </a:cxn>
                <a:cxn ang="0">
                  <a:pos x="538666" y="84687"/>
                </a:cxn>
                <a:cxn ang="0">
                  <a:pos x="267883" y="133995"/>
                </a:cxn>
                <a:cxn ang="0">
                  <a:pos x="444" y="84687"/>
                </a:cxn>
                <a:cxn ang="0">
                  <a:pos x="0" y="7"/>
                </a:cxn>
              </a:cxnLst>
              <a:rect l="0" t="0" r="0" b="0"/>
              <a:pathLst>
                <a:path w="1665778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lnTo>
                    <a:pt x="1655504" y="811720"/>
                  </a:ln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4" name="矩形 10"/>
            <p:cNvSpPr/>
            <p:nvPr/>
          </p:nvSpPr>
          <p:spPr>
            <a:xfrm>
              <a:off x="0" y="0"/>
              <a:ext cx="1471173" cy="115831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542008" y="24"/>
                </a:cxn>
                <a:cxn ang="0">
                  <a:pos x="542289" y="316138"/>
                </a:cxn>
                <a:cxn ang="0">
                  <a:pos x="267882" y="507016"/>
                </a:cxn>
                <a:cxn ang="0">
                  <a:pos x="444" y="320444"/>
                </a:cxn>
                <a:cxn ang="0">
                  <a:pos x="0" y="24"/>
                </a:cxn>
              </a:cxnLst>
              <a:rect l="0" t="0" r="0" b="0"/>
              <a:pathLst>
                <a:path w="1666644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cubicBezTo>
                    <a:pt x="1666067" y="266981"/>
                    <a:pt x="1666355" y="533899"/>
                    <a:pt x="1666644" y="800818"/>
                  </a:cubicBez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365" name="文本框 8"/>
          <p:cNvSpPr txBox="1"/>
          <p:nvPr/>
        </p:nvSpPr>
        <p:spPr>
          <a:xfrm>
            <a:off x="166688" y="0"/>
            <a:ext cx="1173162" cy="829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4.1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366" name="Group 12"/>
          <p:cNvGrpSpPr/>
          <p:nvPr/>
        </p:nvGrpSpPr>
        <p:grpSpPr>
          <a:xfrm rot="10800000">
            <a:off x="10820400" y="5591175"/>
            <a:ext cx="1371600" cy="1266825"/>
            <a:chOff x="0" y="0"/>
            <a:chExt cx="1372279" cy="1266092"/>
          </a:xfrm>
        </p:grpSpPr>
        <p:sp>
          <p:nvSpPr>
            <p:cNvPr id="15367" name="任意多边形 13"/>
            <p:cNvSpPr/>
            <p:nvPr/>
          </p:nvSpPr>
          <p:spPr>
            <a:xfrm>
              <a:off x="1" y="1"/>
              <a:ext cx="1181686" cy="10902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68923" y="0"/>
                </a:cxn>
                <a:cxn ang="0">
                  <a:pos x="1181686" y="126610"/>
                </a:cxn>
                <a:cxn ang="0">
                  <a:pos x="218049" y="1090247"/>
                </a:cxn>
                <a:cxn ang="0">
                  <a:pos x="23843" y="1070669"/>
                </a:cxn>
                <a:cxn ang="0">
                  <a:pos x="0" y="1063268"/>
                </a:cxn>
                <a:cxn ang="0">
                  <a:pos x="0" y="0"/>
                </a:cxn>
              </a:cxnLst>
              <a:rect l="0" t="0" r="0" b="0"/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83919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8" name="任意多边形 14"/>
            <p:cNvSpPr/>
            <p:nvPr/>
          </p:nvSpPr>
          <p:spPr>
            <a:xfrm>
              <a:off x="0" y="0"/>
              <a:ext cx="1372279" cy="12660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90021" y="0"/>
                </a:cxn>
                <a:cxn ang="0">
                  <a:pos x="4539048" y="486330"/>
                </a:cxn>
                <a:cxn ang="0">
                  <a:pos x="837561" y="4187815"/>
                </a:cxn>
                <a:cxn ang="0">
                  <a:pos x="91585" y="4112617"/>
                </a:cxn>
                <a:cxn ang="0">
                  <a:pos x="0" y="4084186"/>
                </a:cxn>
                <a:cxn ang="0">
                  <a:pos x="0" y="0"/>
                </a:cxn>
              </a:cxnLst>
              <a:rect l="0" t="0" r="0" b="0"/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65096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369" name="文本框 16"/>
          <p:cNvSpPr txBox="1"/>
          <p:nvPr/>
        </p:nvSpPr>
        <p:spPr>
          <a:xfrm>
            <a:off x="235585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70" name="文本框 17"/>
          <p:cNvSpPr txBox="1"/>
          <p:nvPr/>
        </p:nvSpPr>
        <p:spPr>
          <a:xfrm>
            <a:off x="3913188" y="3175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71" name="文本框 18"/>
          <p:cNvSpPr txBox="1"/>
          <p:nvPr/>
        </p:nvSpPr>
        <p:spPr>
          <a:xfrm>
            <a:off x="547370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72" name="矩形 9"/>
          <p:cNvSpPr/>
          <p:nvPr/>
        </p:nvSpPr>
        <p:spPr>
          <a:xfrm>
            <a:off x="784225" y="1336675"/>
            <a:ext cx="9680575" cy="4702175"/>
          </a:xfrm>
          <a:custGeom>
            <a:avLst/>
            <a:gdLst/>
            <a:ahLst/>
            <a:cxnLst>
              <a:cxn ang="0">
                <a:pos x="0" y="379174"/>
              </a:cxn>
              <a:cxn ang="0">
                <a:pos x="1019462" y="0"/>
              </a:cxn>
              <a:cxn ang="0">
                <a:pos x="9643980" y="0"/>
              </a:cxn>
              <a:cxn ang="0">
                <a:pos x="9643980" y="3624048"/>
              </a:cxn>
              <a:cxn ang="0">
                <a:pos x="13072" y="3624048"/>
              </a:cxn>
              <a:cxn ang="0">
                <a:pos x="0" y="379174"/>
              </a:cxn>
            </a:cxnLst>
            <a:rect l="0" t="0" r="0" b="0"/>
            <a:pathLst>
              <a:path w="9638713" h="3620718">
                <a:moveTo>
                  <a:pt x="0" y="378823"/>
                </a:moveTo>
                <a:lnTo>
                  <a:pt x="1018904" y="0"/>
                </a:lnTo>
                <a:lnTo>
                  <a:pt x="9638713" y="0"/>
                </a:lnTo>
                <a:lnTo>
                  <a:pt x="9638713" y="3620718"/>
                </a:lnTo>
                <a:lnTo>
                  <a:pt x="13063" y="3620718"/>
                </a:lnTo>
                <a:cubicBezTo>
                  <a:pt x="8709" y="2540086"/>
                  <a:pt x="4354" y="1459455"/>
                  <a:pt x="0" y="378823"/>
                </a:cubicBezTo>
                <a:close/>
              </a:path>
            </a:pathLst>
          </a:custGeom>
          <a:solidFill>
            <a:srgbClr val="F4B183">
              <a:alpha val="70193"/>
            </a:srgb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73" name="等腰三角形 21"/>
          <p:cNvSpPr/>
          <p:nvPr/>
        </p:nvSpPr>
        <p:spPr>
          <a:xfrm rot="9285132">
            <a:off x="833438" y="1560513"/>
            <a:ext cx="1162050" cy="488950"/>
          </a:xfrm>
          <a:prstGeom prst="triangle">
            <a:avLst>
              <a:gd name="adj" fmla="val 100000"/>
            </a:avLst>
          </a:prstGeom>
          <a:solidFill>
            <a:srgbClr val="F19C63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5374" name="文本框 18"/>
          <p:cNvSpPr txBox="1"/>
          <p:nvPr/>
        </p:nvSpPr>
        <p:spPr>
          <a:xfrm>
            <a:off x="6904038" y="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357313" y="0"/>
            <a:ext cx="10834688" cy="8747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76" name="TextBox 22"/>
          <p:cNvSpPr txBox="1"/>
          <p:nvPr/>
        </p:nvSpPr>
        <p:spPr>
          <a:xfrm>
            <a:off x="1317625" y="0"/>
            <a:ext cx="5205413" cy="11068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NVIC中断管理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pic>
        <p:nvPicPr>
          <p:cNvPr id="100" name="图片 99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823720" y="3650615"/>
            <a:ext cx="7769860" cy="21818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022985" y="1786890"/>
            <a:ext cx="9371330" cy="18637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400" dirty="0">
                <a:latin typeface="Arial" panose="020B0604020202020204" pitchFamily="34" charset="0"/>
              </a:rPr>
              <a:t>       </a:t>
            </a:r>
            <a:r>
              <a:rPr lang="zh-CN" altLang="en-US" sz="2400" dirty="0">
                <a:latin typeface="Arial" panose="020B0604020202020204" pitchFamily="34" charset="0"/>
              </a:rPr>
              <a:t>每当发生硬件或软件异常时，特定外设或外部/内部输入都需要对该中断作出响应，作为响应，会发生函数调用，并以称为服务例程(SR)或中断服务例程(ISR) 的一段代码的形式执行所需的响应。在服务中的那组指令之后，执行例程，控制转移回发生中断的主程序。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5"/>
          <p:cNvGrpSpPr/>
          <p:nvPr/>
        </p:nvGrpSpPr>
        <p:grpSpPr>
          <a:xfrm>
            <a:off x="0" y="0"/>
            <a:ext cx="1389063" cy="1130300"/>
            <a:chOff x="0" y="0"/>
            <a:chExt cx="1471173" cy="1657869"/>
          </a:xfrm>
        </p:grpSpPr>
        <p:sp>
          <p:nvSpPr>
            <p:cNvPr id="15363" name="矩形 10"/>
            <p:cNvSpPr/>
            <p:nvPr/>
          </p:nvSpPr>
          <p:spPr>
            <a:xfrm>
              <a:off x="1" y="658762"/>
              <a:ext cx="1470409" cy="999107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542010" y="7"/>
                </a:cxn>
                <a:cxn ang="0">
                  <a:pos x="538666" y="84687"/>
                </a:cxn>
                <a:cxn ang="0">
                  <a:pos x="267883" y="133995"/>
                </a:cxn>
                <a:cxn ang="0">
                  <a:pos x="444" y="84687"/>
                </a:cxn>
                <a:cxn ang="0">
                  <a:pos x="0" y="7"/>
                </a:cxn>
              </a:cxnLst>
              <a:rect l="0" t="0" r="0" b="0"/>
              <a:pathLst>
                <a:path w="1665778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lnTo>
                    <a:pt x="1655504" y="811720"/>
                  </a:ln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4" name="矩形 10"/>
            <p:cNvSpPr/>
            <p:nvPr/>
          </p:nvSpPr>
          <p:spPr>
            <a:xfrm>
              <a:off x="0" y="0"/>
              <a:ext cx="1471173" cy="115831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542008" y="24"/>
                </a:cxn>
                <a:cxn ang="0">
                  <a:pos x="542289" y="316138"/>
                </a:cxn>
                <a:cxn ang="0">
                  <a:pos x="267882" y="507016"/>
                </a:cxn>
                <a:cxn ang="0">
                  <a:pos x="444" y="320444"/>
                </a:cxn>
                <a:cxn ang="0">
                  <a:pos x="0" y="24"/>
                </a:cxn>
              </a:cxnLst>
              <a:rect l="0" t="0" r="0" b="0"/>
              <a:pathLst>
                <a:path w="1666644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cubicBezTo>
                    <a:pt x="1666067" y="266981"/>
                    <a:pt x="1666355" y="533899"/>
                    <a:pt x="1666644" y="800818"/>
                  </a:cubicBez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365" name="文本框 8"/>
          <p:cNvSpPr txBox="1"/>
          <p:nvPr/>
        </p:nvSpPr>
        <p:spPr>
          <a:xfrm>
            <a:off x="166688" y="0"/>
            <a:ext cx="1173162" cy="829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4.1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366" name="Group 12"/>
          <p:cNvGrpSpPr/>
          <p:nvPr/>
        </p:nvGrpSpPr>
        <p:grpSpPr>
          <a:xfrm rot="10800000">
            <a:off x="10820400" y="5591175"/>
            <a:ext cx="1371600" cy="1266825"/>
            <a:chOff x="0" y="0"/>
            <a:chExt cx="1372279" cy="1266092"/>
          </a:xfrm>
        </p:grpSpPr>
        <p:sp>
          <p:nvSpPr>
            <p:cNvPr id="15367" name="任意多边形 13"/>
            <p:cNvSpPr/>
            <p:nvPr/>
          </p:nvSpPr>
          <p:spPr>
            <a:xfrm>
              <a:off x="1" y="1"/>
              <a:ext cx="1181686" cy="10902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68923" y="0"/>
                </a:cxn>
                <a:cxn ang="0">
                  <a:pos x="1181686" y="126610"/>
                </a:cxn>
                <a:cxn ang="0">
                  <a:pos x="218049" y="1090247"/>
                </a:cxn>
                <a:cxn ang="0">
                  <a:pos x="23843" y="1070669"/>
                </a:cxn>
                <a:cxn ang="0">
                  <a:pos x="0" y="1063268"/>
                </a:cxn>
                <a:cxn ang="0">
                  <a:pos x="0" y="0"/>
                </a:cxn>
              </a:cxnLst>
              <a:rect l="0" t="0" r="0" b="0"/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83919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8" name="任意多边形 14"/>
            <p:cNvSpPr/>
            <p:nvPr/>
          </p:nvSpPr>
          <p:spPr>
            <a:xfrm>
              <a:off x="0" y="0"/>
              <a:ext cx="1372279" cy="12660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90021" y="0"/>
                </a:cxn>
                <a:cxn ang="0">
                  <a:pos x="4539048" y="486330"/>
                </a:cxn>
                <a:cxn ang="0">
                  <a:pos x="837561" y="4187815"/>
                </a:cxn>
                <a:cxn ang="0">
                  <a:pos x="91585" y="4112617"/>
                </a:cxn>
                <a:cxn ang="0">
                  <a:pos x="0" y="4084186"/>
                </a:cxn>
                <a:cxn ang="0">
                  <a:pos x="0" y="0"/>
                </a:cxn>
              </a:cxnLst>
              <a:rect l="0" t="0" r="0" b="0"/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65096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369" name="文本框 16"/>
          <p:cNvSpPr txBox="1"/>
          <p:nvPr/>
        </p:nvSpPr>
        <p:spPr>
          <a:xfrm>
            <a:off x="235585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70" name="文本框 17"/>
          <p:cNvSpPr txBox="1"/>
          <p:nvPr/>
        </p:nvSpPr>
        <p:spPr>
          <a:xfrm>
            <a:off x="3913188" y="3175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71" name="文本框 18"/>
          <p:cNvSpPr txBox="1"/>
          <p:nvPr/>
        </p:nvSpPr>
        <p:spPr>
          <a:xfrm>
            <a:off x="547370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72" name="矩形 9"/>
          <p:cNvSpPr/>
          <p:nvPr/>
        </p:nvSpPr>
        <p:spPr>
          <a:xfrm>
            <a:off x="784225" y="1336675"/>
            <a:ext cx="9680575" cy="4702175"/>
          </a:xfrm>
          <a:custGeom>
            <a:avLst/>
            <a:gdLst/>
            <a:ahLst/>
            <a:cxnLst>
              <a:cxn ang="0">
                <a:pos x="0" y="379174"/>
              </a:cxn>
              <a:cxn ang="0">
                <a:pos x="1019462" y="0"/>
              </a:cxn>
              <a:cxn ang="0">
                <a:pos x="9643980" y="0"/>
              </a:cxn>
              <a:cxn ang="0">
                <a:pos x="9643980" y="3624048"/>
              </a:cxn>
              <a:cxn ang="0">
                <a:pos x="13072" y="3624048"/>
              </a:cxn>
              <a:cxn ang="0">
                <a:pos x="0" y="379174"/>
              </a:cxn>
            </a:cxnLst>
            <a:rect l="0" t="0" r="0" b="0"/>
            <a:pathLst>
              <a:path w="9638713" h="3620718">
                <a:moveTo>
                  <a:pt x="0" y="378823"/>
                </a:moveTo>
                <a:lnTo>
                  <a:pt x="1018904" y="0"/>
                </a:lnTo>
                <a:lnTo>
                  <a:pt x="9638713" y="0"/>
                </a:lnTo>
                <a:lnTo>
                  <a:pt x="9638713" y="3620718"/>
                </a:lnTo>
                <a:lnTo>
                  <a:pt x="13063" y="3620718"/>
                </a:lnTo>
                <a:cubicBezTo>
                  <a:pt x="8709" y="2540086"/>
                  <a:pt x="4354" y="1459455"/>
                  <a:pt x="0" y="378823"/>
                </a:cubicBezTo>
                <a:close/>
              </a:path>
            </a:pathLst>
          </a:custGeom>
          <a:solidFill>
            <a:srgbClr val="F4B183">
              <a:alpha val="70193"/>
            </a:srgb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73" name="等腰三角形 21"/>
          <p:cNvSpPr/>
          <p:nvPr/>
        </p:nvSpPr>
        <p:spPr>
          <a:xfrm rot="9285132">
            <a:off x="833438" y="1560513"/>
            <a:ext cx="1162050" cy="488950"/>
          </a:xfrm>
          <a:prstGeom prst="triangle">
            <a:avLst>
              <a:gd name="adj" fmla="val 100000"/>
            </a:avLst>
          </a:prstGeom>
          <a:solidFill>
            <a:srgbClr val="F19C63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5374" name="文本框 18"/>
          <p:cNvSpPr txBox="1"/>
          <p:nvPr/>
        </p:nvSpPr>
        <p:spPr>
          <a:xfrm>
            <a:off x="6904038" y="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357313" y="0"/>
            <a:ext cx="10834688" cy="8747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76" name="TextBox 22"/>
          <p:cNvSpPr txBox="1"/>
          <p:nvPr/>
        </p:nvSpPr>
        <p:spPr>
          <a:xfrm>
            <a:off x="1317625" y="0"/>
            <a:ext cx="5205413" cy="11068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NVIC中断管理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7172" name="TextBox 2"/>
          <p:cNvSpPr txBox="1"/>
          <p:nvPr/>
        </p:nvSpPr>
        <p:spPr>
          <a:xfrm>
            <a:off x="1700530" y="1336040"/>
            <a:ext cx="8719185" cy="47447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342900" indent="-342900">
              <a:lnSpc>
                <a:spcPct val="150000"/>
              </a:lnSpc>
              <a:buClrTx/>
              <a:buFont typeface="Wingdings" panose="05000000000000000000" pitchFamily="2" charset="2"/>
              <a:buChar char="u"/>
            </a:pPr>
            <a:r>
              <a:rPr lang="en-US" altLang="zh-CN" sz="2400" b="0" strike="noStrike" noProof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CM3</a:t>
            </a:r>
            <a:r>
              <a:rPr lang="zh-CN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内核支持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256</a:t>
            </a:r>
            <a:r>
              <a:rPr lang="zh-CN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个中断，其中包含了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16</a:t>
            </a:r>
            <a:r>
              <a:rPr lang="zh-CN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个内核中断和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240</a:t>
            </a:r>
            <a:r>
              <a:rPr lang="zh-CN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个外部中断，并且具有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256</a:t>
            </a:r>
            <a:r>
              <a:rPr lang="zh-CN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级的可编程中断设置。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ClrTx/>
              <a:buFont typeface="Wingdings" panose="05000000000000000000" pitchFamily="2" charset="2"/>
              <a:buChar char="u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STM32</a:t>
            </a:r>
            <a:r>
              <a:rPr lang="zh-CN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并没有使用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CM3</a:t>
            </a:r>
            <a:r>
              <a:rPr lang="zh-CN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内核的全部东西，而是只用了它的一部分。</a:t>
            </a:r>
            <a:endParaRPr lang="en-US" altLang="zh-CN" sz="2400" b="1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ClrTx/>
              <a:buFont typeface="Wingdings" panose="05000000000000000000" pitchFamily="2" charset="2"/>
              <a:buChar char="u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STM32</a:t>
            </a:r>
            <a:r>
              <a:rPr lang="zh-CN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有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84</a:t>
            </a:r>
            <a:r>
              <a:rPr lang="zh-CN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个中断，包括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16</a:t>
            </a:r>
            <a:r>
              <a:rPr lang="zh-CN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个内核中断和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68</a:t>
            </a:r>
            <a:r>
              <a:rPr lang="zh-CN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个可屏蔽中断，具有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16</a:t>
            </a:r>
            <a:r>
              <a:rPr lang="zh-CN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级可编程的中断优先级。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ClrTx/>
              <a:buFont typeface="Wingdings" panose="05000000000000000000" pitchFamily="2" charset="2"/>
              <a:buChar char="u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STM32F103</a:t>
            </a:r>
            <a:r>
              <a:rPr lang="zh-CN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系列上面，又只有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60</a:t>
            </a:r>
            <a:r>
              <a:rPr lang="zh-CN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个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可屏蔽中断</a:t>
            </a:r>
            <a:r>
              <a:rPr lang="zh-CN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（在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107</a:t>
            </a:r>
            <a:r>
              <a:rPr lang="zh-CN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系列才有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68</a:t>
            </a:r>
            <a:r>
              <a:rPr lang="zh-CN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个）</a:t>
            </a:r>
            <a:endParaRPr lang="zh-CN" altLang="zh-CN" sz="2400" strike="noStrike" noProof="1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5"/>
          <p:cNvGrpSpPr/>
          <p:nvPr/>
        </p:nvGrpSpPr>
        <p:grpSpPr>
          <a:xfrm>
            <a:off x="0" y="0"/>
            <a:ext cx="1389063" cy="1130300"/>
            <a:chOff x="0" y="0"/>
            <a:chExt cx="1471173" cy="1657869"/>
          </a:xfrm>
        </p:grpSpPr>
        <p:sp>
          <p:nvSpPr>
            <p:cNvPr id="15363" name="矩形 10"/>
            <p:cNvSpPr/>
            <p:nvPr/>
          </p:nvSpPr>
          <p:spPr>
            <a:xfrm>
              <a:off x="1" y="658762"/>
              <a:ext cx="1470409" cy="999107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542010" y="7"/>
                </a:cxn>
                <a:cxn ang="0">
                  <a:pos x="538666" y="84687"/>
                </a:cxn>
                <a:cxn ang="0">
                  <a:pos x="267883" y="133995"/>
                </a:cxn>
                <a:cxn ang="0">
                  <a:pos x="444" y="84687"/>
                </a:cxn>
                <a:cxn ang="0">
                  <a:pos x="0" y="7"/>
                </a:cxn>
              </a:cxnLst>
              <a:rect l="0" t="0" r="0" b="0"/>
              <a:pathLst>
                <a:path w="1665778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lnTo>
                    <a:pt x="1655504" y="811720"/>
                  </a:ln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4" name="矩形 10"/>
            <p:cNvSpPr/>
            <p:nvPr/>
          </p:nvSpPr>
          <p:spPr>
            <a:xfrm>
              <a:off x="0" y="0"/>
              <a:ext cx="1471173" cy="115831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542008" y="24"/>
                </a:cxn>
                <a:cxn ang="0">
                  <a:pos x="542289" y="316138"/>
                </a:cxn>
                <a:cxn ang="0">
                  <a:pos x="267882" y="507016"/>
                </a:cxn>
                <a:cxn ang="0">
                  <a:pos x="444" y="320444"/>
                </a:cxn>
                <a:cxn ang="0">
                  <a:pos x="0" y="24"/>
                </a:cxn>
              </a:cxnLst>
              <a:rect l="0" t="0" r="0" b="0"/>
              <a:pathLst>
                <a:path w="1666644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cubicBezTo>
                    <a:pt x="1666067" y="266981"/>
                    <a:pt x="1666355" y="533899"/>
                    <a:pt x="1666644" y="800818"/>
                  </a:cubicBez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365" name="文本框 8"/>
          <p:cNvSpPr txBox="1"/>
          <p:nvPr/>
        </p:nvSpPr>
        <p:spPr>
          <a:xfrm>
            <a:off x="166688" y="0"/>
            <a:ext cx="1173162" cy="829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4.1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366" name="Group 12"/>
          <p:cNvGrpSpPr/>
          <p:nvPr/>
        </p:nvGrpSpPr>
        <p:grpSpPr>
          <a:xfrm rot="10800000">
            <a:off x="10820400" y="5591175"/>
            <a:ext cx="1371600" cy="1266825"/>
            <a:chOff x="0" y="0"/>
            <a:chExt cx="1372279" cy="1266092"/>
          </a:xfrm>
        </p:grpSpPr>
        <p:sp>
          <p:nvSpPr>
            <p:cNvPr id="15367" name="任意多边形 13"/>
            <p:cNvSpPr/>
            <p:nvPr/>
          </p:nvSpPr>
          <p:spPr>
            <a:xfrm>
              <a:off x="1" y="1"/>
              <a:ext cx="1181686" cy="10902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68923" y="0"/>
                </a:cxn>
                <a:cxn ang="0">
                  <a:pos x="1181686" y="126610"/>
                </a:cxn>
                <a:cxn ang="0">
                  <a:pos x="218049" y="1090247"/>
                </a:cxn>
                <a:cxn ang="0">
                  <a:pos x="23843" y="1070669"/>
                </a:cxn>
                <a:cxn ang="0">
                  <a:pos x="0" y="1063268"/>
                </a:cxn>
                <a:cxn ang="0">
                  <a:pos x="0" y="0"/>
                </a:cxn>
              </a:cxnLst>
              <a:rect l="0" t="0" r="0" b="0"/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83919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8" name="任意多边形 14"/>
            <p:cNvSpPr/>
            <p:nvPr/>
          </p:nvSpPr>
          <p:spPr>
            <a:xfrm>
              <a:off x="0" y="0"/>
              <a:ext cx="1372279" cy="12660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90021" y="0"/>
                </a:cxn>
                <a:cxn ang="0">
                  <a:pos x="4539048" y="486330"/>
                </a:cxn>
                <a:cxn ang="0">
                  <a:pos x="837561" y="4187815"/>
                </a:cxn>
                <a:cxn ang="0">
                  <a:pos x="91585" y="4112617"/>
                </a:cxn>
                <a:cxn ang="0">
                  <a:pos x="0" y="4084186"/>
                </a:cxn>
                <a:cxn ang="0">
                  <a:pos x="0" y="0"/>
                </a:cxn>
              </a:cxnLst>
              <a:rect l="0" t="0" r="0" b="0"/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65096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369" name="文本框 16"/>
          <p:cNvSpPr txBox="1"/>
          <p:nvPr/>
        </p:nvSpPr>
        <p:spPr>
          <a:xfrm>
            <a:off x="235585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70" name="文本框 17"/>
          <p:cNvSpPr txBox="1"/>
          <p:nvPr/>
        </p:nvSpPr>
        <p:spPr>
          <a:xfrm>
            <a:off x="3913188" y="3175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71" name="文本框 18"/>
          <p:cNvSpPr txBox="1"/>
          <p:nvPr/>
        </p:nvSpPr>
        <p:spPr>
          <a:xfrm>
            <a:off x="547370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72" name="矩形 9"/>
          <p:cNvSpPr/>
          <p:nvPr/>
        </p:nvSpPr>
        <p:spPr>
          <a:xfrm>
            <a:off x="784225" y="1336675"/>
            <a:ext cx="9680575" cy="5102225"/>
          </a:xfrm>
          <a:custGeom>
            <a:avLst/>
            <a:gdLst/>
            <a:ahLst/>
            <a:cxnLst>
              <a:cxn ang="0">
                <a:pos x="0" y="379174"/>
              </a:cxn>
              <a:cxn ang="0">
                <a:pos x="1019462" y="0"/>
              </a:cxn>
              <a:cxn ang="0">
                <a:pos x="9643980" y="0"/>
              </a:cxn>
              <a:cxn ang="0">
                <a:pos x="9643980" y="3624048"/>
              </a:cxn>
              <a:cxn ang="0">
                <a:pos x="13072" y="3624048"/>
              </a:cxn>
              <a:cxn ang="0">
                <a:pos x="0" y="379174"/>
              </a:cxn>
            </a:cxnLst>
            <a:rect l="0" t="0" r="0" b="0"/>
            <a:pathLst>
              <a:path w="9638713" h="3620718">
                <a:moveTo>
                  <a:pt x="0" y="378823"/>
                </a:moveTo>
                <a:lnTo>
                  <a:pt x="1018904" y="0"/>
                </a:lnTo>
                <a:lnTo>
                  <a:pt x="9638713" y="0"/>
                </a:lnTo>
                <a:lnTo>
                  <a:pt x="9638713" y="3620718"/>
                </a:lnTo>
                <a:lnTo>
                  <a:pt x="13063" y="3620718"/>
                </a:lnTo>
                <a:cubicBezTo>
                  <a:pt x="8709" y="2540086"/>
                  <a:pt x="4354" y="1459455"/>
                  <a:pt x="0" y="378823"/>
                </a:cubicBezTo>
                <a:close/>
              </a:path>
            </a:pathLst>
          </a:custGeom>
          <a:solidFill>
            <a:srgbClr val="F4B183">
              <a:alpha val="70193"/>
            </a:srgb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73" name="等腰三角形 21"/>
          <p:cNvSpPr/>
          <p:nvPr/>
        </p:nvSpPr>
        <p:spPr>
          <a:xfrm rot="9285132">
            <a:off x="833438" y="1560513"/>
            <a:ext cx="1162050" cy="488950"/>
          </a:xfrm>
          <a:prstGeom prst="triangle">
            <a:avLst>
              <a:gd name="adj" fmla="val 100000"/>
            </a:avLst>
          </a:prstGeom>
          <a:solidFill>
            <a:srgbClr val="F19C63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5374" name="文本框 18"/>
          <p:cNvSpPr txBox="1"/>
          <p:nvPr/>
        </p:nvSpPr>
        <p:spPr>
          <a:xfrm>
            <a:off x="6904038" y="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357313" y="0"/>
            <a:ext cx="10834688" cy="8747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76" name="TextBox 22"/>
          <p:cNvSpPr txBox="1"/>
          <p:nvPr/>
        </p:nvSpPr>
        <p:spPr>
          <a:xfrm>
            <a:off x="1317625" y="0"/>
            <a:ext cx="5205413" cy="11068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NVIC中断管理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4338" name="TextBox 3"/>
          <p:cNvSpPr txBox="1"/>
          <p:nvPr>
            <p:custDataLst>
              <p:tags r:id="rId2"/>
            </p:custDataLst>
          </p:nvPr>
        </p:nvSpPr>
        <p:spPr>
          <a:xfrm>
            <a:off x="1596708" y="1341438"/>
            <a:ext cx="8137525" cy="829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457200" indent="-457200">
              <a:lnSpc>
                <a:spcPct val="150000"/>
              </a:lnSpc>
              <a:buClrTx/>
              <a:buFont typeface="Wingdings" panose="05000000000000000000" pitchFamily="2" charset="2"/>
              <a:buChar char="u"/>
            </a:pPr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NVIC</a:t>
            </a:r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rPr>
              <a:t>概述</a:t>
            </a:r>
            <a:endParaRPr lang="zh-CN" altLang="en-US" sz="32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51610" y="2273935"/>
            <a:ext cx="8576945" cy="18637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400" dirty="0">
                <a:latin typeface="Arial" panose="020B0604020202020204" pitchFamily="34" charset="0"/>
              </a:rPr>
              <a:t>       </a:t>
            </a:r>
            <a:r>
              <a:rPr lang="zh-CN" altLang="en-US" sz="2400" dirty="0">
                <a:latin typeface="Arial" panose="020B0604020202020204" pitchFamily="34" charset="0"/>
              </a:rPr>
              <a:t>向量中断控制器，简称NVIC，是 Cortex-M3 不可分离的一部分，它与CM3内核的逻辑紧密合。NVIC提供了灵活、高效、可扩展的中断处理机制，支持多级优先级、多向中断、嵌套向量中断等特性，是STM32中的重要组件。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51610" y="4239895"/>
            <a:ext cx="8576945" cy="16351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400" dirty="0">
                <a:latin typeface="Arial" panose="020B0604020202020204" pitchFamily="34" charset="0"/>
              </a:rPr>
              <a:t>       NVIC共支持1至240个外部中断输入(通常外部中断写作IRQ)。具体的数值由芯片厂商在设计芯片时决定。此外，NVIC还支持</a:t>
            </a:r>
            <a:r>
              <a:rPr lang="zh-CN" altLang="en-US" sz="2400" dirty="0">
                <a:latin typeface="Arial" panose="020B0604020202020204" pitchFamily="34" charset="0"/>
              </a:rPr>
              <a:t>一</a:t>
            </a:r>
            <a:r>
              <a:rPr lang="en-US" altLang="zh-CN" sz="2400" dirty="0">
                <a:latin typeface="Arial" panose="020B0604020202020204" pitchFamily="34" charset="0"/>
              </a:rPr>
              <a:t>个不可屏蔽中断(NMI)输入。NVIC的访问地址是0XE000 E000。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5"/>
          <p:cNvGrpSpPr/>
          <p:nvPr/>
        </p:nvGrpSpPr>
        <p:grpSpPr>
          <a:xfrm>
            <a:off x="0" y="0"/>
            <a:ext cx="1389063" cy="1130300"/>
            <a:chOff x="0" y="0"/>
            <a:chExt cx="1471173" cy="1657869"/>
          </a:xfrm>
        </p:grpSpPr>
        <p:sp>
          <p:nvSpPr>
            <p:cNvPr id="15363" name="矩形 10"/>
            <p:cNvSpPr/>
            <p:nvPr/>
          </p:nvSpPr>
          <p:spPr>
            <a:xfrm>
              <a:off x="1" y="658762"/>
              <a:ext cx="1470409" cy="999107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542010" y="7"/>
                </a:cxn>
                <a:cxn ang="0">
                  <a:pos x="538666" y="84687"/>
                </a:cxn>
                <a:cxn ang="0">
                  <a:pos x="267883" y="133995"/>
                </a:cxn>
                <a:cxn ang="0">
                  <a:pos x="444" y="84687"/>
                </a:cxn>
                <a:cxn ang="0">
                  <a:pos x="0" y="7"/>
                </a:cxn>
              </a:cxnLst>
              <a:rect l="0" t="0" r="0" b="0"/>
              <a:pathLst>
                <a:path w="1665778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lnTo>
                    <a:pt x="1655504" y="811720"/>
                  </a:ln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4" name="矩形 10"/>
            <p:cNvSpPr/>
            <p:nvPr/>
          </p:nvSpPr>
          <p:spPr>
            <a:xfrm>
              <a:off x="0" y="0"/>
              <a:ext cx="1471173" cy="115831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542008" y="24"/>
                </a:cxn>
                <a:cxn ang="0">
                  <a:pos x="542289" y="316138"/>
                </a:cxn>
                <a:cxn ang="0">
                  <a:pos x="267882" y="507016"/>
                </a:cxn>
                <a:cxn ang="0">
                  <a:pos x="444" y="320444"/>
                </a:cxn>
                <a:cxn ang="0">
                  <a:pos x="0" y="24"/>
                </a:cxn>
              </a:cxnLst>
              <a:rect l="0" t="0" r="0" b="0"/>
              <a:pathLst>
                <a:path w="1666644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cubicBezTo>
                    <a:pt x="1666067" y="266981"/>
                    <a:pt x="1666355" y="533899"/>
                    <a:pt x="1666644" y="800818"/>
                  </a:cubicBez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365" name="文本框 8"/>
          <p:cNvSpPr txBox="1"/>
          <p:nvPr/>
        </p:nvSpPr>
        <p:spPr>
          <a:xfrm>
            <a:off x="166688" y="0"/>
            <a:ext cx="1173162" cy="829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4.1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366" name="Group 12"/>
          <p:cNvGrpSpPr/>
          <p:nvPr/>
        </p:nvGrpSpPr>
        <p:grpSpPr>
          <a:xfrm rot="10800000">
            <a:off x="10820400" y="5591175"/>
            <a:ext cx="1371600" cy="1266825"/>
            <a:chOff x="0" y="0"/>
            <a:chExt cx="1372279" cy="1266092"/>
          </a:xfrm>
        </p:grpSpPr>
        <p:sp>
          <p:nvSpPr>
            <p:cNvPr id="15367" name="任意多边形 13"/>
            <p:cNvSpPr/>
            <p:nvPr/>
          </p:nvSpPr>
          <p:spPr>
            <a:xfrm>
              <a:off x="1" y="1"/>
              <a:ext cx="1181686" cy="10902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68923" y="0"/>
                </a:cxn>
                <a:cxn ang="0">
                  <a:pos x="1181686" y="126610"/>
                </a:cxn>
                <a:cxn ang="0">
                  <a:pos x="218049" y="1090247"/>
                </a:cxn>
                <a:cxn ang="0">
                  <a:pos x="23843" y="1070669"/>
                </a:cxn>
                <a:cxn ang="0">
                  <a:pos x="0" y="1063268"/>
                </a:cxn>
                <a:cxn ang="0">
                  <a:pos x="0" y="0"/>
                </a:cxn>
              </a:cxnLst>
              <a:rect l="0" t="0" r="0" b="0"/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83919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8" name="任意多边形 14"/>
            <p:cNvSpPr/>
            <p:nvPr/>
          </p:nvSpPr>
          <p:spPr>
            <a:xfrm>
              <a:off x="0" y="0"/>
              <a:ext cx="1372279" cy="12660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90021" y="0"/>
                </a:cxn>
                <a:cxn ang="0">
                  <a:pos x="4539048" y="486330"/>
                </a:cxn>
                <a:cxn ang="0">
                  <a:pos x="837561" y="4187815"/>
                </a:cxn>
                <a:cxn ang="0">
                  <a:pos x="91585" y="4112617"/>
                </a:cxn>
                <a:cxn ang="0">
                  <a:pos x="0" y="4084186"/>
                </a:cxn>
                <a:cxn ang="0">
                  <a:pos x="0" y="0"/>
                </a:cxn>
              </a:cxnLst>
              <a:rect l="0" t="0" r="0" b="0"/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65096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369" name="文本框 16"/>
          <p:cNvSpPr txBox="1"/>
          <p:nvPr/>
        </p:nvSpPr>
        <p:spPr>
          <a:xfrm>
            <a:off x="235585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70" name="文本框 17"/>
          <p:cNvSpPr txBox="1"/>
          <p:nvPr/>
        </p:nvSpPr>
        <p:spPr>
          <a:xfrm>
            <a:off x="3913188" y="3175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71" name="文本框 18"/>
          <p:cNvSpPr txBox="1"/>
          <p:nvPr/>
        </p:nvSpPr>
        <p:spPr>
          <a:xfrm>
            <a:off x="547370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72" name="矩形 9"/>
          <p:cNvSpPr/>
          <p:nvPr/>
        </p:nvSpPr>
        <p:spPr>
          <a:xfrm>
            <a:off x="784225" y="1336675"/>
            <a:ext cx="9680575" cy="5102225"/>
          </a:xfrm>
          <a:custGeom>
            <a:avLst/>
            <a:gdLst/>
            <a:ahLst/>
            <a:cxnLst>
              <a:cxn ang="0">
                <a:pos x="0" y="379174"/>
              </a:cxn>
              <a:cxn ang="0">
                <a:pos x="1019462" y="0"/>
              </a:cxn>
              <a:cxn ang="0">
                <a:pos x="9643980" y="0"/>
              </a:cxn>
              <a:cxn ang="0">
                <a:pos x="9643980" y="3624048"/>
              </a:cxn>
              <a:cxn ang="0">
                <a:pos x="13072" y="3624048"/>
              </a:cxn>
              <a:cxn ang="0">
                <a:pos x="0" y="379174"/>
              </a:cxn>
            </a:cxnLst>
            <a:rect l="0" t="0" r="0" b="0"/>
            <a:pathLst>
              <a:path w="9638713" h="3620718">
                <a:moveTo>
                  <a:pt x="0" y="378823"/>
                </a:moveTo>
                <a:lnTo>
                  <a:pt x="1018904" y="0"/>
                </a:lnTo>
                <a:lnTo>
                  <a:pt x="9638713" y="0"/>
                </a:lnTo>
                <a:lnTo>
                  <a:pt x="9638713" y="3620718"/>
                </a:lnTo>
                <a:lnTo>
                  <a:pt x="13063" y="3620718"/>
                </a:lnTo>
                <a:cubicBezTo>
                  <a:pt x="8709" y="2540086"/>
                  <a:pt x="4354" y="1459455"/>
                  <a:pt x="0" y="378823"/>
                </a:cubicBezTo>
                <a:close/>
              </a:path>
            </a:pathLst>
          </a:custGeom>
          <a:solidFill>
            <a:srgbClr val="F4B183">
              <a:alpha val="70193"/>
            </a:srgb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73" name="等腰三角形 21"/>
          <p:cNvSpPr/>
          <p:nvPr/>
        </p:nvSpPr>
        <p:spPr>
          <a:xfrm rot="9285132">
            <a:off x="833438" y="1560513"/>
            <a:ext cx="1162050" cy="488950"/>
          </a:xfrm>
          <a:prstGeom prst="triangle">
            <a:avLst>
              <a:gd name="adj" fmla="val 100000"/>
            </a:avLst>
          </a:prstGeom>
          <a:solidFill>
            <a:srgbClr val="F19C63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5374" name="文本框 18"/>
          <p:cNvSpPr txBox="1"/>
          <p:nvPr/>
        </p:nvSpPr>
        <p:spPr>
          <a:xfrm>
            <a:off x="6904038" y="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357313" y="0"/>
            <a:ext cx="10834688" cy="8747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76" name="TextBox 22"/>
          <p:cNvSpPr txBox="1"/>
          <p:nvPr/>
        </p:nvSpPr>
        <p:spPr>
          <a:xfrm>
            <a:off x="1317625" y="0"/>
            <a:ext cx="5205413" cy="11068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NVIC中断管理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4338" name="TextBox 3"/>
          <p:cNvSpPr txBox="1"/>
          <p:nvPr>
            <p:custDataLst>
              <p:tags r:id="rId2"/>
            </p:custDataLst>
          </p:nvPr>
        </p:nvSpPr>
        <p:spPr>
          <a:xfrm>
            <a:off x="1596708" y="1341438"/>
            <a:ext cx="8137525" cy="829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457200" indent="-457200">
              <a:lnSpc>
                <a:spcPct val="150000"/>
              </a:lnSpc>
              <a:buClrTx/>
              <a:buFont typeface="Wingdings" panose="05000000000000000000" pitchFamily="2" charset="2"/>
              <a:buChar char="u"/>
            </a:pPr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NVIC</a:t>
            </a:r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rPr>
              <a:t>组成</a:t>
            </a:r>
            <a:endParaRPr lang="zh-CN" altLang="en-US" sz="32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753235" y="3765550"/>
            <a:ext cx="1463675" cy="59118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3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rPr>
              <a:t>NVIC</a:t>
            </a:r>
            <a:endParaRPr kumimoji="0" lang="en-US" altLang="zh-CN" sz="3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左大括号 5"/>
          <p:cNvSpPr/>
          <p:nvPr/>
        </p:nvSpPr>
        <p:spPr>
          <a:xfrm>
            <a:off x="3399155" y="2171700"/>
            <a:ext cx="514350" cy="3779520"/>
          </a:xfrm>
          <a:prstGeom prst="leftBrace">
            <a:avLst>
              <a:gd name="adj1" fmla="val 78024"/>
              <a:gd name="adj2" fmla="val 49747"/>
            </a:avLst>
          </a:prstGeom>
          <a:ln w="31750" cap="rnd">
            <a:solidFill>
              <a:prstClr val="black"/>
            </a:solidFill>
            <a:round/>
            <a:headEnd type="none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i="0" u="none" strike="noStrike" cap="none" normalizeH="0" baseline="0" smtClean="0">
              <a:ln w="76200">
                <a:solidFill>
                  <a:sysClr val="windowText" lastClr="000000"/>
                </a:solidFill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圆角矩形 6"/>
          <p:cNvSpPr/>
          <p:nvPr>
            <p:custDataLst>
              <p:tags r:id="rId3"/>
            </p:custDataLst>
          </p:nvPr>
        </p:nvSpPr>
        <p:spPr>
          <a:xfrm>
            <a:off x="4253865" y="3243580"/>
            <a:ext cx="3904615" cy="59118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rPr>
              <a:t>中断优先级和控制器</a:t>
            </a:r>
            <a:endParaRPr kumimoji="0" lang="zh-CN" alt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圆角矩形 7"/>
          <p:cNvSpPr/>
          <p:nvPr>
            <p:custDataLst>
              <p:tags r:id="rId4"/>
            </p:custDataLst>
          </p:nvPr>
        </p:nvSpPr>
        <p:spPr>
          <a:xfrm>
            <a:off x="4254500" y="2171700"/>
            <a:ext cx="3904615" cy="59118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ctr" anchorCtr="0" compatLnSpc="1"/>
          <a:p>
            <a:pPr marL="0" marR="0" algn="ctr" defTabSz="914400" rtl="0" eaLnBrk="0" fontAlgn="base" latin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rPr>
              <a:t>中断向量表</a:t>
            </a:r>
            <a:endParaRPr kumimoji="0" lang="zh-CN" alt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圆角矩形 8"/>
          <p:cNvSpPr/>
          <p:nvPr>
            <p:custDataLst>
              <p:tags r:id="rId5"/>
            </p:custDataLst>
          </p:nvPr>
        </p:nvSpPr>
        <p:spPr>
          <a:xfrm>
            <a:off x="4254500" y="4315460"/>
            <a:ext cx="3904615" cy="59118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ctr" anchorCtr="0" compatLnSpc="1"/>
          <a:p>
            <a:pPr marL="0" marR="0" algn="ctr" defTabSz="914400" rtl="0" eaLnBrk="0" fontAlgn="base" latin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rPr>
              <a:t>系统控制寄存器</a:t>
            </a:r>
            <a:endParaRPr kumimoji="0" lang="zh-CN" alt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圆角矩形 9"/>
          <p:cNvSpPr/>
          <p:nvPr>
            <p:custDataLst>
              <p:tags r:id="rId6"/>
            </p:custDataLst>
          </p:nvPr>
        </p:nvSpPr>
        <p:spPr>
          <a:xfrm>
            <a:off x="4254500" y="5387340"/>
            <a:ext cx="3903980" cy="59118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ctr" anchorCtr="0" compatLnSpc="1"/>
          <a:p>
            <a:pPr marL="0" marR="0" algn="ctr" defTabSz="914400" rtl="0" eaLnBrk="0" fontAlgn="base" latin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rPr>
              <a:t>特殊功能寄存器</a:t>
            </a:r>
            <a:endParaRPr kumimoji="0" lang="zh-CN" alt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5"/>
          <p:cNvGrpSpPr/>
          <p:nvPr/>
        </p:nvGrpSpPr>
        <p:grpSpPr>
          <a:xfrm>
            <a:off x="0" y="0"/>
            <a:ext cx="1389063" cy="1130300"/>
            <a:chOff x="0" y="0"/>
            <a:chExt cx="1471173" cy="1657869"/>
          </a:xfrm>
        </p:grpSpPr>
        <p:sp>
          <p:nvSpPr>
            <p:cNvPr id="16387" name="矩形 10"/>
            <p:cNvSpPr/>
            <p:nvPr/>
          </p:nvSpPr>
          <p:spPr>
            <a:xfrm>
              <a:off x="1" y="658762"/>
              <a:ext cx="1470409" cy="999107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542010" y="7"/>
                </a:cxn>
                <a:cxn ang="0">
                  <a:pos x="538666" y="84687"/>
                </a:cxn>
                <a:cxn ang="0">
                  <a:pos x="267883" y="133995"/>
                </a:cxn>
                <a:cxn ang="0">
                  <a:pos x="444" y="84687"/>
                </a:cxn>
                <a:cxn ang="0">
                  <a:pos x="0" y="7"/>
                </a:cxn>
              </a:cxnLst>
              <a:rect l="0" t="0" r="0" b="0"/>
              <a:pathLst>
                <a:path w="1665778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lnTo>
                    <a:pt x="1655504" y="811720"/>
                  </a:ln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88" name="矩形 10"/>
            <p:cNvSpPr/>
            <p:nvPr/>
          </p:nvSpPr>
          <p:spPr>
            <a:xfrm>
              <a:off x="0" y="0"/>
              <a:ext cx="1471173" cy="115831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542008" y="24"/>
                </a:cxn>
                <a:cxn ang="0">
                  <a:pos x="542289" y="316138"/>
                </a:cxn>
                <a:cxn ang="0">
                  <a:pos x="267882" y="507016"/>
                </a:cxn>
                <a:cxn ang="0">
                  <a:pos x="444" y="320444"/>
                </a:cxn>
                <a:cxn ang="0">
                  <a:pos x="0" y="24"/>
                </a:cxn>
              </a:cxnLst>
              <a:rect l="0" t="0" r="0" b="0"/>
              <a:pathLst>
                <a:path w="1666644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cubicBezTo>
                    <a:pt x="1666067" y="266981"/>
                    <a:pt x="1666355" y="533899"/>
                    <a:pt x="1666644" y="800818"/>
                  </a:cubicBez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389" name="文本框 8"/>
          <p:cNvSpPr txBox="1"/>
          <p:nvPr/>
        </p:nvSpPr>
        <p:spPr>
          <a:xfrm>
            <a:off x="166688" y="0"/>
            <a:ext cx="1173162" cy="829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4.1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390" name="Group 12"/>
          <p:cNvGrpSpPr/>
          <p:nvPr/>
        </p:nvGrpSpPr>
        <p:grpSpPr>
          <a:xfrm rot="10800000">
            <a:off x="10820400" y="5591175"/>
            <a:ext cx="1371600" cy="1266825"/>
            <a:chOff x="0" y="0"/>
            <a:chExt cx="1372279" cy="1266092"/>
          </a:xfrm>
        </p:grpSpPr>
        <p:sp>
          <p:nvSpPr>
            <p:cNvPr id="16391" name="任意多边形 13"/>
            <p:cNvSpPr/>
            <p:nvPr/>
          </p:nvSpPr>
          <p:spPr>
            <a:xfrm>
              <a:off x="1" y="1"/>
              <a:ext cx="1181686" cy="10902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68923" y="0"/>
                </a:cxn>
                <a:cxn ang="0">
                  <a:pos x="1181686" y="126610"/>
                </a:cxn>
                <a:cxn ang="0">
                  <a:pos x="218049" y="1090247"/>
                </a:cxn>
                <a:cxn ang="0">
                  <a:pos x="23843" y="1070669"/>
                </a:cxn>
                <a:cxn ang="0">
                  <a:pos x="0" y="1063268"/>
                </a:cxn>
                <a:cxn ang="0">
                  <a:pos x="0" y="0"/>
                </a:cxn>
              </a:cxnLst>
              <a:rect l="0" t="0" r="0" b="0"/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83919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2" name="任意多边形 14"/>
            <p:cNvSpPr/>
            <p:nvPr/>
          </p:nvSpPr>
          <p:spPr>
            <a:xfrm>
              <a:off x="0" y="0"/>
              <a:ext cx="1372279" cy="12660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90021" y="0"/>
                </a:cxn>
                <a:cxn ang="0">
                  <a:pos x="4539048" y="486330"/>
                </a:cxn>
                <a:cxn ang="0">
                  <a:pos x="837561" y="4187815"/>
                </a:cxn>
                <a:cxn ang="0">
                  <a:pos x="91585" y="4112617"/>
                </a:cxn>
                <a:cxn ang="0">
                  <a:pos x="0" y="4084186"/>
                </a:cxn>
                <a:cxn ang="0">
                  <a:pos x="0" y="0"/>
                </a:cxn>
              </a:cxnLst>
              <a:rect l="0" t="0" r="0" b="0"/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65096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393" name="文本框 16"/>
          <p:cNvSpPr txBox="1"/>
          <p:nvPr/>
        </p:nvSpPr>
        <p:spPr>
          <a:xfrm>
            <a:off x="235585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94" name="文本框 17"/>
          <p:cNvSpPr txBox="1"/>
          <p:nvPr/>
        </p:nvSpPr>
        <p:spPr>
          <a:xfrm>
            <a:off x="3913188" y="3175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95" name="文本框 18"/>
          <p:cNvSpPr txBox="1"/>
          <p:nvPr/>
        </p:nvSpPr>
        <p:spPr>
          <a:xfrm>
            <a:off x="547370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96" name="矩形 9"/>
          <p:cNvSpPr/>
          <p:nvPr/>
        </p:nvSpPr>
        <p:spPr>
          <a:xfrm>
            <a:off x="784225" y="1050925"/>
            <a:ext cx="10035540" cy="5524500"/>
          </a:xfrm>
          <a:custGeom>
            <a:avLst/>
            <a:gdLst/>
            <a:ahLst/>
            <a:cxnLst>
              <a:cxn ang="0">
                <a:pos x="0" y="379174"/>
              </a:cxn>
              <a:cxn ang="0">
                <a:pos x="1019462" y="0"/>
              </a:cxn>
              <a:cxn ang="0">
                <a:pos x="9643980" y="0"/>
              </a:cxn>
              <a:cxn ang="0">
                <a:pos x="9643980" y="3624048"/>
              </a:cxn>
              <a:cxn ang="0">
                <a:pos x="13072" y="3624048"/>
              </a:cxn>
              <a:cxn ang="0">
                <a:pos x="0" y="379174"/>
              </a:cxn>
            </a:cxnLst>
            <a:rect l="0" t="0" r="0" b="0"/>
            <a:pathLst>
              <a:path w="9638713" h="3620718">
                <a:moveTo>
                  <a:pt x="0" y="378823"/>
                </a:moveTo>
                <a:lnTo>
                  <a:pt x="1018904" y="0"/>
                </a:lnTo>
                <a:lnTo>
                  <a:pt x="9638713" y="0"/>
                </a:lnTo>
                <a:lnTo>
                  <a:pt x="9638713" y="3620718"/>
                </a:lnTo>
                <a:lnTo>
                  <a:pt x="13063" y="3620718"/>
                </a:lnTo>
                <a:cubicBezTo>
                  <a:pt x="8709" y="2540086"/>
                  <a:pt x="4354" y="1459455"/>
                  <a:pt x="0" y="378823"/>
                </a:cubicBezTo>
                <a:close/>
              </a:path>
            </a:pathLst>
          </a:custGeom>
          <a:solidFill>
            <a:srgbClr val="F4B183">
              <a:alpha val="70193"/>
            </a:srgb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97" name="等腰三角形 21"/>
          <p:cNvSpPr/>
          <p:nvPr/>
        </p:nvSpPr>
        <p:spPr>
          <a:xfrm rot="9045131">
            <a:off x="825500" y="1316038"/>
            <a:ext cx="1260475" cy="496887"/>
          </a:xfrm>
          <a:prstGeom prst="triangle">
            <a:avLst>
              <a:gd name="adj" fmla="val 100000"/>
            </a:avLst>
          </a:prstGeom>
          <a:solidFill>
            <a:srgbClr val="F19C63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6398" name="文本框 18"/>
          <p:cNvSpPr txBox="1"/>
          <p:nvPr/>
        </p:nvSpPr>
        <p:spPr>
          <a:xfrm>
            <a:off x="6904038" y="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357313" y="0"/>
            <a:ext cx="10834688" cy="8747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400" name="TextBox 22"/>
          <p:cNvSpPr txBox="1"/>
          <p:nvPr/>
        </p:nvSpPr>
        <p:spPr>
          <a:xfrm>
            <a:off x="1317625" y="0"/>
            <a:ext cx="5205413" cy="11068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NVIC中断管理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2290" name="矩形 1"/>
          <p:cNvSpPr/>
          <p:nvPr/>
        </p:nvSpPr>
        <p:spPr>
          <a:xfrm>
            <a:off x="1744663" y="1557338"/>
            <a:ext cx="7704137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91" name="TextBox 1"/>
          <p:cNvSpPr txBox="1"/>
          <p:nvPr/>
        </p:nvSpPr>
        <p:spPr>
          <a:xfrm>
            <a:off x="1587500" y="1107123"/>
            <a:ext cx="447929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中断向量表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 《STM32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中文参考手册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》9.1.2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2292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500" y="1522095"/>
            <a:ext cx="4370705" cy="5005070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</p:pic>
      <p:pic>
        <p:nvPicPr>
          <p:cNvPr id="12293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2990" y="1557655"/>
            <a:ext cx="4408170" cy="4944745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5"/>
          <p:cNvGrpSpPr/>
          <p:nvPr/>
        </p:nvGrpSpPr>
        <p:grpSpPr>
          <a:xfrm>
            <a:off x="0" y="0"/>
            <a:ext cx="1389063" cy="1130300"/>
            <a:chOff x="0" y="0"/>
            <a:chExt cx="1471173" cy="1657869"/>
          </a:xfrm>
        </p:grpSpPr>
        <p:sp>
          <p:nvSpPr>
            <p:cNvPr id="18435" name="矩形 10"/>
            <p:cNvSpPr/>
            <p:nvPr/>
          </p:nvSpPr>
          <p:spPr>
            <a:xfrm>
              <a:off x="1" y="658762"/>
              <a:ext cx="1470409" cy="999107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542010" y="7"/>
                </a:cxn>
                <a:cxn ang="0">
                  <a:pos x="538666" y="84687"/>
                </a:cxn>
                <a:cxn ang="0">
                  <a:pos x="267883" y="133995"/>
                </a:cxn>
                <a:cxn ang="0">
                  <a:pos x="444" y="84687"/>
                </a:cxn>
                <a:cxn ang="0">
                  <a:pos x="0" y="7"/>
                </a:cxn>
              </a:cxnLst>
              <a:rect l="0" t="0" r="0" b="0"/>
              <a:pathLst>
                <a:path w="1665778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lnTo>
                    <a:pt x="1655504" y="811720"/>
                  </a:ln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6" name="矩形 10"/>
            <p:cNvSpPr/>
            <p:nvPr/>
          </p:nvSpPr>
          <p:spPr>
            <a:xfrm>
              <a:off x="0" y="0"/>
              <a:ext cx="1471173" cy="115831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542008" y="24"/>
                </a:cxn>
                <a:cxn ang="0">
                  <a:pos x="542289" y="316138"/>
                </a:cxn>
                <a:cxn ang="0">
                  <a:pos x="267882" y="507016"/>
                </a:cxn>
                <a:cxn ang="0">
                  <a:pos x="444" y="320444"/>
                </a:cxn>
                <a:cxn ang="0">
                  <a:pos x="0" y="24"/>
                </a:cxn>
              </a:cxnLst>
              <a:rect l="0" t="0" r="0" b="0"/>
              <a:pathLst>
                <a:path w="1666644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cubicBezTo>
                    <a:pt x="1666067" y="266981"/>
                    <a:pt x="1666355" y="533899"/>
                    <a:pt x="1666644" y="800818"/>
                  </a:cubicBez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437" name="文本框 8"/>
          <p:cNvSpPr txBox="1"/>
          <p:nvPr/>
        </p:nvSpPr>
        <p:spPr>
          <a:xfrm>
            <a:off x="166688" y="0"/>
            <a:ext cx="1173162" cy="829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4.1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8438" name="Group 12"/>
          <p:cNvGrpSpPr/>
          <p:nvPr/>
        </p:nvGrpSpPr>
        <p:grpSpPr>
          <a:xfrm rot="10800000">
            <a:off x="10820400" y="5591175"/>
            <a:ext cx="1371600" cy="1266825"/>
            <a:chOff x="0" y="0"/>
            <a:chExt cx="1372279" cy="1266092"/>
          </a:xfrm>
        </p:grpSpPr>
        <p:sp>
          <p:nvSpPr>
            <p:cNvPr id="18439" name="任意多边形 13"/>
            <p:cNvSpPr/>
            <p:nvPr/>
          </p:nvSpPr>
          <p:spPr>
            <a:xfrm>
              <a:off x="1" y="1"/>
              <a:ext cx="1181686" cy="10902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68923" y="0"/>
                </a:cxn>
                <a:cxn ang="0">
                  <a:pos x="1181686" y="126610"/>
                </a:cxn>
                <a:cxn ang="0">
                  <a:pos x="218049" y="1090247"/>
                </a:cxn>
                <a:cxn ang="0">
                  <a:pos x="23843" y="1070669"/>
                </a:cxn>
                <a:cxn ang="0">
                  <a:pos x="0" y="1063268"/>
                </a:cxn>
                <a:cxn ang="0">
                  <a:pos x="0" y="0"/>
                </a:cxn>
              </a:cxnLst>
              <a:rect l="0" t="0" r="0" b="0"/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83919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0" name="任意多边形 14"/>
            <p:cNvSpPr/>
            <p:nvPr/>
          </p:nvSpPr>
          <p:spPr>
            <a:xfrm>
              <a:off x="0" y="0"/>
              <a:ext cx="1372279" cy="12660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90021" y="0"/>
                </a:cxn>
                <a:cxn ang="0">
                  <a:pos x="4539048" y="486330"/>
                </a:cxn>
                <a:cxn ang="0">
                  <a:pos x="837561" y="4187815"/>
                </a:cxn>
                <a:cxn ang="0">
                  <a:pos x="91585" y="4112617"/>
                </a:cxn>
                <a:cxn ang="0">
                  <a:pos x="0" y="4084186"/>
                </a:cxn>
                <a:cxn ang="0">
                  <a:pos x="0" y="0"/>
                </a:cxn>
              </a:cxnLst>
              <a:rect l="0" t="0" r="0" b="0"/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65096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441" name="文本框 16"/>
          <p:cNvSpPr txBox="1"/>
          <p:nvPr/>
        </p:nvSpPr>
        <p:spPr>
          <a:xfrm>
            <a:off x="235585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442" name="文本框 17"/>
          <p:cNvSpPr txBox="1"/>
          <p:nvPr/>
        </p:nvSpPr>
        <p:spPr>
          <a:xfrm>
            <a:off x="3913188" y="3175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443" name="文本框 18"/>
          <p:cNvSpPr txBox="1"/>
          <p:nvPr/>
        </p:nvSpPr>
        <p:spPr>
          <a:xfrm>
            <a:off x="547370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444" name="矩形 9"/>
          <p:cNvSpPr/>
          <p:nvPr/>
        </p:nvSpPr>
        <p:spPr>
          <a:xfrm>
            <a:off x="1054100" y="1284605"/>
            <a:ext cx="9766935" cy="5213350"/>
          </a:xfrm>
          <a:custGeom>
            <a:avLst/>
            <a:gdLst/>
            <a:ahLst/>
            <a:cxnLst>
              <a:cxn ang="0">
                <a:pos x="0" y="379174"/>
              </a:cxn>
              <a:cxn ang="0">
                <a:pos x="1019462" y="0"/>
              </a:cxn>
              <a:cxn ang="0">
                <a:pos x="9643980" y="0"/>
              </a:cxn>
              <a:cxn ang="0">
                <a:pos x="9643980" y="3624048"/>
              </a:cxn>
              <a:cxn ang="0">
                <a:pos x="13072" y="3624048"/>
              </a:cxn>
              <a:cxn ang="0">
                <a:pos x="0" y="379174"/>
              </a:cxn>
            </a:cxnLst>
            <a:rect l="0" t="0" r="0" b="0"/>
            <a:pathLst>
              <a:path w="9638713" h="3620718">
                <a:moveTo>
                  <a:pt x="0" y="378823"/>
                </a:moveTo>
                <a:lnTo>
                  <a:pt x="1018904" y="0"/>
                </a:lnTo>
                <a:lnTo>
                  <a:pt x="9638713" y="0"/>
                </a:lnTo>
                <a:lnTo>
                  <a:pt x="9638713" y="3620718"/>
                </a:lnTo>
                <a:lnTo>
                  <a:pt x="13063" y="3620718"/>
                </a:lnTo>
                <a:cubicBezTo>
                  <a:pt x="8709" y="2540086"/>
                  <a:pt x="4354" y="1459455"/>
                  <a:pt x="0" y="378823"/>
                </a:cubicBezTo>
                <a:close/>
              </a:path>
            </a:pathLst>
          </a:custGeom>
          <a:solidFill>
            <a:srgbClr val="F4B183">
              <a:alpha val="70193"/>
            </a:srgb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45" name="等腰三角形 21"/>
          <p:cNvSpPr/>
          <p:nvPr/>
        </p:nvSpPr>
        <p:spPr>
          <a:xfrm rot="9285132">
            <a:off x="1101725" y="1492250"/>
            <a:ext cx="1162050" cy="488950"/>
          </a:xfrm>
          <a:prstGeom prst="triangle">
            <a:avLst>
              <a:gd name="adj" fmla="val 100000"/>
            </a:avLst>
          </a:prstGeom>
          <a:solidFill>
            <a:srgbClr val="F19C63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8446" name="文本框 18"/>
          <p:cNvSpPr txBox="1"/>
          <p:nvPr/>
        </p:nvSpPr>
        <p:spPr>
          <a:xfrm>
            <a:off x="6904038" y="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357313" y="0"/>
            <a:ext cx="10834688" cy="8747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48" name="TextBox 22"/>
          <p:cNvSpPr txBox="1"/>
          <p:nvPr/>
        </p:nvSpPr>
        <p:spPr>
          <a:xfrm>
            <a:off x="1317625" y="0"/>
            <a:ext cx="5205413" cy="11068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NVIC中断管理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4337" name="矩形 1"/>
          <p:cNvSpPr/>
          <p:nvPr/>
        </p:nvSpPr>
        <p:spPr>
          <a:xfrm>
            <a:off x="468313" y="1557338"/>
            <a:ext cx="7704137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38" name="TextBox 3"/>
          <p:cNvSpPr txBox="1"/>
          <p:nvPr/>
        </p:nvSpPr>
        <p:spPr>
          <a:xfrm>
            <a:off x="1596708" y="1341438"/>
            <a:ext cx="8137525" cy="829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457200" indent="-457200">
              <a:lnSpc>
                <a:spcPct val="150000"/>
              </a:lnSpc>
              <a:buClrTx/>
              <a:buFont typeface="Wingdings" panose="05000000000000000000" pitchFamily="2" charset="2"/>
              <a:buChar char="u"/>
            </a:pPr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rPr>
              <a:t>中断</a:t>
            </a:r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rPr>
              <a:t>优先级</a:t>
            </a:r>
            <a:endParaRPr lang="zh-CN" altLang="en-US" sz="32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39" name="TextBox 2"/>
          <p:cNvSpPr txBox="1"/>
          <p:nvPr/>
        </p:nvSpPr>
        <p:spPr>
          <a:xfrm>
            <a:off x="2052638" y="2109788"/>
            <a:ext cx="7705725" cy="19383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首先，对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STM32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中断进行分组，组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0~4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。同时，对每个中断设置一个抢占优先级和一个响应优先级值。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分组配置是在寄存器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SCB-&gt;AIRCR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中配置：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642745" y="3789680"/>
          <a:ext cx="8818245" cy="2647950"/>
        </p:xfrm>
        <a:graphic>
          <a:graphicData uri="http://schemas.openxmlformats.org/drawingml/2006/table">
            <a:tbl>
              <a:tblPr/>
              <a:tblGrid>
                <a:gridCol w="846455"/>
                <a:gridCol w="1974215"/>
                <a:gridCol w="2761615"/>
                <a:gridCol w="3235960"/>
              </a:tblGrid>
              <a:tr h="441325">
                <a:tc>
                  <a:txBody>
                    <a:bodyPr/>
                    <a:lstStyle/>
                    <a:p>
                      <a:pPr marL="0" marR="0" lvl="0" indent="2667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组</a:t>
                      </a:r>
                      <a:endParaRPr kumimoji="0" 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28829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AIRCR[10</a:t>
                      </a:r>
                      <a:r>
                        <a:rPr kumimoji="0" 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：</a:t>
                      </a: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8]</a:t>
                      </a:r>
                      <a:endParaRPr kumimoji="0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FB0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IP bit[7</a:t>
                      </a:r>
                      <a:r>
                        <a:rPr kumimoji="0" 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：</a:t>
                      </a: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4]</a:t>
                      </a:r>
                      <a:r>
                        <a:rPr kumimoji="0" 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分配情况</a:t>
                      </a:r>
                      <a:endParaRPr kumimoji="0" 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FB0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分配结果</a:t>
                      </a:r>
                      <a:endParaRPr kumimoji="0" 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FB0EB"/>
                    </a:solidFill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marL="0" marR="0" lvl="0" indent="2667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28829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111</a:t>
                      </a:r>
                      <a:endParaRPr kumimoji="0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28829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：</a:t>
                      </a: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28829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位抢占优先级，</a:t>
                      </a: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0" 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位响应优先级</a:t>
                      </a:r>
                      <a:endParaRPr kumimoji="0" 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28829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marL="0" marR="0" lvl="0" indent="2667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28829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110</a:t>
                      </a:r>
                      <a:endParaRPr kumimoji="0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28829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：</a:t>
                      </a: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28829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位抢占优先级，</a:t>
                      </a: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位响应优先级</a:t>
                      </a:r>
                      <a:endParaRPr kumimoji="0" 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28829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marL="0" marR="0" lvl="0" indent="2667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28829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101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28829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：</a:t>
                      </a: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28829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位抢占优先级，</a:t>
                      </a: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位响应优先级</a:t>
                      </a:r>
                      <a:endParaRPr kumimoji="0" 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28829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marL="0" marR="0" lvl="0" indent="2667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28829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100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28829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：</a:t>
                      </a: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28829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位抢占优先级，</a:t>
                      </a: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位响应优先级</a:t>
                      </a:r>
                      <a:endParaRPr kumimoji="0" 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28829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marL="0" marR="0" lvl="0" indent="2667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28829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011</a:t>
                      </a:r>
                      <a:endParaRPr kumimoji="0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28829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0" 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：</a:t>
                      </a: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28829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0" 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位抢占优先级，</a:t>
                      </a: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位响应优先级</a:t>
                      </a:r>
                      <a:endParaRPr kumimoji="0" 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28829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Group 5"/>
          <p:cNvGrpSpPr/>
          <p:nvPr/>
        </p:nvGrpSpPr>
        <p:grpSpPr>
          <a:xfrm>
            <a:off x="0" y="0"/>
            <a:ext cx="1389063" cy="1130300"/>
            <a:chOff x="0" y="0"/>
            <a:chExt cx="1471173" cy="1657869"/>
          </a:xfrm>
        </p:grpSpPr>
        <p:sp>
          <p:nvSpPr>
            <p:cNvPr id="19459" name="矩形 10"/>
            <p:cNvSpPr/>
            <p:nvPr/>
          </p:nvSpPr>
          <p:spPr>
            <a:xfrm>
              <a:off x="1" y="658762"/>
              <a:ext cx="1470409" cy="999107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542010" y="7"/>
                </a:cxn>
                <a:cxn ang="0">
                  <a:pos x="538666" y="84687"/>
                </a:cxn>
                <a:cxn ang="0">
                  <a:pos x="267883" y="133995"/>
                </a:cxn>
                <a:cxn ang="0">
                  <a:pos x="444" y="84687"/>
                </a:cxn>
                <a:cxn ang="0">
                  <a:pos x="0" y="7"/>
                </a:cxn>
              </a:cxnLst>
              <a:rect l="0" t="0" r="0" b="0"/>
              <a:pathLst>
                <a:path w="1665778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lnTo>
                    <a:pt x="1655504" y="811720"/>
                  </a:ln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0" name="矩形 10"/>
            <p:cNvSpPr/>
            <p:nvPr/>
          </p:nvSpPr>
          <p:spPr>
            <a:xfrm>
              <a:off x="0" y="0"/>
              <a:ext cx="1471173" cy="115831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542008" y="24"/>
                </a:cxn>
                <a:cxn ang="0">
                  <a:pos x="542289" y="316138"/>
                </a:cxn>
                <a:cxn ang="0">
                  <a:pos x="267882" y="507016"/>
                </a:cxn>
                <a:cxn ang="0">
                  <a:pos x="444" y="320444"/>
                </a:cxn>
                <a:cxn ang="0">
                  <a:pos x="0" y="24"/>
                </a:cxn>
              </a:cxnLst>
              <a:rect l="0" t="0" r="0" b="0"/>
              <a:pathLst>
                <a:path w="1666644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cubicBezTo>
                    <a:pt x="1666067" y="266981"/>
                    <a:pt x="1666355" y="533899"/>
                    <a:pt x="1666644" y="800818"/>
                  </a:cubicBez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461" name="文本框 8"/>
          <p:cNvSpPr txBox="1"/>
          <p:nvPr/>
        </p:nvSpPr>
        <p:spPr>
          <a:xfrm>
            <a:off x="166688" y="0"/>
            <a:ext cx="1173162" cy="829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4.1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462" name="Group 12"/>
          <p:cNvGrpSpPr/>
          <p:nvPr/>
        </p:nvGrpSpPr>
        <p:grpSpPr>
          <a:xfrm rot="10800000">
            <a:off x="10820400" y="5591175"/>
            <a:ext cx="1371600" cy="1266825"/>
            <a:chOff x="0" y="0"/>
            <a:chExt cx="1372279" cy="1266092"/>
          </a:xfrm>
        </p:grpSpPr>
        <p:sp>
          <p:nvSpPr>
            <p:cNvPr id="19463" name="任意多边形 13"/>
            <p:cNvSpPr/>
            <p:nvPr/>
          </p:nvSpPr>
          <p:spPr>
            <a:xfrm>
              <a:off x="1" y="1"/>
              <a:ext cx="1181686" cy="10902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68923" y="0"/>
                </a:cxn>
                <a:cxn ang="0">
                  <a:pos x="1181686" y="126610"/>
                </a:cxn>
                <a:cxn ang="0">
                  <a:pos x="218049" y="1090247"/>
                </a:cxn>
                <a:cxn ang="0">
                  <a:pos x="23843" y="1070669"/>
                </a:cxn>
                <a:cxn ang="0">
                  <a:pos x="0" y="1063268"/>
                </a:cxn>
                <a:cxn ang="0">
                  <a:pos x="0" y="0"/>
                </a:cxn>
              </a:cxnLst>
              <a:rect l="0" t="0" r="0" b="0"/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83919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4" name="任意多边形 14"/>
            <p:cNvSpPr/>
            <p:nvPr/>
          </p:nvSpPr>
          <p:spPr>
            <a:xfrm>
              <a:off x="0" y="0"/>
              <a:ext cx="1372279" cy="12660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90021" y="0"/>
                </a:cxn>
                <a:cxn ang="0">
                  <a:pos x="4539048" y="486330"/>
                </a:cxn>
                <a:cxn ang="0">
                  <a:pos x="837561" y="4187815"/>
                </a:cxn>
                <a:cxn ang="0">
                  <a:pos x="91585" y="4112617"/>
                </a:cxn>
                <a:cxn ang="0">
                  <a:pos x="0" y="4084186"/>
                </a:cxn>
                <a:cxn ang="0">
                  <a:pos x="0" y="0"/>
                </a:cxn>
              </a:cxnLst>
              <a:rect l="0" t="0" r="0" b="0"/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65096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465" name="文本框 16"/>
          <p:cNvSpPr txBox="1"/>
          <p:nvPr/>
        </p:nvSpPr>
        <p:spPr>
          <a:xfrm>
            <a:off x="235585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466" name="文本框 17"/>
          <p:cNvSpPr txBox="1"/>
          <p:nvPr/>
        </p:nvSpPr>
        <p:spPr>
          <a:xfrm>
            <a:off x="3913188" y="3175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467" name="文本框 18"/>
          <p:cNvSpPr txBox="1"/>
          <p:nvPr/>
        </p:nvSpPr>
        <p:spPr>
          <a:xfrm>
            <a:off x="547370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468" name="矩形 9"/>
          <p:cNvSpPr/>
          <p:nvPr/>
        </p:nvSpPr>
        <p:spPr>
          <a:xfrm>
            <a:off x="1054100" y="1284288"/>
            <a:ext cx="9371013" cy="4843462"/>
          </a:xfrm>
          <a:custGeom>
            <a:avLst/>
            <a:gdLst/>
            <a:ahLst/>
            <a:cxnLst>
              <a:cxn ang="0">
                <a:pos x="0" y="379174"/>
              </a:cxn>
              <a:cxn ang="0">
                <a:pos x="1019462" y="0"/>
              </a:cxn>
              <a:cxn ang="0">
                <a:pos x="9643980" y="0"/>
              </a:cxn>
              <a:cxn ang="0">
                <a:pos x="9643980" y="3624048"/>
              </a:cxn>
              <a:cxn ang="0">
                <a:pos x="13072" y="3624048"/>
              </a:cxn>
              <a:cxn ang="0">
                <a:pos x="0" y="379174"/>
              </a:cxn>
            </a:cxnLst>
            <a:rect l="0" t="0" r="0" b="0"/>
            <a:pathLst>
              <a:path w="9638713" h="3620718">
                <a:moveTo>
                  <a:pt x="0" y="378823"/>
                </a:moveTo>
                <a:lnTo>
                  <a:pt x="1018904" y="0"/>
                </a:lnTo>
                <a:lnTo>
                  <a:pt x="9638713" y="0"/>
                </a:lnTo>
                <a:lnTo>
                  <a:pt x="9638713" y="3620718"/>
                </a:lnTo>
                <a:lnTo>
                  <a:pt x="13063" y="3620718"/>
                </a:lnTo>
                <a:cubicBezTo>
                  <a:pt x="8709" y="2540086"/>
                  <a:pt x="4354" y="1459455"/>
                  <a:pt x="0" y="378823"/>
                </a:cubicBezTo>
                <a:close/>
              </a:path>
            </a:pathLst>
          </a:custGeom>
          <a:solidFill>
            <a:srgbClr val="F4B183">
              <a:alpha val="70193"/>
            </a:srgb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69" name="等腰三角形 21"/>
          <p:cNvSpPr/>
          <p:nvPr/>
        </p:nvSpPr>
        <p:spPr>
          <a:xfrm rot="9285132">
            <a:off x="1101725" y="1492250"/>
            <a:ext cx="1162050" cy="488950"/>
          </a:xfrm>
          <a:prstGeom prst="triangle">
            <a:avLst>
              <a:gd name="adj" fmla="val 100000"/>
            </a:avLst>
          </a:prstGeom>
          <a:solidFill>
            <a:srgbClr val="F19C63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9470" name="文本框 18"/>
          <p:cNvSpPr txBox="1"/>
          <p:nvPr/>
        </p:nvSpPr>
        <p:spPr>
          <a:xfrm>
            <a:off x="6904038" y="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357313" y="0"/>
            <a:ext cx="10834688" cy="8747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72" name="TextBox 22"/>
          <p:cNvSpPr txBox="1"/>
          <p:nvPr/>
        </p:nvSpPr>
        <p:spPr>
          <a:xfrm>
            <a:off x="1317625" y="0"/>
            <a:ext cx="5205413" cy="11068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NVIC中断管理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5361" name="矩形 1"/>
          <p:cNvSpPr/>
          <p:nvPr/>
        </p:nvSpPr>
        <p:spPr>
          <a:xfrm>
            <a:off x="1706563" y="1843088"/>
            <a:ext cx="7704137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362" name="TextBox 3"/>
          <p:cNvSpPr txBox="1"/>
          <p:nvPr/>
        </p:nvSpPr>
        <p:spPr>
          <a:xfrm>
            <a:off x="1849438" y="1627188"/>
            <a:ext cx="8137525" cy="7350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457200" indent="-457200">
              <a:lnSpc>
                <a:spcPct val="150000"/>
              </a:lnSpc>
              <a:buClrTx/>
              <a:buFont typeface="Wingdings" panose="05000000000000000000" pitchFamily="2" charset="2"/>
              <a:buChar char="u"/>
            </a:pPr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rPr>
              <a:t>抢占优先级 </a:t>
            </a:r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&amp; </a:t>
            </a:r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rPr>
              <a:t>响应优先级区别：</a:t>
            </a:r>
            <a:endParaRPr lang="en-US" altLang="zh-CN" sz="32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363" name="TextBox 2"/>
          <p:cNvSpPr txBox="1"/>
          <p:nvPr/>
        </p:nvSpPr>
        <p:spPr>
          <a:xfrm>
            <a:off x="2209800" y="2635250"/>
            <a:ext cx="7704138" cy="30464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342900" indent="-342900">
              <a:buClrTx/>
              <a:buFont typeface="Wingdings" panose="05000000000000000000" pitchFamily="2" charset="2"/>
              <a:buChar char="l"/>
            </a:pP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高优先级的抢占优先级是可以打断正在进行的低抢占优先级中断的。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buClrTx/>
              <a:buFont typeface="Wingdings" panose="05000000000000000000" pitchFamily="2" charset="2"/>
              <a:buChar char="l"/>
            </a:pP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抢占优先级相同的中断，高响应优先级不可以打断低响应优先级的中断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抢占优先级相同的中断，当两个中断同时发生的情况下，哪个响应优先级高，哪个先执行。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buClrTx/>
              <a:buFont typeface="Wingdings" panose="05000000000000000000" pitchFamily="2" charset="2"/>
              <a:buChar char="l"/>
            </a:pP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如果两个中断的抢占优先级和响应优先级都是一样的话，则看哪个中断先发生就先执行；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Group 5"/>
          <p:cNvGrpSpPr/>
          <p:nvPr/>
        </p:nvGrpSpPr>
        <p:grpSpPr>
          <a:xfrm>
            <a:off x="0" y="0"/>
            <a:ext cx="1389063" cy="1130300"/>
            <a:chOff x="0" y="0"/>
            <a:chExt cx="1471173" cy="1657869"/>
          </a:xfrm>
        </p:grpSpPr>
        <p:sp>
          <p:nvSpPr>
            <p:cNvPr id="20483" name="矩形 10"/>
            <p:cNvSpPr/>
            <p:nvPr/>
          </p:nvSpPr>
          <p:spPr>
            <a:xfrm>
              <a:off x="1" y="658762"/>
              <a:ext cx="1470409" cy="999107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542010" y="7"/>
                </a:cxn>
                <a:cxn ang="0">
                  <a:pos x="538666" y="84687"/>
                </a:cxn>
                <a:cxn ang="0">
                  <a:pos x="267883" y="133995"/>
                </a:cxn>
                <a:cxn ang="0">
                  <a:pos x="444" y="84687"/>
                </a:cxn>
                <a:cxn ang="0">
                  <a:pos x="0" y="7"/>
                </a:cxn>
              </a:cxnLst>
              <a:rect l="0" t="0" r="0" b="0"/>
              <a:pathLst>
                <a:path w="1665778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lnTo>
                    <a:pt x="1655504" y="811720"/>
                  </a:ln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4" name="矩形 10"/>
            <p:cNvSpPr/>
            <p:nvPr/>
          </p:nvSpPr>
          <p:spPr>
            <a:xfrm>
              <a:off x="0" y="0"/>
              <a:ext cx="1471173" cy="115831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542008" y="24"/>
                </a:cxn>
                <a:cxn ang="0">
                  <a:pos x="542289" y="316138"/>
                </a:cxn>
                <a:cxn ang="0">
                  <a:pos x="267882" y="507016"/>
                </a:cxn>
                <a:cxn ang="0">
                  <a:pos x="444" y="320444"/>
                </a:cxn>
                <a:cxn ang="0">
                  <a:pos x="0" y="24"/>
                </a:cxn>
              </a:cxnLst>
              <a:rect l="0" t="0" r="0" b="0"/>
              <a:pathLst>
                <a:path w="1666644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cubicBezTo>
                    <a:pt x="1666067" y="266981"/>
                    <a:pt x="1666355" y="533899"/>
                    <a:pt x="1666644" y="800818"/>
                  </a:cubicBez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485" name="文本框 8"/>
          <p:cNvSpPr txBox="1"/>
          <p:nvPr/>
        </p:nvSpPr>
        <p:spPr>
          <a:xfrm>
            <a:off x="166688" y="0"/>
            <a:ext cx="1173162" cy="829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4.1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486" name="Group 12"/>
          <p:cNvGrpSpPr/>
          <p:nvPr/>
        </p:nvGrpSpPr>
        <p:grpSpPr>
          <a:xfrm rot="10800000">
            <a:off x="10820400" y="5591175"/>
            <a:ext cx="1371600" cy="1266825"/>
            <a:chOff x="0" y="0"/>
            <a:chExt cx="1372279" cy="1266092"/>
          </a:xfrm>
        </p:grpSpPr>
        <p:sp>
          <p:nvSpPr>
            <p:cNvPr id="20487" name="任意多边形 13"/>
            <p:cNvSpPr/>
            <p:nvPr/>
          </p:nvSpPr>
          <p:spPr>
            <a:xfrm>
              <a:off x="1" y="1"/>
              <a:ext cx="1181686" cy="10902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68923" y="0"/>
                </a:cxn>
                <a:cxn ang="0">
                  <a:pos x="1181686" y="126610"/>
                </a:cxn>
                <a:cxn ang="0">
                  <a:pos x="218049" y="1090247"/>
                </a:cxn>
                <a:cxn ang="0">
                  <a:pos x="23843" y="1070669"/>
                </a:cxn>
                <a:cxn ang="0">
                  <a:pos x="0" y="1063268"/>
                </a:cxn>
                <a:cxn ang="0">
                  <a:pos x="0" y="0"/>
                </a:cxn>
              </a:cxnLst>
              <a:rect l="0" t="0" r="0" b="0"/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83919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8" name="任意多边形 14"/>
            <p:cNvSpPr/>
            <p:nvPr/>
          </p:nvSpPr>
          <p:spPr>
            <a:xfrm>
              <a:off x="0" y="0"/>
              <a:ext cx="1372279" cy="12660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90021" y="0"/>
                </a:cxn>
                <a:cxn ang="0">
                  <a:pos x="4539048" y="486330"/>
                </a:cxn>
                <a:cxn ang="0">
                  <a:pos x="837561" y="4187815"/>
                </a:cxn>
                <a:cxn ang="0">
                  <a:pos x="91585" y="4112617"/>
                </a:cxn>
                <a:cxn ang="0">
                  <a:pos x="0" y="4084186"/>
                </a:cxn>
                <a:cxn ang="0">
                  <a:pos x="0" y="0"/>
                </a:cxn>
              </a:cxnLst>
              <a:rect l="0" t="0" r="0" b="0"/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65096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489" name="文本框 16"/>
          <p:cNvSpPr txBox="1"/>
          <p:nvPr/>
        </p:nvSpPr>
        <p:spPr>
          <a:xfrm>
            <a:off x="235585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490" name="文本框 17"/>
          <p:cNvSpPr txBox="1"/>
          <p:nvPr/>
        </p:nvSpPr>
        <p:spPr>
          <a:xfrm>
            <a:off x="3913188" y="3175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491" name="文本框 18"/>
          <p:cNvSpPr txBox="1"/>
          <p:nvPr/>
        </p:nvSpPr>
        <p:spPr>
          <a:xfrm>
            <a:off x="547370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492" name="矩形 9"/>
          <p:cNvSpPr/>
          <p:nvPr/>
        </p:nvSpPr>
        <p:spPr>
          <a:xfrm>
            <a:off x="1054100" y="1284288"/>
            <a:ext cx="9371013" cy="5072062"/>
          </a:xfrm>
          <a:custGeom>
            <a:avLst/>
            <a:gdLst/>
            <a:ahLst/>
            <a:cxnLst>
              <a:cxn ang="0">
                <a:pos x="0" y="379174"/>
              </a:cxn>
              <a:cxn ang="0">
                <a:pos x="1019462" y="0"/>
              </a:cxn>
              <a:cxn ang="0">
                <a:pos x="9643980" y="0"/>
              </a:cxn>
              <a:cxn ang="0">
                <a:pos x="9643980" y="3624048"/>
              </a:cxn>
              <a:cxn ang="0">
                <a:pos x="13072" y="3624048"/>
              </a:cxn>
              <a:cxn ang="0">
                <a:pos x="0" y="379174"/>
              </a:cxn>
            </a:cxnLst>
            <a:rect l="0" t="0" r="0" b="0"/>
            <a:pathLst>
              <a:path w="9638713" h="3620718">
                <a:moveTo>
                  <a:pt x="0" y="378823"/>
                </a:moveTo>
                <a:lnTo>
                  <a:pt x="1018904" y="0"/>
                </a:lnTo>
                <a:lnTo>
                  <a:pt x="9638713" y="0"/>
                </a:lnTo>
                <a:lnTo>
                  <a:pt x="9638713" y="3620718"/>
                </a:lnTo>
                <a:lnTo>
                  <a:pt x="13063" y="3620718"/>
                </a:lnTo>
                <a:cubicBezTo>
                  <a:pt x="8709" y="2540086"/>
                  <a:pt x="4354" y="1459455"/>
                  <a:pt x="0" y="378823"/>
                </a:cubicBezTo>
                <a:close/>
              </a:path>
            </a:pathLst>
          </a:custGeom>
          <a:solidFill>
            <a:srgbClr val="F4B183">
              <a:alpha val="70193"/>
            </a:srgb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493" name="等腰三角形 21"/>
          <p:cNvSpPr/>
          <p:nvPr/>
        </p:nvSpPr>
        <p:spPr>
          <a:xfrm rot="9045131">
            <a:off x="1108075" y="1527175"/>
            <a:ext cx="1127125" cy="515938"/>
          </a:xfrm>
          <a:prstGeom prst="triangle">
            <a:avLst>
              <a:gd name="adj" fmla="val 100000"/>
            </a:avLst>
          </a:prstGeom>
          <a:solidFill>
            <a:srgbClr val="F19C63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0494" name="文本框 18"/>
          <p:cNvSpPr txBox="1"/>
          <p:nvPr/>
        </p:nvSpPr>
        <p:spPr>
          <a:xfrm>
            <a:off x="6904038" y="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357313" y="0"/>
            <a:ext cx="10834688" cy="8747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96" name="TextBox 22"/>
          <p:cNvSpPr txBox="1"/>
          <p:nvPr/>
        </p:nvSpPr>
        <p:spPr>
          <a:xfrm>
            <a:off x="1317625" y="0"/>
            <a:ext cx="5205413" cy="11068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NVIC中断管理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6385" name="矩形 1"/>
          <p:cNvSpPr/>
          <p:nvPr/>
        </p:nvSpPr>
        <p:spPr>
          <a:xfrm>
            <a:off x="1620838" y="1557338"/>
            <a:ext cx="7704137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86" name="TextBox 3"/>
          <p:cNvSpPr txBox="1"/>
          <p:nvPr/>
        </p:nvSpPr>
        <p:spPr>
          <a:xfrm>
            <a:off x="1763713" y="1341438"/>
            <a:ext cx="8137525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marL="457200" indent="-457200">
              <a:lnSpc>
                <a:spcPct val="150000"/>
              </a:lnSpc>
              <a:buClrTx/>
              <a:buFont typeface="Wingdings" panose="05000000000000000000" pitchFamily="2" charset="2"/>
              <a:buChar char="u"/>
            </a:pPr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rPr>
              <a:t>举例：</a:t>
            </a:r>
            <a:endParaRPr lang="en-US" altLang="zh-CN" sz="32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87" name="TextBox 2"/>
          <p:cNvSpPr txBox="1"/>
          <p:nvPr/>
        </p:nvSpPr>
        <p:spPr>
          <a:xfrm>
            <a:off x="1647825" y="2349500"/>
            <a:ext cx="8253095" cy="34150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marL="342900" indent="-342900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假定设置中断优先级组为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，然后设置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中断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zh-CN" sz="2400" dirty="0">
                <a:latin typeface="Arial" panose="020B0604020202020204" pitchFamily="34" charset="0"/>
                <a:sym typeface="+mn-ea"/>
              </a:rPr>
              <a:t>（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RTC</a:t>
            </a: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中断</a:t>
            </a:r>
            <a:r>
              <a:rPr lang="zh-CN" altLang="zh-CN" sz="2400" dirty="0">
                <a:latin typeface="Arial" panose="020B0604020202020204" pitchFamily="34" charset="0"/>
                <a:sym typeface="+mn-ea"/>
              </a:rPr>
              <a:t>）</a:t>
            </a: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的抢占优先级为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，响应优先级为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中断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6</a:t>
            </a: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（外部中断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）的抢占优先级为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，响应优先级为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zh-CN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</a:pP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中断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（外部中断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）的抢占优先级为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，响应优先级为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</a:pP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</a:pP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那么这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个中断的优先级顺序为：中断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7&gt;</a:t>
            </a: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中断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3&gt;</a:t>
            </a: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中断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6</a:t>
            </a: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。 </a:t>
            </a:r>
            <a:endParaRPr lang="zh-CN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5"/>
          <p:cNvGrpSpPr/>
          <p:nvPr/>
        </p:nvGrpSpPr>
        <p:grpSpPr>
          <a:xfrm>
            <a:off x="0" y="0"/>
            <a:ext cx="1389063" cy="1130300"/>
            <a:chOff x="0" y="0"/>
            <a:chExt cx="1471173" cy="1657869"/>
          </a:xfrm>
        </p:grpSpPr>
        <p:sp>
          <p:nvSpPr>
            <p:cNvPr id="21507" name="矩形 10"/>
            <p:cNvSpPr/>
            <p:nvPr/>
          </p:nvSpPr>
          <p:spPr>
            <a:xfrm>
              <a:off x="1" y="658762"/>
              <a:ext cx="1470409" cy="999107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542010" y="7"/>
                </a:cxn>
                <a:cxn ang="0">
                  <a:pos x="538666" y="84687"/>
                </a:cxn>
                <a:cxn ang="0">
                  <a:pos x="267883" y="133995"/>
                </a:cxn>
                <a:cxn ang="0">
                  <a:pos x="444" y="84687"/>
                </a:cxn>
                <a:cxn ang="0">
                  <a:pos x="0" y="7"/>
                </a:cxn>
              </a:cxnLst>
              <a:rect l="0" t="0" r="0" b="0"/>
              <a:pathLst>
                <a:path w="1665778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lnTo>
                    <a:pt x="1655504" y="811720"/>
                  </a:ln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08" name="矩形 10"/>
            <p:cNvSpPr/>
            <p:nvPr/>
          </p:nvSpPr>
          <p:spPr>
            <a:xfrm>
              <a:off x="0" y="0"/>
              <a:ext cx="1471173" cy="115831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542008" y="24"/>
                </a:cxn>
                <a:cxn ang="0">
                  <a:pos x="542289" y="316138"/>
                </a:cxn>
                <a:cxn ang="0">
                  <a:pos x="267882" y="507016"/>
                </a:cxn>
                <a:cxn ang="0">
                  <a:pos x="444" y="320444"/>
                </a:cxn>
                <a:cxn ang="0">
                  <a:pos x="0" y="24"/>
                </a:cxn>
              </a:cxnLst>
              <a:rect l="0" t="0" r="0" b="0"/>
              <a:pathLst>
                <a:path w="1666644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cubicBezTo>
                    <a:pt x="1666067" y="266981"/>
                    <a:pt x="1666355" y="533899"/>
                    <a:pt x="1666644" y="800818"/>
                  </a:cubicBez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509" name="文本框 8"/>
          <p:cNvSpPr txBox="1"/>
          <p:nvPr/>
        </p:nvSpPr>
        <p:spPr>
          <a:xfrm>
            <a:off x="166688" y="0"/>
            <a:ext cx="1173162" cy="829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4.1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510" name="Group 12"/>
          <p:cNvGrpSpPr/>
          <p:nvPr/>
        </p:nvGrpSpPr>
        <p:grpSpPr>
          <a:xfrm rot="10800000">
            <a:off x="10820400" y="5591175"/>
            <a:ext cx="1371600" cy="1266825"/>
            <a:chOff x="0" y="0"/>
            <a:chExt cx="1372279" cy="1266092"/>
          </a:xfrm>
        </p:grpSpPr>
        <p:sp>
          <p:nvSpPr>
            <p:cNvPr id="21511" name="任意多边形 13"/>
            <p:cNvSpPr/>
            <p:nvPr/>
          </p:nvSpPr>
          <p:spPr>
            <a:xfrm>
              <a:off x="1" y="1"/>
              <a:ext cx="1181686" cy="10902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68923" y="0"/>
                </a:cxn>
                <a:cxn ang="0">
                  <a:pos x="1181686" y="126610"/>
                </a:cxn>
                <a:cxn ang="0">
                  <a:pos x="218049" y="1090247"/>
                </a:cxn>
                <a:cxn ang="0">
                  <a:pos x="23843" y="1070669"/>
                </a:cxn>
                <a:cxn ang="0">
                  <a:pos x="0" y="1063268"/>
                </a:cxn>
                <a:cxn ang="0">
                  <a:pos x="0" y="0"/>
                </a:cxn>
              </a:cxnLst>
              <a:rect l="0" t="0" r="0" b="0"/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83919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12" name="任意多边形 14"/>
            <p:cNvSpPr/>
            <p:nvPr/>
          </p:nvSpPr>
          <p:spPr>
            <a:xfrm>
              <a:off x="0" y="0"/>
              <a:ext cx="1372279" cy="12660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90021" y="0"/>
                </a:cxn>
                <a:cxn ang="0">
                  <a:pos x="4539048" y="486330"/>
                </a:cxn>
                <a:cxn ang="0">
                  <a:pos x="837561" y="4187815"/>
                </a:cxn>
                <a:cxn ang="0">
                  <a:pos x="91585" y="4112617"/>
                </a:cxn>
                <a:cxn ang="0">
                  <a:pos x="0" y="4084186"/>
                </a:cxn>
                <a:cxn ang="0">
                  <a:pos x="0" y="0"/>
                </a:cxn>
              </a:cxnLst>
              <a:rect l="0" t="0" r="0" b="0"/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65096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513" name="文本框 16"/>
          <p:cNvSpPr txBox="1"/>
          <p:nvPr/>
        </p:nvSpPr>
        <p:spPr>
          <a:xfrm>
            <a:off x="235585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14" name="文本框 17"/>
          <p:cNvSpPr txBox="1"/>
          <p:nvPr/>
        </p:nvSpPr>
        <p:spPr>
          <a:xfrm>
            <a:off x="3913188" y="3175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15" name="文本框 18"/>
          <p:cNvSpPr txBox="1"/>
          <p:nvPr/>
        </p:nvSpPr>
        <p:spPr>
          <a:xfrm>
            <a:off x="547370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16" name="矩形 9"/>
          <p:cNvSpPr/>
          <p:nvPr/>
        </p:nvSpPr>
        <p:spPr>
          <a:xfrm>
            <a:off x="1054100" y="1284288"/>
            <a:ext cx="9371013" cy="5072062"/>
          </a:xfrm>
          <a:custGeom>
            <a:avLst/>
            <a:gdLst/>
            <a:ahLst/>
            <a:cxnLst>
              <a:cxn ang="0">
                <a:pos x="0" y="379174"/>
              </a:cxn>
              <a:cxn ang="0">
                <a:pos x="1019462" y="0"/>
              </a:cxn>
              <a:cxn ang="0">
                <a:pos x="9643980" y="0"/>
              </a:cxn>
              <a:cxn ang="0">
                <a:pos x="9643980" y="3624048"/>
              </a:cxn>
              <a:cxn ang="0">
                <a:pos x="13072" y="3624048"/>
              </a:cxn>
              <a:cxn ang="0">
                <a:pos x="0" y="379174"/>
              </a:cxn>
            </a:cxnLst>
            <a:rect l="0" t="0" r="0" b="0"/>
            <a:pathLst>
              <a:path w="9638713" h="3620718">
                <a:moveTo>
                  <a:pt x="0" y="378823"/>
                </a:moveTo>
                <a:lnTo>
                  <a:pt x="1018904" y="0"/>
                </a:lnTo>
                <a:lnTo>
                  <a:pt x="9638713" y="0"/>
                </a:lnTo>
                <a:lnTo>
                  <a:pt x="9638713" y="3620718"/>
                </a:lnTo>
                <a:lnTo>
                  <a:pt x="13063" y="3620718"/>
                </a:lnTo>
                <a:cubicBezTo>
                  <a:pt x="8709" y="2540086"/>
                  <a:pt x="4354" y="1459455"/>
                  <a:pt x="0" y="378823"/>
                </a:cubicBezTo>
                <a:close/>
              </a:path>
            </a:pathLst>
          </a:custGeom>
          <a:solidFill>
            <a:srgbClr val="F4B183">
              <a:alpha val="70193"/>
            </a:srgb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17" name="等腰三角形 21"/>
          <p:cNvSpPr/>
          <p:nvPr/>
        </p:nvSpPr>
        <p:spPr>
          <a:xfrm rot="9285132">
            <a:off x="1101725" y="1492250"/>
            <a:ext cx="1162050" cy="488950"/>
          </a:xfrm>
          <a:prstGeom prst="triangle">
            <a:avLst>
              <a:gd name="adj" fmla="val 100000"/>
            </a:avLst>
          </a:prstGeom>
          <a:solidFill>
            <a:srgbClr val="F19C63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1518" name="文本框 18"/>
          <p:cNvSpPr txBox="1"/>
          <p:nvPr/>
        </p:nvSpPr>
        <p:spPr>
          <a:xfrm>
            <a:off x="6904038" y="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357313" y="0"/>
            <a:ext cx="10834688" cy="8747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20" name="TextBox 22"/>
          <p:cNvSpPr txBox="1"/>
          <p:nvPr/>
        </p:nvSpPr>
        <p:spPr>
          <a:xfrm>
            <a:off x="1317625" y="0"/>
            <a:ext cx="5205413" cy="11068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NVIC中断管理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7173" name="TextBox 3"/>
          <p:cNvSpPr txBox="1">
            <a:spLocks noChangeArrowheads="1"/>
          </p:cNvSpPr>
          <p:nvPr/>
        </p:nvSpPr>
        <p:spPr bwMode="auto">
          <a:xfrm>
            <a:off x="1670368" y="1798638"/>
            <a:ext cx="8137525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特别说明：</a:t>
            </a:r>
            <a:endParaRPr kumimoji="0" lang="en-US" altLang="zh-CN" sz="3200" b="1" i="0" u="none" strike="noStrike" kern="1200" cap="none" spc="0" normalizeH="0" baseline="0" noProof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一般情况下，系统代码执行过程中，只设置一次中断优先级分组，比如分组</a:t>
            </a:r>
            <a:r>
              <a: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，设置好分组之后一般不会再改变分组。随意改变分组会导致中断管理混乱，程序出现意想不到的执行结果。</a:t>
            </a:r>
            <a:endParaRPr kumimoji="0" lang="en-US" altLang="zh-CN" sz="2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5"/>
          <p:cNvGrpSpPr/>
          <p:nvPr/>
        </p:nvGrpSpPr>
        <p:grpSpPr>
          <a:xfrm>
            <a:off x="0" y="0"/>
            <a:ext cx="1389063" cy="1130300"/>
            <a:chOff x="0" y="0"/>
            <a:chExt cx="1471173" cy="1657869"/>
          </a:xfrm>
        </p:grpSpPr>
        <p:sp>
          <p:nvSpPr>
            <p:cNvPr id="21507" name="矩形 10"/>
            <p:cNvSpPr/>
            <p:nvPr/>
          </p:nvSpPr>
          <p:spPr>
            <a:xfrm>
              <a:off x="1" y="658762"/>
              <a:ext cx="1470409" cy="999107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542010" y="7"/>
                </a:cxn>
                <a:cxn ang="0">
                  <a:pos x="538666" y="84687"/>
                </a:cxn>
                <a:cxn ang="0">
                  <a:pos x="267883" y="133995"/>
                </a:cxn>
                <a:cxn ang="0">
                  <a:pos x="444" y="84687"/>
                </a:cxn>
                <a:cxn ang="0">
                  <a:pos x="0" y="7"/>
                </a:cxn>
              </a:cxnLst>
              <a:rect l="0" t="0" r="0" b="0"/>
              <a:pathLst>
                <a:path w="1665778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lnTo>
                    <a:pt x="1655504" y="811720"/>
                  </a:ln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08" name="矩形 10"/>
            <p:cNvSpPr/>
            <p:nvPr/>
          </p:nvSpPr>
          <p:spPr>
            <a:xfrm>
              <a:off x="0" y="0"/>
              <a:ext cx="1471173" cy="115831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542008" y="24"/>
                </a:cxn>
                <a:cxn ang="0">
                  <a:pos x="542289" y="316138"/>
                </a:cxn>
                <a:cxn ang="0">
                  <a:pos x="267882" y="507016"/>
                </a:cxn>
                <a:cxn ang="0">
                  <a:pos x="444" y="320444"/>
                </a:cxn>
                <a:cxn ang="0">
                  <a:pos x="0" y="24"/>
                </a:cxn>
              </a:cxnLst>
              <a:rect l="0" t="0" r="0" b="0"/>
              <a:pathLst>
                <a:path w="1666644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cubicBezTo>
                    <a:pt x="1666067" y="266981"/>
                    <a:pt x="1666355" y="533899"/>
                    <a:pt x="1666644" y="800818"/>
                  </a:cubicBez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509" name="文本框 8"/>
          <p:cNvSpPr txBox="1"/>
          <p:nvPr/>
        </p:nvSpPr>
        <p:spPr>
          <a:xfrm>
            <a:off x="166688" y="0"/>
            <a:ext cx="1173162" cy="829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4.1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510" name="Group 12"/>
          <p:cNvGrpSpPr/>
          <p:nvPr/>
        </p:nvGrpSpPr>
        <p:grpSpPr>
          <a:xfrm rot="10800000">
            <a:off x="10820400" y="5591175"/>
            <a:ext cx="1371600" cy="1266825"/>
            <a:chOff x="0" y="0"/>
            <a:chExt cx="1372279" cy="1266092"/>
          </a:xfrm>
        </p:grpSpPr>
        <p:sp>
          <p:nvSpPr>
            <p:cNvPr id="21511" name="任意多边形 13"/>
            <p:cNvSpPr/>
            <p:nvPr/>
          </p:nvSpPr>
          <p:spPr>
            <a:xfrm>
              <a:off x="1" y="1"/>
              <a:ext cx="1181686" cy="10902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68923" y="0"/>
                </a:cxn>
                <a:cxn ang="0">
                  <a:pos x="1181686" y="126610"/>
                </a:cxn>
                <a:cxn ang="0">
                  <a:pos x="218049" y="1090247"/>
                </a:cxn>
                <a:cxn ang="0">
                  <a:pos x="23843" y="1070669"/>
                </a:cxn>
                <a:cxn ang="0">
                  <a:pos x="0" y="1063268"/>
                </a:cxn>
                <a:cxn ang="0">
                  <a:pos x="0" y="0"/>
                </a:cxn>
              </a:cxnLst>
              <a:rect l="0" t="0" r="0" b="0"/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83919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12" name="任意多边形 14"/>
            <p:cNvSpPr/>
            <p:nvPr/>
          </p:nvSpPr>
          <p:spPr>
            <a:xfrm>
              <a:off x="0" y="0"/>
              <a:ext cx="1372279" cy="12660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90021" y="0"/>
                </a:cxn>
                <a:cxn ang="0">
                  <a:pos x="4539048" y="486330"/>
                </a:cxn>
                <a:cxn ang="0">
                  <a:pos x="837561" y="4187815"/>
                </a:cxn>
                <a:cxn ang="0">
                  <a:pos x="91585" y="4112617"/>
                </a:cxn>
                <a:cxn ang="0">
                  <a:pos x="0" y="4084186"/>
                </a:cxn>
                <a:cxn ang="0">
                  <a:pos x="0" y="0"/>
                </a:cxn>
              </a:cxnLst>
              <a:rect l="0" t="0" r="0" b="0"/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65096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513" name="文本框 16"/>
          <p:cNvSpPr txBox="1"/>
          <p:nvPr/>
        </p:nvSpPr>
        <p:spPr>
          <a:xfrm>
            <a:off x="235585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14" name="文本框 17"/>
          <p:cNvSpPr txBox="1"/>
          <p:nvPr/>
        </p:nvSpPr>
        <p:spPr>
          <a:xfrm>
            <a:off x="3913188" y="3175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15" name="文本框 18"/>
          <p:cNvSpPr txBox="1"/>
          <p:nvPr/>
        </p:nvSpPr>
        <p:spPr>
          <a:xfrm>
            <a:off x="547370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16" name="矩形 9"/>
          <p:cNvSpPr/>
          <p:nvPr/>
        </p:nvSpPr>
        <p:spPr>
          <a:xfrm>
            <a:off x="1054100" y="1284288"/>
            <a:ext cx="9371013" cy="5072062"/>
          </a:xfrm>
          <a:custGeom>
            <a:avLst/>
            <a:gdLst/>
            <a:ahLst/>
            <a:cxnLst>
              <a:cxn ang="0">
                <a:pos x="0" y="379174"/>
              </a:cxn>
              <a:cxn ang="0">
                <a:pos x="1019462" y="0"/>
              </a:cxn>
              <a:cxn ang="0">
                <a:pos x="9643980" y="0"/>
              </a:cxn>
              <a:cxn ang="0">
                <a:pos x="9643980" y="3624048"/>
              </a:cxn>
              <a:cxn ang="0">
                <a:pos x="13072" y="3624048"/>
              </a:cxn>
              <a:cxn ang="0">
                <a:pos x="0" y="379174"/>
              </a:cxn>
            </a:cxnLst>
            <a:rect l="0" t="0" r="0" b="0"/>
            <a:pathLst>
              <a:path w="9638713" h="3620718">
                <a:moveTo>
                  <a:pt x="0" y="378823"/>
                </a:moveTo>
                <a:lnTo>
                  <a:pt x="1018904" y="0"/>
                </a:lnTo>
                <a:lnTo>
                  <a:pt x="9638713" y="0"/>
                </a:lnTo>
                <a:lnTo>
                  <a:pt x="9638713" y="3620718"/>
                </a:lnTo>
                <a:lnTo>
                  <a:pt x="13063" y="3620718"/>
                </a:lnTo>
                <a:cubicBezTo>
                  <a:pt x="8709" y="2540086"/>
                  <a:pt x="4354" y="1459455"/>
                  <a:pt x="0" y="378823"/>
                </a:cubicBezTo>
                <a:close/>
              </a:path>
            </a:pathLst>
          </a:custGeom>
          <a:solidFill>
            <a:srgbClr val="F4B183">
              <a:alpha val="70193"/>
            </a:srgb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17" name="等腰三角形 21"/>
          <p:cNvSpPr/>
          <p:nvPr/>
        </p:nvSpPr>
        <p:spPr>
          <a:xfrm rot="9285132">
            <a:off x="1101725" y="1492250"/>
            <a:ext cx="1162050" cy="488950"/>
          </a:xfrm>
          <a:prstGeom prst="triangle">
            <a:avLst>
              <a:gd name="adj" fmla="val 100000"/>
            </a:avLst>
          </a:prstGeom>
          <a:solidFill>
            <a:srgbClr val="F19C63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1518" name="文本框 18"/>
          <p:cNvSpPr txBox="1"/>
          <p:nvPr/>
        </p:nvSpPr>
        <p:spPr>
          <a:xfrm>
            <a:off x="6904038" y="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357313" y="0"/>
            <a:ext cx="10834688" cy="8747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20" name="TextBox 22"/>
          <p:cNvSpPr txBox="1"/>
          <p:nvPr/>
        </p:nvSpPr>
        <p:spPr>
          <a:xfrm>
            <a:off x="1317625" y="0"/>
            <a:ext cx="5205413" cy="11068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NVIC中断管理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8433" name="矩形 1"/>
          <p:cNvSpPr/>
          <p:nvPr/>
        </p:nvSpPr>
        <p:spPr>
          <a:xfrm>
            <a:off x="1639888" y="1757363"/>
            <a:ext cx="7704137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34" name="TextBox 3"/>
          <p:cNvSpPr txBox="1"/>
          <p:nvPr/>
        </p:nvSpPr>
        <p:spPr>
          <a:xfrm>
            <a:off x="1711325" y="1541463"/>
            <a:ext cx="8135938" cy="8302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457200" indent="-457200">
              <a:lnSpc>
                <a:spcPct val="150000"/>
              </a:lnSpc>
              <a:buClrTx/>
              <a:buFont typeface="Wingdings" panose="05000000000000000000" pitchFamily="2" charset="2"/>
              <a:buChar char="u"/>
            </a:pPr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rPr>
              <a:t>中断优先级分组函数： </a:t>
            </a:r>
            <a:endParaRPr lang="en-US" altLang="zh-CN" sz="32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35" name="TextBox 1"/>
          <p:cNvSpPr txBox="1"/>
          <p:nvPr/>
        </p:nvSpPr>
        <p:spPr>
          <a:xfrm>
            <a:off x="2071688" y="2549525"/>
            <a:ext cx="7670800" cy="398780"/>
          </a:xfrm>
          <a:prstGeom prst="rect">
            <a:avLst/>
          </a:prstGeom>
          <a:solidFill>
            <a:srgbClr val="FFFFC1"/>
          </a:solidFill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000" b="1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void NVIC_PriorityGroupConfig(uint32_t NVIC_PriorityGroup);</a:t>
            </a:r>
            <a:endParaRPr lang="zh-CN" altLang="en-US" sz="2000" b="1" i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89150" y="3257550"/>
            <a:ext cx="7224713" cy="17541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void NVIC_PriorityGroupConfig(uint32_t NVIC_PriorityGroup)</a:t>
            </a:r>
            <a:endParaRPr kumimoji="0" lang="zh-CN" altLang="zh-CN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{</a:t>
            </a:r>
            <a:endParaRPr kumimoji="0" lang="zh-CN" altLang="zh-CN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assert_param(IS_NVIC_PRIORITY_GROUP(NVIC_PriorityGroup));</a:t>
            </a:r>
            <a:endParaRPr kumimoji="0" lang="zh-CN" altLang="zh-CN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SCB-&gt;AIRCR = AIRCR_VECTKEY_MASK | NVIC_PriorityGroup;</a:t>
            </a:r>
            <a:endParaRPr kumimoji="0" lang="zh-CN" altLang="zh-CN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}</a:t>
            </a:r>
            <a:endParaRPr kumimoji="0" lang="zh-CN" altLang="zh-CN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89150" y="5357813"/>
            <a:ext cx="7224713" cy="3683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NVIC_PriorityGroupConfig(NVIC_PriorityGroup_2);</a:t>
            </a: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5"/>
          <p:cNvGrpSpPr/>
          <p:nvPr/>
        </p:nvGrpSpPr>
        <p:grpSpPr>
          <a:xfrm>
            <a:off x="0" y="0"/>
            <a:ext cx="1389063" cy="1130300"/>
            <a:chOff x="0" y="0"/>
            <a:chExt cx="1471173" cy="1657869"/>
          </a:xfrm>
        </p:grpSpPr>
        <p:sp>
          <p:nvSpPr>
            <p:cNvPr id="21507" name="矩形 10"/>
            <p:cNvSpPr/>
            <p:nvPr/>
          </p:nvSpPr>
          <p:spPr>
            <a:xfrm>
              <a:off x="1" y="658762"/>
              <a:ext cx="1470409" cy="999107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542010" y="7"/>
                </a:cxn>
                <a:cxn ang="0">
                  <a:pos x="538666" y="84687"/>
                </a:cxn>
                <a:cxn ang="0">
                  <a:pos x="267883" y="133995"/>
                </a:cxn>
                <a:cxn ang="0">
                  <a:pos x="444" y="84687"/>
                </a:cxn>
                <a:cxn ang="0">
                  <a:pos x="0" y="7"/>
                </a:cxn>
              </a:cxnLst>
              <a:rect l="0" t="0" r="0" b="0"/>
              <a:pathLst>
                <a:path w="1665778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lnTo>
                    <a:pt x="1655504" y="811720"/>
                  </a:ln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08" name="矩形 10"/>
            <p:cNvSpPr/>
            <p:nvPr/>
          </p:nvSpPr>
          <p:spPr>
            <a:xfrm>
              <a:off x="0" y="0"/>
              <a:ext cx="1471173" cy="115831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542008" y="24"/>
                </a:cxn>
                <a:cxn ang="0">
                  <a:pos x="542289" y="316138"/>
                </a:cxn>
                <a:cxn ang="0">
                  <a:pos x="267882" y="507016"/>
                </a:cxn>
                <a:cxn ang="0">
                  <a:pos x="444" y="320444"/>
                </a:cxn>
                <a:cxn ang="0">
                  <a:pos x="0" y="24"/>
                </a:cxn>
              </a:cxnLst>
              <a:rect l="0" t="0" r="0" b="0"/>
              <a:pathLst>
                <a:path w="1666644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cubicBezTo>
                    <a:pt x="1666067" y="266981"/>
                    <a:pt x="1666355" y="533899"/>
                    <a:pt x="1666644" y="800818"/>
                  </a:cubicBez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509" name="文本框 8"/>
          <p:cNvSpPr txBox="1"/>
          <p:nvPr/>
        </p:nvSpPr>
        <p:spPr>
          <a:xfrm>
            <a:off x="166688" y="0"/>
            <a:ext cx="1173162" cy="829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4.1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510" name="Group 12"/>
          <p:cNvGrpSpPr/>
          <p:nvPr/>
        </p:nvGrpSpPr>
        <p:grpSpPr>
          <a:xfrm rot="10800000">
            <a:off x="10820400" y="5591175"/>
            <a:ext cx="1371600" cy="1266825"/>
            <a:chOff x="0" y="0"/>
            <a:chExt cx="1372279" cy="1266092"/>
          </a:xfrm>
        </p:grpSpPr>
        <p:sp>
          <p:nvSpPr>
            <p:cNvPr id="21511" name="任意多边形 13"/>
            <p:cNvSpPr/>
            <p:nvPr/>
          </p:nvSpPr>
          <p:spPr>
            <a:xfrm>
              <a:off x="1" y="1"/>
              <a:ext cx="1181686" cy="10902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68923" y="0"/>
                </a:cxn>
                <a:cxn ang="0">
                  <a:pos x="1181686" y="126610"/>
                </a:cxn>
                <a:cxn ang="0">
                  <a:pos x="218049" y="1090247"/>
                </a:cxn>
                <a:cxn ang="0">
                  <a:pos x="23843" y="1070669"/>
                </a:cxn>
                <a:cxn ang="0">
                  <a:pos x="0" y="1063268"/>
                </a:cxn>
                <a:cxn ang="0">
                  <a:pos x="0" y="0"/>
                </a:cxn>
              </a:cxnLst>
              <a:rect l="0" t="0" r="0" b="0"/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83919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12" name="任意多边形 14"/>
            <p:cNvSpPr/>
            <p:nvPr/>
          </p:nvSpPr>
          <p:spPr>
            <a:xfrm>
              <a:off x="0" y="0"/>
              <a:ext cx="1372279" cy="12660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90021" y="0"/>
                </a:cxn>
                <a:cxn ang="0">
                  <a:pos x="4539048" y="486330"/>
                </a:cxn>
                <a:cxn ang="0">
                  <a:pos x="837561" y="4187815"/>
                </a:cxn>
                <a:cxn ang="0">
                  <a:pos x="91585" y="4112617"/>
                </a:cxn>
                <a:cxn ang="0">
                  <a:pos x="0" y="4084186"/>
                </a:cxn>
                <a:cxn ang="0">
                  <a:pos x="0" y="0"/>
                </a:cxn>
              </a:cxnLst>
              <a:rect l="0" t="0" r="0" b="0"/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65096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513" name="文本框 16"/>
          <p:cNvSpPr txBox="1"/>
          <p:nvPr/>
        </p:nvSpPr>
        <p:spPr>
          <a:xfrm>
            <a:off x="235585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14" name="文本框 17"/>
          <p:cNvSpPr txBox="1"/>
          <p:nvPr/>
        </p:nvSpPr>
        <p:spPr>
          <a:xfrm>
            <a:off x="3913188" y="3175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15" name="文本框 18"/>
          <p:cNvSpPr txBox="1"/>
          <p:nvPr/>
        </p:nvSpPr>
        <p:spPr>
          <a:xfrm>
            <a:off x="547370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16" name="矩形 9"/>
          <p:cNvSpPr/>
          <p:nvPr/>
        </p:nvSpPr>
        <p:spPr>
          <a:xfrm>
            <a:off x="1054100" y="1284288"/>
            <a:ext cx="9371013" cy="5072062"/>
          </a:xfrm>
          <a:custGeom>
            <a:avLst/>
            <a:gdLst/>
            <a:ahLst/>
            <a:cxnLst>
              <a:cxn ang="0">
                <a:pos x="0" y="379174"/>
              </a:cxn>
              <a:cxn ang="0">
                <a:pos x="1019462" y="0"/>
              </a:cxn>
              <a:cxn ang="0">
                <a:pos x="9643980" y="0"/>
              </a:cxn>
              <a:cxn ang="0">
                <a:pos x="9643980" y="3624048"/>
              </a:cxn>
              <a:cxn ang="0">
                <a:pos x="13072" y="3624048"/>
              </a:cxn>
              <a:cxn ang="0">
                <a:pos x="0" y="379174"/>
              </a:cxn>
            </a:cxnLst>
            <a:rect l="0" t="0" r="0" b="0"/>
            <a:pathLst>
              <a:path w="9638713" h="3620718">
                <a:moveTo>
                  <a:pt x="0" y="378823"/>
                </a:moveTo>
                <a:lnTo>
                  <a:pt x="1018904" y="0"/>
                </a:lnTo>
                <a:lnTo>
                  <a:pt x="9638713" y="0"/>
                </a:lnTo>
                <a:lnTo>
                  <a:pt x="9638713" y="3620718"/>
                </a:lnTo>
                <a:lnTo>
                  <a:pt x="13063" y="3620718"/>
                </a:lnTo>
                <a:cubicBezTo>
                  <a:pt x="8709" y="2540086"/>
                  <a:pt x="4354" y="1459455"/>
                  <a:pt x="0" y="378823"/>
                </a:cubicBezTo>
                <a:close/>
              </a:path>
            </a:pathLst>
          </a:custGeom>
          <a:solidFill>
            <a:srgbClr val="F4B183">
              <a:alpha val="70193"/>
            </a:srgb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17" name="等腰三角形 21"/>
          <p:cNvSpPr/>
          <p:nvPr/>
        </p:nvSpPr>
        <p:spPr>
          <a:xfrm rot="9285132">
            <a:off x="1101725" y="1492250"/>
            <a:ext cx="1162050" cy="488950"/>
          </a:xfrm>
          <a:prstGeom prst="triangle">
            <a:avLst>
              <a:gd name="adj" fmla="val 100000"/>
            </a:avLst>
          </a:prstGeom>
          <a:solidFill>
            <a:srgbClr val="F19C63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1518" name="文本框 18"/>
          <p:cNvSpPr txBox="1"/>
          <p:nvPr/>
        </p:nvSpPr>
        <p:spPr>
          <a:xfrm>
            <a:off x="6904038" y="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357313" y="0"/>
            <a:ext cx="10834688" cy="8747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20" name="TextBox 22"/>
          <p:cNvSpPr txBox="1"/>
          <p:nvPr/>
        </p:nvSpPr>
        <p:spPr>
          <a:xfrm>
            <a:off x="1317625" y="0"/>
            <a:ext cx="5205413" cy="11068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NVIC中断管理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2529" name="矩形 1"/>
          <p:cNvSpPr/>
          <p:nvPr/>
        </p:nvSpPr>
        <p:spPr>
          <a:xfrm>
            <a:off x="1601788" y="1557338"/>
            <a:ext cx="7704137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1" name="TextBox 3"/>
          <p:cNvSpPr txBox="1"/>
          <p:nvPr/>
        </p:nvSpPr>
        <p:spPr>
          <a:xfrm>
            <a:off x="2033588" y="2205038"/>
            <a:ext cx="7993062" cy="2738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中断优先级控制的寄存器组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IP[240] 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全称是：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Interrupt Priority Registers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240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个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位寄存器，每个中断使用一个寄存器来确定优先级。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STM32F10x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系列一共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60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个可屏蔽中断，使用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IP[59]~IP[0]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每个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IP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寄存器的高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位用来设置抢占和响应优先级（根据分组），低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位没有用到。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2" name="矩形 1"/>
          <p:cNvSpPr/>
          <p:nvPr/>
        </p:nvSpPr>
        <p:spPr>
          <a:xfrm>
            <a:off x="2033905" y="5158105"/>
            <a:ext cx="5793105" cy="460375"/>
          </a:xfrm>
          <a:prstGeom prst="rect">
            <a:avLst/>
          </a:prstGeom>
          <a:solidFill>
            <a:srgbClr val="FFFFC1"/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void NVIC_Init(NVIC_InitTypeDef* NVIC_InitStruct)</a:t>
            </a:r>
            <a:r>
              <a:rPr lang="en-US" altLang="zh-CN" sz="2400" b="1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  <a:endParaRPr lang="zh-CN" altLang="zh-CN" b="1" i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0" name="TextBox 3"/>
          <p:cNvSpPr txBox="1"/>
          <p:nvPr/>
        </p:nvSpPr>
        <p:spPr>
          <a:xfrm>
            <a:off x="1778000" y="1341438"/>
            <a:ext cx="8135938" cy="7350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457200" indent="-457200">
              <a:lnSpc>
                <a:spcPct val="150000"/>
              </a:lnSpc>
              <a:buClrTx/>
              <a:buFont typeface="Wingdings" panose="05000000000000000000" pitchFamily="2" charset="2"/>
              <a:buChar char="u"/>
            </a:pPr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rPr>
              <a:t>对于每个中断怎么设置优先级？ </a:t>
            </a:r>
            <a:endParaRPr lang="en-US" altLang="zh-CN" sz="32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5"/>
          <p:cNvGrpSpPr/>
          <p:nvPr/>
        </p:nvGrpSpPr>
        <p:grpSpPr>
          <a:xfrm>
            <a:off x="0" y="0"/>
            <a:ext cx="1389063" cy="1130300"/>
            <a:chOff x="0" y="0"/>
            <a:chExt cx="1471173" cy="1657869"/>
          </a:xfrm>
        </p:grpSpPr>
        <p:sp>
          <p:nvSpPr>
            <p:cNvPr id="21507" name="矩形 10"/>
            <p:cNvSpPr/>
            <p:nvPr/>
          </p:nvSpPr>
          <p:spPr>
            <a:xfrm>
              <a:off x="1" y="658762"/>
              <a:ext cx="1470409" cy="999107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542010" y="7"/>
                </a:cxn>
                <a:cxn ang="0">
                  <a:pos x="538666" y="84687"/>
                </a:cxn>
                <a:cxn ang="0">
                  <a:pos x="267883" y="133995"/>
                </a:cxn>
                <a:cxn ang="0">
                  <a:pos x="444" y="84687"/>
                </a:cxn>
                <a:cxn ang="0">
                  <a:pos x="0" y="7"/>
                </a:cxn>
              </a:cxnLst>
              <a:rect l="0" t="0" r="0" b="0"/>
              <a:pathLst>
                <a:path w="1665778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lnTo>
                    <a:pt x="1655504" y="811720"/>
                  </a:ln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08" name="矩形 10"/>
            <p:cNvSpPr/>
            <p:nvPr/>
          </p:nvSpPr>
          <p:spPr>
            <a:xfrm>
              <a:off x="0" y="0"/>
              <a:ext cx="1471173" cy="115831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542008" y="24"/>
                </a:cxn>
                <a:cxn ang="0">
                  <a:pos x="542289" y="316138"/>
                </a:cxn>
                <a:cxn ang="0">
                  <a:pos x="267882" y="507016"/>
                </a:cxn>
                <a:cxn ang="0">
                  <a:pos x="444" y="320444"/>
                </a:cxn>
                <a:cxn ang="0">
                  <a:pos x="0" y="24"/>
                </a:cxn>
              </a:cxnLst>
              <a:rect l="0" t="0" r="0" b="0"/>
              <a:pathLst>
                <a:path w="1666644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cubicBezTo>
                    <a:pt x="1666067" y="266981"/>
                    <a:pt x="1666355" y="533899"/>
                    <a:pt x="1666644" y="800818"/>
                  </a:cubicBez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509" name="文本框 8"/>
          <p:cNvSpPr txBox="1"/>
          <p:nvPr/>
        </p:nvSpPr>
        <p:spPr>
          <a:xfrm>
            <a:off x="166688" y="0"/>
            <a:ext cx="1173162" cy="829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4.1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510" name="Group 12"/>
          <p:cNvGrpSpPr/>
          <p:nvPr/>
        </p:nvGrpSpPr>
        <p:grpSpPr>
          <a:xfrm rot="10800000">
            <a:off x="10820400" y="5591175"/>
            <a:ext cx="1371600" cy="1266825"/>
            <a:chOff x="0" y="0"/>
            <a:chExt cx="1372279" cy="1266092"/>
          </a:xfrm>
        </p:grpSpPr>
        <p:sp>
          <p:nvSpPr>
            <p:cNvPr id="21511" name="任意多边形 13"/>
            <p:cNvSpPr/>
            <p:nvPr/>
          </p:nvSpPr>
          <p:spPr>
            <a:xfrm>
              <a:off x="1" y="1"/>
              <a:ext cx="1181686" cy="10902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68923" y="0"/>
                </a:cxn>
                <a:cxn ang="0">
                  <a:pos x="1181686" y="126610"/>
                </a:cxn>
                <a:cxn ang="0">
                  <a:pos x="218049" y="1090247"/>
                </a:cxn>
                <a:cxn ang="0">
                  <a:pos x="23843" y="1070669"/>
                </a:cxn>
                <a:cxn ang="0">
                  <a:pos x="0" y="1063268"/>
                </a:cxn>
                <a:cxn ang="0">
                  <a:pos x="0" y="0"/>
                </a:cxn>
              </a:cxnLst>
              <a:rect l="0" t="0" r="0" b="0"/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83919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12" name="任意多边形 14"/>
            <p:cNvSpPr/>
            <p:nvPr/>
          </p:nvSpPr>
          <p:spPr>
            <a:xfrm>
              <a:off x="0" y="0"/>
              <a:ext cx="1372279" cy="12660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90021" y="0"/>
                </a:cxn>
                <a:cxn ang="0">
                  <a:pos x="4539048" y="486330"/>
                </a:cxn>
                <a:cxn ang="0">
                  <a:pos x="837561" y="4187815"/>
                </a:cxn>
                <a:cxn ang="0">
                  <a:pos x="91585" y="4112617"/>
                </a:cxn>
                <a:cxn ang="0">
                  <a:pos x="0" y="4084186"/>
                </a:cxn>
                <a:cxn ang="0">
                  <a:pos x="0" y="0"/>
                </a:cxn>
              </a:cxnLst>
              <a:rect l="0" t="0" r="0" b="0"/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65096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513" name="文本框 16"/>
          <p:cNvSpPr txBox="1"/>
          <p:nvPr/>
        </p:nvSpPr>
        <p:spPr>
          <a:xfrm>
            <a:off x="235585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14" name="文本框 17"/>
          <p:cNvSpPr txBox="1"/>
          <p:nvPr/>
        </p:nvSpPr>
        <p:spPr>
          <a:xfrm>
            <a:off x="3913188" y="3175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15" name="文本框 18"/>
          <p:cNvSpPr txBox="1"/>
          <p:nvPr/>
        </p:nvSpPr>
        <p:spPr>
          <a:xfrm>
            <a:off x="547370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16" name="矩形 9"/>
          <p:cNvSpPr/>
          <p:nvPr/>
        </p:nvSpPr>
        <p:spPr>
          <a:xfrm>
            <a:off x="1054100" y="1284288"/>
            <a:ext cx="9371013" cy="5072062"/>
          </a:xfrm>
          <a:custGeom>
            <a:avLst/>
            <a:gdLst/>
            <a:ahLst/>
            <a:cxnLst>
              <a:cxn ang="0">
                <a:pos x="0" y="379174"/>
              </a:cxn>
              <a:cxn ang="0">
                <a:pos x="1019462" y="0"/>
              </a:cxn>
              <a:cxn ang="0">
                <a:pos x="9643980" y="0"/>
              </a:cxn>
              <a:cxn ang="0">
                <a:pos x="9643980" y="3624048"/>
              </a:cxn>
              <a:cxn ang="0">
                <a:pos x="13072" y="3624048"/>
              </a:cxn>
              <a:cxn ang="0">
                <a:pos x="0" y="379174"/>
              </a:cxn>
            </a:cxnLst>
            <a:rect l="0" t="0" r="0" b="0"/>
            <a:pathLst>
              <a:path w="9638713" h="3620718">
                <a:moveTo>
                  <a:pt x="0" y="378823"/>
                </a:moveTo>
                <a:lnTo>
                  <a:pt x="1018904" y="0"/>
                </a:lnTo>
                <a:lnTo>
                  <a:pt x="9638713" y="0"/>
                </a:lnTo>
                <a:lnTo>
                  <a:pt x="9638713" y="3620718"/>
                </a:lnTo>
                <a:lnTo>
                  <a:pt x="13063" y="3620718"/>
                </a:lnTo>
                <a:cubicBezTo>
                  <a:pt x="8709" y="2540086"/>
                  <a:pt x="4354" y="1459455"/>
                  <a:pt x="0" y="378823"/>
                </a:cubicBezTo>
                <a:close/>
              </a:path>
            </a:pathLst>
          </a:custGeom>
          <a:solidFill>
            <a:srgbClr val="F4B183">
              <a:alpha val="70193"/>
            </a:srgb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17" name="等腰三角形 21"/>
          <p:cNvSpPr/>
          <p:nvPr/>
        </p:nvSpPr>
        <p:spPr>
          <a:xfrm rot="9285132">
            <a:off x="1101725" y="1492250"/>
            <a:ext cx="1162050" cy="488950"/>
          </a:xfrm>
          <a:prstGeom prst="triangle">
            <a:avLst>
              <a:gd name="adj" fmla="val 100000"/>
            </a:avLst>
          </a:prstGeom>
          <a:solidFill>
            <a:srgbClr val="F19C63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1518" name="文本框 18"/>
          <p:cNvSpPr txBox="1"/>
          <p:nvPr/>
        </p:nvSpPr>
        <p:spPr>
          <a:xfrm>
            <a:off x="6904038" y="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357313" y="0"/>
            <a:ext cx="10834688" cy="8747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20" name="TextBox 22"/>
          <p:cNvSpPr txBox="1"/>
          <p:nvPr/>
        </p:nvSpPr>
        <p:spPr>
          <a:xfrm>
            <a:off x="1317625" y="0"/>
            <a:ext cx="5205413" cy="11068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NVIC中断管理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3553" name="矩形 1"/>
          <p:cNvSpPr/>
          <p:nvPr/>
        </p:nvSpPr>
        <p:spPr>
          <a:xfrm>
            <a:off x="1582738" y="1690688"/>
            <a:ext cx="7704137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54" name="TextBox 3"/>
          <p:cNvSpPr txBox="1"/>
          <p:nvPr/>
        </p:nvSpPr>
        <p:spPr>
          <a:xfrm>
            <a:off x="1654175" y="1474788"/>
            <a:ext cx="8135938" cy="7397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457200" indent="-457200">
              <a:lnSpc>
                <a:spcPct val="150000"/>
              </a:lnSpc>
              <a:buClrTx/>
              <a:buFont typeface="Wingdings" panose="05000000000000000000" pitchFamily="2" charset="2"/>
              <a:buChar char="u"/>
            </a:pPr>
            <a:r>
              <a:rPr lang="zh-CN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中断使能寄存器组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ISER[8]</a:t>
            </a:r>
            <a:endParaRPr lang="en-US" altLang="zh-CN" sz="32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55" name="TextBox 3"/>
          <p:cNvSpPr txBox="1"/>
          <p:nvPr/>
        </p:nvSpPr>
        <p:spPr>
          <a:xfrm>
            <a:off x="1808163" y="3201988"/>
            <a:ext cx="8270875" cy="19399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32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位寄存器，每个位控制一个中断的使能。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STM32F10x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只有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60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个可屏蔽中断，所以只使用了其中的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ISER[0]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ISER[1]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ISER[0]</a:t>
            </a: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bit0~bit31</a:t>
            </a: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分别对应中断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0~31</a:t>
            </a: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ISER[1]</a:t>
            </a: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bit0~27</a:t>
            </a: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对应中断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32~59</a:t>
            </a: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；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56" name="TextBox 5"/>
          <p:cNvSpPr txBox="1"/>
          <p:nvPr/>
        </p:nvSpPr>
        <p:spPr>
          <a:xfrm>
            <a:off x="1808163" y="2409825"/>
            <a:ext cx="3430587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作用：用来使能中断</a:t>
            </a:r>
            <a:endParaRPr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57" name="矩形 6"/>
          <p:cNvSpPr/>
          <p:nvPr/>
        </p:nvSpPr>
        <p:spPr>
          <a:xfrm>
            <a:off x="1941830" y="5291455"/>
            <a:ext cx="5818505" cy="460375"/>
          </a:xfrm>
          <a:prstGeom prst="rect">
            <a:avLst/>
          </a:prstGeom>
          <a:solidFill>
            <a:srgbClr val="FFFFC1"/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void NVIC_Init(NVIC_InitTypeDef* NVIC_InitStruct)</a:t>
            </a:r>
            <a:r>
              <a:rPr lang="en-US" altLang="zh-CN" sz="2400" b="1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  <a:endParaRPr lang="zh-CN" altLang="zh-CN" b="1" i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5"/>
          <p:cNvGrpSpPr/>
          <p:nvPr/>
        </p:nvGrpSpPr>
        <p:grpSpPr>
          <a:xfrm>
            <a:off x="0" y="0"/>
            <a:ext cx="1389063" cy="1130300"/>
            <a:chOff x="0" y="0"/>
            <a:chExt cx="1471173" cy="1657869"/>
          </a:xfrm>
        </p:grpSpPr>
        <p:sp>
          <p:nvSpPr>
            <p:cNvPr id="21507" name="矩形 10"/>
            <p:cNvSpPr/>
            <p:nvPr/>
          </p:nvSpPr>
          <p:spPr>
            <a:xfrm>
              <a:off x="1" y="658762"/>
              <a:ext cx="1470409" cy="999107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542010" y="7"/>
                </a:cxn>
                <a:cxn ang="0">
                  <a:pos x="538666" y="84687"/>
                </a:cxn>
                <a:cxn ang="0">
                  <a:pos x="267883" y="133995"/>
                </a:cxn>
                <a:cxn ang="0">
                  <a:pos x="444" y="84687"/>
                </a:cxn>
                <a:cxn ang="0">
                  <a:pos x="0" y="7"/>
                </a:cxn>
              </a:cxnLst>
              <a:rect l="0" t="0" r="0" b="0"/>
              <a:pathLst>
                <a:path w="1665778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lnTo>
                    <a:pt x="1655504" y="811720"/>
                  </a:ln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08" name="矩形 10"/>
            <p:cNvSpPr/>
            <p:nvPr/>
          </p:nvSpPr>
          <p:spPr>
            <a:xfrm>
              <a:off x="0" y="0"/>
              <a:ext cx="1471173" cy="115831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542008" y="24"/>
                </a:cxn>
                <a:cxn ang="0">
                  <a:pos x="542289" y="316138"/>
                </a:cxn>
                <a:cxn ang="0">
                  <a:pos x="267882" y="507016"/>
                </a:cxn>
                <a:cxn ang="0">
                  <a:pos x="444" y="320444"/>
                </a:cxn>
                <a:cxn ang="0">
                  <a:pos x="0" y="24"/>
                </a:cxn>
              </a:cxnLst>
              <a:rect l="0" t="0" r="0" b="0"/>
              <a:pathLst>
                <a:path w="1666644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cubicBezTo>
                    <a:pt x="1666067" y="266981"/>
                    <a:pt x="1666355" y="533899"/>
                    <a:pt x="1666644" y="800818"/>
                  </a:cubicBez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509" name="文本框 8"/>
          <p:cNvSpPr txBox="1"/>
          <p:nvPr/>
        </p:nvSpPr>
        <p:spPr>
          <a:xfrm>
            <a:off x="166688" y="0"/>
            <a:ext cx="1173162" cy="829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4.1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510" name="Group 12"/>
          <p:cNvGrpSpPr/>
          <p:nvPr/>
        </p:nvGrpSpPr>
        <p:grpSpPr>
          <a:xfrm rot="10800000">
            <a:off x="10820400" y="5591175"/>
            <a:ext cx="1371600" cy="1266825"/>
            <a:chOff x="0" y="0"/>
            <a:chExt cx="1372279" cy="1266092"/>
          </a:xfrm>
        </p:grpSpPr>
        <p:sp>
          <p:nvSpPr>
            <p:cNvPr id="21511" name="任意多边形 13"/>
            <p:cNvSpPr/>
            <p:nvPr/>
          </p:nvSpPr>
          <p:spPr>
            <a:xfrm>
              <a:off x="1" y="1"/>
              <a:ext cx="1181686" cy="10902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68923" y="0"/>
                </a:cxn>
                <a:cxn ang="0">
                  <a:pos x="1181686" y="126610"/>
                </a:cxn>
                <a:cxn ang="0">
                  <a:pos x="218049" y="1090247"/>
                </a:cxn>
                <a:cxn ang="0">
                  <a:pos x="23843" y="1070669"/>
                </a:cxn>
                <a:cxn ang="0">
                  <a:pos x="0" y="1063268"/>
                </a:cxn>
                <a:cxn ang="0">
                  <a:pos x="0" y="0"/>
                </a:cxn>
              </a:cxnLst>
              <a:rect l="0" t="0" r="0" b="0"/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83919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12" name="任意多边形 14"/>
            <p:cNvSpPr/>
            <p:nvPr/>
          </p:nvSpPr>
          <p:spPr>
            <a:xfrm>
              <a:off x="0" y="0"/>
              <a:ext cx="1372279" cy="12660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90021" y="0"/>
                </a:cxn>
                <a:cxn ang="0">
                  <a:pos x="4539048" y="486330"/>
                </a:cxn>
                <a:cxn ang="0">
                  <a:pos x="837561" y="4187815"/>
                </a:cxn>
                <a:cxn ang="0">
                  <a:pos x="91585" y="4112617"/>
                </a:cxn>
                <a:cxn ang="0">
                  <a:pos x="0" y="4084186"/>
                </a:cxn>
                <a:cxn ang="0">
                  <a:pos x="0" y="0"/>
                </a:cxn>
              </a:cxnLst>
              <a:rect l="0" t="0" r="0" b="0"/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65096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513" name="文本框 16"/>
          <p:cNvSpPr txBox="1"/>
          <p:nvPr/>
        </p:nvSpPr>
        <p:spPr>
          <a:xfrm>
            <a:off x="235585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14" name="文本框 17"/>
          <p:cNvSpPr txBox="1"/>
          <p:nvPr/>
        </p:nvSpPr>
        <p:spPr>
          <a:xfrm>
            <a:off x="3913188" y="3175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15" name="文本框 18"/>
          <p:cNvSpPr txBox="1"/>
          <p:nvPr/>
        </p:nvSpPr>
        <p:spPr>
          <a:xfrm>
            <a:off x="547370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16" name="矩形 9"/>
          <p:cNvSpPr/>
          <p:nvPr/>
        </p:nvSpPr>
        <p:spPr>
          <a:xfrm>
            <a:off x="1054100" y="1284288"/>
            <a:ext cx="9371013" cy="5072062"/>
          </a:xfrm>
          <a:custGeom>
            <a:avLst/>
            <a:gdLst/>
            <a:ahLst/>
            <a:cxnLst>
              <a:cxn ang="0">
                <a:pos x="0" y="379174"/>
              </a:cxn>
              <a:cxn ang="0">
                <a:pos x="1019462" y="0"/>
              </a:cxn>
              <a:cxn ang="0">
                <a:pos x="9643980" y="0"/>
              </a:cxn>
              <a:cxn ang="0">
                <a:pos x="9643980" y="3624048"/>
              </a:cxn>
              <a:cxn ang="0">
                <a:pos x="13072" y="3624048"/>
              </a:cxn>
              <a:cxn ang="0">
                <a:pos x="0" y="379174"/>
              </a:cxn>
            </a:cxnLst>
            <a:rect l="0" t="0" r="0" b="0"/>
            <a:pathLst>
              <a:path w="9638713" h="3620718">
                <a:moveTo>
                  <a:pt x="0" y="378823"/>
                </a:moveTo>
                <a:lnTo>
                  <a:pt x="1018904" y="0"/>
                </a:lnTo>
                <a:lnTo>
                  <a:pt x="9638713" y="0"/>
                </a:lnTo>
                <a:lnTo>
                  <a:pt x="9638713" y="3620718"/>
                </a:lnTo>
                <a:lnTo>
                  <a:pt x="13063" y="3620718"/>
                </a:lnTo>
                <a:cubicBezTo>
                  <a:pt x="8709" y="2540086"/>
                  <a:pt x="4354" y="1459455"/>
                  <a:pt x="0" y="378823"/>
                </a:cubicBezTo>
                <a:close/>
              </a:path>
            </a:pathLst>
          </a:custGeom>
          <a:solidFill>
            <a:srgbClr val="F4B183">
              <a:alpha val="70193"/>
            </a:srgb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17" name="等腰三角形 21"/>
          <p:cNvSpPr/>
          <p:nvPr/>
        </p:nvSpPr>
        <p:spPr>
          <a:xfrm rot="9285132">
            <a:off x="1101725" y="1492250"/>
            <a:ext cx="1162050" cy="488950"/>
          </a:xfrm>
          <a:prstGeom prst="triangle">
            <a:avLst>
              <a:gd name="adj" fmla="val 100000"/>
            </a:avLst>
          </a:prstGeom>
          <a:solidFill>
            <a:srgbClr val="F19C63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1518" name="文本框 18"/>
          <p:cNvSpPr txBox="1"/>
          <p:nvPr/>
        </p:nvSpPr>
        <p:spPr>
          <a:xfrm>
            <a:off x="6904038" y="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357313" y="0"/>
            <a:ext cx="10834688" cy="8747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20" name="TextBox 22"/>
          <p:cNvSpPr txBox="1"/>
          <p:nvPr/>
        </p:nvSpPr>
        <p:spPr>
          <a:xfrm>
            <a:off x="1317625" y="0"/>
            <a:ext cx="5205413" cy="11068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NVIC中断管理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525588" y="1557338"/>
            <a:ext cx="7704137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78" name="TextBox 3"/>
          <p:cNvSpPr txBox="1"/>
          <p:nvPr/>
        </p:nvSpPr>
        <p:spPr>
          <a:xfrm>
            <a:off x="1597025" y="1341438"/>
            <a:ext cx="8135938" cy="8302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457200" indent="-457200">
              <a:lnSpc>
                <a:spcPct val="150000"/>
              </a:lnSpc>
              <a:buClrTx/>
              <a:buFont typeface="Wingdings" panose="05000000000000000000" pitchFamily="2" charset="2"/>
              <a:buChar char="u"/>
            </a:pPr>
            <a:r>
              <a:rPr lang="zh-CN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中断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</a:rPr>
              <a:t>失</a:t>
            </a:r>
            <a:r>
              <a:rPr lang="zh-CN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能寄存器组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ICER[8]</a:t>
            </a:r>
            <a:endParaRPr lang="en-US" altLang="zh-CN" sz="32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751013" y="2781300"/>
            <a:ext cx="8270875" cy="26765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32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位寄存器，每个位控制一个中断的失能。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STM32F10x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只有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60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个可屏蔽中断，所以只使用了其中的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ICER[0]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ICER[1]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ICER[0]</a:t>
            </a: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bit0~bit31</a:t>
            </a: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分别对应中断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0~31</a:t>
            </a: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ICER[1]</a:t>
            </a: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bit0~27</a:t>
            </a: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对应中断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32~59</a:t>
            </a: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；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配置方法跟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ISER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一样。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1751013" y="2141538"/>
            <a:ext cx="3430587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作用：用来失能中断</a:t>
            </a:r>
            <a:endParaRPr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矩形 1"/>
          <p:cNvSpPr/>
          <p:nvPr/>
        </p:nvSpPr>
        <p:spPr>
          <a:xfrm>
            <a:off x="1812925" y="5589905"/>
            <a:ext cx="5832475" cy="460375"/>
          </a:xfrm>
          <a:prstGeom prst="rect">
            <a:avLst/>
          </a:prstGeom>
          <a:solidFill>
            <a:srgbClr val="FFFFC1"/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void NVIC_Init(NVIC_InitTypeDef* NVIC_InitStruct)</a:t>
            </a:r>
            <a:r>
              <a:rPr lang="en-US" altLang="zh-CN" sz="2400" b="1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  <a:endParaRPr lang="zh-CN" altLang="zh-CN" b="1" i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5"/>
          <p:cNvGrpSpPr/>
          <p:nvPr/>
        </p:nvGrpSpPr>
        <p:grpSpPr>
          <a:xfrm>
            <a:off x="0" y="0"/>
            <a:ext cx="1389063" cy="1130300"/>
            <a:chOff x="0" y="0"/>
            <a:chExt cx="1471173" cy="1657869"/>
          </a:xfrm>
        </p:grpSpPr>
        <p:sp>
          <p:nvSpPr>
            <p:cNvPr id="21507" name="矩形 10"/>
            <p:cNvSpPr/>
            <p:nvPr/>
          </p:nvSpPr>
          <p:spPr>
            <a:xfrm>
              <a:off x="1" y="658762"/>
              <a:ext cx="1470409" cy="999107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542010" y="7"/>
                </a:cxn>
                <a:cxn ang="0">
                  <a:pos x="538666" y="84687"/>
                </a:cxn>
                <a:cxn ang="0">
                  <a:pos x="267883" y="133995"/>
                </a:cxn>
                <a:cxn ang="0">
                  <a:pos x="444" y="84687"/>
                </a:cxn>
                <a:cxn ang="0">
                  <a:pos x="0" y="7"/>
                </a:cxn>
              </a:cxnLst>
              <a:rect l="0" t="0" r="0" b="0"/>
              <a:pathLst>
                <a:path w="1665778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lnTo>
                    <a:pt x="1655504" y="811720"/>
                  </a:ln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08" name="矩形 10"/>
            <p:cNvSpPr/>
            <p:nvPr/>
          </p:nvSpPr>
          <p:spPr>
            <a:xfrm>
              <a:off x="0" y="0"/>
              <a:ext cx="1471173" cy="115831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542008" y="24"/>
                </a:cxn>
                <a:cxn ang="0">
                  <a:pos x="542289" y="316138"/>
                </a:cxn>
                <a:cxn ang="0">
                  <a:pos x="267882" y="507016"/>
                </a:cxn>
                <a:cxn ang="0">
                  <a:pos x="444" y="320444"/>
                </a:cxn>
                <a:cxn ang="0">
                  <a:pos x="0" y="24"/>
                </a:cxn>
              </a:cxnLst>
              <a:rect l="0" t="0" r="0" b="0"/>
              <a:pathLst>
                <a:path w="1666644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cubicBezTo>
                    <a:pt x="1666067" y="266981"/>
                    <a:pt x="1666355" y="533899"/>
                    <a:pt x="1666644" y="800818"/>
                  </a:cubicBez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509" name="文本框 8"/>
          <p:cNvSpPr txBox="1"/>
          <p:nvPr/>
        </p:nvSpPr>
        <p:spPr>
          <a:xfrm>
            <a:off x="166688" y="0"/>
            <a:ext cx="1173162" cy="829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4.1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510" name="Group 12"/>
          <p:cNvGrpSpPr/>
          <p:nvPr/>
        </p:nvGrpSpPr>
        <p:grpSpPr>
          <a:xfrm rot="10800000">
            <a:off x="10820400" y="5591175"/>
            <a:ext cx="1371600" cy="1266825"/>
            <a:chOff x="0" y="0"/>
            <a:chExt cx="1372279" cy="1266092"/>
          </a:xfrm>
        </p:grpSpPr>
        <p:sp>
          <p:nvSpPr>
            <p:cNvPr id="21511" name="任意多边形 13"/>
            <p:cNvSpPr/>
            <p:nvPr/>
          </p:nvSpPr>
          <p:spPr>
            <a:xfrm>
              <a:off x="1" y="1"/>
              <a:ext cx="1181686" cy="10902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68923" y="0"/>
                </a:cxn>
                <a:cxn ang="0">
                  <a:pos x="1181686" y="126610"/>
                </a:cxn>
                <a:cxn ang="0">
                  <a:pos x="218049" y="1090247"/>
                </a:cxn>
                <a:cxn ang="0">
                  <a:pos x="23843" y="1070669"/>
                </a:cxn>
                <a:cxn ang="0">
                  <a:pos x="0" y="1063268"/>
                </a:cxn>
                <a:cxn ang="0">
                  <a:pos x="0" y="0"/>
                </a:cxn>
              </a:cxnLst>
              <a:rect l="0" t="0" r="0" b="0"/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83919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12" name="任意多边形 14"/>
            <p:cNvSpPr/>
            <p:nvPr/>
          </p:nvSpPr>
          <p:spPr>
            <a:xfrm>
              <a:off x="0" y="0"/>
              <a:ext cx="1372279" cy="12660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90021" y="0"/>
                </a:cxn>
                <a:cxn ang="0">
                  <a:pos x="4539048" y="486330"/>
                </a:cxn>
                <a:cxn ang="0">
                  <a:pos x="837561" y="4187815"/>
                </a:cxn>
                <a:cxn ang="0">
                  <a:pos x="91585" y="4112617"/>
                </a:cxn>
                <a:cxn ang="0">
                  <a:pos x="0" y="4084186"/>
                </a:cxn>
                <a:cxn ang="0">
                  <a:pos x="0" y="0"/>
                </a:cxn>
              </a:cxnLst>
              <a:rect l="0" t="0" r="0" b="0"/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65096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513" name="文本框 16"/>
          <p:cNvSpPr txBox="1"/>
          <p:nvPr/>
        </p:nvSpPr>
        <p:spPr>
          <a:xfrm>
            <a:off x="235585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14" name="文本框 17"/>
          <p:cNvSpPr txBox="1"/>
          <p:nvPr/>
        </p:nvSpPr>
        <p:spPr>
          <a:xfrm>
            <a:off x="3913188" y="3175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15" name="文本框 18"/>
          <p:cNvSpPr txBox="1"/>
          <p:nvPr/>
        </p:nvSpPr>
        <p:spPr>
          <a:xfrm>
            <a:off x="547370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16" name="矩形 9"/>
          <p:cNvSpPr/>
          <p:nvPr/>
        </p:nvSpPr>
        <p:spPr>
          <a:xfrm>
            <a:off x="1054100" y="1284288"/>
            <a:ext cx="9371013" cy="5072062"/>
          </a:xfrm>
          <a:custGeom>
            <a:avLst/>
            <a:gdLst/>
            <a:ahLst/>
            <a:cxnLst>
              <a:cxn ang="0">
                <a:pos x="0" y="379174"/>
              </a:cxn>
              <a:cxn ang="0">
                <a:pos x="1019462" y="0"/>
              </a:cxn>
              <a:cxn ang="0">
                <a:pos x="9643980" y="0"/>
              </a:cxn>
              <a:cxn ang="0">
                <a:pos x="9643980" y="3624048"/>
              </a:cxn>
              <a:cxn ang="0">
                <a:pos x="13072" y="3624048"/>
              </a:cxn>
              <a:cxn ang="0">
                <a:pos x="0" y="379174"/>
              </a:cxn>
            </a:cxnLst>
            <a:rect l="0" t="0" r="0" b="0"/>
            <a:pathLst>
              <a:path w="9638713" h="3620718">
                <a:moveTo>
                  <a:pt x="0" y="378823"/>
                </a:moveTo>
                <a:lnTo>
                  <a:pt x="1018904" y="0"/>
                </a:lnTo>
                <a:lnTo>
                  <a:pt x="9638713" y="0"/>
                </a:lnTo>
                <a:lnTo>
                  <a:pt x="9638713" y="3620718"/>
                </a:lnTo>
                <a:lnTo>
                  <a:pt x="13063" y="3620718"/>
                </a:lnTo>
                <a:cubicBezTo>
                  <a:pt x="8709" y="2540086"/>
                  <a:pt x="4354" y="1459455"/>
                  <a:pt x="0" y="378823"/>
                </a:cubicBezTo>
                <a:close/>
              </a:path>
            </a:pathLst>
          </a:custGeom>
          <a:solidFill>
            <a:srgbClr val="F4B183">
              <a:alpha val="70193"/>
            </a:srgb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17" name="等腰三角形 21"/>
          <p:cNvSpPr/>
          <p:nvPr/>
        </p:nvSpPr>
        <p:spPr>
          <a:xfrm rot="9285132">
            <a:off x="1101725" y="1492250"/>
            <a:ext cx="1162050" cy="488950"/>
          </a:xfrm>
          <a:prstGeom prst="triangle">
            <a:avLst>
              <a:gd name="adj" fmla="val 100000"/>
            </a:avLst>
          </a:prstGeom>
          <a:solidFill>
            <a:srgbClr val="F19C63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1518" name="文本框 18"/>
          <p:cNvSpPr txBox="1"/>
          <p:nvPr/>
        </p:nvSpPr>
        <p:spPr>
          <a:xfrm>
            <a:off x="6904038" y="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357313" y="0"/>
            <a:ext cx="10834688" cy="8747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20" name="TextBox 22"/>
          <p:cNvSpPr txBox="1"/>
          <p:nvPr/>
        </p:nvSpPr>
        <p:spPr>
          <a:xfrm>
            <a:off x="1317625" y="0"/>
            <a:ext cx="5205413" cy="11068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NVIC中断管理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858963" y="1843088"/>
            <a:ext cx="7704137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02" name="TextBox 3"/>
          <p:cNvSpPr txBox="1"/>
          <p:nvPr/>
        </p:nvSpPr>
        <p:spPr>
          <a:xfrm>
            <a:off x="1930400" y="1627188"/>
            <a:ext cx="8135938" cy="7381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457200" indent="-457200">
              <a:lnSpc>
                <a:spcPct val="150000"/>
              </a:lnSpc>
              <a:buClrTx/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中断挂起控制寄存器组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ISPR[8]</a:t>
            </a:r>
            <a:endParaRPr lang="en-US" altLang="zh-CN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TextBox 6"/>
          <p:cNvSpPr txBox="1"/>
          <p:nvPr/>
        </p:nvSpPr>
        <p:spPr>
          <a:xfrm>
            <a:off x="2433638" y="2300288"/>
            <a:ext cx="2970212" cy="4619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作用：用来挂起中断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30400" y="2616200"/>
            <a:ext cx="8135938" cy="7381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457200" indent="-457200">
              <a:lnSpc>
                <a:spcPct val="150000"/>
              </a:lnSpc>
              <a:buClrTx/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中断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解挂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控制寄存器组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ICPR[8]</a:t>
            </a:r>
            <a:endParaRPr lang="en-US" altLang="zh-CN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TextBox 8"/>
          <p:cNvSpPr txBox="1"/>
          <p:nvPr/>
        </p:nvSpPr>
        <p:spPr>
          <a:xfrm>
            <a:off x="2462213" y="3354388"/>
            <a:ext cx="2968625" cy="4619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作用：用来解挂中断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TextBox 9"/>
          <p:cNvSpPr txBox="1"/>
          <p:nvPr/>
        </p:nvSpPr>
        <p:spPr>
          <a:xfrm>
            <a:off x="2097088" y="4002088"/>
            <a:ext cx="7473950" cy="923925"/>
          </a:xfrm>
          <a:prstGeom prst="rect">
            <a:avLst/>
          </a:prstGeom>
          <a:solidFill>
            <a:srgbClr val="FFFFC1"/>
          </a:solidFill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static __INLINE void NVIC_SetPendingIRQ(IRQn_Type IRQn)</a:t>
            </a:r>
            <a:r>
              <a:rPr lang="zh-CN" altLang="en-US" b="1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；</a:t>
            </a:r>
            <a:endParaRPr lang="en-US" altLang="zh-CN" b="1" i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b="1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static __INLINE uint32_t NVIC_GetPendingIRQ(IRQn_Type IRQn)</a:t>
            </a:r>
            <a:r>
              <a:rPr lang="zh-CN" altLang="en-US" b="1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；</a:t>
            </a:r>
            <a:endParaRPr lang="en-US" altLang="zh-CN" b="1" i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b="1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static __INLINE void NVIC_ClearPendingIRQ(IRQn_Type IRQn)</a:t>
            </a:r>
            <a:endParaRPr lang="zh-CN" altLang="en-US" b="1" i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5"/>
          <p:cNvGrpSpPr/>
          <p:nvPr/>
        </p:nvGrpSpPr>
        <p:grpSpPr>
          <a:xfrm>
            <a:off x="0" y="0"/>
            <a:ext cx="1389063" cy="1130300"/>
            <a:chOff x="0" y="0"/>
            <a:chExt cx="1471173" cy="1657869"/>
          </a:xfrm>
        </p:grpSpPr>
        <p:sp>
          <p:nvSpPr>
            <p:cNvPr id="21507" name="矩形 10"/>
            <p:cNvSpPr/>
            <p:nvPr/>
          </p:nvSpPr>
          <p:spPr>
            <a:xfrm>
              <a:off x="1" y="658762"/>
              <a:ext cx="1470409" cy="999107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542010" y="7"/>
                </a:cxn>
                <a:cxn ang="0">
                  <a:pos x="538666" y="84687"/>
                </a:cxn>
                <a:cxn ang="0">
                  <a:pos x="267883" y="133995"/>
                </a:cxn>
                <a:cxn ang="0">
                  <a:pos x="444" y="84687"/>
                </a:cxn>
                <a:cxn ang="0">
                  <a:pos x="0" y="7"/>
                </a:cxn>
              </a:cxnLst>
              <a:rect l="0" t="0" r="0" b="0"/>
              <a:pathLst>
                <a:path w="1665778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lnTo>
                    <a:pt x="1655504" y="811720"/>
                  </a:ln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08" name="矩形 10"/>
            <p:cNvSpPr/>
            <p:nvPr/>
          </p:nvSpPr>
          <p:spPr>
            <a:xfrm>
              <a:off x="0" y="0"/>
              <a:ext cx="1471173" cy="115831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542008" y="24"/>
                </a:cxn>
                <a:cxn ang="0">
                  <a:pos x="542289" y="316138"/>
                </a:cxn>
                <a:cxn ang="0">
                  <a:pos x="267882" y="507016"/>
                </a:cxn>
                <a:cxn ang="0">
                  <a:pos x="444" y="320444"/>
                </a:cxn>
                <a:cxn ang="0">
                  <a:pos x="0" y="24"/>
                </a:cxn>
              </a:cxnLst>
              <a:rect l="0" t="0" r="0" b="0"/>
              <a:pathLst>
                <a:path w="1666644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cubicBezTo>
                    <a:pt x="1666067" y="266981"/>
                    <a:pt x="1666355" y="533899"/>
                    <a:pt x="1666644" y="800818"/>
                  </a:cubicBez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509" name="文本框 8"/>
          <p:cNvSpPr txBox="1"/>
          <p:nvPr/>
        </p:nvSpPr>
        <p:spPr>
          <a:xfrm>
            <a:off x="166688" y="0"/>
            <a:ext cx="1173162" cy="829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4.1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510" name="Group 12"/>
          <p:cNvGrpSpPr/>
          <p:nvPr/>
        </p:nvGrpSpPr>
        <p:grpSpPr>
          <a:xfrm rot="10800000">
            <a:off x="10820400" y="5591175"/>
            <a:ext cx="1371600" cy="1266825"/>
            <a:chOff x="0" y="0"/>
            <a:chExt cx="1372279" cy="1266092"/>
          </a:xfrm>
        </p:grpSpPr>
        <p:sp>
          <p:nvSpPr>
            <p:cNvPr id="21511" name="任意多边形 13"/>
            <p:cNvSpPr/>
            <p:nvPr/>
          </p:nvSpPr>
          <p:spPr>
            <a:xfrm>
              <a:off x="1" y="1"/>
              <a:ext cx="1181686" cy="10902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68923" y="0"/>
                </a:cxn>
                <a:cxn ang="0">
                  <a:pos x="1181686" y="126610"/>
                </a:cxn>
                <a:cxn ang="0">
                  <a:pos x="218049" y="1090247"/>
                </a:cxn>
                <a:cxn ang="0">
                  <a:pos x="23843" y="1070669"/>
                </a:cxn>
                <a:cxn ang="0">
                  <a:pos x="0" y="1063268"/>
                </a:cxn>
                <a:cxn ang="0">
                  <a:pos x="0" y="0"/>
                </a:cxn>
              </a:cxnLst>
              <a:rect l="0" t="0" r="0" b="0"/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83919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12" name="任意多边形 14"/>
            <p:cNvSpPr/>
            <p:nvPr/>
          </p:nvSpPr>
          <p:spPr>
            <a:xfrm>
              <a:off x="0" y="0"/>
              <a:ext cx="1372279" cy="12660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90021" y="0"/>
                </a:cxn>
                <a:cxn ang="0">
                  <a:pos x="4539048" y="486330"/>
                </a:cxn>
                <a:cxn ang="0">
                  <a:pos x="837561" y="4187815"/>
                </a:cxn>
                <a:cxn ang="0">
                  <a:pos x="91585" y="4112617"/>
                </a:cxn>
                <a:cxn ang="0">
                  <a:pos x="0" y="4084186"/>
                </a:cxn>
                <a:cxn ang="0">
                  <a:pos x="0" y="0"/>
                </a:cxn>
              </a:cxnLst>
              <a:rect l="0" t="0" r="0" b="0"/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65096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513" name="文本框 16"/>
          <p:cNvSpPr txBox="1"/>
          <p:nvPr/>
        </p:nvSpPr>
        <p:spPr>
          <a:xfrm>
            <a:off x="235585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14" name="文本框 17"/>
          <p:cNvSpPr txBox="1"/>
          <p:nvPr/>
        </p:nvSpPr>
        <p:spPr>
          <a:xfrm>
            <a:off x="3913188" y="3175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15" name="文本框 18"/>
          <p:cNvSpPr txBox="1"/>
          <p:nvPr/>
        </p:nvSpPr>
        <p:spPr>
          <a:xfrm>
            <a:off x="547370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16" name="矩形 9"/>
          <p:cNvSpPr/>
          <p:nvPr/>
        </p:nvSpPr>
        <p:spPr>
          <a:xfrm>
            <a:off x="1054100" y="1284288"/>
            <a:ext cx="9371013" cy="5072062"/>
          </a:xfrm>
          <a:custGeom>
            <a:avLst/>
            <a:gdLst/>
            <a:ahLst/>
            <a:cxnLst>
              <a:cxn ang="0">
                <a:pos x="0" y="379174"/>
              </a:cxn>
              <a:cxn ang="0">
                <a:pos x="1019462" y="0"/>
              </a:cxn>
              <a:cxn ang="0">
                <a:pos x="9643980" y="0"/>
              </a:cxn>
              <a:cxn ang="0">
                <a:pos x="9643980" y="3624048"/>
              </a:cxn>
              <a:cxn ang="0">
                <a:pos x="13072" y="3624048"/>
              </a:cxn>
              <a:cxn ang="0">
                <a:pos x="0" y="379174"/>
              </a:cxn>
            </a:cxnLst>
            <a:rect l="0" t="0" r="0" b="0"/>
            <a:pathLst>
              <a:path w="9638713" h="3620718">
                <a:moveTo>
                  <a:pt x="0" y="378823"/>
                </a:moveTo>
                <a:lnTo>
                  <a:pt x="1018904" y="0"/>
                </a:lnTo>
                <a:lnTo>
                  <a:pt x="9638713" y="0"/>
                </a:lnTo>
                <a:lnTo>
                  <a:pt x="9638713" y="3620718"/>
                </a:lnTo>
                <a:lnTo>
                  <a:pt x="13063" y="3620718"/>
                </a:lnTo>
                <a:cubicBezTo>
                  <a:pt x="8709" y="2540086"/>
                  <a:pt x="4354" y="1459455"/>
                  <a:pt x="0" y="378823"/>
                </a:cubicBezTo>
                <a:close/>
              </a:path>
            </a:pathLst>
          </a:custGeom>
          <a:solidFill>
            <a:srgbClr val="F4B183">
              <a:alpha val="70193"/>
            </a:srgb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17" name="等腰三角形 21"/>
          <p:cNvSpPr/>
          <p:nvPr/>
        </p:nvSpPr>
        <p:spPr>
          <a:xfrm rot="9285132">
            <a:off x="1101725" y="1492250"/>
            <a:ext cx="1162050" cy="488950"/>
          </a:xfrm>
          <a:prstGeom prst="triangle">
            <a:avLst>
              <a:gd name="adj" fmla="val 100000"/>
            </a:avLst>
          </a:prstGeom>
          <a:solidFill>
            <a:srgbClr val="F19C63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1518" name="文本框 18"/>
          <p:cNvSpPr txBox="1"/>
          <p:nvPr/>
        </p:nvSpPr>
        <p:spPr>
          <a:xfrm>
            <a:off x="6904038" y="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357313" y="0"/>
            <a:ext cx="10834688" cy="8747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20" name="TextBox 22"/>
          <p:cNvSpPr txBox="1"/>
          <p:nvPr/>
        </p:nvSpPr>
        <p:spPr>
          <a:xfrm>
            <a:off x="1317625" y="0"/>
            <a:ext cx="5205413" cy="11068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NVIC中断管理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525588" y="1900238"/>
            <a:ext cx="7704137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26" name="TextBox 3"/>
          <p:cNvSpPr txBox="1"/>
          <p:nvPr/>
        </p:nvSpPr>
        <p:spPr>
          <a:xfrm>
            <a:off x="1597025" y="1684338"/>
            <a:ext cx="8135938" cy="7381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457200" indent="-457200">
              <a:lnSpc>
                <a:spcPct val="150000"/>
              </a:lnSpc>
              <a:buClrTx/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中断激活标志位寄存器组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IABR [8]</a:t>
            </a:r>
            <a:endParaRPr lang="en-US" altLang="zh-CN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812925" y="3332163"/>
            <a:ext cx="8270875" cy="461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如果对应位为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，说明该中断正在执行。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1930400" y="2557463"/>
            <a:ext cx="7889875" cy="4619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作用：只读，</a:t>
            </a: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通过它可以知道当前在执行的中断是哪一个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TextBox 10"/>
          <p:cNvSpPr txBox="1"/>
          <p:nvPr/>
        </p:nvSpPr>
        <p:spPr>
          <a:xfrm>
            <a:off x="1930400" y="4143375"/>
            <a:ext cx="6613525" cy="369888"/>
          </a:xfrm>
          <a:prstGeom prst="rect">
            <a:avLst/>
          </a:prstGeom>
          <a:solidFill>
            <a:srgbClr val="FFFFC1"/>
          </a:solidFill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static __INLINE uint32_t NVIC_GetActive(IRQn_Type IRQn)</a:t>
            </a:r>
            <a:endParaRPr lang="zh-CN" altLang="en-US" b="1" i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5"/>
          <p:cNvGrpSpPr/>
          <p:nvPr/>
        </p:nvGrpSpPr>
        <p:grpSpPr>
          <a:xfrm>
            <a:off x="0" y="0"/>
            <a:ext cx="1389063" cy="1130300"/>
            <a:chOff x="0" y="0"/>
            <a:chExt cx="1471173" cy="1657869"/>
          </a:xfrm>
        </p:grpSpPr>
        <p:sp>
          <p:nvSpPr>
            <p:cNvPr id="21507" name="矩形 10"/>
            <p:cNvSpPr/>
            <p:nvPr/>
          </p:nvSpPr>
          <p:spPr>
            <a:xfrm>
              <a:off x="1" y="658762"/>
              <a:ext cx="1470409" cy="999107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542010" y="7"/>
                </a:cxn>
                <a:cxn ang="0">
                  <a:pos x="538666" y="84687"/>
                </a:cxn>
                <a:cxn ang="0">
                  <a:pos x="267883" y="133995"/>
                </a:cxn>
                <a:cxn ang="0">
                  <a:pos x="444" y="84687"/>
                </a:cxn>
                <a:cxn ang="0">
                  <a:pos x="0" y="7"/>
                </a:cxn>
              </a:cxnLst>
              <a:rect l="0" t="0" r="0" b="0"/>
              <a:pathLst>
                <a:path w="1665778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lnTo>
                    <a:pt x="1655504" y="811720"/>
                  </a:ln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08" name="矩形 10"/>
            <p:cNvSpPr/>
            <p:nvPr/>
          </p:nvSpPr>
          <p:spPr>
            <a:xfrm>
              <a:off x="0" y="0"/>
              <a:ext cx="1471173" cy="115831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542008" y="24"/>
                </a:cxn>
                <a:cxn ang="0">
                  <a:pos x="542289" y="316138"/>
                </a:cxn>
                <a:cxn ang="0">
                  <a:pos x="267882" y="507016"/>
                </a:cxn>
                <a:cxn ang="0">
                  <a:pos x="444" y="320444"/>
                </a:cxn>
                <a:cxn ang="0">
                  <a:pos x="0" y="24"/>
                </a:cxn>
              </a:cxnLst>
              <a:rect l="0" t="0" r="0" b="0"/>
              <a:pathLst>
                <a:path w="1666644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cubicBezTo>
                    <a:pt x="1666067" y="266981"/>
                    <a:pt x="1666355" y="533899"/>
                    <a:pt x="1666644" y="800818"/>
                  </a:cubicBez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509" name="文本框 8"/>
          <p:cNvSpPr txBox="1"/>
          <p:nvPr/>
        </p:nvSpPr>
        <p:spPr>
          <a:xfrm>
            <a:off x="166688" y="0"/>
            <a:ext cx="1173162" cy="829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4.1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510" name="Group 12"/>
          <p:cNvGrpSpPr/>
          <p:nvPr/>
        </p:nvGrpSpPr>
        <p:grpSpPr>
          <a:xfrm rot="10800000">
            <a:off x="10820400" y="5591175"/>
            <a:ext cx="1371600" cy="1266825"/>
            <a:chOff x="0" y="0"/>
            <a:chExt cx="1372279" cy="1266092"/>
          </a:xfrm>
        </p:grpSpPr>
        <p:sp>
          <p:nvSpPr>
            <p:cNvPr id="21511" name="任意多边形 13"/>
            <p:cNvSpPr/>
            <p:nvPr/>
          </p:nvSpPr>
          <p:spPr>
            <a:xfrm>
              <a:off x="1" y="1"/>
              <a:ext cx="1181686" cy="10902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68923" y="0"/>
                </a:cxn>
                <a:cxn ang="0">
                  <a:pos x="1181686" y="126610"/>
                </a:cxn>
                <a:cxn ang="0">
                  <a:pos x="218049" y="1090247"/>
                </a:cxn>
                <a:cxn ang="0">
                  <a:pos x="23843" y="1070669"/>
                </a:cxn>
                <a:cxn ang="0">
                  <a:pos x="0" y="1063268"/>
                </a:cxn>
                <a:cxn ang="0">
                  <a:pos x="0" y="0"/>
                </a:cxn>
              </a:cxnLst>
              <a:rect l="0" t="0" r="0" b="0"/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83919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12" name="任意多边形 14"/>
            <p:cNvSpPr/>
            <p:nvPr/>
          </p:nvSpPr>
          <p:spPr>
            <a:xfrm>
              <a:off x="0" y="0"/>
              <a:ext cx="1372279" cy="12660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90021" y="0"/>
                </a:cxn>
                <a:cxn ang="0">
                  <a:pos x="4539048" y="486330"/>
                </a:cxn>
                <a:cxn ang="0">
                  <a:pos x="837561" y="4187815"/>
                </a:cxn>
                <a:cxn ang="0">
                  <a:pos x="91585" y="4112617"/>
                </a:cxn>
                <a:cxn ang="0">
                  <a:pos x="0" y="4084186"/>
                </a:cxn>
                <a:cxn ang="0">
                  <a:pos x="0" y="0"/>
                </a:cxn>
              </a:cxnLst>
              <a:rect l="0" t="0" r="0" b="0"/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65096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513" name="文本框 16"/>
          <p:cNvSpPr txBox="1"/>
          <p:nvPr/>
        </p:nvSpPr>
        <p:spPr>
          <a:xfrm>
            <a:off x="235585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14" name="文本框 17"/>
          <p:cNvSpPr txBox="1"/>
          <p:nvPr/>
        </p:nvSpPr>
        <p:spPr>
          <a:xfrm>
            <a:off x="3913188" y="3175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15" name="文本框 18"/>
          <p:cNvSpPr txBox="1"/>
          <p:nvPr/>
        </p:nvSpPr>
        <p:spPr>
          <a:xfrm>
            <a:off x="547370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16" name="矩形 9"/>
          <p:cNvSpPr/>
          <p:nvPr/>
        </p:nvSpPr>
        <p:spPr>
          <a:xfrm>
            <a:off x="1054100" y="1284288"/>
            <a:ext cx="9371013" cy="5072062"/>
          </a:xfrm>
          <a:custGeom>
            <a:avLst/>
            <a:gdLst/>
            <a:ahLst/>
            <a:cxnLst>
              <a:cxn ang="0">
                <a:pos x="0" y="379174"/>
              </a:cxn>
              <a:cxn ang="0">
                <a:pos x="1019462" y="0"/>
              </a:cxn>
              <a:cxn ang="0">
                <a:pos x="9643980" y="0"/>
              </a:cxn>
              <a:cxn ang="0">
                <a:pos x="9643980" y="3624048"/>
              </a:cxn>
              <a:cxn ang="0">
                <a:pos x="13072" y="3624048"/>
              </a:cxn>
              <a:cxn ang="0">
                <a:pos x="0" y="379174"/>
              </a:cxn>
            </a:cxnLst>
            <a:rect l="0" t="0" r="0" b="0"/>
            <a:pathLst>
              <a:path w="9638713" h="3620718">
                <a:moveTo>
                  <a:pt x="0" y="378823"/>
                </a:moveTo>
                <a:lnTo>
                  <a:pt x="1018904" y="0"/>
                </a:lnTo>
                <a:lnTo>
                  <a:pt x="9638713" y="0"/>
                </a:lnTo>
                <a:lnTo>
                  <a:pt x="9638713" y="3620718"/>
                </a:lnTo>
                <a:lnTo>
                  <a:pt x="13063" y="3620718"/>
                </a:lnTo>
                <a:cubicBezTo>
                  <a:pt x="8709" y="2540086"/>
                  <a:pt x="4354" y="1459455"/>
                  <a:pt x="0" y="378823"/>
                </a:cubicBezTo>
                <a:close/>
              </a:path>
            </a:pathLst>
          </a:custGeom>
          <a:solidFill>
            <a:srgbClr val="F4B183">
              <a:alpha val="70193"/>
            </a:srgb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17" name="等腰三角形 21"/>
          <p:cNvSpPr/>
          <p:nvPr/>
        </p:nvSpPr>
        <p:spPr>
          <a:xfrm rot="9285132">
            <a:off x="1101725" y="1492250"/>
            <a:ext cx="1162050" cy="488950"/>
          </a:xfrm>
          <a:prstGeom prst="triangle">
            <a:avLst>
              <a:gd name="adj" fmla="val 100000"/>
            </a:avLst>
          </a:prstGeom>
          <a:solidFill>
            <a:srgbClr val="F19C63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1518" name="文本框 18"/>
          <p:cNvSpPr txBox="1"/>
          <p:nvPr/>
        </p:nvSpPr>
        <p:spPr>
          <a:xfrm>
            <a:off x="6904038" y="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357313" y="0"/>
            <a:ext cx="10834688" cy="8747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20" name="TextBox 22"/>
          <p:cNvSpPr txBox="1"/>
          <p:nvPr/>
        </p:nvSpPr>
        <p:spPr>
          <a:xfrm>
            <a:off x="1317625" y="0"/>
            <a:ext cx="5205413" cy="11068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NVIC中断管理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7649" name="矩形 1"/>
          <p:cNvSpPr/>
          <p:nvPr/>
        </p:nvSpPr>
        <p:spPr>
          <a:xfrm>
            <a:off x="1754188" y="1557338"/>
            <a:ext cx="7704137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650" name="TextBox 3"/>
          <p:cNvSpPr txBox="1"/>
          <p:nvPr/>
        </p:nvSpPr>
        <p:spPr>
          <a:xfrm>
            <a:off x="1825625" y="1341438"/>
            <a:ext cx="8135938" cy="6540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457200" indent="-457200">
              <a:lnSpc>
                <a:spcPct val="150000"/>
              </a:lnSpc>
              <a:buClrTx/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中断参数初始化函数</a:t>
            </a:r>
            <a:endParaRPr lang="en-US" altLang="zh-CN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651" name="TextBox 1"/>
          <p:cNvSpPr txBox="1"/>
          <p:nvPr/>
        </p:nvSpPr>
        <p:spPr>
          <a:xfrm>
            <a:off x="2257425" y="1995488"/>
            <a:ext cx="5489575" cy="461962"/>
          </a:xfrm>
          <a:prstGeom prst="rect">
            <a:avLst/>
          </a:prstGeom>
          <a:solidFill>
            <a:srgbClr val="FFFFC1"/>
          </a:solidFill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void NVIC_Init(NVIC_InitTypeDef* NVIC_InitStruct)</a:t>
            </a: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  <a:endParaRPr lang="zh-CN" altLang="zh-CN" i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28863" y="2641600"/>
            <a:ext cx="6481763" cy="18148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typedef struct</a:t>
            </a:r>
            <a:endParaRPr kumimoji="0" lang="zh-CN" altLang="zh-CN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{</a:t>
            </a:r>
            <a:endParaRPr kumimoji="0" lang="zh-CN" altLang="zh-CN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uint8_t NVIC_IRQChannel; //</a:t>
            </a:r>
            <a:r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设置中断通道</a:t>
            </a:r>
            <a:endParaRPr kumimoji="0" lang="zh-CN" altLang="zh-CN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uint8_t NVIC_IRQChannelPreemptionPriority;//</a:t>
            </a:r>
            <a:r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设置响应优先级</a:t>
            </a:r>
            <a:endParaRPr kumimoji="0" lang="zh-CN" altLang="zh-CN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uint8_t NVIC_IRQChannelSubPriority; //</a:t>
            </a:r>
            <a:r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设置抢占优先级</a:t>
            </a:r>
            <a:endParaRPr kumimoji="0" lang="zh-CN" altLang="zh-CN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FunctionalState NVIC_IRQChannelCmd; //</a:t>
            </a:r>
            <a:r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使能</a:t>
            </a:r>
            <a:r>
              <a:rPr kumimoji="0" lang="en-US" altLang="zh-CN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</a:t>
            </a:r>
            <a:r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使能</a:t>
            </a:r>
            <a:endParaRPr kumimoji="0" lang="zh-CN" altLang="zh-CN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} NVIC_InitTypeDef;</a:t>
            </a:r>
            <a:endParaRPr kumimoji="0" lang="en-US" altLang="zh-CN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27275" y="4620260"/>
            <a:ext cx="6745605" cy="1476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NVIC_InitTypeDef   NVIC_InitStructure;</a:t>
            </a:r>
            <a:endParaRPr kumimoji="0" lang="zh-CN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NVIC_InitStructure.NVIC_IRQChannel = USART1_IRQn;//</a:t>
            </a:r>
            <a:r>
              <a:rPr kumimoji="0" lang="zh-CN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串口</a:t>
            </a: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中断</a:t>
            </a:r>
            <a:endParaRPr kumimoji="0" lang="zh-CN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NVIC_InitStructure.NVIC_IRQChannelPreemptionPriority=1 ;// </a:t>
            </a:r>
            <a:r>
              <a:rPr kumimoji="0" lang="zh-CN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抢占优先级为</a:t>
            </a: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</a:t>
            </a:r>
            <a:endParaRPr kumimoji="0" lang="zh-CN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NVIC_InitStructure.NVIC_IRQChannelSubPriority = 2;// </a:t>
            </a:r>
            <a:r>
              <a:rPr kumimoji="0" lang="zh-CN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子优先级位</a:t>
            </a: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</a:t>
            </a:r>
            <a:endParaRPr kumimoji="0" lang="zh-CN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NVIC_InitStructure.NVIC_IRQChannelCmd = ENABLE;//IRQ</a:t>
            </a:r>
            <a:r>
              <a:rPr kumimoji="0" lang="zh-CN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通道使能</a:t>
            </a:r>
            <a:endParaRPr kumimoji="0" lang="zh-CN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NVIC_Init(&amp;NVIC_InitStructure);	//</a:t>
            </a:r>
            <a:r>
              <a:rPr kumimoji="0" lang="zh-CN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根据上面指定的参数初始化</a:t>
            </a: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NVIC</a:t>
            </a:r>
            <a:r>
              <a:rPr kumimoji="0" lang="zh-CN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寄存器</a:t>
            </a:r>
            <a:endParaRPr kumimoji="0" lang="zh-CN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5"/>
          <p:cNvGrpSpPr/>
          <p:nvPr/>
        </p:nvGrpSpPr>
        <p:grpSpPr>
          <a:xfrm>
            <a:off x="0" y="0"/>
            <a:ext cx="1389063" cy="1130300"/>
            <a:chOff x="0" y="0"/>
            <a:chExt cx="1471173" cy="1657869"/>
          </a:xfrm>
        </p:grpSpPr>
        <p:sp>
          <p:nvSpPr>
            <p:cNvPr id="21507" name="矩形 10"/>
            <p:cNvSpPr/>
            <p:nvPr/>
          </p:nvSpPr>
          <p:spPr>
            <a:xfrm>
              <a:off x="1" y="658762"/>
              <a:ext cx="1470409" cy="999107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542010" y="7"/>
                </a:cxn>
                <a:cxn ang="0">
                  <a:pos x="538666" y="84687"/>
                </a:cxn>
                <a:cxn ang="0">
                  <a:pos x="267883" y="133995"/>
                </a:cxn>
                <a:cxn ang="0">
                  <a:pos x="444" y="84687"/>
                </a:cxn>
                <a:cxn ang="0">
                  <a:pos x="0" y="7"/>
                </a:cxn>
              </a:cxnLst>
              <a:rect l="0" t="0" r="0" b="0"/>
              <a:pathLst>
                <a:path w="1665778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lnTo>
                    <a:pt x="1655504" y="811720"/>
                  </a:ln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08" name="矩形 10"/>
            <p:cNvSpPr/>
            <p:nvPr/>
          </p:nvSpPr>
          <p:spPr>
            <a:xfrm>
              <a:off x="0" y="0"/>
              <a:ext cx="1471173" cy="115831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542008" y="24"/>
                </a:cxn>
                <a:cxn ang="0">
                  <a:pos x="542289" y="316138"/>
                </a:cxn>
                <a:cxn ang="0">
                  <a:pos x="267882" y="507016"/>
                </a:cxn>
                <a:cxn ang="0">
                  <a:pos x="444" y="320444"/>
                </a:cxn>
                <a:cxn ang="0">
                  <a:pos x="0" y="24"/>
                </a:cxn>
              </a:cxnLst>
              <a:rect l="0" t="0" r="0" b="0"/>
              <a:pathLst>
                <a:path w="1666644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cubicBezTo>
                    <a:pt x="1666067" y="266981"/>
                    <a:pt x="1666355" y="533899"/>
                    <a:pt x="1666644" y="800818"/>
                  </a:cubicBez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509" name="文本框 8"/>
          <p:cNvSpPr txBox="1"/>
          <p:nvPr/>
        </p:nvSpPr>
        <p:spPr>
          <a:xfrm>
            <a:off x="166688" y="0"/>
            <a:ext cx="1173162" cy="829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4.1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510" name="Group 12"/>
          <p:cNvGrpSpPr/>
          <p:nvPr/>
        </p:nvGrpSpPr>
        <p:grpSpPr>
          <a:xfrm rot="10800000">
            <a:off x="10820400" y="5591175"/>
            <a:ext cx="1371600" cy="1266825"/>
            <a:chOff x="0" y="0"/>
            <a:chExt cx="1372279" cy="1266092"/>
          </a:xfrm>
        </p:grpSpPr>
        <p:sp>
          <p:nvSpPr>
            <p:cNvPr id="21511" name="任意多边形 13"/>
            <p:cNvSpPr/>
            <p:nvPr/>
          </p:nvSpPr>
          <p:spPr>
            <a:xfrm>
              <a:off x="1" y="1"/>
              <a:ext cx="1181686" cy="10902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68923" y="0"/>
                </a:cxn>
                <a:cxn ang="0">
                  <a:pos x="1181686" y="126610"/>
                </a:cxn>
                <a:cxn ang="0">
                  <a:pos x="218049" y="1090247"/>
                </a:cxn>
                <a:cxn ang="0">
                  <a:pos x="23843" y="1070669"/>
                </a:cxn>
                <a:cxn ang="0">
                  <a:pos x="0" y="1063268"/>
                </a:cxn>
                <a:cxn ang="0">
                  <a:pos x="0" y="0"/>
                </a:cxn>
              </a:cxnLst>
              <a:rect l="0" t="0" r="0" b="0"/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83919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12" name="任意多边形 14"/>
            <p:cNvSpPr/>
            <p:nvPr/>
          </p:nvSpPr>
          <p:spPr>
            <a:xfrm>
              <a:off x="0" y="0"/>
              <a:ext cx="1372279" cy="12660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90021" y="0"/>
                </a:cxn>
                <a:cxn ang="0">
                  <a:pos x="4539048" y="486330"/>
                </a:cxn>
                <a:cxn ang="0">
                  <a:pos x="837561" y="4187815"/>
                </a:cxn>
                <a:cxn ang="0">
                  <a:pos x="91585" y="4112617"/>
                </a:cxn>
                <a:cxn ang="0">
                  <a:pos x="0" y="4084186"/>
                </a:cxn>
                <a:cxn ang="0">
                  <a:pos x="0" y="0"/>
                </a:cxn>
              </a:cxnLst>
              <a:rect l="0" t="0" r="0" b="0"/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65096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513" name="文本框 16"/>
          <p:cNvSpPr txBox="1"/>
          <p:nvPr/>
        </p:nvSpPr>
        <p:spPr>
          <a:xfrm>
            <a:off x="235585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14" name="文本框 17"/>
          <p:cNvSpPr txBox="1"/>
          <p:nvPr/>
        </p:nvSpPr>
        <p:spPr>
          <a:xfrm>
            <a:off x="3913188" y="3175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15" name="文本框 18"/>
          <p:cNvSpPr txBox="1"/>
          <p:nvPr/>
        </p:nvSpPr>
        <p:spPr>
          <a:xfrm>
            <a:off x="547370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16" name="矩形 9"/>
          <p:cNvSpPr/>
          <p:nvPr/>
        </p:nvSpPr>
        <p:spPr>
          <a:xfrm>
            <a:off x="1054100" y="1284288"/>
            <a:ext cx="9371013" cy="5072062"/>
          </a:xfrm>
          <a:custGeom>
            <a:avLst/>
            <a:gdLst/>
            <a:ahLst/>
            <a:cxnLst>
              <a:cxn ang="0">
                <a:pos x="0" y="379174"/>
              </a:cxn>
              <a:cxn ang="0">
                <a:pos x="1019462" y="0"/>
              </a:cxn>
              <a:cxn ang="0">
                <a:pos x="9643980" y="0"/>
              </a:cxn>
              <a:cxn ang="0">
                <a:pos x="9643980" y="3624048"/>
              </a:cxn>
              <a:cxn ang="0">
                <a:pos x="13072" y="3624048"/>
              </a:cxn>
              <a:cxn ang="0">
                <a:pos x="0" y="379174"/>
              </a:cxn>
            </a:cxnLst>
            <a:rect l="0" t="0" r="0" b="0"/>
            <a:pathLst>
              <a:path w="9638713" h="3620718">
                <a:moveTo>
                  <a:pt x="0" y="378823"/>
                </a:moveTo>
                <a:lnTo>
                  <a:pt x="1018904" y="0"/>
                </a:lnTo>
                <a:lnTo>
                  <a:pt x="9638713" y="0"/>
                </a:lnTo>
                <a:lnTo>
                  <a:pt x="9638713" y="3620718"/>
                </a:lnTo>
                <a:lnTo>
                  <a:pt x="13063" y="3620718"/>
                </a:lnTo>
                <a:cubicBezTo>
                  <a:pt x="8709" y="2540086"/>
                  <a:pt x="4354" y="1459455"/>
                  <a:pt x="0" y="378823"/>
                </a:cubicBezTo>
                <a:close/>
              </a:path>
            </a:pathLst>
          </a:custGeom>
          <a:solidFill>
            <a:srgbClr val="F4B183">
              <a:alpha val="70193"/>
            </a:srgb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17" name="等腰三角形 21"/>
          <p:cNvSpPr/>
          <p:nvPr/>
        </p:nvSpPr>
        <p:spPr>
          <a:xfrm rot="9285132">
            <a:off x="1101725" y="1492250"/>
            <a:ext cx="1162050" cy="488950"/>
          </a:xfrm>
          <a:prstGeom prst="triangle">
            <a:avLst>
              <a:gd name="adj" fmla="val 100000"/>
            </a:avLst>
          </a:prstGeom>
          <a:solidFill>
            <a:srgbClr val="F19C63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1518" name="文本框 18"/>
          <p:cNvSpPr txBox="1"/>
          <p:nvPr/>
        </p:nvSpPr>
        <p:spPr>
          <a:xfrm>
            <a:off x="6904038" y="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357313" y="0"/>
            <a:ext cx="10834688" cy="8747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20" name="TextBox 22"/>
          <p:cNvSpPr txBox="1"/>
          <p:nvPr/>
        </p:nvSpPr>
        <p:spPr>
          <a:xfrm>
            <a:off x="1317625" y="0"/>
            <a:ext cx="5205413" cy="11068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NVIC中断管理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544638" y="1557338"/>
            <a:ext cx="7704137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675" name="TextBox 3"/>
          <p:cNvSpPr txBox="1"/>
          <p:nvPr/>
        </p:nvSpPr>
        <p:spPr>
          <a:xfrm>
            <a:off x="1616075" y="1341438"/>
            <a:ext cx="8135938" cy="8302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457200" indent="-457200">
              <a:lnSpc>
                <a:spcPct val="150000"/>
              </a:lnSpc>
              <a:buClrTx/>
              <a:buFont typeface="Wingdings" panose="05000000000000000000" pitchFamily="2" charset="2"/>
              <a:buChar char="u"/>
            </a:pPr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rPr>
              <a:t>中断优先级设置步骤</a:t>
            </a:r>
            <a:endParaRPr lang="en-US" altLang="zh-CN" sz="32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011363" y="2106613"/>
            <a:ext cx="7740650" cy="38766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342900" indent="-342900">
              <a:lnSpc>
                <a:spcPct val="150000"/>
              </a:lnSpc>
              <a:buClrTx/>
              <a:buFontTx/>
              <a:buAutoNum type="circleNumDbPlain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系统运行后先设置中断优先级分组。调用函数：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None/>
            </a:pPr>
            <a:r>
              <a:rPr lang="en-US" altLang="zh-CN" b="1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void NVIC_PriorityGroupConfig(uint32_t NVIC_PriorityGroup);</a:t>
            </a:r>
            <a:endParaRPr lang="en-US" altLang="zh-CN" b="1" i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整个系统执行过程中，只设置一次中断分组。</a:t>
            </a:r>
            <a:endParaRPr lang="en-US" altLang="zh-CN" b="1" i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None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②针对每个中断，设置对应的抢占优先级和响应优先级：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None/>
            </a:pPr>
            <a:r>
              <a:rPr lang="en-US" altLang="zh-CN" b="1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void NVIC_Init(NVIC_InitTypeDef* NVIC_InitStruct);</a:t>
            </a:r>
            <a:endParaRPr lang="en-US" altLang="zh-CN" b="1" i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None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③ 如果需要挂起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解挂，查看中断当前激活状态，分别调用相关函数即可。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buClrTx/>
              <a:buFontTx/>
              <a:buChar char="•"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UNIT_TABLE_BEAUTIFY" val="smartTable{f197b743-6700-4d0a-9c5e-86d69dff3722}"/>
  <p:tag name="TABLE_ENDDRAG_ORIGIN_RECT" val="686*208"/>
  <p:tag name="TABLE_ENDDRAG_RECT" val="100*298*694*208"/>
</p:tagLst>
</file>

<file path=ppt/tags/tag9.xml><?xml version="1.0" encoding="utf-8"?>
<p:tagLst xmlns:p="http://schemas.openxmlformats.org/presentationml/2006/main">
  <p:tag name="commondata" val="eyJoZGlkIjoiZWY4OTJjMmQxNDQ2NDZhZWQwNDU0NmI5NmY5NThjMDMifQ=="/>
</p:tagLst>
</file>

<file path=ppt/theme/theme1.xml><?xml version="1.0" encoding="utf-8"?>
<a:theme xmlns:a="http://schemas.openxmlformats.org/drawingml/2006/main" name="1_Office 主题">
  <a:themeElements>
    <a:clrScheme name="1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2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2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">
  <a:themeElements>
    <a:clrScheme name="3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3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Office 主题">
  <a:themeElements>
    <a:clrScheme name="4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4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4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主题">
  <a:themeElements>
    <a:clrScheme name="5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5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5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主题">
  <a:themeElements>
    <a:clrScheme name="6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6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6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7_Office 主题">
  <a:themeElements>
    <a:clrScheme name="7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7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7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8_Office 主题">
  <a:themeElements>
    <a:clrScheme name="8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8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8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9_Office 主题">
  <a:themeElements>
    <a:clrScheme name="9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9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9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0_Office 主题">
  <a:themeElements>
    <a:clrScheme name="10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0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0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1_Office 主题">
  <a:themeElements>
    <a:clrScheme name="11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1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1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Office 主题">
  <a:themeElements>
    <a:clrScheme name="12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2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2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Office 主题">
  <a:themeElements>
    <a:clrScheme name="3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3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3676</Words>
  <Application>WPS 演示</Application>
  <PresentationFormat>自定义</PresentationFormat>
  <Paragraphs>441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13</vt:i4>
      </vt:variant>
      <vt:variant>
        <vt:lpstr>幻灯片标题</vt:lpstr>
      </vt:variant>
      <vt:variant>
        <vt:i4>17</vt:i4>
      </vt:variant>
    </vt:vector>
  </HeadingPairs>
  <TitlesOfParts>
    <vt:vector size="38" baseType="lpstr">
      <vt:lpstr>Arial</vt:lpstr>
      <vt:lpstr>宋体</vt:lpstr>
      <vt:lpstr>Wingdings</vt:lpstr>
      <vt:lpstr>Calibri</vt:lpstr>
      <vt:lpstr>Calibri Light</vt:lpstr>
      <vt:lpstr>微软雅黑</vt:lpstr>
      <vt:lpstr>Verdana</vt:lpstr>
      <vt:lpstr>Arial Unicode MS</vt:lpstr>
      <vt:lpstr>1_Office 主题</vt:lpstr>
      <vt:lpstr>2_Office 主题</vt:lpstr>
      <vt:lpstr>3_Office 主题</vt:lpstr>
      <vt:lpstr>4_Office 主题</vt:lpstr>
      <vt:lpstr>5_Office 主题</vt:lpstr>
      <vt:lpstr>6_Office 主题</vt:lpstr>
      <vt:lpstr>7_Office 主题</vt:lpstr>
      <vt:lpstr>8_Office 主题</vt:lpstr>
      <vt:lpstr>9_Office 主题</vt:lpstr>
      <vt:lpstr>10_Office 主题</vt:lpstr>
      <vt:lpstr>11_Office 主题</vt:lpstr>
      <vt:lpstr>12_Office 主题</vt:lpstr>
      <vt:lpstr>13_Office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哎呀小小草</dc:creator>
  <cp:lastModifiedBy>王鸿飞</cp:lastModifiedBy>
  <cp:revision>71</cp:revision>
  <dcterms:created xsi:type="dcterms:W3CDTF">2013-10-15T08:54:00Z</dcterms:created>
  <dcterms:modified xsi:type="dcterms:W3CDTF">2023-10-30T01:55:09Z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3CCF15ECD35642B18970FEC10E387443</vt:lpwstr>
  </property>
</Properties>
</file>