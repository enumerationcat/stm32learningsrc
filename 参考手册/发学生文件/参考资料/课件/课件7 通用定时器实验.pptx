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</p:sldMasterIdLst>
  <p:notesMasterIdLst>
    <p:notesMasterId r:id="rId35"/>
  </p:notesMasterIdLst>
  <p:sldIdLst>
    <p:sldId id="435" r:id="rId15"/>
    <p:sldId id="423" r:id="rId16"/>
    <p:sldId id="430" r:id="rId17"/>
    <p:sldId id="431" r:id="rId18"/>
    <p:sldId id="432" r:id="rId19"/>
    <p:sldId id="433" r:id="rId20"/>
    <p:sldId id="434" r:id="rId21"/>
    <p:sldId id="436" r:id="rId22"/>
    <p:sldId id="444" r:id="rId23"/>
    <p:sldId id="463" r:id="rId24"/>
    <p:sldId id="445" r:id="rId25"/>
    <p:sldId id="464" r:id="rId26"/>
    <p:sldId id="454" r:id="rId27"/>
    <p:sldId id="446" r:id="rId28"/>
    <p:sldId id="447" r:id="rId29"/>
    <p:sldId id="448" r:id="rId30"/>
    <p:sldId id="449" r:id="rId31"/>
    <p:sldId id="450" r:id="rId32"/>
    <p:sldId id="451" r:id="rId33"/>
    <p:sldId id="452" r:id="rId34"/>
  </p:sldIdLst>
  <p:sldSz cx="12192000" cy="6858000"/>
  <p:notesSz cx="6858000" cy="9144000"/>
  <p:custDataLst>
    <p:tags r:id="rId3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  <a:srgbClr val="F4B183"/>
    <a:srgbClr val="FABE00"/>
    <a:srgbClr val="FCFCFC"/>
    <a:srgbClr val="FFC713"/>
    <a:srgbClr val="FFC000"/>
    <a:srgbClr val="F19C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888"/>
    <p:restoredTop sz="94660"/>
  </p:normalViewPr>
  <p:slideViewPr>
    <p:cSldViewPr snapToGrid="0" showGuides="1">
      <p:cViewPr varScale="1">
        <p:scale>
          <a:sx n="70" d="100"/>
          <a:sy n="70" d="100"/>
        </p:scale>
        <p:origin x="-114" y="-114"/>
      </p:cViewPr>
      <p:guideLst>
        <p:guide orient="horz" pos="2160"/>
        <p:guide pos="38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9" Type="http://schemas.openxmlformats.org/officeDocument/2006/relationships/tags" Target="tags/tag4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slide" Target="slides/slide1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fontAlgn="base">
              <a:buChar char="•"/>
            </a:pPr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3" Type="http://schemas.openxmlformats.org/officeDocument/2006/relationships/theme" Target="../theme/theme4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3" Type="http://schemas.openxmlformats.org/officeDocument/2006/relationships/theme" Target="../theme/theme5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3" Type="http://schemas.openxmlformats.org/officeDocument/2006/relationships/theme" Target="../theme/theme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3" Type="http://schemas.openxmlformats.org/officeDocument/2006/relationships/theme" Target="../theme/theme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3" Type="http://schemas.openxmlformats.org/officeDocument/2006/relationships/theme" Target="../theme/theme8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3" Type="http://schemas.openxmlformats.org/officeDocument/2006/relationships/theme" Target="../theme/theme9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3" Type="http://schemas.openxmlformats.org/officeDocument/2006/relationships/theme" Target="../theme/theme10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3" Type="http://schemas.openxmlformats.org/officeDocument/2006/relationships/theme" Target="../theme/theme1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3" Type="http://schemas.openxmlformats.org/officeDocument/2006/relationships/theme" Target="../theme/theme12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3" Type="http://schemas.openxmlformats.org/officeDocument/2006/relationships/theme" Target="../theme/theme1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9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3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4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5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7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8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49" name="灯片编号占位符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1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2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3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5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6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19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19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1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3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4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45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7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8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9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1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2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293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矩形 6"/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12">
              <a:alphaModFix amt="5000"/>
            </a:blip>
            <a:srcRect/>
            <a:stretch>
              <a:fillRect/>
            </a:stretch>
          </a:blipFill>
          <a:ln w="12700">
            <a:solidFill>
              <a:srgbClr val="41719C"/>
            </a:solidFill>
            <a:miter lim="800000"/>
          </a:ln>
        </p:spPr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7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pPr lvl="0" eaLnBrk="1" fontAlgn="base" hangingPunct="1">
              <a:buChar char="•"/>
            </a:pPr>
            <a:fld id="{9A0DB2DC-4C9A-4742-B13C-FB6460FD3503}" type="slidenum">
              <a:rPr lang="zh-CN" altLang="en-US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9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4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5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6.jpe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5362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15363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364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5365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366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15367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5368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5369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0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1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72" name="矩形 9"/>
          <p:cNvSpPr/>
          <p:nvPr/>
        </p:nvSpPr>
        <p:spPr>
          <a:xfrm>
            <a:off x="784225" y="1336675"/>
            <a:ext cx="9680575" cy="470217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2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5373" name="等腰三角形 21"/>
          <p:cNvSpPr/>
          <p:nvPr/>
        </p:nvSpPr>
        <p:spPr>
          <a:xfrm rot="9285132">
            <a:off x="833438" y="1560513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p>
            <a:pPr algn="ctr">
              <a:buFont typeface="Arial" panose="020B0604020202020204" pitchFamily="34" charset="0"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374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76" name="TextBox 22"/>
          <p:cNvSpPr txBox="1"/>
          <p:nvPr/>
        </p:nvSpPr>
        <p:spPr>
          <a:xfrm>
            <a:off x="1317625" y="0"/>
            <a:ext cx="5205413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定时器概述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377" name="TextBox 1"/>
          <p:cNvSpPr txBox="1"/>
          <p:nvPr/>
        </p:nvSpPr>
        <p:spPr>
          <a:xfrm>
            <a:off x="2014538" y="2000250"/>
            <a:ext cx="73453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378" name="TextBox 1"/>
          <p:cNvSpPr txBox="1"/>
          <p:nvPr/>
        </p:nvSpPr>
        <p:spPr>
          <a:xfrm>
            <a:off x="2230438" y="1462088"/>
            <a:ext cx="6653212" cy="9540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STM32F10x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系列总共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最多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有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8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个定时器：</a:t>
            </a:r>
            <a:endParaRPr lang="en-US" altLang="zh-CN" sz="28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endParaRPr lang="zh-CN" altLang="en-US" sz="28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537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0613" y="2000250"/>
            <a:ext cx="6361112" cy="3916363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pic>
      <p:sp>
        <p:nvSpPr>
          <p:cNvPr id="3" name="矩形 2"/>
          <p:cNvSpPr/>
          <p:nvPr/>
        </p:nvSpPr>
        <p:spPr>
          <a:xfrm>
            <a:off x="2735263" y="3367088"/>
            <a:ext cx="4751388" cy="2174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35263" y="5383213"/>
            <a:ext cx="4751388" cy="2889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99088" y="2000250"/>
            <a:ext cx="2087563" cy="3916363"/>
          </a:xfrm>
          <a:prstGeom prst="rect">
            <a:avLst/>
          </a:prstGeom>
          <a:noFill/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638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1638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38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6389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639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1639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639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639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96" name="矩形 9"/>
          <p:cNvSpPr/>
          <p:nvPr/>
        </p:nvSpPr>
        <p:spPr>
          <a:xfrm>
            <a:off x="784225" y="1336675"/>
            <a:ext cx="9680575" cy="470217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3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16397" name="等腰三角形 21"/>
          <p:cNvSpPr/>
          <p:nvPr/>
        </p:nvSpPr>
        <p:spPr>
          <a:xfrm rot="9285132">
            <a:off x="833438" y="1560513"/>
            <a:ext cx="1162050" cy="488950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p>
            <a:pPr algn="ctr">
              <a:buFont typeface="Arial" panose="020B0604020202020204" pitchFamily="34" charset="0"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639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400" name="TextBox 22"/>
          <p:cNvSpPr txBox="1"/>
          <p:nvPr/>
        </p:nvSpPr>
        <p:spPr>
          <a:xfrm>
            <a:off x="1317625" y="0"/>
            <a:ext cx="5205413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定时器概述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6401" name="TextBox 2"/>
          <p:cNvSpPr txBox="1"/>
          <p:nvPr/>
        </p:nvSpPr>
        <p:spPr>
          <a:xfrm>
            <a:off x="3095625" y="1908175"/>
            <a:ext cx="4851400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三种</a:t>
            </a:r>
            <a:r>
              <a:rPr lang="en-US" altLang="zh-CN" sz="3200" b="1" dirty="0">
                <a:latin typeface="Arial" panose="020B0604020202020204" pitchFamily="34" charset="0"/>
                <a:ea typeface="宋体" panose="02010600030101010101" pitchFamily="2" charset="-122"/>
              </a:rPr>
              <a:t>STM32</a:t>
            </a: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定时器区别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230438" y="2816225"/>
          <a:ext cx="7200900" cy="2103438"/>
        </p:xfrm>
        <a:graphic>
          <a:graphicData uri="http://schemas.openxmlformats.org/drawingml/2006/table">
            <a:tbl>
              <a:tblPr/>
              <a:tblGrid>
                <a:gridCol w="1150937"/>
                <a:gridCol w="504825"/>
                <a:gridCol w="1008063"/>
                <a:gridCol w="936625"/>
                <a:gridCol w="857250"/>
                <a:gridCol w="733425"/>
                <a:gridCol w="2009775"/>
              </a:tblGrid>
              <a:tr h="7316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定时器种类</a:t>
                      </a:r>
                      <a:endParaRPr kumimoji="0" lang="zh-CN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位数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计数器模式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产生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DMA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请求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捕获</a:t>
                      </a:r>
                      <a:r>
                        <a:rPr kumimoji="0" lang="en-US" altLang="zh-CN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比较通道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互补输出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特殊应用场景</a:t>
                      </a:r>
                      <a:endParaRPr kumimoji="0" lang="zh-CN" alt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7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高级定时器</a:t>
                      </a:r>
                      <a:endParaRPr kumimoji="0" lang="en-US" altLang="zh-CN" sz="11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TIM1,TIM8)</a:t>
                      </a:r>
                      <a:endParaRPr kumimoji="0" lang="zh-CN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向上，向下，向上</a:t>
                      </a:r>
                      <a:r>
                        <a:rPr kumimoji="0" lang="en-US" altLang="zh-CN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下</a:t>
                      </a:r>
                      <a:endParaRPr kumimoji="0" lang="zh-CN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可以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有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带死区控制盒紧急刹车，可应用于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PWM</a:t>
                      </a: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电机控制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</a:tr>
              <a:tr h="457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通用定时器（</a:t>
                      </a: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TIM2~TIM5</a:t>
                      </a: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）</a:t>
                      </a:r>
                      <a:endParaRPr kumimoji="0" lang="zh-CN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向上，向下，向上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下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可以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通用。定时计数，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PWM</a:t>
                      </a: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输出，输入捕获，输出比较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</a:tr>
              <a:tr h="457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基本定时器</a:t>
                      </a:r>
                      <a:endParaRPr kumimoji="0" lang="en-US" altLang="zh-CN" sz="11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(TIM6,TIM7)</a:t>
                      </a:r>
                      <a:endParaRPr kumimoji="0" lang="zh-CN" altLang="en-US" sz="11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向上，向下，向上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下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可以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无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主要应用于驱动</a:t>
                      </a:r>
                      <a:r>
                        <a:rPr kumimoji="0" lang="en-US" altLang="zh-CN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DAC</a:t>
                      </a:r>
                      <a:endParaRPr kumimoji="0" lang="zh-CN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66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DFD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7410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17411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12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7413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414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17415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7416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7417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8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19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20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22" name="TextBox 22"/>
          <p:cNvSpPr txBox="1"/>
          <p:nvPr/>
        </p:nvSpPr>
        <p:spPr>
          <a:xfrm>
            <a:off x="1317625" y="0"/>
            <a:ext cx="5205413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定时器概述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7423" name="TextBox 2"/>
          <p:cNvSpPr txBox="1"/>
          <p:nvPr/>
        </p:nvSpPr>
        <p:spPr>
          <a:xfrm>
            <a:off x="1668463" y="1071563"/>
            <a:ext cx="517842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通用定时器功能特点描述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424" name="TextBox 1"/>
          <p:cNvSpPr txBox="1"/>
          <p:nvPr/>
        </p:nvSpPr>
        <p:spPr>
          <a:xfrm>
            <a:off x="1668463" y="1714500"/>
            <a:ext cx="7993062" cy="493903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STM32 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的通用 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TIMx (TIM2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TIM3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TIM4 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和 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TIM5)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定时器功能特点包括：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位于低速的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APB1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总线上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(APB1)</a:t>
            </a: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 16 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位向上、向下、向上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/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向下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中心对齐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计数模式，自动装载计数器（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TIMx_CNT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）。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 16 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位可编程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可以实时修改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预分频器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(TIMx_PSC)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，计数器时钟频率的分频系数 为 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～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65535 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之间的任意数值。</a:t>
            </a:r>
            <a:endParaRPr lang="en-US" altLang="zh-CN" sz="1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 4 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个独立通道（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TIMx_CH1~4</a:t>
            </a:r>
            <a:r>
              <a:rPr lang="zh-CN" altLang="en-US" sz="1600" dirty="0">
                <a:latin typeface="Arial" panose="020B0604020202020204" pitchFamily="34" charset="0"/>
                <a:ea typeface="宋体" panose="02010600030101010101" pitchFamily="2" charset="-122"/>
              </a:rPr>
              <a:t>），这些通道可以用来作为： </a:t>
            </a: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742950" lvl="1" indent="-28575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AutoNum type="circleNumDbPlain"/>
            </a:pPr>
            <a:r>
              <a:rPr lang="en-US" altLang="zh-CN" sz="1600" dirty="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rPr>
              <a:t>输入捕获 </a:t>
            </a:r>
            <a:endParaRPr lang="en-US" altLang="zh-CN" sz="1600" dirty="0">
              <a:solidFill>
                <a:schemeClr val="tx1"/>
              </a:solidFill>
              <a:latin typeface="Calibri Light" panose="020F0302020204030204" pitchFamily="34" charset="0"/>
              <a:ea typeface="宋体" panose="02010600030101010101" pitchFamily="2" charset="-122"/>
            </a:endParaRPr>
          </a:p>
          <a:p>
            <a:pPr marL="742950" lvl="1" indent="-28575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AutoNum type="circleNumDbPlain"/>
            </a:pPr>
            <a:r>
              <a:rPr lang="en-US" altLang="zh-CN" sz="1600" dirty="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rPr>
              <a:t>输出比较</a:t>
            </a:r>
            <a:endParaRPr lang="en-US" altLang="zh-CN" sz="1600" dirty="0">
              <a:solidFill>
                <a:schemeClr val="tx1"/>
              </a:solidFill>
              <a:latin typeface="Calibri Light" panose="020F0302020204030204" pitchFamily="34" charset="0"/>
              <a:ea typeface="宋体" panose="02010600030101010101" pitchFamily="2" charset="-122"/>
            </a:endParaRPr>
          </a:p>
          <a:p>
            <a:pPr marL="742950" lvl="1" indent="-28575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AutoNum type="circleNumDbPlain"/>
            </a:pPr>
            <a:r>
              <a:rPr lang="zh-CN" alt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rPr>
              <a:t> </a:t>
            </a:r>
            <a:r>
              <a:rPr lang="en-US" altLang="zh-CN" sz="1600" dirty="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rPr>
              <a:t>PWM </a:t>
            </a:r>
            <a:r>
              <a:rPr lang="zh-CN" alt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rPr>
              <a:t>生成</a:t>
            </a:r>
            <a:r>
              <a:rPr lang="en-US" altLang="zh-CN" sz="1600" dirty="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rPr>
              <a:t>边缘或中间对齐模式</a:t>
            </a:r>
            <a:r>
              <a:rPr lang="en-US" altLang="zh-CN" sz="1600" dirty="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rPr>
              <a:t>) </a:t>
            </a:r>
            <a:endParaRPr lang="en-US" altLang="zh-CN" sz="1600" dirty="0">
              <a:solidFill>
                <a:schemeClr val="tx1"/>
              </a:solidFill>
              <a:latin typeface="Calibri Light" panose="020F0302020204030204" pitchFamily="34" charset="0"/>
              <a:ea typeface="宋体" panose="02010600030101010101" pitchFamily="2" charset="-122"/>
            </a:endParaRPr>
          </a:p>
          <a:p>
            <a:pPr marL="742950" lvl="1" indent="-28575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AutoNum type="circleNumDbPlain"/>
            </a:pPr>
            <a:r>
              <a:rPr lang="en-US" altLang="zh-CN" sz="1600" dirty="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rPr>
              <a:t>单脉冲模式输出 </a:t>
            </a:r>
            <a:endParaRPr lang="en-US" altLang="zh-CN" sz="1600" dirty="0">
              <a:solidFill>
                <a:schemeClr val="tx1"/>
              </a:solidFill>
              <a:latin typeface="Calibri Light" panose="020F0302020204030204" pitchFamily="34" charset="0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可使用外部信号（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TIMx_ETR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）控制定时器和定时器互连（可以用 </a:t>
            </a:r>
            <a:r>
              <a:rPr lang="en-US" altLang="zh-CN" sz="1600" b="1" dirty="0">
                <a:latin typeface="Arial" panose="020B0604020202020204" pitchFamily="34" charset="0"/>
                <a:ea typeface="宋体" panose="02010600030101010101" pitchFamily="2" charset="-122"/>
              </a:rPr>
              <a:t>1 </a:t>
            </a:r>
            <a:r>
              <a:rPr lang="zh-CN" altLang="en-US" sz="1600" b="1" dirty="0">
                <a:latin typeface="Arial" panose="020B0604020202020204" pitchFamily="34" charset="0"/>
                <a:ea typeface="宋体" panose="02010600030101010101" pitchFamily="2" charset="-122"/>
              </a:rPr>
              <a:t>个定时器控制另外一个定时器）的同步电路。</a:t>
            </a:r>
            <a:endParaRPr lang="zh-CN" altLang="en-US" sz="16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8434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18435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36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8437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438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18439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440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8441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42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43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444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446" name="TextBox 22"/>
          <p:cNvSpPr txBox="1"/>
          <p:nvPr/>
        </p:nvSpPr>
        <p:spPr>
          <a:xfrm>
            <a:off x="1317625" y="0"/>
            <a:ext cx="5205413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定时器概述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TextBox 1"/>
          <p:cNvSpPr txBox="1">
            <a:spLocks noChangeArrowheads="1"/>
          </p:cNvSpPr>
          <p:nvPr/>
        </p:nvSpPr>
        <p:spPr bwMode="auto">
          <a:xfrm>
            <a:off x="1892300" y="1354138"/>
            <a:ext cx="7345363" cy="492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如下事件发生时产生中断</a:t>
            </a:r>
            <a:r>
              <a:rPr kumimoji="0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/DMA</a:t>
            </a: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6</a:t>
            </a: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个独立的</a:t>
            </a:r>
            <a:r>
              <a:rPr kumimoji="0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IRQ/DMA</a:t>
            </a: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请求生成器）： </a:t>
            </a:r>
            <a:endParaRPr kumimoji="0" lang="zh-CN" altLang="en-US" sz="1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circleNumDbPlain"/>
              <a:defRPr/>
            </a:pP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更新：计数器向上溢出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向下溢出，计数器初始化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通过软件或者内部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外部触发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 </a:t>
            </a:r>
            <a:endParaRPr kumimoji="0" lang="en-US" altLang="zh-CN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circleNumDbPlain"/>
              <a:defRPr/>
            </a:pP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触发事件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计数器启动、停止、初始化或者由内部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/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外部触发计数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 </a:t>
            </a:r>
            <a:endParaRPr kumimoji="0" lang="en-US" altLang="zh-CN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circleNumDbPlain"/>
              <a:defRPr/>
            </a:pP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输入捕获 </a:t>
            </a:r>
            <a:endParaRPr kumimoji="0" lang="en-US" altLang="zh-CN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circleNumDbPlain"/>
              <a:defRPr/>
            </a:pP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输出比较 </a:t>
            </a:r>
            <a:endParaRPr kumimoji="0" lang="en-US" altLang="zh-CN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circleNumDbPlain"/>
              <a:defRPr/>
            </a:pP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支持针对定位的增量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正交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编码器和霍尔传感器电路 </a:t>
            </a:r>
            <a:endParaRPr kumimoji="0" lang="en-US" altLang="zh-CN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ts val="2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circleNumDbPlain"/>
              <a:defRPr/>
            </a:pP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触发输入作为外部时钟或者按周期的电流管理</a:t>
            </a:r>
            <a:endParaRPr kumimoji="0" lang="zh-CN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STM32 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的通用定时器可以被用于：测量输入信号的脉冲长度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输入捕获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或者产生输出波形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输出比较和 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PWM)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等。   </a:t>
            </a:r>
            <a:endParaRPr kumimoji="0" lang="en-US" altLang="zh-CN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使用定时器预分频器和 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RCC 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时钟控制器预分频器，脉冲长度和波形周期可以在几个微秒到几个毫秒间调整。</a:t>
            </a:r>
            <a:r>
              <a:rPr kumimoji="0" lang="en-US" altLang="zh-CN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STM32 </a:t>
            </a:r>
            <a:r>
              <a:rPr kumimoji="0" lang="zh-CN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的每个通用定时器都是完全独立的，没有互相共享的任何资源。</a:t>
            </a:r>
            <a:endParaRPr kumimoji="0" lang="zh-CN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altLang="zh-CN" sz="1600" b="1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Verdan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9458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19459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60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9461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9462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19463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9464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19465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66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67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6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70" name="TextBox 22"/>
          <p:cNvSpPr txBox="1"/>
          <p:nvPr/>
        </p:nvSpPr>
        <p:spPr>
          <a:xfrm>
            <a:off x="1317625" y="0"/>
            <a:ext cx="5205413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定时器概述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9471" name="TextBox 1"/>
          <p:cNvSpPr txBox="1"/>
          <p:nvPr/>
        </p:nvSpPr>
        <p:spPr>
          <a:xfrm>
            <a:off x="2008188" y="2390775"/>
            <a:ext cx="73453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72" name="TextBox 1"/>
          <p:cNvSpPr txBox="1"/>
          <p:nvPr/>
        </p:nvSpPr>
        <p:spPr>
          <a:xfrm>
            <a:off x="1690688" y="1130300"/>
            <a:ext cx="2649537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计数器模式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473" name="TextBox 2"/>
          <p:cNvSpPr txBox="1"/>
          <p:nvPr/>
        </p:nvSpPr>
        <p:spPr>
          <a:xfrm>
            <a:off x="1690688" y="1766888"/>
            <a:ext cx="8208962" cy="34623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266700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通用定时器可以向上计数、向下计数、向上向下双向计数模式。</a:t>
            </a:r>
            <a:endParaRPr lang="en-US" altLang="zh-CN" sz="20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66700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①向上计数模式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：计数器从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计数到自动加载值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(TIMx_ARR)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，然后重新从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开始计数并且产生一个计数器溢出事件。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66700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②向下计数模式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：计数器从自动装入的值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(TIMx_ARR)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开始向下计数到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，然后从自动装入的值重新开始，并产生一个计数器向下溢出事件。</a:t>
            </a:r>
            <a:endParaRPr lang="en-US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66700">
              <a:lnSpc>
                <a:spcPct val="150000"/>
              </a:lnSpc>
              <a:buFont typeface="Wingdings" panose="05000000000000000000" pitchFamily="2" charset="2"/>
            </a:pP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③中央对齐模式（向上</a:t>
            </a:r>
            <a:r>
              <a:rPr lang="en-US" altLang="zh-CN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向下计数）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：计数器从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开始计数到自动装入的值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-1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，产生一个计数器溢出事件，然后向下计数到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并且产生一个计数器溢出事件；然后再从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开始重新计数。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9474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1650" y="5229225"/>
            <a:ext cx="5508625" cy="11572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0482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0483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84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0485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486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0487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0488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0489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90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91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92" name="矩形 9"/>
          <p:cNvSpPr/>
          <p:nvPr/>
        </p:nvSpPr>
        <p:spPr>
          <a:xfrm>
            <a:off x="784225" y="1273175"/>
            <a:ext cx="9680575" cy="511492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2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0493" name="等腰三角形 21"/>
          <p:cNvSpPr/>
          <p:nvPr/>
        </p:nvSpPr>
        <p:spPr>
          <a:xfrm rot="9165130">
            <a:off x="822325" y="1511300"/>
            <a:ext cx="1166813" cy="517525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p>
            <a:pPr algn="ctr">
              <a:buFont typeface="Arial" panose="020B0604020202020204" pitchFamily="34" charset="0"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0494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496" name="TextBox 22"/>
          <p:cNvSpPr txBox="1"/>
          <p:nvPr/>
        </p:nvSpPr>
        <p:spPr>
          <a:xfrm>
            <a:off x="1317625" y="0"/>
            <a:ext cx="5205413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定时器概述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0497" name="TextBox 1"/>
          <p:cNvSpPr txBox="1"/>
          <p:nvPr/>
        </p:nvSpPr>
        <p:spPr>
          <a:xfrm>
            <a:off x="1827213" y="2511425"/>
            <a:ext cx="73453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98" name="TextBox 1"/>
          <p:cNvSpPr txBox="1"/>
          <p:nvPr/>
        </p:nvSpPr>
        <p:spPr>
          <a:xfrm>
            <a:off x="1611313" y="1430338"/>
            <a:ext cx="3740150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通用定时器工作过程：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0499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113" y="1944688"/>
            <a:ext cx="7459662" cy="4270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150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150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0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1509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4.1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51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151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151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151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16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18" name="TextBox 22"/>
          <p:cNvSpPr txBox="1"/>
          <p:nvPr/>
        </p:nvSpPr>
        <p:spPr>
          <a:xfrm>
            <a:off x="1317625" y="0"/>
            <a:ext cx="5205413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定时器概述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pic>
        <p:nvPicPr>
          <p:cNvPr id="2" name="图片 1" descr="mmexport17001870257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1435735"/>
            <a:ext cx="10058400" cy="43313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2530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2531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532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2533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534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2535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2536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2537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8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39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40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2" name="TextBox 22"/>
          <p:cNvSpPr txBox="1"/>
          <p:nvPr/>
        </p:nvSpPr>
        <p:spPr>
          <a:xfrm>
            <a:off x="1317625" y="0"/>
            <a:ext cx="5956300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通用定时器基本原理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2543" name="矩形 9"/>
          <p:cNvSpPr/>
          <p:nvPr/>
        </p:nvSpPr>
        <p:spPr>
          <a:xfrm>
            <a:off x="784225" y="1273175"/>
            <a:ext cx="9680575" cy="511492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2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2544" name="等腰三角形 21"/>
          <p:cNvSpPr/>
          <p:nvPr/>
        </p:nvSpPr>
        <p:spPr>
          <a:xfrm rot="9165130">
            <a:off x="822325" y="1511300"/>
            <a:ext cx="1166813" cy="517525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p>
            <a:pPr algn="ctr">
              <a:buFont typeface="Arial" panose="020B0604020202020204" pitchFamily="34" charset="0"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2545" name="TextBox 1"/>
          <p:cNvSpPr txBox="1"/>
          <p:nvPr/>
        </p:nvSpPr>
        <p:spPr>
          <a:xfrm>
            <a:off x="2019300" y="2690813"/>
            <a:ext cx="7345363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46" name="TextBox 1"/>
          <p:cNvSpPr txBox="1"/>
          <p:nvPr/>
        </p:nvSpPr>
        <p:spPr>
          <a:xfrm>
            <a:off x="1862138" y="1682750"/>
            <a:ext cx="223202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时钟选择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547" name="TextBox 2"/>
          <p:cNvSpPr txBox="1"/>
          <p:nvPr/>
        </p:nvSpPr>
        <p:spPr>
          <a:xfrm>
            <a:off x="1731963" y="2401888"/>
            <a:ext cx="7920037" cy="300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indent="26670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计数器时钟可以由下列时钟源提供：</a:t>
            </a:r>
            <a:endParaRPr lang="zh-CN" altLang="en-US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AutoNum type="circleNumDbPlain"/>
            </a:pP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内部时钟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(CK_INT)</a:t>
            </a: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AutoNum type="circleNumDbPlain"/>
            </a:pP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外部时钟模式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：外部输入脚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(TIx)</a:t>
            </a: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AutoNum type="circleNumDbPlain"/>
            </a:pP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外部时钟模式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：外部触发输入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(ETR)</a:t>
            </a:r>
            <a:endParaRPr lang="en-US" altLang="zh-CN" sz="18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800100" lvl="1" indent="-342900" algn="l" rtl="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AutoNum type="circleNumDbPlain"/>
            </a:pP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内部触发输入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(ITRx)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：使用一个定时器作为另一个定时器的预分频器，如可以配置一个定时器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Timer1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而作为另一个定时器</a:t>
            </a:r>
            <a:r>
              <a:rPr lang="en-US" altLang="zh-CN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Timer2</a:t>
            </a:r>
            <a:r>
              <a:rPr lang="zh-CN" altLang="en-US" sz="18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的预分频器。</a:t>
            </a:r>
            <a:endParaRPr lang="zh-CN" altLang="en-US" sz="18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66700">
              <a:buFont typeface="Wingdings" panose="05000000000000000000" pitchFamily="2" charset="2"/>
              <a:buNone/>
            </a:pP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3554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3555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56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57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61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62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63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64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66" name="TextBox 22"/>
          <p:cNvSpPr txBox="1"/>
          <p:nvPr/>
        </p:nvSpPr>
        <p:spPr>
          <a:xfrm>
            <a:off x="1317625" y="0"/>
            <a:ext cx="5956300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通用定时器基本原理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17625" y="1262380"/>
            <a:ext cx="33515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algn="l"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3200" b="1" dirty="0">
                <a:latin typeface="Arial" panose="020B0604020202020204" pitchFamily="34" charset="0"/>
              </a:rPr>
              <a:t>时基单元</a:t>
            </a:r>
            <a:endParaRPr lang="zh-CN" altLang="en-US" sz="3200" b="1" dirty="0">
              <a:latin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17625" y="2001520"/>
            <a:ext cx="33039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 typeface="Wingdings" panose="05000000000000000000" pitchFamily="2" charset="2"/>
            </a:pPr>
            <a:r>
              <a:rPr lang="zh-CN" altLang="en-US" sz="1800" b="1" dirty="0">
                <a:latin typeface="Arial" panose="020B0604020202020204" pitchFamily="34" charset="0"/>
              </a:rPr>
              <a:t>计数器寄存器(TIMx_CNT) 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88110" y="3241040"/>
            <a:ext cx="32334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 typeface="Wingdings" panose="05000000000000000000" pitchFamily="2" charset="2"/>
            </a:pPr>
            <a:r>
              <a:rPr lang="zh-CN" altLang="en-US" sz="1800" b="1" dirty="0">
                <a:latin typeface="Arial" panose="020B0604020202020204" pitchFamily="34" charset="0"/>
              </a:rPr>
              <a:t>预分频器寄存器 (TIMx_PSC) 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89380" y="5201920"/>
            <a:ext cx="32321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 typeface="Wingdings" panose="05000000000000000000" pitchFamily="2" charset="2"/>
            </a:pPr>
            <a:r>
              <a:rPr lang="zh-CN" altLang="en-US" sz="1800" b="1" dirty="0">
                <a:latin typeface="Arial" panose="020B0604020202020204" pitchFamily="34" charset="0"/>
              </a:rPr>
              <a:t>自动装载寄存器 (TIMx_ARR) </a:t>
            </a:r>
            <a:endParaRPr lang="zh-CN" altLang="en-US" sz="1800" b="1" dirty="0">
              <a:latin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87265" y="3241040"/>
            <a:ext cx="6096000" cy="1751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</a:pPr>
            <a:r>
              <a:rPr lang="zh-CN" altLang="en-US"/>
              <a:t>预</a:t>
            </a:r>
            <a:r>
              <a:rPr lang="zh-CN" altLang="en-US" sz="1800" dirty="0">
                <a:latin typeface="Arial" panose="020B0604020202020204" pitchFamily="34" charset="0"/>
              </a:rPr>
              <a:t>分频器可以将计数器的时钟频率按1到65536之间的任意值分频。它是基于一个(在TIMx_PSC寄存器中的)16位寄存器控制的16位计数器。这个控制寄存器带有缓冲器，它能够在工作时被改变。新的预分频器参数在下一次更新事件到来时被采用。 </a:t>
            </a:r>
            <a:endParaRPr lang="zh-CN" altLang="en-US" sz="1800" dirty="0"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87265" y="2001520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16</a:t>
            </a:r>
            <a:r>
              <a:rPr lang="zh-CN" altLang="en-US"/>
              <a:t>位计数器，可以向上计数、向下计数或者向上向下双向计数。此计数器时钟由预分频器分频得到。 </a:t>
            </a:r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4914265" y="5201920"/>
            <a:ext cx="6096000" cy="1087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</a:pPr>
            <a:r>
              <a:rPr lang="en-US" altLang="zh-CN" sz="1800" dirty="0">
                <a:latin typeface="Arial" panose="020B0604020202020204" pitchFamily="34" charset="0"/>
              </a:rPr>
              <a:t>16</a:t>
            </a:r>
            <a:r>
              <a:rPr lang="zh-CN" altLang="en-US" sz="1800" dirty="0">
                <a:latin typeface="Arial" panose="020B0604020202020204" pitchFamily="34" charset="0"/>
              </a:rPr>
              <a:t>位，装载着计数器能计数的最大值。物理上对应</a:t>
            </a:r>
            <a:r>
              <a:rPr lang="en-US" altLang="zh-CN" sz="1800" dirty="0">
                <a:latin typeface="Arial" panose="020B0604020202020204" pitchFamily="34" charset="0"/>
              </a:rPr>
              <a:t>2</a:t>
            </a:r>
            <a:r>
              <a:rPr lang="zh-CN" altLang="en-US" sz="1800" dirty="0">
                <a:latin typeface="Arial" panose="020B0604020202020204" pitchFamily="34" charset="0"/>
              </a:rPr>
              <a:t>个寄存器，一个是可以读写的，称为预装载寄存器，另一个是真正起作用的，称为影子寄存器。 </a:t>
            </a:r>
            <a:endParaRPr lang="zh-CN" altLang="en-US" sz="1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3554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3555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56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57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3558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3559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3560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3561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62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63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64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66" name="TextBox 22"/>
          <p:cNvSpPr txBox="1"/>
          <p:nvPr/>
        </p:nvSpPr>
        <p:spPr>
          <a:xfrm>
            <a:off x="1317625" y="0"/>
            <a:ext cx="5956300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通用定时器基本原理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3567" name="矩形 9"/>
          <p:cNvSpPr/>
          <p:nvPr/>
        </p:nvSpPr>
        <p:spPr>
          <a:xfrm>
            <a:off x="784225" y="1273175"/>
            <a:ext cx="9680575" cy="511492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2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3568" name="等腰三角形 21"/>
          <p:cNvSpPr/>
          <p:nvPr/>
        </p:nvSpPr>
        <p:spPr>
          <a:xfrm rot="9165130">
            <a:off x="822325" y="1511300"/>
            <a:ext cx="1166813" cy="517525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p>
            <a:pPr algn="ctr">
              <a:buFont typeface="Arial" panose="020B0604020202020204" pitchFamily="34" charset="0"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3569" name="TextBox 1"/>
          <p:cNvSpPr txBox="1"/>
          <p:nvPr/>
        </p:nvSpPr>
        <p:spPr>
          <a:xfrm>
            <a:off x="1973263" y="2536825"/>
            <a:ext cx="73453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357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238" y="2032000"/>
            <a:ext cx="4132262" cy="32654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71" name="TextBox 1"/>
          <p:cNvSpPr txBox="1"/>
          <p:nvPr/>
        </p:nvSpPr>
        <p:spPr>
          <a:xfrm>
            <a:off x="1790700" y="1509713"/>
            <a:ext cx="2701925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内部时钟选择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72" name="TextBox 1"/>
          <p:cNvSpPr txBox="1"/>
          <p:nvPr/>
        </p:nvSpPr>
        <p:spPr>
          <a:xfrm>
            <a:off x="1949450" y="5810250"/>
            <a:ext cx="1371600" cy="369888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APB1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时钟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5" name="直接箭头连接符 14"/>
          <p:cNvCxnSpPr>
            <a:stCxn id="23572" idx="3"/>
          </p:cNvCxnSpPr>
          <p:nvPr/>
        </p:nvCxnSpPr>
        <p:spPr>
          <a:xfrm>
            <a:off x="3321050" y="59944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74" name="TextBox 5"/>
          <p:cNvSpPr txBox="1"/>
          <p:nvPr/>
        </p:nvSpPr>
        <p:spPr>
          <a:xfrm>
            <a:off x="3400425" y="5476875"/>
            <a:ext cx="1360488" cy="3698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X1 / X2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75" name="TextBox 6"/>
          <p:cNvSpPr txBox="1"/>
          <p:nvPr/>
        </p:nvSpPr>
        <p:spPr>
          <a:xfrm>
            <a:off x="4616450" y="5789613"/>
            <a:ext cx="1676400" cy="369887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F(CK_PSC)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8" name="直接箭头连接符 17"/>
          <p:cNvCxnSpPr>
            <a:stCxn id="23575" idx="3"/>
          </p:cNvCxnSpPr>
          <p:nvPr/>
        </p:nvCxnSpPr>
        <p:spPr>
          <a:xfrm>
            <a:off x="6292850" y="597535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77" name="TextBox 12"/>
          <p:cNvSpPr txBox="1"/>
          <p:nvPr/>
        </p:nvSpPr>
        <p:spPr>
          <a:xfrm>
            <a:off x="6445250" y="5475288"/>
            <a:ext cx="1000125" cy="36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÷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78" name="TextBox 16"/>
          <p:cNvSpPr txBox="1"/>
          <p:nvPr/>
        </p:nvSpPr>
        <p:spPr>
          <a:xfrm>
            <a:off x="7612063" y="5789613"/>
            <a:ext cx="1676400" cy="369887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CK_CNT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4578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4579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80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4581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582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4583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84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4585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6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7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90" name="TextBox 22"/>
          <p:cNvSpPr txBox="1"/>
          <p:nvPr/>
        </p:nvSpPr>
        <p:spPr>
          <a:xfrm>
            <a:off x="1317625" y="0"/>
            <a:ext cx="5956300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通用定时器基本原理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4591" name="矩形 9"/>
          <p:cNvSpPr/>
          <p:nvPr/>
        </p:nvSpPr>
        <p:spPr>
          <a:xfrm>
            <a:off x="812800" y="1273175"/>
            <a:ext cx="9680575" cy="511492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2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4592" name="等腰三角形 21"/>
          <p:cNvSpPr/>
          <p:nvPr/>
        </p:nvSpPr>
        <p:spPr>
          <a:xfrm rot="9165130">
            <a:off x="850900" y="1511300"/>
            <a:ext cx="1166813" cy="517525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p>
            <a:pPr algn="ctr">
              <a:buFont typeface="Arial" panose="020B0604020202020204" pitchFamily="34" charset="0"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4593" name="TextBox 1"/>
          <p:cNvSpPr txBox="1"/>
          <p:nvPr/>
        </p:nvSpPr>
        <p:spPr>
          <a:xfrm>
            <a:off x="2101850" y="1936750"/>
            <a:ext cx="7345363" cy="8318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94" name="TextBox 1"/>
          <p:cNvSpPr txBox="1"/>
          <p:nvPr/>
        </p:nvSpPr>
        <p:spPr>
          <a:xfrm>
            <a:off x="1706563" y="1539875"/>
            <a:ext cx="266858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时钟计算方法：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95" name="TextBox 1"/>
          <p:cNvSpPr txBox="1"/>
          <p:nvPr/>
        </p:nvSpPr>
        <p:spPr>
          <a:xfrm>
            <a:off x="1984375" y="2419350"/>
            <a:ext cx="1371600" cy="368300"/>
          </a:xfrm>
          <a:prstGeom prst="rect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APB1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时钟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5" name="直接箭头连接符 14"/>
          <p:cNvCxnSpPr>
            <a:stCxn id="24595" idx="3"/>
          </p:cNvCxnSpPr>
          <p:nvPr/>
        </p:nvCxnSpPr>
        <p:spPr>
          <a:xfrm>
            <a:off x="3362325" y="2603500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97" name="TextBox 5"/>
          <p:cNvSpPr txBox="1"/>
          <p:nvPr/>
        </p:nvSpPr>
        <p:spPr>
          <a:xfrm>
            <a:off x="3435350" y="2085975"/>
            <a:ext cx="1360488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X1 / X2 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98" name="TextBox 6"/>
          <p:cNvSpPr txBox="1"/>
          <p:nvPr/>
        </p:nvSpPr>
        <p:spPr>
          <a:xfrm>
            <a:off x="4651375" y="2397125"/>
            <a:ext cx="1676400" cy="371475"/>
          </a:xfrm>
          <a:prstGeom prst="rect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F(CK_PSC)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8" name="直接箭头连接符 17"/>
          <p:cNvCxnSpPr>
            <a:stCxn id="24598" idx="3"/>
          </p:cNvCxnSpPr>
          <p:nvPr/>
        </p:nvCxnSpPr>
        <p:spPr>
          <a:xfrm>
            <a:off x="6334125" y="2582863"/>
            <a:ext cx="12954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00" name="TextBox 12"/>
          <p:cNvSpPr txBox="1"/>
          <p:nvPr/>
        </p:nvSpPr>
        <p:spPr>
          <a:xfrm>
            <a:off x="6480175" y="2082800"/>
            <a:ext cx="1000125" cy="371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 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÷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N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601" name="TextBox 16"/>
          <p:cNvSpPr txBox="1"/>
          <p:nvPr/>
        </p:nvSpPr>
        <p:spPr>
          <a:xfrm>
            <a:off x="7646988" y="2397125"/>
            <a:ext cx="1676400" cy="371475"/>
          </a:xfrm>
          <a:prstGeom prst="rect">
            <a:avLst/>
          </a:prstGeom>
          <a:solidFill>
            <a:srgbClr val="92D050"/>
          </a:solidFill>
          <a:ln w="1270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CK_CNT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602" name="TextBox 1"/>
          <p:cNvSpPr txBox="1"/>
          <p:nvPr/>
        </p:nvSpPr>
        <p:spPr>
          <a:xfrm>
            <a:off x="2108200" y="4275138"/>
            <a:ext cx="7339013" cy="17541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默认调用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SystemInit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函数情况下：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SYSCLK=72M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AHB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时钟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=72M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APB1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时钟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=36M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所以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APB1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的分频系数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=AHB/APB1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时钟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=2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所以，通用定时器时钟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CK_INT=2*36M=72M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603" name="TextBox 15"/>
          <p:cNvSpPr txBox="1"/>
          <p:nvPr/>
        </p:nvSpPr>
        <p:spPr>
          <a:xfrm>
            <a:off x="3849688" y="3165475"/>
            <a:ext cx="1050925" cy="36830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CK_INT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cxnSp>
        <p:nvCxnSpPr>
          <p:cNvPr id="17" name="直接箭头连接符 16"/>
          <p:cNvCxnSpPr>
            <a:stCxn id="24603" idx="0"/>
          </p:cNvCxnSpPr>
          <p:nvPr/>
        </p:nvCxnSpPr>
        <p:spPr>
          <a:xfrm flipH="1" flipV="1">
            <a:off x="4378325" y="2619375"/>
            <a:ext cx="3175" cy="5461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05" name="TextBox 15"/>
          <p:cNvSpPr txBox="1"/>
          <p:nvPr/>
        </p:nvSpPr>
        <p:spPr>
          <a:xfrm>
            <a:off x="2087563" y="3660775"/>
            <a:ext cx="7777162" cy="368300"/>
          </a:xfrm>
          <a:prstGeom prst="rect">
            <a:avLst/>
          </a:prstGeom>
          <a:solidFill>
            <a:srgbClr val="00B050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除非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APB1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的分频系数是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，否则通用定时器的时钟等于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APB1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时钟的</a:t>
            </a:r>
            <a:r>
              <a:rPr lang="en-US" altLang="zh-CN" b="1" dirty="0"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倍。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4578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4579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80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4581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5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6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7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90" name="TextBox 22"/>
          <p:cNvSpPr txBox="1"/>
          <p:nvPr/>
        </p:nvSpPr>
        <p:spPr>
          <a:xfrm>
            <a:off x="1317625" y="0"/>
            <a:ext cx="5956300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通用定时器基本原理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110105" y="4911090"/>
            <a:ext cx="336359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266700" algn="l">
              <a:lnSpc>
                <a:spcPct val="150000"/>
              </a:lnSpc>
              <a:buClrTx/>
              <a:buSzTx/>
              <a:buFont typeface="Wingdings" panose="05000000000000000000" pitchFamily="2" charset="2"/>
            </a:pPr>
            <a:r>
              <a:rPr lang="zh-CN" sz="2800" b="1" dirty="0">
                <a:latin typeface="宋体" panose="02010600030101010101" pitchFamily="2" charset="-122"/>
              </a:rPr>
              <a:t>定时器溢出频率</a:t>
            </a:r>
            <a:r>
              <a:rPr lang="en-US" altLang="zh-CN" sz="2800" b="1" dirty="0">
                <a:latin typeface="宋体" panose="02010600030101010101" pitchFamily="2" charset="-122"/>
              </a:rPr>
              <a:t> </a:t>
            </a:r>
            <a:r>
              <a:rPr lang="en-US" altLang="zh-CN" sz="2800" b="1" dirty="0">
                <a:latin typeface="宋体" panose="02010600030101010101" pitchFamily="2" charset="-122"/>
              </a:rPr>
              <a:t>= 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5600700" y="5337810"/>
            <a:ext cx="349440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489065" y="4692650"/>
            <a:ext cx="17405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CK_I</a:t>
            </a:r>
            <a:r>
              <a:rPr lang="en-US" altLang="zh-CN" sz="3600"/>
              <a:t>NT</a:t>
            </a:r>
            <a:endParaRPr lang="en-US" altLang="zh-CN" sz="3600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678805" y="5337810"/>
            <a:ext cx="35318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600"/>
              <a:t>(PSC+1) </a:t>
            </a:r>
            <a:r>
              <a:rPr lang="en-US" altLang="zh-CN" sz="3600">
                <a:sym typeface="+mn-ea"/>
              </a:rPr>
              <a:t>· (ARR+1)</a:t>
            </a:r>
            <a:endParaRPr lang="en-US" altLang="zh-CN" sz="3600"/>
          </a:p>
        </p:txBody>
      </p:sp>
      <p:sp>
        <p:nvSpPr>
          <p:cNvPr id="24602" name="TextBox 1"/>
          <p:cNvSpPr txBox="1"/>
          <p:nvPr>
            <p:custDataLst>
              <p:tags r:id="rId3"/>
            </p:custDataLst>
          </p:nvPr>
        </p:nvSpPr>
        <p:spPr>
          <a:xfrm>
            <a:off x="1534795" y="1390015"/>
            <a:ext cx="9304655" cy="286131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CK_CNT</a:t>
            </a:r>
            <a:r>
              <a:rPr 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就是定时器的计数频率。</a:t>
            </a:r>
            <a:endParaRPr lang="zh-CN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向上计数时，定时器从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记到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ARR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的值溢出，共计了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ARR+1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</a:rPr>
              <a:t>个数，因此计数器的溢出频率就是</a:t>
            </a:r>
            <a:r>
              <a:rPr lang="en-US" sz="2400" dirty="0">
                <a:latin typeface="Arial" panose="020B0604020202020204" pitchFamily="34" charset="0"/>
                <a:sym typeface="+mn-ea"/>
              </a:rPr>
              <a:t>CK_CNT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/(ARR+1)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。</a:t>
            </a:r>
            <a:endParaRPr lang="zh-CN" altLang="zh-CN" sz="2400" dirty="0">
              <a:latin typeface="Arial" panose="020B0604020202020204" pitchFamily="34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PSC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是对内部时钟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(CK_INT)</a:t>
            </a:r>
            <a:r>
              <a:rPr lang="zh-CN" altLang="en-US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的频率进行分频，从而得到计数频率</a:t>
            </a: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CK_CNT</a:t>
            </a:r>
            <a:r>
              <a:rPr lang="zh-CN" altLang="zh-CN" sz="2400" dirty="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，因此</a:t>
            </a:r>
            <a:r>
              <a:rPr lang="en-US" altLang="zh-CN" sz="2400" dirty="0">
                <a:latin typeface="Arial" panose="020B0604020202020204" pitchFamily="34" charset="0"/>
                <a:sym typeface="+mn-ea"/>
              </a:rPr>
              <a:t>CK_CNT=CK_INT/(PSC+1)</a:t>
            </a:r>
            <a:r>
              <a:rPr lang="zh-CN" altLang="zh-CN" sz="2400" dirty="0">
                <a:latin typeface="Arial" panose="020B0604020202020204" pitchFamily="34" charset="0"/>
                <a:sym typeface="+mn-ea"/>
              </a:rPr>
              <a:t>。</a:t>
            </a:r>
            <a:endParaRPr lang="zh-CN" altLang="zh-CN" sz="2400" dirty="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4578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4579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4580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4581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5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6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7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8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90" name="TextBox 22"/>
          <p:cNvSpPr txBox="1"/>
          <p:nvPr/>
        </p:nvSpPr>
        <p:spPr>
          <a:xfrm>
            <a:off x="1317625" y="0"/>
            <a:ext cx="5956300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通用定时器基本原理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31570" y="1444625"/>
            <a:ext cx="10255885" cy="4615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266700" algn="l">
              <a:lnSpc>
                <a:spcPct val="150000"/>
              </a:lnSpc>
              <a:buClrTx/>
              <a:buSzTx/>
              <a:buFont typeface="Wingdings" panose="05000000000000000000" pitchFamily="2" charset="2"/>
            </a:pPr>
            <a:r>
              <a:rPr lang="zh-CN" altLang="en-US" sz="2800" b="1" dirty="0">
                <a:latin typeface="宋体" panose="02010600030101010101" pitchFamily="2" charset="-122"/>
              </a:rPr>
              <a:t>AHB总线为72MHz，APB1总线预分频系数为2，使用定时器3时，在PSC和ARR寄存器内装入什么值</a:t>
            </a:r>
            <a:r>
              <a:rPr lang="en-US" altLang="zh-CN" sz="2800" b="1" dirty="0">
                <a:latin typeface="宋体" panose="02010600030101010101" pitchFamily="2" charset="-122"/>
              </a:rPr>
              <a:t>(10</a:t>
            </a:r>
            <a:r>
              <a:rPr lang="zh-CN" altLang="en-US" sz="2800" b="1" dirty="0">
                <a:latin typeface="宋体" panose="02010600030101010101" pitchFamily="2" charset="-122"/>
              </a:rPr>
              <a:t>进制</a:t>
            </a:r>
            <a:r>
              <a:rPr lang="en-US" altLang="zh-CN" sz="2800" b="1" dirty="0">
                <a:latin typeface="宋体" panose="02010600030101010101" pitchFamily="2" charset="-122"/>
              </a:rPr>
              <a:t>)</a:t>
            </a:r>
            <a:r>
              <a:rPr lang="zh-CN" altLang="en-US" sz="2800" b="1" dirty="0">
                <a:latin typeface="宋体" panose="02010600030101010101" pitchFamily="2" charset="-122"/>
              </a:rPr>
              <a:t>可以使定时器3溢出频率为10Hz?</a:t>
            </a:r>
            <a:endParaRPr lang="zh-CN" altLang="en-US" sz="2800" b="1" dirty="0">
              <a:latin typeface="宋体" panose="02010600030101010101" pitchFamily="2" charset="-122"/>
            </a:endParaRPr>
          </a:p>
          <a:p>
            <a:pPr indent="266700" algn="l">
              <a:lnSpc>
                <a:spcPct val="150000"/>
              </a:lnSpc>
              <a:buClrTx/>
              <a:buSzTx/>
              <a:buFont typeface="Wingdings" panose="05000000000000000000" pitchFamily="2" charset="2"/>
            </a:pPr>
            <a:r>
              <a:rPr lang="en-US" altLang="zh-CN" sz="2800" b="1" dirty="0">
                <a:latin typeface="宋体" panose="02010600030101010101" pitchFamily="2" charset="-122"/>
              </a:rPr>
              <a:t>A. PSC = 7199</a:t>
            </a:r>
            <a:r>
              <a:rPr lang="zh-CN" altLang="en-US" sz="2800" b="1" dirty="0">
                <a:latin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</a:rPr>
              <a:t>ARR = 1999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indent="266700" algn="l">
              <a:lnSpc>
                <a:spcPct val="150000"/>
              </a:lnSpc>
              <a:buClrTx/>
              <a:buSzTx/>
              <a:buFont typeface="Wingdings" panose="05000000000000000000" pitchFamily="2" charset="2"/>
            </a:pPr>
            <a:r>
              <a:rPr lang="en-US" altLang="zh-CN" sz="2800" b="1" dirty="0">
                <a:latin typeface="宋体" panose="02010600030101010101" pitchFamily="2" charset="-122"/>
                <a:sym typeface="+mn-ea"/>
              </a:rPr>
              <a:t>B. </a:t>
            </a:r>
            <a:r>
              <a:rPr lang="en-US" altLang="zh-CN" sz="2800" b="1" dirty="0">
                <a:latin typeface="宋体" panose="02010600030101010101" pitchFamily="2" charset="-122"/>
                <a:sym typeface="+mn-ea"/>
              </a:rPr>
              <a:t>PSC = 23999</a:t>
            </a: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  <a:sym typeface="+mn-ea"/>
              </a:rPr>
              <a:t>ARR = 299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indent="266700" algn="l">
              <a:lnSpc>
                <a:spcPct val="150000"/>
              </a:lnSpc>
              <a:buClrTx/>
              <a:buSzTx/>
              <a:buFont typeface="Wingdings" panose="05000000000000000000" pitchFamily="2" charset="2"/>
            </a:pPr>
            <a:r>
              <a:rPr lang="en-US" altLang="zh-CN" sz="2800" b="1" dirty="0">
                <a:latin typeface="宋体" panose="02010600030101010101" pitchFamily="2" charset="-122"/>
              </a:rPr>
              <a:t>C. </a:t>
            </a:r>
            <a:r>
              <a:rPr lang="en-US" altLang="zh-CN" sz="2800" b="1" dirty="0">
                <a:latin typeface="宋体" panose="02010600030101010101" pitchFamily="2" charset="-122"/>
                <a:sym typeface="+mn-ea"/>
              </a:rPr>
              <a:t>PSC = 89</a:t>
            </a: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  <a:sym typeface="+mn-ea"/>
              </a:rPr>
              <a:t>ARR = 79999</a:t>
            </a:r>
            <a:endParaRPr lang="en-US" altLang="zh-CN" sz="2800" b="1" dirty="0">
              <a:latin typeface="宋体" panose="02010600030101010101" pitchFamily="2" charset="-122"/>
            </a:endParaRPr>
          </a:p>
          <a:p>
            <a:pPr indent="266700" algn="l">
              <a:lnSpc>
                <a:spcPct val="150000"/>
              </a:lnSpc>
              <a:buClrTx/>
              <a:buSzTx/>
              <a:buFont typeface="Wingdings" panose="05000000000000000000" pitchFamily="2" charset="2"/>
            </a:pPr>
            <a:r>
              <a:rPr lang="en-US" altLang="zh-CN" sz="2800" b="1" dirty="0">
                <a:latin typeface="宋体" panose="02010600030101010101" pitchFamily="2" charset="-122"/>
              </a:rPr>
              <a:t>D. </a:t>
            </a:r>
            <a:r>
              <a:rPr lang="en-US" altLang="zh-CN" sz="2800" b="1" dirty="0">
                <a:latin typeface="宋体" panose="02010600030101010101" pitchFamily="2" charset="-122"/>
                <a:sym typeface="+mn-ea"/>
              </a:rPr>
              <a:t>PSC = 89</a:t>
            </a:r>
            <a:r>
              <a:rPr lang="zh-CN" altLang="en-US" sz="2800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2800" b="1" dirty="0">
                <a:latin typeface="宋体" panose="02010600030101010101" pitchFamily="2" charset="-122"/>
                <a:sym typeface="+mn-ea"/>
              </a:rPr>
              <a:t>ARR = 39999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602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5603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04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5605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606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5607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5608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5609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10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11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12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14" name="TextBox 22"/>
          <p:cNvSpPr txBox="1"/>
          <p:nvPr/>
        </p:nvSpPr>
        <p:spPr>
          <a:xfrm>
            <a:off x="1317625" y="0"/>
            <a:ext cx="5956300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通用定时器基本原理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5615" name="矩形 9"/>
          <p:cNvSpPr/>
          <p:nvPr/>
        </p:nvSpPr>
        <p:spPr>
          <a:xfrm>
            <a:off x="784225" y="1273175"/>
            <a:ext cx="9680575" cy="511492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2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5616" name="等腰三角形 21"/>
          <p:cNvSpPr/>
          <p:nvPr/>
        </p:nvSpPr>
        <p:spPr>
          <a:xfrm rot="9165130">
            <a:off x="822325" y="1511300"/>
            <a:ext cx="1166813" cy="517525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p>
            <a:pPr algn="ctr">
              <a:buFont typeface="Arial" panose="020B0604020202020204" pitchFamily="34" charset="0"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5617" name="TextBox 1"/>
          <p:cNvSpPr txBox="1"/>
          <p:nvPr/>
        </p:nvSpPr>
        <p:spPr>
          <a:xfrm>
            <a:off x="1863725" y="2349500"/>
            <a:ext cx="7345363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618" name="TextBox 1"/>
          <p:cNvSpPr txBox="1"/>
          <p:nvPr/>
        </p:nvSpPr>
        <p:spPr>
          <a:xfrm>
            <a:off x="1576388" y="1395413"/>
            <a:ext cx="527208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向下计数模式（时钟分频因子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=1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5619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188" y="1989138"/>
            <a:ext cx="6672262" cy="2687637"/>
          </a:xfrm>
          <a:prstGeom prst="rect">
            <a:avLst/>
          </a:prstGeom>
          <a:noFill/>
          <a:ln w="9525">
            <a:noFill/>
          </a:ln>
          <a:effectLst>
            <a:prstShdw prst="shdw13" dist="53882" dir="13499999">
              <a:schemeClr val="bg2">
                <a:alpha val="50000"/>
              </a:schemeClr>
            </a:prstShdw>
          </a:effectLst>
        </p:spPr>
      </p:pic>
      <p:pic>
        <p:nvPicPr>
          <p:cNvPr id="25620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675" y="4724400"/>
            <a:ext cx="2409825" cy="16144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662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662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2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6629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63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663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3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663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3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3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36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38" name="TextBox 22"/>
          <p:cNvSpPr txBox="1"/>
          <p:nvPr/>
        </p:nvSpPr>
        <p:spPr>
          <a:xfrm>
            <a:off x="1317625" y="0"/>
            <a:ext cx="5956300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通用定时器基本原理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6639" name="矩形 9"/>
          <p:cNvSpPr/>
          <p:nvPr/>
        </p:nvSpPr>
        <p:spPr>
          <a:xfrm>
            <a:off x="784225" y="1273175"/>
            <a:ext cx="9680575" cy="511492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2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6640" name="等腰三角形 21"/>
          <p:cNvSpPr/>
          <p:nvPr/>
        </p:nvSpPr>
        <p:spPr>
          <a:xfrm rot="9165130">
            <a:off x="822325" y="1511300"/>
            <a:ext cx="1166813" cy="517525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p>
            <a:pPr algn="ctr">
              <a:buFont typeface="Arial" panose="020B0604020202020204" pitchFamily="34" charset="0"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6641" name="TextBox 1"/>
          <p:cNvSpPr txBox="1"/>
          <p:nvPr/>
        </p:nvSpPr>
        <p:spPr>
          <a:xfrm>
            <a:off x="2330450" y="2355850"/>
            <a:ext cx="7345363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42" name="TextBox 1"/>
          <p:cNvSpPr txBox="1"/>
          <p:nvPr/>
        </p:nvSpPr>
        <p:spPr>
          <a:xfrm>
            <a:off x="2043113" y="1401763"/>
            <a:ext cx="5272087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向上计数模式（时钟分频因子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=1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664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413" y="1862138"/>
            <a:ext cx="6675437" cy="2641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664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263" y="4586288"/>
            <a:ext cx="2592387" cy="1724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7650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7651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2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7653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7654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7655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7656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7657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8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59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60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62" name="TextBox 22"/>
          <p:cNvSpPr txBox="1"/>
          <p:nvPr/>
        </p:nvSpPr>
        <p:spPr>
          <a:xfrm>
            <a:off x="1317625" y="0"/>
            <a:ext cx="5956300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通用定时器基本原理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7663" name="矩形 9"/>
          <p:cNvSpPr/>
          <p:nvPr/>
        </p:nvSpPr>
        <p:spPr>
          <a:xfrm>
            <a:off x="784225" y="1273175"/>
            <a:ext cx="9680575" cy="511492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2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7664" name="等腰三角形 21"/>
          <p:cNvSpPr/>
          <p:nvPr/>
        </p:nvSpPr>
        <p:spPr>
          <a:xfrm rot="9165130">
            <a:off x="822325" y="1511300"/>
            <a:ext cx="1166813" cy="517525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p>
            <a:pPr algn="ctr">
              <a:buFont typeface="Arial" panose="020B0604020202020204" pitchFamily="34" charset="0"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7665" name="TextBox 1"/>
          <p:cNvSpPr txBox="1"/>
          <p:nvPr/>
        </p:nvSpPr>
        <p:spPr>
          <a:xfrm>
            <a:off x="2246313" y="2338388"/>
            <a:ext cx="7345362" cy="830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endParaRPr lang="en-US" altLang="zh-CN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66" name="TextBox 1"/>
          <p:cNvSpPr txBox="1"/>
          <p:nvPr/>
        </p:nvSpPr>
        <p:spPr>
          <a:xfrm>
            <a:off x="1958975" y="1384300"/>
            <a:ext cx="7050088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中央对齐计数模式（时钟分频因子</a:t>
            </a:r>
            <a:r>
              <a:rPr lang="en-US" altLang="zh-CN" sz="2400" b="1" dirty="0">
                <a:latin typeface="Arial" panose="020B0604020202020204" pitchFamily="34" charset="0"/>
                <a:ea typeface="宋体" panose="02010600030101010101" pitchFamily="2" charset="-122"/>
              </a:rPr>
              <a:t>=1  ARR=6</a:t>
            </a: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766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900" y="1952625"/>
            <a:ext cx="6121400" cy="28225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7668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4862513"/>
            <a:ext cx="2841625" cy="14239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8674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8675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76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8677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678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8679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8680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8681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82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83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684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86" name="TextBox 22"/>
          <p:cNvSpPr txBox="1"/>
          <p:nvPr/>
        </p:nvSpPr>
        <p:spPr>
          <a:xfrm>
            <a:off x="1317625" y="0"/>
            <a:ext cx="5956300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通用定时器基本原理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8687" name="矩形 9"/>
          <p:cNvSpPr/>
          <p:nvPr/>
        </p:nvSpPr>
        <p:spPr>
          <a:xfrm>
            <a:off x="784225" y="1273175"/>
            <a:ext cx="9680575" cy="511492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2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8688" name="等腰三角形 21"/>
          <p:cNvSpPr/>
          <p:nvPr/>
        </p:nvSpPr>
        <p:spPr>
          <a:xfrm rot="9165130">
            <a:off x="822325" y="1511300"/>
            <a:ext cx="1166813" cy="517525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p>
            <a:pPr algn="ctr">
              <a:buFont typeface="Arial" panose="020B0604020202020204" pitchFamily="34" charset="0"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8689" name="TextBox 1"/>
          <p:cNvSpPr txBox="1"/>
          <p:nvPr/>
        </p:nvSpPr>
        <p:spPr>
          <a:xfrm>
            <a:off x="2451100" y="2549525"/>
            <a:ext cx="6623050" cy="23685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zh-CN" altLang="en-US" sz="4000" b="1" dirty="0">
                <a:latin typeface="Arial" panose="020B0604020202020204" pitchFamily="34" charset="0"/>
                <a:ea typeface="宋体" panose="02010600030101010101" pitchFamily="2" charset="-122"/>
              </a:rPr>
              <a:t>定时器中断实验相关寄存器</a:t>
            </a:r>
            <a:endParaRPr lang="zh-CN" altLang="en-US" sz="4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endParaRPr lang="zh-CN" altLang="en-US" sz="4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endParaRPr lang="zh-CN" altLang="en-US" sz="4000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参考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STM32F1-</a:t>
            </a: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开发指南库函数版本</a:t>
            </a:r>
            <a:r>
              <a:rPr lang="en-US" altLang="zh-CN" sz="2800" b="1" dirty="0">
                <a:latin typeface="Arial" panose="020B0604020202020204" pitchFamily="34" charset="0"/>
                <a:ea typeface="宋体" panose="02010600030101010101" pitchFamily="2" charset="-122"/>
              </a:rPr>
              <a:t>P216</a:t>
            </a:r>
            <a:endParaRPr lang="en-US" altLang="zh-CN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9698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29699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00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9701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702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29703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9704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9705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706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707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708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10" name="TextBox 22"/>
          <p:cNvSpPr txBox="1"/>
          <p:nvPr/>
        </p:nvSpPr>
        <p:spPr>
          <a:xfrm>
            <a:off x="1317625" y="0"/>
            <a:ext cx="5956300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通用定时器基本原理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9711" name="矩形 9"/>
          <p:cNvSpPr/>
          <p:nvPr/>
        </p:nvSpPr>
        <p:spPr>
          <a:xfrm>
            <a:off x="784225" y="1273175"/>
            <a:ext cx="9680575" cy="511492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2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29712" name="等腰三角形 21"/>
          <p:cNvSpPr/>
          <p:nvPr/>
        </p:nvSpPr>
        <p:spPr>
          <a:xfrm rot="9165130">
            <a:off x="822325" y="1511300"/>
            <a:ext cx="1166813" cy="517525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p>
            <a:pPr algn="ctr">
              <a:buFont typeface="Arial" panose="020B0604020202020204" pitchFamily="34" charset="0"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29713" name="TextBox 4"/>
          <p:cNvSpPr txBox="1"/>
          <p:nvPr/>
        </p:nvSpPr>
        <p:spPr>
          <a:xfrm>
            <a:off x="1343025" y="2147888"/>
            <a:ext cx="8797925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void TIM_TimeBaseInit(TIM_TypeDef* TIMx, </a:t>
            </a:r>
            <a:endParaRPr lang="en-US" altLang="zh-CN" b="1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</a:pPr>
            <a:r>
              <a:rPr lang="en-US" altLang="zh-CN" b="1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                                     TIM_TimeBaseInitTypeDef* TIM_TimeBaseInitStruct);</a:t>
            </a:r>
            <a:endParaRPr lang="zh-CN" altLang="en-US" b="1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7550" y="3013075"/>
            <a:ext cx="3178175" cy="181451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typedef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struct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{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uint16_t </a:t>
            </a:r>
            <a:r>
              <a:rPr kumimoji="0" lang="en-US" altLang="zh-CN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TIM_Prescaler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        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uint16_t </a:t>
            </a:r>
            <a:r>
              <a:rPr kumimoji="0" lang="en-US" altLang="zh-CN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TIM_CounterMode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     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uint16_t </a:t>
            </a:r>
            <a:r>
              <a:rPr kumimoji="0" lang="en-US" altLang="zh-CN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TIM_Period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        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uint16_t </a:t>
            </a:r>
            <a:r>
              <a:rPr kumimoji="0" lang="en-US" altLang="zh-CN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TIM_ClockDivision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  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uint8_t </a:t>
            </a:r>
            <a:r>
              <a:rPr kumimoji="0" lang="en-US" altLang="zh-CN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TIM_RepetitionCounter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</a:t>
            </a:r>
            <a:endParaRPr kumimoji="0" lang="en-US" altLang="zh-CN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} </a:t>
            </a:r>
            <a:r>
              <a:rPr kumimoji="0" lang="en-US" altLang="zh-CN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TIM_TimeBaseInitTypeDef</a:t>
            </a:r>
            <a:r>
              <a:rPr kumimoji="0" lang="en-US" altLang="zh-CN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; </a:t>
            </a:r>
            <a:endParaRPr kumimoji="0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51038" y="5029200"/>
            <a:ext cx="6408738" cy="11684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TIM_TimeBaseStructure.TIM_Period = 4999; TIM_TimeBaseStructure.TIM_Prescaler =7199; TIM_TimeBaseStructure.TIM_ClockDivision =   TIM_CKD_DIV1; TIM_TimeBaseStructure.TIM_CounterMode =   TIM_CounterMode_Up; 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TIM_TimeBaseInit(TIM3, &amp;TIM_TimeBaseStructure); 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16" name="TextBox 7"/>
          <p:cNvSpPr txBox="1"/>
          <p:nvPr/>
        </p:nvSpPr>
        <p:spPr>
          <a:xfrm>
            <a:off x="1824038" y="1685925"/>
            <a:ext cx="2970212" cy="4619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zh-CN" altLang="en-US" sz="2400" b="1" dirty="0">
                <a:latin typeface="Arial" panose="020B0604020202020204" pitchFamily="34" charset="0"/>
                <a:ea typeface="宋体" panose="02010600030101010101" pitchFamily="2" charset="-122"/>
              </a:rPr>
              <a:t>定时器参数初始化：</a:t>
            </a:r>
            <a:endParaRPr lang="zh-CN" altLang="en-US" sz="24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30722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30723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24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0725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726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30727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28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0729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30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31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32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34" name="TextBox 22"/>
          <p:cNvSpPr txBox="1"/>
          <p:nvPr/>
        </p:nvSpPr>
        <p:spPr>
          <a:xfrm>
            <a:off x="1317625" y="0"/>
            <a:ext cx="5956300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通用定时器基本原理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0735" name="矩形 9"/>
          <p:cNvSpPr/>
          <p:nvPr/>
        </p:nvSpPr>
        <p:spPr>
          <a:xfrm>
            <a:off x="784225" y="1273175"/>
            <a:ext cx="9680575" cy="511492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2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0736" name="等腰三角形 21"/>
          <p:cNvSpPr/>
          <p:nvPr/>
        </p:nvSpPr>
        <p:spPr>
          <a:xfrm rot="9165130">
            <a:off x="822325" y="1511300"/>
            <a:ext cx="1166813" cy="517525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p>
            <a:pPr algn="ctr">
              <a:buFont typeface="Arial" panose="020B0604020202020204" pitchFamily="34" charset="0"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0737" name="TextBox 1"/>
          <p:cNvSpPr txBox="1"/>
          <p:nvPr/>
        </p:nvSpPr>
        <p:spPr>
          <a:xfrm>
            <a:off x="1662113" y="2192338"/>
            <a:ext cx="667702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TIM_Cmd(TIM_TypeDef* TIMx, FunctionalState NewState)</a:t>
            </a:r>
            <a:endParaRPr lang="zh-CN" altLang="en-US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8" name="TextBox 2"/>
          <p:cNvSpPr txBox="1"/>
          <p:nvPr/>
        </p:nvSpPr>
        <p:spPr>
          <a:xfrm>
            <a:off x="1612900" y="1570038"/>
            <a:ext cx="3532188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定时器使能函数：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39" name="TextBox 6"/>
          <p:cNvSpPr txBox="1"/>
          <p:nvPr/>
        </p:nvSpPr>
        <p:spPr>
          <a:xfrm>
            <a:off x="1565275" y="2768600"/>
            <a:ext cx="4252913" cy="5222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定时器中断使能函数：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40" name="TextBox 3"/>
          <p:cNvSpPr txBox="1"/>
          <p:nvPr/>
        </p:nvSpPr>
        <p:spPr>
          <a:xfrm>
            <a:off x="1612900" y="3416300"/>
            <a:ext cx="8777288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Font typeface="Wingdings" panose="05000000000000000000" pitchFamily="2" charset="2"/>
            </a:pP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TIM_ITConfig(TIM_TypeDef* TIMx, uint16_t TIM_IT, FunctionalState NewState);</a:t>
            </a:r>
            <a:endParaRPr lang="zh-CN" altLang="en-US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41" name="TextBox 4"/>
          <p:cNvSpPr txBox="1"/>
          <p:nvPr/>
        </p:nvSpPr>
        <p:spPr>
          <a:xfrm>
            <a:off x="1585913" y="3965575"/>
            <a:ext cx="4252912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Arial" panose="020B0604020202020204" pitchFamily="34" charset="0"/>
                <a:ea typeface="宋体" panose="02010600030101010101" pitchFamily="2" charset="-122"/>
              </a:rPr>
              <a:t>状态标志位获取和清除</a:t>
            </a:r>
            <a:endParaRPr lang="zh-CN" altLang="en-US" sz="28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742" name="TextBox 8"/>
          <p:cNvSpPr txBox="1"/>
          <p:nvPr/>
        </p:nvSpPr>
        <p:spPr>
          <a:xfrm>
            <a:off x="1677988" y="4495800"/>
            <a:ext cx="8280400" cy="1754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FlagStatus TIM_GetFlagStatus(TIM_TypeDef* TIMx, uint16_t TIM_FLAG);</a:t>
            </a:r>
            <a:endParaRPr lang="en-US" altLang="zh-CN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TIM_ClearFlag(TIM_TypeDef* TIMx, uint16_t TIM_FLAG);</a:t>
            </a:r>
            <a:endParaRPr lang="en-US" altLang="zh-CN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ITStatus TIM_GetITStatus(TIM_TypeDef* TIMx, uint16_t TIM_IT);</a:t>
            </a:r>
            <a:endParaRPr lang="en-US" altLang="zh-CN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</a:pPr>
            <a:r>
              <a:rPr lang="en-US" altLang="zh-CN" i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void TIM_ClearITPendingBit(TIM_TypeDef* TIMx, uint16_t TIM_IT);</a:t>
            </a:r>
            <a:endParaRPr lang="zh-CN" altLang="en-US" i="1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"/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31746" name="Group 5"/>
          <p:cNvGrpSpPr/>
          <p:nvPr/>
        </p:nvGrpSpPr>
        <p:grpSpPr>
          <a:xfrm>
            <a:off x="0" y="0"/>
            <a:ext cx="1389063" cy="1130300"/>
            <a:chOff x="0" y="0"/>
            <a:chExt cx="1471173" cy="1657869"/>
          </a:xfrm>
        </p:grpSpPr>
        <p:sp>
          <p:nvSpPr>
            <p:cNvPr id="31747" name="矩形 10"/>
            <p:cNvSpPr/>
            <p:nvPr/>
          </p:nvSpPr>
          <p:spPr>
            <a:xfrm>
              <a:off x="1" y="658762"/>
              <a:ext cx="1470409" cy="999107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542010" y="7"/>
                </a:cxn>
                <a:cxn ang="0">
                  <a:pos x="538666" y="84687"/>
                </a:cxn>
                <a:cxn ang="0">
                  <a:pos x="267883" y="133995"/>
                </a:cxn>
                <a:cxn ang="0">
                  <a:pos x="444" y="84687"/>
                </a:cxn>
                <a:cxn ang="0">
                  <a:pos x="0" y="7"/>
                </a:cxn>
              </a:cxnLst>
              <a:pathLst>
                <a:path w="1665778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lnTo>
                    <a:pt x="1655504" y="811720"/>
                  </a:ln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48" name="矩形 10"/>
            <p:cNvSpPr/>
            <p:nvPr/>
          </p:nvSpPr>
          <p:spPr>
            <a:xfrm>
              <a:off x="0" y="0"/>
              <a:ext cx="1471173" cy="1158315"/>
            </a:xfrm>
            <a:custGeom>
              <a:avLst/>
              <a:gdLst/>
              <a:ahLst/>
              <a:cxnLst>
                <a:cxn ang="0">
                  <a:pos x="0" y="24"/>
                </a:cxn>
                <a:cxn ang="0">
                  <a:pos x="542008" y="24"/>
                </a:cxn>
                <a:cxn ang="0">
                  <a:pos x="542289" y="316138"/>
                </a:cxn>
                <a:cxn ang="0">
                  <a:pos x="267882" y="507016"/>
                </a:cxn>
                <a:cxn ang="0">
                  <a:pos x="444" y="320444"/>
                </a:cxn>
                <a:cxn ang="0">
                  <a:pos x="0" y="24"/>
                </a:cxn>
              </a:cxnLst>
              <a:pathLst>
                <a:path w="1666644" h="1284332">
                  <a:moveTo>
                    <a:pt x="0" y="62"/>
                  </a:moveTo>
                  <a:cubicBezTo>
                    <a:pt x="-455" y="6860"/>
                    <a:pt x="1110519" y="62"/>
                    <a:pt x="1665778" y="62"/>
                  </a:cubicBezTo>
                  <a:cubicBezTo>
                    <a:pt x="1666067" y="266981"/>
                    <a:pt x="1666355" y="533899"/>
                    <a:pt x="1666644" y="800818"/>
                  </a:cubicBezTo>
                  <a:lnTo>
                    <a:pt x="823297" y="1284332"/>
                  </a:lnTo>
                  <a:lnTo>
                    <a:pt x="1365" y="811720"/>
                  </a:lnTo>
                  <a:cubicBezTo>
                    <a:pt x="910" y="541167"/>
                    <a:pt x="455" y="-6736"/>
                    <a:pt x="0" y="62"/>
                  </a:cubicBezTo>
                  <a:close/>
                </a:path>
              </a:pathLst>
            </a:custGeom>
            <a:solidFill>
              <a:srgbClr val="F4B183"/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1749" name="文本框 8"/>
          <p:cNvSpPr txBox="1"/>
          <p:nvPr/>
        </p:nvSpPr>
        <p:spPr>
          <a:xfrm>
            <a:off x="166688" y="0"/>
            <a:ext cx="1173162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4.2</a:t>
            </a:r>
            <a:endParaRPr lang="en-US" altLang="zh-CN" sz="4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750" name="Group 12"/>
          <p:cNvGrpSpPr/>
          <p:nvPr/>
        </p:nvGrpSpPr>
        <p:grpSpPr>
          <a:xfrm rot="10800000">
            <a:off x="10820400" y="5591175"/>
            <a:ext cx="1371600" cy="1266825"/>
            <a:chOff x="0" y="0"/>
            <a:chExt cx="1372279" cy="1266092"/>
          </a:xfrm>
        </p:grpSpPr>
        <p:sp>
          <p:nvSpPr>
            <p:cNvPr id="31751" name="任意多边形 13"/>
            <p:cNvSpPr/>
            <p:nvPr/>
          </p:nvSpPr>
          <p:spPr>
            <a:xfrm>
              <a:off x="1" y="1"/>
              <a:ext cx="1181686" cy="10902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68923" y="0"/>
                </a:cxn>
                <a:cxn ang="0">
                  <a:pos x="1181686" y="126610"/>
                </a:cxn>
                <a:cxn ang="0">
                  <a:pos x="218049" y="1090247"/>
                </a:cxn>
                <a:cxn ang="0">
                  <a:pos x="23843" y="1070669"/>
                </a:cxn>
                <a:cxn ang="0">
                  <a:pos x="0" y="1063268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83919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52" name="任意多边形 14"/>
            <p:cNvSpPr/>
            <p:nvPr/>
          </p:nvSpPr>
          <p:spPr>
            <a:xfrm>
              <a:off x="0" y="0"/>
              <a:ext cx="1372279" cy="126609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490021" y="0"/>
                </a:cxn>
                <a:cxn ang="0">
                  <a:pos x="4539048" y="486330"/>
                </a:cxn>
                <a:cxn ang="0">
                  <a:pos x="837561" y="4187815"/>
                </a:cxn>
                <a:cxn ang="0">
                  <a:pos x="91585" y="4112617"/>
                </a:cxn>
                <a:cxn ang="0">
                  <a:pos x="0" y="4084186"/>
                </a:cxn>
                <a:cxn ang="0">
                  <a:pos x="0" y="0"/>
                </a:cxn>
              </a:cxnLst>
              <a:pathLst>
                <a:path w="1181686" h="1090247">
                  <a:moveTo>
                    <a:pt x="0" y="0"/>
                  </a:moveTo>
                  <a:lnTo>
                    <a:pt x="1168923" y="0"/>
                  </a:lnTo>
                  <a:lnTo>
                    <a:pt x="1181686" y="126610"/>
                  </a:lnTo>
                  <a:cubicBezTo>
                    <a:pt x="1181686" y="658812"/>
                    <a:pt x="750251" y="1090247"/>
                    <a:pt x="218049" y="1090247"/>
                  </a:cubicBezTo>
                  <a:cubicBezTo>
                    <a:pt x="151524" y="1090247"/>
                    <a:pt x="86573" y="1083506"/>
                    <a:pt x="23843" y="1070669"/>
                  </a:cubicBezTo>
                  <a:lnTo>
                    <a:pt x="0" y="1063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000">
                <a:alpha val="65096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1753" name="文本框 16"/>
          <p:cNvSpPr txBox="1"/>
          <p:nvPr/>
        </p:nvSpPr>
        <p:spPr>
          <a:xfrm>
            <a:off x="235585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4" name="文本框 17"/>
          <p:cNvSpPr txBox="1"/>
          <p:nvPr/>
        </p:nvSpPr>
        <p:spPr>
          <a:xfrm>
            <a:off x="3913188" y="3175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5" name="文本框 18"/>
          <p:cNvSpPr txBox="1"/>
          <p:nvPr/>
        </p:nvSpPr>
        <p:spPr>
          <a:xfrm>
            <a:off x="5473700" y="34925"/>
            <a:ext cx="1173163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756" name="文本框 18"/>
          <p:cNvSpPr txBox="1"/>
          <p:nvPr/>
        </p:nvSpPr>
        <p:spPr>
          <a:xfrm>
            <a:off x="6904038" y="0"/>
            <a:ext cx="1173162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2400" b="1" dirty="0">
                <a:solidFill>
                  <a:srgbClr val="F2F2F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</a:t>
            </a:r>
            <a:endParaRPr lang="en-US" altLang="zh-CN" sz="2400" b="1" dirty="0">
              <a:solidFill>
                <a:srgbClr val="F2F2F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1357313" y="0"/>
            <a:ext cx="10834688" cy="8747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58" name="TextBox 22"/>
          <p:cNvSpPr txBox="1"/>
          <p:nvPr/>
        </p:nvSpPr>
        <p:spPr>
          <a:xfrm>
            <a:off x="1317625" y="0"/>
            <a:ext cx="5956300" cy="1106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buFont typeface="Arial" panose="020B0604020202020204" pitchFamily="34" charset="0"/>
            </a:pPr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通用定时器基本原理</a:t>
            </a:r>
            <a:endParaRPr lang="zh-CN" altLang="en-US" sz="4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0" hangingPunct="0">
              <a:buFont typeface="Arial" panose="020B0604020202020204" pitchFamily="34" charset="0"/>
            </a:pPr>
            <a:endParaRPr lang="zh-CN" altLang="en-US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1759" name="矩形 9"/>
          <p:cNvSpPr/>
          <p:nvPr/>
        </p:nvSpPr>
        <p:spPr>
          <a:xfrm>
            <a:off x="784225" y="1273175"/>
            <a:ext cx="9680575" cy="5114925"/>
          </a:xfrm>
          <a:custGeom>
            <a:avLst/>
            <a:gdLst/>
            <a:ahLst/>
            <a:cxnLst>
              <a:cxn ang="0">
                <a:pos x="0" y="379174"/>
              </a:cxn>
              <a:cxn ang="0">
                <a:pos x="1019462" y="0"/>
              </a:cxn>
              <a:cxn ang="0">
                <a:pos x="9643980" y="0"/>
              </a:cxn>
              <a:cxn ang="0">
                <a:pos x="9643980" y="3624048"/>
              </a:cxn>
              <a:cxn ang="0">
                <a:pos x="13072" y="3624048"/>
              </a:cxn>
              <a:cxn ang="0">
                <a:pos x="0" y="379174"/>
              </a:cxn>
            </a:cxnLst>
            <a:pathLst>
              <a:path w="9638713" h="3620718">
                <a:moveTo>
                  <a:pt x="0" y="378823"/>
                </a:moveTo>
                <a:lnTo>
                  <a:pt x="1018904" y="0"/>
                </a:lnTo>
                <a:lnTo>
                  <a:pt x="9638713" y="0"/>
                </a:lnTo>
                <a:lnTo>
                  <a:pt x="9638713" y="3620718"/>
                </a:lnTo>
                <a:lnTo>
                  <a:pt x="13063" y="3620718"/>
                </a:lnTo>
                <a:cubicBezTo>
                  <a:pt x="8709" y="2540086"/>
                  <a:pt x="4354" y="1459455"/>
                  <a:pt x="0" y="378823"/>
                </a:cubicBezTo>
                <a:close/>
              </a:path>
            </a:pathLst>
          </a:custGeom>
          <a:solidFill>
            <a:srgbClr val="F4B183">
              <a:alpha val="70192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31760" name="等腰三角形 21"/>
          <p:cNvSpPr/>
          <p:nvPr/>
        </p:nvSpPr>
        <p:spPr>
          <a:xfrm rot="9165130">
            <a:off x="822325" y="1511300"/>
            <a:ext cx="1166813" cy="517525"/>
          </a:xfrm>
          <a:prstGeom prst="triangle">
            <a:avLst>
              <a:gd name="adj" fmla="val 100000"/>
            </a:avLst>
          </a:prstGeom>
          <a:solidFill>
            <a:srgbClr val="F19C63"/>
          </a:solidFill>
          <a:ln w="9525">
            <a:noFill/>
          </a:ln>
        </p:spPr>
        <p:txBody>
          <a:bodyPr anchor="ctr" anchorCtr="0"/>
          <a:p>
            <a:pPr algn="ctr">
              <a:buFont typeface="Arial" panose="020B0604020202020204" pitchFamily="34" charset="0"/>
            </a:pPr>
            <a:endParaRPr lang="zh-CN" altLang="en-US" dirty="0">
              <a:solidFill>
                <a:srgbClr val="FFFFFF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31761" name="TextBox 5"/>
          <p:cNvSpPr txBox="1"/>
          <p:nvPr/>
        </p:nvSpPr>
        <p:spPr>
          <a:xfrm>
            <a:off x="1878013" y="1477963"/>
            <a:ext cx="4354512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3200" b="1" dirty="0">
                <a:latin typeface="Arial" panose="020B0604020202020204" pitchFamily="34" charset="0"/>
                <a:ea typeface="宋体" panose="02010600030101010101" pitchFamily="2" charset="-122"/>
              </a:rPr>
              <a:t>定时器中断实现步骤</a:t>
            </a:r>
            <a:endParaRPr lang="zh-CN" altLang="en-US" sz="3200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557" name="TextBox 7"/>
          <p:cNvSpPr txBox="1">
            <a:spLocks noChangeArrowheads="1"/>
          </p:cNvSpPr>
          <p:nvPr/>
        </p:nvSpPr>
        <p:spPr bwMode="auto">
          <a:xfrm>
            <a:off x="2309813" y="2038350"/>
            <a:ext cx="7488238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2"/>
                </a:solidFill>
                <a:latin typeface="Verdan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circleNumDbPlain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能定时器时钟。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 RCC_APB1PeriphClockCmd();</a:t>
            </a:r>
            <a:endParaRPr kumimoji="0" lang="en-US" altLang="zh-CN" sz="2400" b="1" i="1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②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初始化定时器，配置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ARR,PSC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24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TIM_TimeBaseInit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();</a:t>
            </a:r>
            <a:endParaRPr kumimoji="0" lang="en-US" altLang="zh-CN" sz="2400" b="1" i="1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circleNumDbPlain" startAt="3"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开启定时器中断，配置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NVIC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。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0" lang="en-US" altLang="zh-CN" sz="24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TIM_ITConfig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();</a:t>
            </a:r>
            <a:endParaRPr kumimoji="0" lang="en-US" altLang="zh-CN" sz="2400" b="1" i="1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24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NVIC_Init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();</a:t>
            </a:r>
            <a:endParaRPr kumimoji="0" lang="en-US" altLang="zh-CN" sz="2400" b="1" i="1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④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使能定时器。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24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TIM_Cmd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();</a:t>
            </a:r>
            <a:endParaRPr kumimoji="0" lang="en-US" altLang="zh-CN" sz="2400" b="1" i="1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⑥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编写中断服务函数。</a:t>
            </a:r>
            <a:endParaRPr kumimoji="0" lang="en-US" altLang="zh-CN" sz="2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0" lang="en-US" altLang="zh-CN" sz="24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TIMx_IRQHandler</a:t>
            </a:r>
            <a:r>
              <a:rPr kumimoji="0" lang="en-US" altLang="zh-CN" sz="2400" b="1" i="1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();</a:t>
            </a:r>
            <a:endParaRPr kumimoji="0" lang="zh-CN" altLang="en-US" sz="2400" b="1" i="1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ZmE5YWM0ZDk0MTE3ZWYyMTM5YmQ3MGVmYzVkZGI2Y2IifQ=="/>
</p:tagLst>
</file>

<file path=ppt/theme/theme1.xml><?xml version="1.0" encoding="utf-8"?>
<a:theme xmlns:a="http://schemas.openxmlformats.org/drawingml/2006/main" name="1_Office 主题">
  <a:themeElements>
    <a:clrScheme name="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">
  <a:themeElements>
    <a:clrScheme name="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4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主题">
  <a:themeElements>
    <a:clrScheme name="5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5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主题">
  <a:themeElements>
    <a:clrScheme name="6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6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6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Office 主题">
  <a:themeElements>
    <a:clrScheme name="7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7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7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8_Office 主题">
  <a:themeElements>
    <a:clrScheme name="8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8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8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9_Office 主题">
  <a:themeElements>
    <a:clrScheme name="9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9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9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0_Office 主题">
  <a:themeElements>
    <a:clrScheme name="10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0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0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1_Office 主题">
  <a:themeElements>
    <a:clrScheme name="1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Office 主题">
  <a:themeElements>
    <a:clrScheme name="1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3858</Words>
  <Application>WPS 演示</Application>
  <PresentationFormat>自定义</PresentationFormat>
  <Paragraphs>515</Paragraphs>
  <Slides>20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13</vt:i4>
      </vt:variant>
      <vt:variant>
        <vt:lpstr>幻灯片标题</vt:lpstr>
      </vt:variant>
      <vt:variant>
        <vt:i4>20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Calibri Light</vt:lpstr>
      <vt:lpstr>微软雅黑</vt:lpstr>
      <vt:lpstr>Verdana</vt:lpstr>
      <vt:lpstr>华文仿宋</vt:lpstr>
      <vt:lpstr>Arial Unicode MS</vt:lpstr>
      <vt:lpstr>1_Office 主题</vt:lpstr>
      <vt:lpstr>2_Office 主题</vt:lpstr>
      <vt:lpstr>3_Office 主题</vt:lpstr>
      <vt:lpstr>4_Office 主题</vt:lpstr>
      <vt:lpstr>5_Office 主题</vt:lpstr>
      <vt:lpstr>6_Office 主题</vt:lpstr>
      <vt:lpstr>7_Office 主题</vt:lpstr>
      <vt:lpstr>8_Office 主题</vt:lpstr>
      <vt:lpstr>9_Office 主题</vt:lpstr>
      <vt:lpstr>10_Office 主题</vt:lpstr>
      <vt:lpstr>11_Office 主题</vt:lpstr>
      <vt:lpstr>12_Office 主题</vt:lpstr>
      <vt:lpstr>13_Office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哎呀小小草</dc:creator>
  <cp:lastModifiedBy>Student</cp:lastModifiedBy>
  <cp:revision>69</cp:revision>
  <dcterms:created xsi:type="dcterms:W3CDTF">2013-10-15T08:54:00Z</dcterms:created>
  <dcterms:modified xsi:type="dcterms:W3CDTF">2023-11-17T03:59:20Z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2052-11.1.0.9208</vt:lpwstr>
  </property>
  <property fmtid="{D5CDD505-2E9C-101B-9397-08002B2CF9AE}" pid="3" name="ICV">
    <vt:lpwstr>81E82A19400A40458F3B9A36D24D563B_13</vt:lpwstr>
  </property>
</Properties>
</file>